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</p:sldIdLst>
  <p:sldSz cy="5143500" cx="9144000"/>
  <p:notesSz cx="6858000" cy="9144000"/>
  <p:embeddedFontLst>
    <p:embeddedFont>
      <p:font typeface="Manrope"/>
      <p:regular r:id="rId70"/>
      <p:bold r:id="rId71"/>
    </p:embeddedFont>
    <p:embeddedFont>
      <p:font typeface="JetBrains Mono"/>
      <p:regular r:id="rId72"/>
      <p:bold r:id="rId73"/>
      <p:italic r:id="rId74"/>
      <p:boldItalic r:id="rId7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font" Target="fonts/JetBrainsMono-bold.fntdata"/><Relationship Id="rId72" Type="http://schemas.openxmlformats.org/officeDocument/2006/relationships/font" Target="fonts/JetBrainsMono-regular.fntdata"/><Relationship Id="rId31" Type="http://schemas.openxmlformats.org/officeDocument/2006/relationships/slide" Target="slides/slide25.xml"/><Relationship Id="rId75" Type="http://schemas.openxmlformats.org/officeDocument/2006/relationships/font" Target="fonts/JetBrainsMono-boldItalic.fntdata"/><Relationship Id="rId30" Type="http://schemas.openxmlformats.org/officeDocument/2006/relationships/slide" Target="slides/slide24.xml"/><Relationship Id="rId74" Type="http://schemas.openxmlformats.org/officeDocument/2006/relationships/font" Target="fonts/JetBrainsMono-italic.fntdata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1" Type="http://schemas.openxmlformats.org/officeDocument/2006/relationships/font" Target="fonts/Manrope-bold.fntdata"/><Relationship Id="rId70" Type="http://schemas.openxmlformats.org/officeDocument/2006/relationships/font" Target="fonts/Manrope-regular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dfd0c06d89_2_2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dfd0c06d89_2_2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55" name="Google Shape;55;g3dfd0c06d89_2_2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fd0c06d89_2_17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g3dfd0c06d89_2_17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71" name="Google Shape;71;g3dfd0c06d89_2_17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fd0c06d89_2_41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g3dfd0c06d89_2_41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96" name="Google Shape;96;g3dfd0c06d89_2_41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fd0c06d89_2_71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3dfd0c06d89_2_71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28" name="Google Shape;128;g3dfd0c06d89_2_71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dfd0c06d89_2_104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g3dfd0c06d89_2_104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63" name="Google Shape;163;g3dfd0c06d89_2_104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dfd0c06d89_2_149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g3dfd0c06d89_2_149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210" name="Google Shape;210;g3dfd0c06d89_2_149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dfd0c06d89_2_168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g3dfd0c06d89_2_168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231" name="Google Shape;231;g3dfd0c06d89_2_168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dfd0c06d89_2_195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g3dfd0c06d89_2_195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260" name="Google Shape;260;g3dfd0c06d89_2_195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dfd0c06d89_2_226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g3dfd0c06d89_2_226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293" name="Google Shape;293;g3dfd0c06d89_2_226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dfd0c06d89_2_262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g3dfd0c06d89_2_262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331" name="Google Shape;331;g3dfd0c06d89_2_262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dfd0c06d89_2_315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" name="Google Shape;385;g3dfd0c06d89_2_315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386" name="Google Shape;386;g3dfd0c06d89_2_315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dfd0c06d89_2_333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" name="Google Shape;405;g3dfd0c06d89_2_333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406" name="Google Shape;406;g3dfd0c06d89_2_333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dfd0c06d89_2_382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6" name="Google Shape;456;g3dfd0c06d89_2_382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457" name="Google Shape;457;g3dfd0c06d89_2_382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dfd0c06d89_2_418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4" name="Google Shape;494;g3dfd0c06d89_2_418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495" name="Google Shape;495;g3dfd0c06d89_2_418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dfd0c06d89_2_432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9" name="Google Shape;509;g3dfd0c06d89_2_432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510" name="Google Shape;510;g3dfd0c06d89_2_432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dfd0c06d89_2_462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1" name="Google Shape;541;g3dfd0c06d89_2_462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542" name="Google Shape;542;g3dfd0c06d89_2_462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dfd0c06d89_2_495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6" name="Google Shape;576;g3dfd0c06d89_2_495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577" name="Google Shape;577;g3dfd0c06d89_2_495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3dfd0c06d89_2_531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4" name="Google Shape;614;g3dfd0c06d89_2_531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615" name="Google Shape;615;g3dfd0c06d89_2_531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3dfd0c06d89_2_567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2" name="Google Shape;652;g3dfd0c06d89_2_567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653" name="Google Shape;653;g3dfd0c06d89_2_567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3dfd0c06d89_2_603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0" name="Google Shape;690;g3dfd0c06d89_2_603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691" name="Google Shape;691;g3dfd0c06d89_2_603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dfd0c06d89_2_635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4" name="Google Shape;724;g3dfd0c06d89_2_635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725" name="Google Shape;725;g3dfd0c06d89_2_635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3dfd0c06d89_2_698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9" name="Google Shape;789;g3dfd0c06d89_2_698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790" name="Google Shape;790;g3dfd0c06d89_2_698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g3dfd0c06d89_2_731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4" name="Google Shape;824;g3dfd0c06d89_2_731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825" name="Google Shape;825;g3dfd0c06d89_2_731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3dfd0c06d89_2_744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8" name="Google Shape;838;g3dfd0c06d89_2_744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839" name="Google Shape;839;g3dfd0c06d89_2_744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3dfd0c06d89_2_768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4" name="Google Shape;864;g3dfd0c06d89_2_768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865" name="Google Shape;865;g3dfd0c06d89_2_768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g3dfd0c06d89_2_798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6" name="Google Shape;896;g3dfd0c06d89_2_798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897" name="Google Shape;897;g3dfd0c06d89_2_798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g3dfd0c06d89_2_825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5" name="Google Shape;925;g3dfd0c06d89_2_825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926" name="Google Shape;926;g3dfd0c06d89_2_825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g3dfd0c06d89_2_852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4" name="Google Shape;954;g3dfd0c06d89_2_852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955" name="Google Shape;955;g3dfd0c06d89_2_852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g3dfd0c06d89_2_882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6" name="Google Shape;986;g3dfd0c06d89_2_882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987" name="Google Shape;987;g3dfd0c06d89_2_882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g3dfd0c06d89_2_917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3" name="Google Shape;1023;g3dfd0c06d89_2_917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024" name="Google Shape;1024;g3dfd0c06d89_2_917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g3dfd0c06d89_2_937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5" name="Google Shape;1045;g3dfd0c06d89_2_937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046" name="Google Shape;1046;g3dfd0c06d89_2_937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g3dfd0c06d89_2_970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0" name="Google Shape;1080;g3dfd0c06d89_2_970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081" name="Google Shape;1081;g3dfd0c06d89_2_970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g3dfd0c06d89_2_984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6" name="Google Shape;1096;g3dfd0c06d89_2_984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097" name="Google Shape;1097;g3dfd0c06d89_2_984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g3dfd0c06d89_2_1024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8" name="Google Shape;1138;g3dfd0c06d89_2_1024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139" name="Google Shape;1139;g3dfd0c06d89_2_1024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g3dfd0c06d89_2_1046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2" name="Google Shape;1162;g3dfd0c06d89_2_1046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163" name="Google Shape;1163;g3dfd0c06d89_2_1046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0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g3dfd0c06d89_2_1084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2" name="Google Shape;1202;g3dfd0c06d89_2_1084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203" name="Google Shape;1203;g3dfd0c06d89_2_1084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0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g3dfd0c06d89_2_1112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2" name="Google Shape;1232;g3dfd0c06d89_2_1112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233" name="Google Shape;1233;g3dfd0c06d89_2_1112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4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g3dfd0c06d89_2_1144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6" name="Google Shape;1266;g3dfd0c06d89_2_1144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267" name="Google Shape;1267;g3dfd0c06d89_2_1144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Google Shape;1296;g3dfd0c06d89_2_1173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7" name="Google Shape;1297;g3dfd0c06d89_2_1173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298" name="Google Shape;1298;g3dfd0c06d89_2_1173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3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Google Shape;1314;g3dfd0c06d89_2_1189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5" name="Google Shape;1315;g3dfd0c06d89_2_1189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316" name="Google Shape;1316;g3dfd0c06d89_2_1189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0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Google Shape;1351;g3dfd0c06d89_2_1224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2" name="Google Shape;1352;g3dfd0c06d89_2_1224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353" name="Google Shape;1353;g3dfd0c06d89_2_1224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3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Google Shape;1384;g3dfd0c06d89_2_1255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5" name="Google Shape;1385;g3dfd0c06d89_2_1255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386" name="Google Shape;1386;g3dfd0c06d89_2_1255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5" name="Shape 1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6" name="Google Shape;1426;g3dfd0c06d89_2_1295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7" name="Google Shape;1427;g3dfd0c06d89_2_1295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428" name="Google Shape;1428;g3dfd0c06d89_2_1295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Google Shape;1442;g3dfd0c06d89_2_1309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3" name="Google Shape;1443;g3dfd0c06d89_2_1309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444" name="Google Shape;1444;g3dfd0c06d89_2_1309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9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Google Shape;1460;g3dfd0c06d89_2_1325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1" name="Google Shape;1461;g3dfd0c06d89_2_1325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462" name="Google Shape;1462;g3dfd0c06d89_2_1325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g3dfd0c06d89_2_1375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3" name="Google Shape;1513;g3dfd0c06d89_2_1375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514" name="Google Shape;1514;g3dfd0c06d89_2_1375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5" name="Shape 1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" name="Google Shape;1536;g3dfd0c06d89_2_1397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7" name="Google Shape;1537;g3dfd0c06d89_2_1397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538" name="Google Shape;1538;g3dfd0c06d89_2_1397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4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g3dfd0c06d89_2_1424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6" name="Google Shape;1566;g3dfd0c06d89_2_1424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567" name="Google Shape;1567;g3dfd0c06d89_2_1424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9" name="Shape 1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Google Shape;1630;g3dfd0c06d89_2_1487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1" name="Google Shape;1631;g3dfd0c06d89_2_1487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632" name="Google Shape;1632;g3dfd0c06d89_2_1487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0" name="Shape 1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1" name="Google Shape;1671;g3dfd0c06d89_2_1526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2" name="Google Shape;1672;g3dfd0c06d89_2_1526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673" name="Google Shape;1673;g3dfd0c06d89_2_1526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9" name="Shape 1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" name="Google Shape;1720;g3dfd0c06d89_2_1573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1" name="Google Shape;1721;g3dfd0c06d89_2_1573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722" name="Google Shape;1722;g3dfd0c06d89_2_1573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7" name="Shape 1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8" name="Google Shape;1758;g3dfd0c06d89_2_1609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9" name="Google Shape;1759;g3dfd0c06d89_2_1609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760" name="Google Shape;1760;g3dfd0c06d89_2_1609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4" name="Shape 1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5" name="Google Shape;1805;g3dfd0c06d89_2_1654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6" name="Google Shape;1806;g3dfd0c06d89_2_1654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807" name="Google Shape;1807;g3dfd0c06d89_2_1654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0" name="Shape 1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1" name="Google Shape;1821;g3dfd0c06d89_2_1668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2" name="Google Shape;1822;g3dfd0c06d89_2_1668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823" name="Google Shape;1823;g3dfd0c06d89_2_1668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5" name="Shape 1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6" name="Google Shape;1856;g3dfd0c06d89_2_1701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7" name="Google Shape;1857;g3dfd0c06d89_2_1701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858" name="Google Shape;1858;g3dfd0c06d89_2_1701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6" name="Shape 1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7" name="Google Shape;1917;g3dfd0c06d89_2_1760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8" name="Google Shape;1918;g3dfd0c06d89_2_1760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919" name="Google Shape;1919;g3dfd0c06d89_2_1760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2" name="Shape 1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3" name="Google Shape;1933;g3dfd0c06d89_2_1774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4" name="Google Shape;1934;g3dfd0c06d89_2_1774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935" name="Google Shape;1935;g3dfd0c06d89_2_1774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7" name="Shape 1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8" name="Google Shape;1948;g3dfd0c06d89_2_1787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9" name="Google Shape;1949;g3dfd0c06d89_2_1787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950" name="Google Shape;1950;g3dfd0c06d89_2_1787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2" name="Shape 1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3" name="Google Shape;1993;g3dfd0c06d89_0_59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4" name="Google Shape;1994;g3dfd0c06d89_0_59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995" name="Google Shape;1995;g3dfd0c06d89_0_59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7" name="Shape 2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8" name="Google Shape;2038;g3dfd0c06d89_2_1830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9" name="Google Shape;2039;g3dfd0c06d89_2_1830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2040" name="Google Shape;2040;g3dfd0c06d89_2_1830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1" name="Shape 2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2" name="Google Shape;2062;g3dfd0c06d89_2_1852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3" name="Google Shape;2063;g3dfd0c06d89_2_1852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2064" name="Google Shape;2064;g3dfd0c06d89_2_1852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2" name="Shape 2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3" name="Google Shape;2093;g3dfd0c06d89_2_1881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4" name="Google Shape;2094;g3dfd0c06d89_2_1881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2095" name="Google Shape;2095;g3dfd0c06d89_2_1881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1" name="Shape 2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2" name="Google Shape;2122;g3dfd0c06d89_2_1908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3" name="Google Shape;2123;g3dfd0c06d89_2_1908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2124" name="Google Shape;2124;g3dfd0c06d89_2_1908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3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3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3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3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3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3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3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3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8.jpg"/><Relationship Id="rId4" Type="http://schemas.openxmlformats.org/officeDocument/2006/relationships/hyperlink" Target="https://sites.google.com/globallogic.com/ld-global-offering/" TargetMode="External"/><Relationship Id="rId5" Type="http://schemas.openxmlformats.org/officeDocument/2006/relationships/hyperlink" Target="https://sites.google.com/globallogic.com/ld-global-offering/" TargetMode="External"/><Relationship Id="rId6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7" name="Google Shape;5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92005" y="0"/>
            <a:ext cx="493774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5"/>
          <p:cNvSpPr/>
          <p:nvPr/>
        </p:nvSpPr>
        <p:spPr>
          <a:xfrm>
            <a:off x="609575" y="328042"/>
            <a:ext cx="180900" cy="180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5"/>
          <p:cNvSpPr/>
          <p:nvPr/>
        </p:nvSpPr>
        <p:spPr>
          <a:xfrm>
            <a:off x="857167" y="304767"/>
            <a:ext cx="7773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GlobalLogic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5"/>
          <p:cNvSpPr/>
          <p:nvPr/>
        </p:nvSpPr>
        <p:spPr>
          <a:xfrm>
            <a:off x="857167" y="447642"/>
            <a:ext cx="777300" cy="1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Manrope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Manrope"/>
                <a:ea typeface="Manrope"/>
                <a:cs typeface="Manrope"/>
                <a:sym typeface="Manrope"/>
              </a:rPr>
              <a:t>A Hitachi Group Company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7984630" y="377527"/>
            <a:ext cx="588000" cy="1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CONFIDENTIAL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762000" y="1333500"/>
            <a:ext cx="5395800" cy="1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800"/>
              <a:buFont typeface="JetBrains Mono"/>
              <a:buNone/>
            </a:pPr>
            <a:r>
              <a:rPr b="1" i="0" lang="en-GB" sz="8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AI · 104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762000" y="1623467"/>
            <a:ext cx="5395800" cy="20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5600"/>
              <a:buFont typeface="Manrope"/>
              <a:buNone/>
            </a:pPr>
            <a:r>
              <a:rPr b="1" i="0" lang="en-GB" sz="4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Support &amp; Operations Professionals.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762000" y="3765600"/>
            <a:ext cx="38262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1100"/>
              <a:buFont typeface="Manrope"/>
              <a:buNone/>
            </a:pPr>
            <a:r>
              <a:rPr b="0" i="0" lang="en-GB" sz="11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Building AI literacy and embracing the new professional paradigm.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609575" y="4824967"/>
            <a:ext cx="550200" cy="1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L&amp;D · AI 104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8235694" y="4824967"/>
            <a:ext cx="336900" cy="1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 / 62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1242" y="251507"/>
            <a:ext cx="336900" cy="284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/>
          <p:nvPr/>
        </p:nvSpPr>
        <p:spPr>
          <a:xfrm>
            <a:off x="857167" y="304767"/>
            <a:ext cx="7773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GlobalLogic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857167" y="447642"/>
            <a:ext cx="777300" cy="1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Manrope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Manrope"/>
                <a:ea typeface="Manrope"/>
                <a:cs typeface="Manrope"/>
                <a:sym typeface="Manrope"/>
              </a:rPr>
              <a:t>A Hitachi Group Company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7984630" y="377527"/>
            <a:ext cx="588000" cy="1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CONFIDENTIAL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609575" y="952500"/>
            <a:ext cx="8162700" cy="1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THE PARADIGM SHIFT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609575" y="1185830"/>
            <a:ext cx="8162700" cy="4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000"/>
              <a:buFont typeface="Manrope"/>
              <a:buNone/>
            </a:pP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Two eras, two </a:t>
            </a:r>
            <a:r>
              <a:rPr b="1" i="0" lang="en-GB" sz="30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operating models</a:t>
            </a: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609575" y="1803011"/>
            <a:ext cx="3848100" cy="1485300"/>
          </a:xfrm>
          <a:prstGeom prst="roundRect">
            <a:avLst>
              <a:gd fmla="val 5772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/>
          <p:nvPr/>
        </p:nvSpPr>
        <p:spPr>
          <a:xfrm>
            <a:off x="821738" y="1996158"/>
            <a:ext cx="3526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1400"/>
              <a:buFont typeface="Manrope"/>
              <a:buNone/>
            </a:pPr>
            <a:r>
              <a:rPr b="0" i="0" lang="en-GB" sz="14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⚙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821738" y="2243791"/>
            <a:ext cx="3526500" cy="2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400"/>
              <a:buFont typeface="Manrope"/>
              <a:buNone/>
            </a:pPr>
            <a:r>
              <a:rPr b="1" i="0" lang="en-GB" sz="14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The Software Era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821738" y="2509987"/>
            <a:ext cx="35265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700"/>
              <a:buFont typeface="Manrope"/>
              <a:buNone/>
            </a:pPr>
            <a:r>
              <a:rPr b="0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Humans write every rule. Logic is explicit, predictable, and brittle outside its envelope.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821738" y="2857624"/>
            <a:ext cx="514800" cy="1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OPS EXAMPLE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821738" y="2977721"/>
            <a:ext cx="35265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Static FAQ pages and standard operating procedures.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4686267" y="1803011"/>
            <a:ext cx="3848100" cy="1485300"/>
          </a:xfrm>
          <a:prstGeom prst="roundRect">
            <a:avLst>
              <a:gd fmla="val 5772" name="adj"/>
            </a:avLst>
          </a:prstGeom>
          <a:solidFill>
            <a:srgbClr val="1B1F2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6"/>
          <p:cNvSpPr/>
          <p:nvPr/>
        </p:nvSpPr>
        <p:spPr>
          <a:xfrm>
            <a:off x="4898430" y="1996158"/>
            <a:ext cx="3526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1400"/>
              <a:buFont typeface="Manrope"/>
              <a:buNone/>
            </a:pPr>
            <a:r>
              <a:rPr b="0" i="0" lang="en-GB" sz="14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4898430" y="2243791"/>
            <a:ext cx="3526500" cy="2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nrope"/>
              <a:buNone/>
            </a:pPr>
            <a:r>
              <a:rPr b="1" i="0" lang="en-GB" sz="14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The AI Era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4898430" y="2509987"/>
            <a:ext cx="35265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Manrope"/>
              <a:buNone/>
            </a:pPr>
            <a:r>
              <a:rPr b="0" i="0" lang="en-GB" sz="7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Humans provide examples; machines learn the rules. Behaviour adapts to context the team didn't pre-anticipate.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4898430" y="2857624"/>
            <a:ext cx="514800" cy="1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OPS EXAMPLE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4898430" y="2977721"/>
            <a:ext cx="35265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Dynamic assistants that understand customer frustration and adapt.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609575" y="4824967"/>
            <a:ext cx="1062300" cy="1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L&amp;D · AI 104 · Module 01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8235694" y="4824967"/>
            <a:ext cx="336900" cy="1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 / 62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275" y="251507"/>
            <a:ext cx="336900" cy="284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/>
          <p:nvPr/>
        </p:nvSpPr>
        <p:spPr>
          <a:xfrm>
            <a:off x="609575" y="328042"/>
            <a:ext cx="180950" cy="1809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7"/>
          <p:cNvSpPr/>
          <p:nvPr/>
        </p:nvSpPr>
        <p:spPr>
          <a:xfrm>
            <a:off x="857167" y="304767"/>
            <a:ext cx="77715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GlobalLogic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7"/>
          <p:cNvSpPr/>
          <p:nvPr/>
        </p:nvSpPr>
        <p:spPr>
          <a:xfrm>
            <a:off x="857167" y="447642"/>
            <a:ext cx="777156" cy="1037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Manrope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Manrope"/>
                <a:ea typeface="Manrope"/>
                <a:cs typeface="Manrope"/>
                <a:sym typeface="Manrope"/>
              </a:rPr>
              <a:t>A Hitachi Group Company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7"/>
          <p:cNvSpPr/>
          <p:nvPr/>
        </p:nvSpPr>
        <p:spPr>
          <a:xfrm>
            <a:off x="7984629" y="377527"/>
            <a:ext cx="587896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CONFIDENTIAL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609575" y="952500"/>
            <a:ext cx="8162596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WHY AI IS NO LONGER OPTIONAL IN OPERATIONS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7"/>
          <p:cNvSpPr/>
          <p:nvPr/>
        </p:nvSpPr>
        <p:spPr>
          <a:xfrm>
            <a:off x="609575" y="1185829"/>
            <a:ext cx="8162596" cy="40765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000"/>
              <a:buFont typeface="Manrope"/>
              <a:buNone/>
            </a:pP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Three forces driving the </a:t>
            </a:r>
            <a:r>
              <a:rPr b="1" i="0" lang="en-GB" sz="30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non-negotiable</a:t>
            </a: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7"/>
          <p:cNvSpPr/>
          <p:nvPr/>
        </p:nvSpPr>
        <p:spPr>
          <a:xfrm>
            <a:off x="609575" y="1803011"/>
            <a:ext cx="2540000" cy="1752038"/>
          </a:xfrm>
          <a:prstGeom prst="roundRect">
            <a:avLst>
              <a:gd fmla="val 4349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7"/>
          <p:cNvSpPr/>
          <p:nvPr/>
        </p:nvSpPr>
        <p:spPr>
          <a:xfrm>
            <a:off x="609575" y="1803012"/>
            <a:ext cx="2540000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7"/>
          <p:cNvSpPr/>
          <p:nvPr/>
        </p:nvSpPr>
        <p:spPr>
          <a:xfrm>
            <a:off x="761958" y="1973916"/>
            <a:ext cx="230229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1100"/>
              <a:buFont typeface="Manrope"/>
              <a:buNone/>
            </a:pPr>
            <a:r>
              <a:rPr b="0" i="0" lang="en-GB" sz="11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📈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7"/>
          <p:cNvSpPr/>
          <p:nvPr/>
        </p:nvSpPr>
        <p:spPr>
          <a:xfrm>
            <a:off x="761958" y="2183433"/>
            <a:ext cx="2302290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 · SCALE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7"/>
          <p:cNvSpPr/>
          <p:nvPr/>
        </p:nvSpPr>
        <p:spPr>
          <a:xfrm>
            <a:off x="761958" y="2324158"/>
            <a:ext cx="2302290" cy="3038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000"/>
              <a:buFont typeface="Manrope"/>
              <a:buNone/>
            </a:pPr>
            <a:r>
              <a:rPr b="1" i="0" lang="en-GB" sz="1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24/7 demand exceeds human throughput.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761958" y="2675558"/>
            <a:ext cx="2302290" cy="36185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Human teams cannot keep up with the always-on, global demand of modern digital business. AI acts as the first responder.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7"/>
          <p:cNvSpPr/>
          <p:nvPr/>
        </p:nvSpPr>
        <p:spPr>
          <a:xfrm>
            <a:off x="3301959" y="1803011"/>
            <a:ext cx="2540042" cy="1752038"/>
          </a:xfrm>
          <a:prstGeom prst="roundRect">
            <a:avLst>
              <a:gd fmla="val 4349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7"/>
          <p:cNvSpPr/>
          <p:nvPr/>
        </p:nvSpPr>
        <p:spPr>
          <a:xfrm>
            <a:off x="3301959" y="1803012"/>
            <a:ext cx="2540042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7"/>
          <p:cNvSpPr/>
          <p:nvPr/>
        </p:nvSpPr>
        <p:spPr>
          <a:xfrm>
            <a:off x="3454343" y="1973916"/>
            <a:ext cx="2302332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1100"/>
              <a:buFont typeface="Manrope"/>
              <a:buNone/>
            </a:pPr>
            <a:r>
              <a:rPr b="0" i="0" lang="en-GB" sz="11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7"/>
          <p:cNvSpPr/>
          <p:nvPr/>
        </p:nvSpPr>
        <p:spPr>
          <a:xfrm>
            <a:off x="3454343" y="2183433"/>
            <a:ext cx="2302332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 · DATA OVERLOAD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7"/>
          <p:cNvSpPr/>
          <p:nvPr/>
        </p:nvSpPr>
        <p:spPr>
          <a:xfrm>
            <a:off x="3454343" y="2324158"/>
            <a:ext cx="2302332" cy="16142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000"/>
              <a:buFont typeface="Manrope"/>
              <a:buNone/>
            </a:pPr>
            <a:r>
              <a:rPr b="1" i="0" lang="en-GB" sz="1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More logs than any team can read.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7"/>
          <p:cNvSpPr/>
          <p:nvPr/>
        </p:nvSpPr>
        <p:spPr>
          <a:xfrm>
            <a:off x="3454343" y="2533179"/>
            <a:ext cx="2302332" cy="24758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We generate more logs, tickets, and emails than any human can read. We need AI to triage this massive influx.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7"/>
          <p:cNvSpPr/>
          <p:nvPr/>
        </p:nvSpPr>
        <p:spPr>
          <a:xfrm>
            <a:off x="5994383" y="1803011"/>
            <a:ext cx="2540042" cy="1752038"/>
          </a:xfrm>
          <a:prstGeom prst="roundRect">
            <a:avLst>
              <a:gd fmla="val 4349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7"/>
          <p:cNvSpPr/>
          <p:nvPr/>
        </p:nvSpPr>
        <p:spPr>
          <a:xfrm>
            <a:off x="5994383" y="1803012"/>
            <a:ext cx="2540042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7"/>
          <p:cNvSpPr/>
          <p:nvPr/>
        </p:nvSpPr>
        <p:spPr>
          <a:xfrm>
            <a:off x="6146768" y="1973916"/>
            <a:ext cx="2302332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1100"/>
              <a:buFont typeface="Manrope"/>
              <a:buNone/>
            </a:pPr>
            <a:r>
              <a:rPr b="0" i="0" lang="en-GB" sz="11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🧠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7"/>
          <p:cNvSpPr/>
          <p:nvPr/>
        </p:nvSpPr>
        <p:spPr>
          <a:xfrm>
            <a:off x="6146768" y="2183433"/>
            <a:ext cx="2302332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 · CAREER RESILIENCE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6146768" y="2324158"/>
            <a:ext cx="2302332" cy="16142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000"/>
              <a:buFont typeface="Manrope"/>
              <a:buNone/>
            </a:pPr>
            <a:r>
              <a:rPr b="1" i="0" lang="en-GB" sz="1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From task-doer to orchestrator.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7"/>
          <p:cNvSpPr/>
          <p:nvPr/>
        </p:nvSpPr>
        <p:spPr>
          <a:xfrm>
            <a:off x="6146768" y="2533179"/>
            <a:ext cx="2302332" cy="24758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Understanding AI elevates you from a task-doer to an orchestrator, significantly increasing your professional value.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7"/>
          <p:cNvSpPr/>
          <p:nvPr/>
        </p:nvSpPr>
        <p:spPr>
          <a:xfrm>
            <a:off x="609575" y="4824967"/>
            <a:ext cx="1062244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L&amp;D · AI 104 · Module 01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7"/>
          <p:cNvSpPr/>
          <p:nvPr/>
        </p:nvSpPr>
        <p:spPr>
          <a:xfrm>
            <a:off x="8235694" y="4824967"/>
            <a:ext cx="336831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 / 62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242" y="284408"/>
            <a:ext cx="336900" cy="284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8"/>
          <p:cNvSpPr/>
          <p:nvPr/>
        </p:nvSpPr>
        <p:spPr>
          <a:xfrm>
            <a:off x="609575" y="328042"/>
            <a:ext cx="180950" cy="1809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8"/>
          <p:cNvSpPr/>
          <p:nvPr/>
        </p:nvSpPr>
        <p:spPr>
          <a:xfrm>
            <a:off x="857167" y="304767"/>
            <a:ext cx="77715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GlobalLogic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857167" y="447642"/>
            <a:ext cx="777156" cy="1037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Manrope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Manrope"/>
                <a:ea typeface="Manrope"/>
                <a:cs typeface="Manrope"/>
                <a:sym typeface="Manrope"/>
              </a:rPr>
              <a:t>A Hitachi Group Company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7984629" y="377527"/>
            <a:ext cx="587896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CONFIDENTIAL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8"/>
          <p:cNvSpPr/>
          <p:nvPr/>
        </p:nvSpPr>
        <p:spPr>
          <a:xfrm>
            <a:off x="609575" y="952500"/>
            <a:ext cx="8162596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A WORKING DEFINITION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8"/>
          <p:cNvSpPr/>
          <p:nvPr/>
        </p:nvSpPr>
        <p:spPr>
          <a:xfrm>
            <a:off x="609575" y="1185829"/>
            <a:ext cx="8162596" cy="79626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000"/>
              <a:buFont typeface="Manrope"/>
              <a:buNone/>
            </a:pP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AI is the field of CS that builds systems capable of </a:t>
            </a:r>
            <a:r>
              <a:rPr b="1" i="0" lang="en-GB" sz="30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human-like tasks</a:t>
            </a: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609575" y="2048744"/>
            <a:ext cx="6867526" cy="1709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800"/>
              <a:buFont typeface="Manrope"/>
              <a:buNone/>
            </a:pPr>
            <a:r>
              <a:rPr b="0" i="0" lang="en-GB" sz="8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Three capabilities define the boundary: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8"/>
          <p:cNvSpPr/>
          <p:nvPr/>
        </p:nvSpPr>
        <p:spPr>
          <a:xfrm>
            <a:off x="609575" y="2372073"/>
            <a:ext cx="1670059" cy="440076"/>
          </a:xfrm>
          <a:prstGeom prst="roundRect">
            <a:avLst>
              <a:gd fmla="val 15151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8"/>
          <p:cNvSpPr/>
          <p:nvPr/>
        </p:nvSpPr>
        <p:spPr>
          <a:xfrm>
            <a:off x="609575" y="2372073"/>
            <a:ext cx="1670059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8"/>
          <p:cNvSpPr/>
          <p:nvPr/>
        </p:nvSpPr>
        <p:spPr>
          <a:xfrm>
            <a:off x="723842" y="2485844"/>
            <a:ext cx="1484770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CAPABILITY 01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8"/>
          <p:cNvSpPr/>
          <p:nvPr/>
        </p:nvSpPr>
        <p:spPr>
          <a:xfrm>
            <a:off x="723842" y="2596431"/>
            <a:ext cx="1484770" cy="13951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Learning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8"/>
          <p:cNvSpPr/>
          <p:nvPr/>
        </p:nvSpPr>
        <p:spPr>
          <a:xfrm>
            <a:off x="2393901" y="2372073"/>
            <a:ext cx="1670058" cy="440076"/>
          </a:xfrm>
          <a:prstGeom prst="roundRect">
            <a:avLst>
              <a:gd fmla="val 15151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8"/>
          <p:cNvSpPr/>
          <p:nvPr/>
        </p:nvSpPr>
        <p:spPr>
          <a:xfrm>
            <a:off x="2393901" y="2372073"/>
            <a:ext cx="1670058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8"/>
          <p:cNvSpPr/>
          <p:nvPr/>
        </p:nvSpPr>
        <p:spPr>
          <a:xfrm>
            <a:off x="2508168" y="2485844"/>
            <a:ext cx="1484770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CAPABILITY 02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2508168" y="2596431"/>
            <a:ext cx="1484770" cy="13951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Reasoning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4178226" y="2372073"/>
            <a:ext cx="1670059" cy="440076"/>
          </a:xfrm>
          <a:prstGeom prst="roundRect">
            <a:avLst>
              <a:gd fmla="val 15151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8"/>
          <p:cNvSpPr/>
          <p:nvPr/>
        </p:nvSpPr>
        <p:spPr>
          <a:xfrm>
            <a:off x="4178226" y="2372073"/>
            <a:ext cx="1670059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8"/>
          <p:cNvSpPr/>
          <p:nvPr/>
        </p:nvSpPr>
        <p:spPr>
          <a:xfrm>
            <a:off x="4292493" y="2485844"/>
            <a:ext cx="1484770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CAPABILITY 03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8"/>
          <p:cNvSpPr/>
          <p:nvPr/>
        </p:nvSpPr>
        <p:spPr>
          <a:xfrm>
            <a:off x="4292493" y="2596431"/>
            <a:ext cx="1484770" cy="13951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Self-correction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8"/>
          <p:cNvSpPr/>
          <p:nvPr/>
        </p:nvSpPr>
        <p:spPr>
          <a:xfrm>
            <a:off x="609575" y="3040724"/>
            <a:ext cx="3848117" cy="1171567"/>
          </a:xfrm>
          <a:prstGeom prst="roundRect">
            <a:avLst>
              <a:gd fmla="val 7317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8"/>
          <p:cNvSpPr/>
          <p:nvPr/>
        </p:nvSpPr>
        <p:spPr>
          <a:xfrm>
            <a:off x="821738" y="3233870"/>
            <a:ext cx="3526505" cy="19049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1400"/>
              <a:buFont typeface="Manrope"/>
              <a:buNone/>
            </a:pPr>
            <a:r>
              <a:rPr b="0" i="0" lang="en-GB" sz="14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▢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821738" y="3481504"/>
            <a:ext cx="3526505" cy="20905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400"/>
              <a:buFont typeface="Manrope"/>
              <a:buNone/>
            </a:pPr>
            <a:r>
              <a:rPr b="1" i="0" lang="en-GB" sz="14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Standard Software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8"/>
          <p:cNvSpPr/>
          <p:nvPr/>
        </p:nvSpPr>
        <p:spPr>
          <a:xfrm>
            <a:off x="821738" y="3747699"/>
            <a:ext cx="3526505" cy="2904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700"/>
              <a:buFont typeface="Manrope"/>
              <a:buNone/>
            </a:pPr>
            <a:r>
              <a:rPr b="0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Follows a rigid, set formula for predictable inputs. Behaviour is deterministic and falls over the moment reality is messy.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/>
          <p:nvPr/>
        </p:nvSpPr>
        <p:spPr>
          <a:xfrm>
            <a:off x="4686267" y="3040724"/>
            <a:ext cx="3848158" cy="1171567"/>
          </a:xfrm>
          <a:prstGeom prst="roundRect">
            <a:avLst>
              <a:gd fmla="val 7317" name="adj"/>
            </a:avLst>
          </a:prstGeom>
          <a:solidFill>
            <a:srgbClr val="FFF7F1"/>
          </a:solidFill>
          <a:ln cap="flat" cmpd="sng" w="9525">
            <a:solidFill>
              <a:srgbClr val="FFD7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8"/>
          <p:cNvSpPr/>
          <p:nvPr/>
        </p:nvSpPr>
        <p:spPr>
          <a:xfrm>
            <a:off x="4898430" y="3233870"/>
            <a:ext cx="3526547" cy="19049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1400"/>
              <a:buFont typeface="Manrope"/>
              <a:buNone/>
            </a:pPr>
            <a:r>
              <a:rPr b="0" i="0" lang="en-GB" sz="14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✦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4898430" y="3481504"/>
            <a:ext cx="3526547" cy="20905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400"/>
              <a:buFont typeface="Manrope"/>
              <a:buNone/>
            </a:pPr>
            <a:r>
              <a:rPr b="1" i="0" lang="en-GB" sz="14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Artificial Intelligence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4898430" y="3747699"/>
            <a:ext cx="3526547" cy="2904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700"/>
              <a:buFont typeface="Manrope"/>
              <a:buNone/>
            </a:pPr>
            <a:r>
              <a:rPr b="0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Interprets messy, real-world data — like a blurry photo or a sarcastic email — and produces a useful response.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609575" y="4824967"/>
            <a:ext cx="1062244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L&amp;D · AI 104 · Module 01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8235694" y="4824967"/>
            <a:ext cx="336831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 / 62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9" name="Google Shape;15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242" y="251507"/>
            <a:ext cx="336900" cy="284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9"/>
          <p:cNvSpPr/>
          <p:nvPr/>
        </p:nvSpPr>
        <p:spPr>
          <a:xfrm>
            <a:off x="609575" y="328042"/>
            <a:ext cx="180950" cy="1809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9"/>
          <p:cNvSpPr/>
          <p:nvPr/>
        </p:nvSpPr>
        <p:spPr>
          <a:xfrm>
            <a:off x="857167" y="304767"/>
            <a:ext cx="77715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GlobalLogic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857167" y="447642"/>
            <a:ext cx="777156" cy="1037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Manrope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Manrope"/>
                <a:ea typeface="Manrope"/>
                <a:cs typeface="Manrope"/>
                <a:sym typeface="Manrope"/>
              </a:rPr>
              <a:t>A Hitachi Group Company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9"/>
          <p:cNvSpPr/>
          <p:nvPr/>
        </p:nvSpPr>
        <p:spPr>
          <a:xfrm>
            <a:off x="7984629" y="377527"/>
            <a:ext cx="587896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CONFIDENTIAL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609575" y="952500"/>
            <a:ext cx="8162596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THE CAPABILITY MATRIX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9"/>
          <p:cNvSpPr/>
          <p:nvPr/>
        </p:nvSpPr>
        <p:spPr>
          <a:xfrm>
            <a:off x="609575" y="1185829"/>
            <a:ext cx="8162596" cy="79626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000"/>
              <a:buFont typeface="Manrope"/>
              <a:buNone/>
            </a:pP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Weak vs. Strong AI — and where </a:t>
            </a:r>
            <a:r>
              <a:rPr b="1" i="0" lang="en-GB" sz="30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we actually live </a:t>
            </a: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9"/>
          <p:cNvSpPr/>
          <p:nvPr/>
        </p:nvSpPr>
        <p:spPr>
          <a:xfrm>
            <a:off x="609575" y="2134485"/>
            <a:ext cx="1181034" cy="315599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9"/>
          <p:cNvSpPr/>
          <p:nvPr/>
        </p:nvSpPr>
        <p:spPr>
          <a:xfrm>
            <a:off x="609575" y="2447438"/>
            <a:ext cx="1181034" cy="4763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9"/>
          <p:cNvSpPr/>
          <p:nvPr/>
        </p:nvSpPr>
        <p:spPr>
          <a:xfrm>
            <a:off x="723875" y="2220210"/>
            <a:ext cx="990534" cy="16055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Feature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1790609" y="2134485"/>
            <a:ext cx="3633639" cy="315599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9"/>
          <p:cNvSpPr/>
          <p:nvPr/>
        </p:nvSpPr>
        <p:spPr>
          <a:xfrm>
            <a:off x="1790609" y="2447438"/>
            <a:ext cx="3633639" cy="4763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9"/>
          <p:cNvSpPr/>
          <p:nvPr/>
        </p:nvSpPr>
        <p:spPr>
          <a:xfrm>
            <a:off x="1904909" y="2220210"/>
            <a:ext cx="3514048" cy="16055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Weak / Narrow AI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5424248" y="2134485"/>
            <a:ext cx="3110178" cy="315599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9"/>
          <p:cNvSpPr/>
          <p:nvPr/>
        </p:nvSpPr>
        <p:spPr>
          <a:xfrm>
            <a:off x="5424248" y="2447438"/>
            <a:ext cx="3110178" cy="4763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9"/>
          <p:cNvSpPr/>
          <p:nvPr/>
        </p:nvSpPr>
        <p:spPr>
          <a:xfrm>
            <a:off x="5538548" y="2220210"/>
            <a:ext cx="2974883" cy="16055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Strong / General AI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609575" y="2745796"/>
            <a:ext cx="1181034" cy="4763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9"/>
          <p:cNvSpPr/>
          <p:nvPr/>
        </p:nvSpPr>
        <p:spPr>
          <a:xfrm>
            <a:off x="723875" y="2535808"/>
            <a:ext cx="990534" cy="1433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DEFINITION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1790609" y="2745796"/>
            <a:ext cx="3633639" cy="4763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9"/>
          <p:cNvSpPr/>
          <p:nvPr/>
        </p:nvSpPr>
        <p:spPr>
          <a:xfrm>
            <a:off x="1904909" y="2535808"/>
            <a:ext cx="3514048" cy="1433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700"/>
              <a:buFont typeface="Manrope"/>
              <a:buNone/>
            </a:pPr>
            <a:r>
              <a:rPr b="0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Designed and trained for a specific task.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5424248" y="2745796"/>
            <a:ext cx="3110178" cy="4763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9"/>
          <p:cNvSpPr/>
          <p:nvPr/>
        </p:nvSpPr>
        <p:spPr>
          <a:xfrm>
            <a:off x="5538548" y="2535808"/>
            <a:ext cx="2974883" cy="1433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700"/>
              <a:buFont typeface="Manrope"/>
              <a:buNone/>
            </a:pPr>
            <a:r>
              <a:rPr b="0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Full cognitive abilities of a human.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609575" y="3044156"/>
            <a:ext cx="1181034" cy="4763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9"/>
          <p:cNvSpPr/>
          <p:nvPr/>
        </p:nvSpPr>
        <p:spPr>
          <a:xfrm>
            <a:off x="723875" y="2834167"/>
            <a:ext cx="990534" cy="1433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AWARENESS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1790609" y="3044156"/>
            <a:ext cx="3633639" cy="4763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9"/>
          <p:cNvSpPr/>
          <p:nvPr/>
        </p:nvSpPr>
        <p:spPr>
          <a:xfrm>
            <a:off x="1904909" y="2834167"/>
            <a:ext cx="3514048" cy="1433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700"/>
              <a:buFont typeface="Manrope"/>
              <a:buNone/>
            </a:pPr>
            <a:r>
              <a:rPr b="0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No consciousness or genuine understanding.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5424248" y="3044156"/>
            <a:ext cx="3110178" cy="4763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9"/>
          <p:cNvSpPr/>
          <p:nvPr/>
        </p:nvSpPr>
        <p:spPr>
          <a:xfrm>
            <a:off x="5538548" y="2834167"/>
            <a:ext cx="2974883" cy="1433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700"/>
              <a:buFont typeface="Manrope"/>
              <a:buNone/>
            </a:pPr>
            <a:r>
              <a:rPr b="0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Self-aware; can reason, plan, and feel.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609575" y="3342514"/>
            <a:ext cx="1181034" cy="4763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9"/>
          <p:cNvSpPr/>
          <p:nvPr/>
        </p:nvSpPr>
        <p:spPr>
          <a:xfrm>
            <a:off x="723875" y="3132526"/>
            <a:ext cx="990534" cy="1433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EXAMPLES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1790609" y="3342514"/>
            <a:ext cx="3633639" cy="4763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9"/>
          <p:cNvSpPr/>
          <p:nvPr/>
        </p:nvSpPr>
        <p:spPr>
          <a:xfrm>
            <a:off x="1904909" y="3132526"/>
            <a:ext cx="3514048" cy="1433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Siri, Spam Filters, ChatGPT, Support Bots.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5424248" y="3342514"/>
            <a:ext cx="3110178" cy="4763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9"/>
          <p:cNvSpPr/>
          <p:nvPr/>
        </p:nvSpPr>
        <p:spPr>
          <a:xfrm>
            <a:off x="5538548" y="3132526"/>
            <a:ext cx="2974883" cy="1433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JARVIS. HAL 9000.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609575" y="3640874"/>
            <a:ext cx="1181034" cy="4763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9"/>
          <p:cNvSpPr/>
          <p:nvPr/>
        </p:nvSpPr>
        <p:spPr>
          <a:xfrm>
            <a:off x="723875" y="3430886"/>
            <a:ext cx="990534" cy="1433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CURRENT STATUS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1790609" y="3640874"/>
            <a:ext cx="3633639" cy="4763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9"/>
          <p:cNvSpPr/>
          <p:nvPr/>
        </p:nvSpPr>
        <p:spPr>
          <a:xfrm>
            <a:off x="1904909" y="3430886"/>
            <a:ext cx="3514048" cy="1433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Everywhere. </a:t>
            </a:r>
            <a:r>
              <a:rPr b="0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This is what we use today.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5424248" y="3640874"/>
            <a:ext cx="3110178" cy="4763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9"/>
          <p:cNvSpPr/>
          <p:nvPr/>
        </p:nvSpPr>
        <p:spPr>
          <a:xfrm>
            <a:off x="5538548" y="3430886"/>
            <a:ext cx="2974883" cy="1433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Theoretical. </a:t>
            </a:r>
            <a:r>
              <a:rPr b="0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It does not exist yet.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/>
          <p:cNvSpPr/>
          <p:nvPr/>
        </p:nvSpPr>
        <p:spPr>
          <a:xfrm>
            <a:off x="609575" y="4824967"/>
            <a:ext cx="1062244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L&amp;D · AI 104 · Module 01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9"/>
          <p:cNvSpPr/>
          <p:nvPr/>
        </p:nvSpPr>
        <p:spPr>
          <a:xfrm>
            <a:off x="8235694" y="4824967"/>
            <a:ext cx="336831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05 / 62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6" name="Google Shape;20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242" y="251507"/>
            <a:ext cx="336900" cy="284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0"/>
          <p:cNvSpPr/>
          <p:nvPr/>
        </p:nvSpPr>
        <p:spPr>
          <a:xfrm>
            <a:off x="609575" y="328042"/>
            <a:ext cx="180950" cy="1809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0"/>
          <p:cNvSpPr/>
          <p:nvPr/>
        </p:nvSpPr>
        <p:spPr>
          <a:xfrm>
            <a:off x="857167" y="304767"/>
            <a:ext cx="77715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GlobalLogic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857167" y="447642"/>
            <a:ext cx="777156" cy="1037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Manrope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Manrope"/>
                <a:ea typeface="Manrope"/>
                <a:cs typeface="Manrope"/>
                <a:sym typeface="Manrope"/>
              </a:rPr>
              <a:t>A Hitachi Group Company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7984629" y="377527"/>
            <a:ext cx="587896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CONFIDENTIAL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0"/>
          <p:cNvSpPr/>
          <p:nvPr/>
        </p:nvSpPr>
        <p:spPr>
          <a:xfrm>
            <a:off x="609575" y="952500"/>
            <a:ext cx="8162596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KEY MINDSET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609575" y="1185829"/>
            <a:ext cx="8162596" cy="40765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000"/>
              <a:buFont typeface="Manrope"/>
              <a:buNone/>
            </a:pP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Direct the technology before </a:t>
            </a:r>
            <a:r>
              <a:rPr b="1" i="0" lang="en-GB" sz="30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it directs you</a:t>
            </a: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609575" y="1660137"/>
            <a:ext cx="7358063" cy="3228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800"/>
              <a:buFont typeface="Manrope"/>
              <a:buNone/>
            </a:pPr>
            <a:r>
              <a:rPr b="0" i="0" lang="en-GB" sz="8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AI isn't replacing support &amp; ops professionals — it's eliminating the boring parts so humans can focus on the complex, creative, and human elements that machines genuinely cannot replicate.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609575" y="2135353"/>
            <a:ext cx="3848117" cy="1467859"/>
          </a:xfrm>
          <a:prstGeom prst="roundRect">
            <a:avLst>
              <a:gd fmla="val 5840" name="adj"/>
            </a:avLst>
          </a:prstGeom>
          <a:solidFill>
            <a:srgbClr val="FFF7F1"/>
          </a:solidFill>
          <a:ln cap="flat" cmpd="sng" w="9525">
            <a:solidFill>
              <a:srgbClr val="FFD7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0"/>
          <p:cNvSpPr/>
          <p:nvPr/>
        </p:nvSpPr>
        <p:spPr>
          <a:xfrm>
            <a:off x="821738" y="2328499"/>
            <a:ext cx="3526505" cy="20905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400"/>
              <a:buFont typeface="Manrope"/>
              <a:buNone/>
            </a:pPr>
            <a:r>
              <a:rPr b="1" i="0" lang="en-GB" sz="14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✓ What AI does well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765064" y="2594694"/>
            <a:ext cx="3518565" cy="83442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Process large volumes of routine requests without fatigue.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Surface patterns humans would miss across thousands of data points.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Draft consistent first responses at scale.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Classify and route with high accuracy when trained correctly.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Summarize long threads and incident logs instantly.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4686267" y="2135353"/>
            <a:ext cx="3848158" cy="1467859"/>
          </a:xfrm>
          <a:prstGeom prst="roundRect">
            <a:avLst>
              <a:gd fmla="val 5840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0"/>
          <p:cNvSpPr/>
          <p:nvPr/>
        </p:nvSpPr>
        <p:spPr>
          <a:xfrm>
            <a:off x="4898430" y="2328499"/>
            <a:ext cx="3526547" cy="20905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400"/>
              <a:buFont typeface="Manrope"/>
              <a:buNone/>
            </a:pPr>
            <a:r>
              <a:rPr b="1" i="0" lang="en-GB" sz="14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⚠ What AI still can't do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0"/>
          <p:cNvSpPr/>
          <p:nvPr/>
        </p:nvSpPr>
        <p:spPr>
          <a:xfrm>
            <a:off x="4841757" y="2594694"/>
            <a:ext cx="3518607" cy="83442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Exercise genuine empathy in complex emotional situations.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Make judgment calls that require full business context.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Handle novel edge cases it hasn't been trained on reliably.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Take accountability for outcomes.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Replace the human relationship in high-stakes escalations.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0"/>
          <p:cNvSpPr/>
          <p:nvPr/>
        </p:nvSpPr>
        <p:spPr>
          <a:xfrm>
            <a:off x="609575" y="4824967"/>
            <a:ext cx="1062244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L&amp;D · AI 104 · Module 01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0"/>
          <p:cNvSpPr/>
          <p:nvPr/>
        </p:nvSpPr>
        <p:spPr>
          <a:xfrm>
            <a:off x="8235694" y="4824967"/>
            <a:ext cx="336831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06 / 62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7" name="Google Shape;22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242" y="251507"/>
            <a:ext cx="336900" cy="284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1"/>
          <p:cNvSpPr/>
          <p:nvPr/>
        </p:nvSpPr>
        <p:spPr>
          <a:xfrm>
            <a:off x="609575" y="328042"/>
            <a:ext cx="180950" cy="1809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1"/>
          <p:cNvSpPr/>
          <p:nvPr/>
        </p:nvSpPr>
        <p:spPr>
          <a:xfrm>
            <a:off x="857167" y="304767"/>
            <a:ext cx="77715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GlobalLogic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1"/>
          <p:cNvSpPr/>
          <p:nvPr/>
        </p:nvSpPr>
        <p:spPr>
          <a:xfrm>
            <a:off x="857167" y="447642"/>
            <a:ext cx="777156" cy="1037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Manrope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Manrope"/>
                <a:ea typeface="Manrope"/>
                <a:cs typeface="Manrope"/>
                <a:sym typeface="Manrope"/>
              </a:rPr>
              <a:t>A Hitachi Group Company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1"/>
          <p:cNvSpPr/>
          <p:nvPr/>
        </p:nvSpPr>
        <p:spPr>
          <a:xfrm>
            <a:off x="7984629" y="377527"/>
            <a:ext cx="587896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CONFIDENTIAL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1"/>
          <p:cNvSpPr/>
          <p:nvPr/>
        </p:nvSpPr>
        <p:spPr>
          <a:xfrm>
            <a:off x="609575" y="952500"/>
            <a:ext cx="8162596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TWO MODES OF OPERATIONAL AI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1"/>
          <p:cNvSpPr/>
          <p:nvPr/>
        </p:nvSpPr>
        <p:spPr>
          <a:xfrm>
            <a:off x="609575" y="1185829"/>
            <a:ext cx="8162596" cy="40765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000"/>
              <a:buFont typeface="Manrope"/>
              <a:buNone/>
            </a:pP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The Forecaster &amp; </a:t>
            </a:r>
            <a:r>
              <a:rPr b="1" i="0" lang="en-GB" sz="30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the Creator</a:t>
            </a: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1"/>
          <p:cNvSpPr/>
          <p:nvPr/>
        </p:nvSpPr>
        <p:spPr>
          <a:xfrm>
            <a:off x="609575" y="1803012"/>
            <a:ext cx="3848117" cy="1623012"/>
          </a:xfrm>
          <a:prstGeom prst="roundRect">
            <a:avLst>
              <a:gd fmla="val 5282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1"/>
          <p:cNvSpPr/>
          <p:nvPr/>
        </p:nvSpPr>
        <p:spPr>
          <a:xfrm>
            <a:off x="821738" y="1996158"/>
            <a:ext cx="3526505" cy="19049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1400"/>
              <a:buFont typeface="Manrope"/>
              <a:buNone/>
            </a:pPr>
            <a:r>
              <a:rPr b="0" i="0" lang="en-GB" sz="14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📈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1"/>
          <p:cNvSpPr/>
          <p:nvPr/>
        </p:nvSpPr>
        <p:spPr>
          <a:xfrm>
            <a:off x="821738" y="2243791"/>
            <a:ext cx="3526505" cy="20905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400"/>
              <a:buFont typeface="Manrope"/>
              <a:buNone/>
            </a:pPr>
            <a:r>
              <a:rPr b="1" i="0" lang="en-GB" sz="14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Predictive AI — the Forecaster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1"/>
          <p:cNvSpPr/>
          <p:nvPr/>
        </p:nvSpPr>
        <p:spPr>
          <a:xfrm>
            <a:off x="926455" y="2512633"/>
            <a:ext cx="1288009" cy="130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Uses statistical algorithms to find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1"/>
          <p:cNvSpPr/>
          <p:nvPr/>
        </p:nvSpPr>
        <p:spPr>
          <a:xfrm>
            <a:off x="2243006" y="2509987"/>
            <a:ext cx="696789" cy="1364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1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if-this-then-that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1"/>
          <p:cNvSpPr/>
          <p:nvPr/>
        </p:nvSpPr>
        <p:spPr>
          <a:xfrm>
            <a:off x="2968335" y="2512633"/>
            <a:ext cx="1263493" cy="130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correlations in massive datasets.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1"/>
          <p:cNvSpPr/>
          <p:nvPr/>
        </p:nvSpPr>
        <p:spPr>
          <a:xfrm>
            <a:off x="821738" y="2684488"/>
            <a:ext cx="3526505" cy="1364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Doesn't create — it categorizes or calculates probability.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1"/>
          <p:cNvSpPr/>
          <p:nvPr/>
        </p:nvSpPr>
        <p:spPr>
          <a:xfrm>
            <a:off x="821738" y="2878047"/>
            <a:ext cx="514846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OPS EXAMPLE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1"/>
          <p:cNvSpPr/>
          <p:nvPr/>
        </p:nvSpPr>
        <p:spPr>
          <a:xfrm>
            <a:off x="821738" y="2998143"/>
            <a:ext cx="3526505" cy="25378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Analyzes ticket sentiment to predict if a customer is at high risk of canceling based on past frustration.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1"/>
          <p:cNvSpPr/>
          <p:nvPr/>
        </p:nvSpPr>
        <p:spPr>
          <a:xfrm>
            <a:off x="4686267" y="1803012"/>
            <a:ext cx="3848158" cy="1623012"/>
          </a:xfrm>
          <a:prstGeom prst="roundRect">
            <a:avLst>
              <a:gd fmla="val 5282" name="adj"/>
            </a:avLst>
          </a:prstGeom>
          <a:solidFill>
            <a:srgbClr val="1B1F2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1"/>
          <p:cNvSpPr/>
          <p:nvPr/>
        </p:nvSpPr>
        <p:spPr>
          <a:xfrm>
            <a:off x="4898430" y="1996158"/>
            <a:ext cx="3526547" cy="19049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1400"/>
              <a:buFont typeface="Manrope"/>
              <a:buNone/>
            </a:pPr>
            <a:r>
              <a:rPr b="0" i="0" lang="en-GB" sz="14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✨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1"/>
          <p:cNvSpPr/>
          <p:nvPr/>
        </p:nvSpPr>
        <p:spPr>
          <a:xfrm>
            <a:off x="4898430" y="2243791"/>
            <a:ext cx="3526547" cy="20905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nrope"/>
              <a:buNone/>
            </a:pPr>
            <a:r>
              <a:rPr b="1" i="0" lang="en-GB" sz="14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Generative AI — the Creator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1"/>
          <p:cNvSpPr/>
          <p:nvPr/>
        </p:nvSpPr>
        <p:spPr>
          <a:xfrm>
            <a:off x="4841757" y="2509987"/>
            <a:ext cx="3518607" cy="31091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Learns the distribution of data from billions of examples.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Predicts the next likely piece of data to build original output.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1"/>
          <p:cNvSpPr/>
          <p:nvPr/>
        </p:nvSpPr>
        <p:spPr>
          <a:xfrm>
            <a:off x="4898430" y="2995415"/>
            <a:ext cx="514846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OPS EXAMPLE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1"/>
          <p:cNvSpPr/>
          <p:nvPr/>
        </p:nvSpPr>
        <p:spPr>
          <a:xfrm>
            <a:off x="4898430" y="3115510"/>
            <a:ext cx="3526547" cy="1364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A pro provides bullet points; AI generates a full, formatted SOP in seconds.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1"/>
          <p:cNvSpPr/>
          <p:nvPr/>
        </p:nvSpPr>
        <p:spPr>
          <a:xfrm>
            <a:off x="609575" y="4824967"/>
            <a:ext cx="1062244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L&amp;D · AI 104 · Module 01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1"/>
          <p:cNvSpPr/>
          <p:nvPr/>
        </p:nvSpPr>
        <p:spPr>
          <a:xfrm>
            <a:off x="8235694" y="4824967"/>
            <a:ext cx="336831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07 / 62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6" name="Google Shape;25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242" y="251507"/>
            <a:ext cx="336900" cy="284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2"/>
          <p:cNvSpPr/>
          <p:nvPr/>
        </p:nvSpPr>
        <p:spPr>
          <a:xfrm>
            <a:off x="609575" y="328042"/>
            <a:ext cx="180950" cy="1809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2"/>
          <p:cNvSpPr/>
          <p:nvPr/>
        </p:nvSpPr>
        <p:spPr>
          <a:xfrm>
            <a:off x="857167" y="304767"/>
            <a:ext cx="77715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GlobalLogic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2"/>
          <p:cNvSpPr/>
          <p:nvPr/>
        </p:nvSpPr>
        <p:spPr>
          <a:xfrm>
            <a:off x="857167" y="447642"/>
            <a:ext cx="777156" cy="1037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Manrope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Manrope"/>
                <a:ea typeface="Manrope"/>
                <a:cs typeface="Manrope"/>
                <a:sym typeface="Manrope"/>
              </a:rPr>
              <a:t>A Hitachi Group Company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2"/>
          <p:cNvSpPr/>
          <p:nvPr/>
        </p:nvSpPr>
        <p:spPr>
          <a:xfrm>
            <a:off x="7984629" y="377527"/>
            <a:ext cx="587896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CONFIDENTIAL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2"/>
          <p:cNvSpPr/>
          <p:nvPr/>
        </p:nvSpPr>
        <p:spPr>
          <a:xfrm>
            <a:off x="609575" y="952500"/>
            <a:ext cx="8162596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GENERATIVE AI UNDERSTANDS CONTEXT, BUT REQUIRES EXPLICIT INSTRUCTION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2"/>
          <p:cNvSpPr/>
          <p:nvPr/>
        </p:nvSpPr>
        <p:spPr>
          <a:xfrm>
            <a:off x="609575" y="1185829"/>
            <a:ext cx="8162596" cy="40765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000"/>
              <a:buFont typeface="Manrope"/>
              <a:buNone/>
            </a:pP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System types &amp; the </a:t>
            </a:r>
            <a:r>
              <a:rPr b="1" i="0" lang="en-GB" sz="30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context-window funnel</a:t>
            </a: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2"/>
          <p:cNvSpPr/>
          <p:nvPr/>
        </p:nvSpPr>
        <p:spPr>
          <a:xfrm>
            <a:off x="609575" y="1803012"/>
            <a:ext cx="4197946" cy="715822"/>
          </a:xfrm>
          <a:prstGeom prst="roundRect">
            <a:avLst>
              <a:gd fmla="val 11976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2"/>
          <p:cNvSpPr/>
          <p:nvPr/>
        </p:nvSpPr>
        <p:spPr>
          <a:xfrm>
            <a:off x="764604" y="1938983"/>
            <a:ext cx="4004524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 TYPE 01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2"/>
          <p:cNvSpPr/>
          <p:nvPr/>
        </p:nvSpPr>
        <p:spPr>
          <a:xfrm>
            <a:off x="764604" y="2059079"/>
            <a:ext cx="4004524" cy="16903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100"/>
              <a:buFont typeface="Manrope"/>
              <a:buNone/>
            </a:pPr>
            <a:r>
              <a:rPr b="1" i="0" lang="en-GB" sz="11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Large Language Models (Gen AI)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2"/>
          <p:cNvSpPr/>
          <p:nvPr/>
        </p:nvSpPr>
        <p:spPr>
          <a:xfrm>
            <a:off x="764604" y="2247140"/>
            <a:ext cx="4004524" cy="15477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700"/>
              <a:buFont typeface="Manrope"/>
              <a:buNone/>
            </a:pPr>
            <a:r>
              <a:rPr b="0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Understand &amp; generate text, adapt to novel situations — but make confident mistakes.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2"/>
          <p:cNvSpPr/>
          <p:nvPr/>
        </p:nvSpPr>
        <p:spPr>
          <a:xfrm>
            <a:off x="609575" y="2633101"/>
            <a:ext cx="4197946" cy="715822"/>
          </a:xfrm>
          <a:prstGeom prst="roundRect">
            <a:avLst>
              <a:gd fmla="val 11976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2"/>
          <p:cNvSpPr/>
          <p:nvPr/>
        </p:nvSpPr>
        <p:spPr>
          <a:xfrm>
            <a:off x="764604" y="2769072"/>
            <a:ext cx="4004524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 TYPE 02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2"/>
          <p:cNvSpPr/>
          <p:nvPr/>
        </p:nvSpPr>
        <p:spPr>
          <a:xfrm>
            <a:off x="764604" y="2889168"/>
            <a:ext cx="4004524" cy="16903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100"/>
              <a:buFont typeface="Manrope"/>
              <a:buNone/>
            </a:pPr>
            <a:r>
              <a:rPr b="1" i="0" lang="en-GB" sz="11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Classifiers (Classic AI)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2"/>
          <p:cNvSpPr/>
          <p:nvPr/>
        </p:nvSpPr>
        <p:spPr>
          <a:xfrm>
            <a:off x="764604" y="3077229"/>
            <a:ext cx="4004524" cy="15477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700"/>
              <a:buFont typeface="Manrope"/>
              <a:buNone/>
            </a:pPr>
            <a:r>
              <a:rPr b="0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Route tickets based on historical rules. High precision on clean data.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2"/>
          <p:cNvSpPr/>
          <p:nvPr/>
        </p:nvSpPr>
        <p:spPr>
          <a:xfrm>
            <a:off x="5036096" y="1803012"/>
            <a:ext cx="3498329" cy="2228784"/>
          </a:xfrm>
          <a:prstGeom prst="roundRect">
            <a:avLst>
              <a:gd fmla="val 3846" name="adj"/>
            </a:avLst>
          </a:prstGeom>
          <a:solidFill>
            <a:srgbClr val="FFF7F1"/>
          </a:solidFill>
          <a:ln cap="flat" cmpd="sng" w="9525">
            <a:solidFill>
              <a:srgbClr val="FFD7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2"/>
          <p:cNvSpPr/>
          <p:nvPr/>
        </p:nvSpPr>
        <p:spPr>
          <a:xfrm>
            <a:off x="5248258" y="1996158"/>
            <a:ext cx="3166224" cy="20905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400"/>
              <a:buFont typeface="Manrope"/>
              <a:buNone/>
            </a:pPr>
            <a:r>
              <a:rPr b="1" i="0" lang="en-GB" sz="14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The context-window funnel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2"/>
          <p:cNvSpPr/>
          <p:nvPr/>
        </p:nvSpPr>
        <p:spPr>
          <a:xfrm>
            <a:off x="5248258" y="2262353"/>
            <a:ext cx="3166224" cy="42621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700"/>
              <a:buFont typeface="Manrope"/>
              <a:buNone/>
            </a:pPr>
            <a:r>
              <a:rPr b="0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All information fed into the AI — instructions, history, documents — must fit within the context window. Prompt constraints shape the refined output.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2"/>
          <p:cNvSpPr/>
          <p:nvPr/>
        </p:nvSpPr>
        <p:spPr>
          <a:xfrm>
            <a:off x="5403288" y="2859981"/>
            <a:ext cx="2763945" cy="223242"/>
          </a:xfrm>
          <a:prstGeom prst="roundRect">
            <a:avLst>
              <a:gd fmla="val 12800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2"/>
          <p:cNvSpPr/>
          <p:nvPr/>
        </p:nvSpPr>
        <p:spPr>
          <a:xfrm>
            <a:off x="5514229" y="2926656"/>
            <a:ext cx="2542064" cy="10894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1B1F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INSTRUCTIONS · SYSTEM PROMPT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2"/>
          <p:cNvSpPr/>
          <p:nvPr/>
        </p:nvSpPr>
        <p:spPr>
          <a:xfrm>
            <a:off x="5649186" y="3111789"/>
            <a:ext cx="2272110" cy="223242"/>
          </a:xfrm>
          <a:prstGeom prst="roundRect">
            <a:avLst>
              <a:gd fmla="val 12800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2"/>
          <p:cNvSpPr/>
          <p:nvPr/>
        </p:nvSpPr>
        <p:spPr>
          <a:xfrm>
            <a:off x="5767504" y="3178464"/>
            <a:ext cx="2035473" cy="10894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1B1F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CONVERSATION HISTORY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2"/>
          <p:cNvSpPr/>
          <p:nvPr/>
        </p:nvSpPr>
        <p:spPr>
          <a:xfrm>
            <a:off x="5895124" y="3363599"/>
            <a:ext cx="1780274" cy="223242"/>
          </a:xfrm>
          <a:prstGeom prst="roundRect">
            <a:avLst>
              <a:gd fmla="val 12800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2"/>
          <p:cNvSpPr/>
          <p:nvPr/>
        </p:nvSpPr>
        <p:spPr>
          <a:xfrm>
            <a:off x="6020820" y="3430274"/>
            <a:ext cx="1528882" cy="10894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1B1F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REFERENCE DOCUMENTS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2"/>
          <p:cNvSpPr/>
          <p:nvPr/>
        </p:nvSpPr>
        <p:spPr>
          <a:xfrm>
            <a:off x="6141021" y="3615407"/>
            <a:ext cx="1288438" cy="223242"/>
          </a:xfrm>
          <a:prstGeom prst="roundRect">
            <a:avLst>
              <a:gd fmla="val 12800" name="adj"/>
            </a:avLst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2"/>
          <p:cNvSpPr/>
          <p:nvPr/>
        </p:nvSpPr>
        <p:spPr>
          <a:xfrm>
            <a:off x="6274094" y="3682082"/>
            <a:ext cx="1022292" cy="10894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REFINED OUTPUT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2"/>
          <p:cNvSpPr/>
          <p:nvPr/>
        </p:nvSpPr>
        <p:spPr>
          <a:xfrm>
            <a:off x="609575" y="4824967"/>
            <a:ext cx="1062244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L&amp;D · AI 104 · Module 01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2"/>
          <p:cNvSpPr/>
          <p:nvPr/>
        </p:nvSpPr>
        <p:spPr>
          <a:xfrm>
            <a:off x="8235694" y="4824967"/>
            <a:ext cx="336831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08 / 62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9" name="Google Shape;28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242" y="251507"/>
            <a:ext cx="336900" cy="284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3"/>
          <p:cNvSpPr/>
          <p:nvPr/>
        </p:nvSpPr>
        <p:spPr>
          <a:xfrm>
            <a:off x="609575" y="328042"/>
            <a:ext cx="180950" cy="1809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3"/>
          <p:cNvSpPr/>
          <p:nvPr/>
        </p:nvSpPr>
        <p:spPr>
          <a:xfrm>
            <a:off x="857167" y="304767"/>
            <a:ext cx="77715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GlobalLogic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3"/>
          <p:cNvSpPr/>
          <p:nvPr/>
        </p:nvSpPr>
        <p:spPr>
          <a:xfrm>
            <a:off x="857167" y="447642"/>
            <a:ext cx="777156" cy="1037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Manrope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Manrope"/>
                <a:ea typeface="Manrope"/>
                <a:cs typeface="Manrope"/>
                <a:sym typeface="Manrope"/>
              </a:rPr>
              <a:t>A Hitachi Group Company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3"/>
          <p:cNvSpPr/>
          <p:nvPr/>
        </p:nvSpPr>
        <p:spPr>
          <a:xfrm>
            <a:off x="7984629" y="377527"/>
            <a:ext cx="587896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CONFIDENTIAL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3"/>
          <p:cNvSpPr/>
          <p:nvPr/>
        </p:nvSpPr>
        <p:spPr>
          <a:xfrm>
            <a:off x="609575" y="952500"/>
            <a:ext cx="8162596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FOUR CORE CONCEPTS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3"/>
          <p:cNvSpPr/>
          <p:nvPr/>
        </p:nvSpPr>
        <p:spPr>
          <a:xfrm>
            <a:off x="609575" y="1185829"/>
            <a:ext cx="8162596" cy="40765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000"/>
              <a:buFont typeface="Manrope"/>
              <a:buNone/>
            </a:pP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The vocabulary of </a:t>
            </a:r>
            <a:r>
              <a:rPr b="1" i="0" lang="en-GB" sz="30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working with LLMs</a:t>
            </a: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3"/>
          <p:cNvSpPr/>
          <p:nvPr/>
        </p:nvSpPr>
        <p:spPr>
          <a:xfrm>
            <a:off x="609575" y="1803011"/>
            <a:ext cx="1895492" cy="1752038"/>
          </a:xfrm>
          <a:prstGeom prst="roundRect">
            <a:avLst>
              <a:gd fmla="val 4349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3"/>
          <p:cNvSpPr/>
          <p:nvPr/>
        </p:nvSpPr>
        <p:spPr>
          <a:xfrm>
            <a:off x="609575" y="1803012"/>
            <a:ext cx="1895492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3"/>
          <p:cNvSpPr/>
          <p:nvPr/>
        </p:nvSpPr>
        <p:spPr>
          <a:xfrm>
            <a:off x="761959" y="1973916"/>
            <a:ext cx="1638447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CONCEPT 01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3"/>
          <p:cNvSpPr/>
          <p:nvPr/>
        </p:nvSpPr>
        <p:spPr>
          <a:xfrm>
            <a:off x="761959" y="2114641"/>
            <a:ext cx="1638447" cy="16142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000"/>
              <a:buFont typeface="Manrope"/>
              <a:buNone/>
            </a:pPr>
            <a:r>
              <a:rPr b="1" i="0" lang="en-GB" sz="1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Prompt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3"/>
          <p:cNvSpPr/>
          <p:nvPr/>
        </p:nvSpPr>
        <p:spPr>
          <a:xfrm>
            <a:off x="761959" y="2323662"/>
            <a:ext cx="1638447" cy="24758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The instruction you give. Quality determines output.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3"/>
          <p:cNvSpPr/>
          <p:nvPr/>
        </p:nvSpPr>
        <p:spPr>
          <a:xfrm>
            <a:off x="2619334" y="1803011"/>
            <a:ext cx="1895533" cy="1752038"/>
          </a:xfrm>
          <a:prstGeom prst="roundRect">
            <a:avLst>
              <a:gd fmla="val 4349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3"/>
          <p:cNvSpPr/>
          <p:nvPr/>
        </p:nvSpPr>
        <p:spPr>
          <a:xfrm>
            <a:off x="2619334" y="1803012"/>
            <a:ext cx="1895533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3"/>
          <p:cNvSpPr/>
          <p:nvPr/>
        </p:nvSpPr>
        <p:spPr>
          <a:xfrm>
            <a:off x="2771717" y="1973916"/>
            <a:ext cx="1638489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CONCEPT 02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3"/>
          <p:cNvSpPr/>
          <p:nvPr/>
        </p:nvSpPr>
        <p:spPr>
          <a:xfrm>
            <a:off x="2771717" y="2114641"/>
            <a:ext cx="1638489" cy="16142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000"/>
              <a:buFont typeface="Manrope"/>
              <a:buNone/>
            </a:pPr>
            <a:r>
              <a:rPr b="1" i="0" lang="en-GB" sz="1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Context Window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3"/>
          <p:cNvSpPr/>
          <p:nvPr/>
        </p:nvSpPr>
        <p:spPr>
          <a:xfrm>
            <a:off x="2771717" y="2323662"/>
            <a:ext cx="1638489" cy="24758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How much information the AI can hold in mind at once.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3"/>
          <p:cNvSpPr/>
          <p:nvPr/>
        </p:nvSpPr>
        <p:spPr>
          <a:xfrm>
            <a:off x="4629133" y="1803011"/>
            <a:ext cx="1895492" cy="1752038"/>
          </a:xfrm>
          <a:prstGeom prst="roundRect">
            <a:avLst>
              <a:gd fmla="val 4349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3"/>
          <p:cNvSpPr/>
          <p:nvPr/>
        </p:nvSpPr>
        <p:spPr>
          <a:xfrm>
            <a:off x="4629133" y="1803012"/>
            <a:ext cx="1895492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3"/>
          <p:cNvSpPr/>
          <p:nvPr/>
        </p:nvSpPr>
        <p:spPr>
          <a:xfrm>
            <a:off x="4781517" y="1973916"/>
            <a:ext cx="1638446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CONCEPT 03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3"/>
          <p:cNvSpPr/>
          <p:nvPr/>
        </p:nvSpPr>
        <p:spPr>
          <a:xfrm>
            <a:off x="4781517" y="2114641"/>
            <a:ext cx="1638446" cy="16142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000"/>
              <a:buFont typeface="Manrope"/>
              <a:buNone/>
            </a:pPr>
            <a:r>
              <a:rPr b="1" i="0" lang="en-GB" sz="1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Hallucination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3"/>
          <p:cNvSpPr/>
          <p:nvPr/>
        </p:nvSpPr>
        <p:spPr>
          <a:xfrm>
            <a:off x="4781517" y="2323662"/>
            <a:ext cx="1638446" cy="24758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Plausible-sounding but factually incorrect generated information.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3"/>
          <p:cNvSpPr/>
          <p:nvPr/>
        </p:nvSpPr>
        <p:spPr>
          <a:xfrm>
            <a:off x="6638892" y="1803011"/>
            <a:ext cx="1895533" cy="1752038"/>
          </a:xfrm>
          <a:prstGeom prst="roundRect">
            <a:avLst>
              <a:gd fmla="val 4349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3"/>
          <p:cNvSpPr/>
          <p:nvPr/>
        </p:nvSpPr>
        <p:spPr>
          <a:xfrm>
            <a:off x="6638892" y="1803012"/>
            <a:ext cx="1895533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3"/>
          <p:cNvSpPr/>
          <p:nvPr/>
        </p:nvSpPr>
        <p:spPr>
          <a:xfrm>
            <a:off x="6791276" y="1973916"/>
            <a:ext cx="1638489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CONCEPT 04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3"/>
          <p:cNvSpPr/>
          <p:nvPr/>
        </p:nvSpPr>
        <p:spPr>
          <a:xfrm>
            <a:off x="6791276" y="2114641"/>
            <a:ext cx="1638489" cy="16142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000"/>
              <a:buFont typeface="Manrope"/>
              <a:buNone/>
            </a:pPr>
            <a:r>
              <a:rPr b="1" i="0" lang="en-GB" sz="1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Temperature / Confidence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3"/>
          <p:cNvSpPr/>
          <p:nvPr/>
        </p:nvSpPr>
        <p:spPr>
          <a:xfrm>
            <a:off x="6791276" y="2323662"/>
            <a:ext cx="1638489" cy="24758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Controls creativity vs. consistency. Lower = consistent; higher = varied.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3"/>
          <p:cNvSpPr/>
          <p:nvPr/>
        </p:nvSpPr>
        <p:spPr>
          <a:xfrm>
            <a:off x="609575" y="3669316"/>
            <a:ext cx="7924850" cy="787094"/>
          </a:xfrm>
          <a:prstGeom prst="roundRect">
            <a:avLst>
              <a:gd fmla="val 14522" name="adj"/>
            </a:avLst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3"/>
          <p:cNvSpPr/>
          <p:nvPr/>
        </p:nvSpPr>
        <p:spPr>
          <a:xfrm>
            <a:off x="781017" y="3774075"/>
            <a:ext cx="7809426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 TIP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3"/>
          <p:cNvSpPr/>
          <p:nvPr/>
        </p:nvSpPr>
        <p:spPr>
          <a:xfrm>
            <a:off x="781017" y="3978300"/>
            <a:ext cx="7809426" cy="15907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nrope"/>
              <a:buNone/>
            </a:pPr>
            <a:r>
              <a:rPr b="1" i="0" lang="en-GB" sz="11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Think of an LLM like a brilliant intern who has read everything ever written — but has never actually done the work.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3"/>
          <p:cNvSpPr/>
          <p:nvPr/>
        </p:nvSpPr>
        <p:spPr>
          <a:xfrm>
            <a:off x="781017" y="4223040"/>
            <a:ext cx="5886450" cy="1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Manrope"/>
              <a:buNone/>
            </a:pPr>
            <a:r>
              <a:rPr b="0" i="0" lang="en-GB" sz="7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They need supervision and explicit context. Always.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3"/>
          <p:cNvSpPr/>
          <p:nvPr/>
        </p:nvSpPr>
        <p:spPr>
          <a:xfrm>
            <a:off x="609575" y="4824967"/>
            <a:ext cx="1062244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L&amp;D · AI 104 · Module 01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3"/>
          <p:cNvSpPr/>
          <p:nvPr/>
        </p:nvSpPr>
        <p:spPr>
          <a:xfrm>
            <a:off x="8235694" y="4824967"/>
            <a:ext cx="336831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09 / 62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7" name="Google Shape;32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242" y="251507"/>
            <a:ext cx="336900" cy="284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4"/>
          <p:cNvSpPr/>
          <p:nvPr/>
        </p:nvSpPr>
        <p:spPr>
          <a:xfrm>
            <a:off x="609575" y="328042"/>
            <a:ext cx="180950" cy="1809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4"/>
          <p:cNvSpPr/>
          <p:nvPr/>
        </p:nvSpPr>
        <p:spPr>
          <a:xfrm>
            <a:off x="857167" y="304767"/>
            <a:ext cx="77715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GlobalLogic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4"/>
          <p:cNvSpPr/>
          <p:nvPr/>
        </p:nvSpPr>
        <p:spPr>
          <a:xfrm>
            <a:off x="857167" y="447642"/>
            <a:ext cx="777156" cy="1037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Manrope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Manrope"/>
                <a:ea typeface="Manrope"/>
                <a:cs typeface="Manrope"/>
                <a:sym typeface="Manrope"/>
              </a:rPr>
              <a:t>A Hitachi Group Company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4"/>
          <p:cNvSpPr/>
          <p:nvPr/>
        </p:nvSpPr>
        <p:spPr>
          <a:xfrm>
            <a:off x="7984629" y="377527"/>
            <a:ext cx="587896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CONFIDENTIAL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4"/>
          <p:cNvSpPr/>
          <p:nvPr/>
        </p:nvSpPr>
        <p:spPr>
          <a:xfrm>
            <a:off x="609575" y="952500"/>
            <a:ext cx="8162596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SUPPORT LIFECYCLE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4"/>
          <p:cNvSpPr/>
          <p:nvPr/>
        </p:nvSpPr>
        <p:spPr>
          <a:xfrm>
            <a:off x="609575" y="1185829"/>
            <a:ext cx="8162596" cy="40765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000"/>
              <a:buFont typeface="Manrope"/>
              <a:buNone/>
            </a:pP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AI intersects every stage of </a:t>
            </a:r>
            <a:r>
              <a:rPr b="1" i="0" lang="en-GB" sz="30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modern support</a:t>
            </a: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4"/>
          <p:cNvSpPr/>
          <p:nvPr/>
        </p:nvSpPr>
        <p:spPr>
          <a:xfrm>
            <a:off x="609575" y="1745878"/>
            <a:ext cx="1531648" cy="680227"/>
          </a:xfrm>
          <a:prstGeom prst="roundRect">
            <a:avLst>
              <a:gd fmla="val 980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4"/>
          <p:cNvSpPr/>
          <p:nvPr/>
        </p:nvSpPr>
        <p:spPr>
          <a:xfrm>
            <a:off x="609575" y="2423460"/>
            <a:ext cx="1531648" cy="4763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4"/>
          <p:cNvSpPr/>
          <p:nvPr/>
        </p:nvSpPr>
        <p:spPr>
          <a:xfrm>
            <a:off x="609575" y="1745878"/>
            <a:ext cx="1531648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4"/>
          <p:cNvSpPr/>
          <p:nvPr/>
        </p:nvSpPr>
        <p:spPr>
          <a:xfrm>
            <a:off x="609575" y="1745878"/>
            <a:ext cx="4763" cy="680227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24"/>
          <p:cNvSpPr/>
          <p:nvPr/>
        </p:nvSpPr>
        <p:spPr>
          <a:xfrm>
            <a:off x="2138578" y="1745878"/>
            <a:ext cx="4763" cy="680227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4"/>
          <p:cNvSpPr/>
          <p:nvPr/>
        </p:nvSpPr>
        <p:spPr>
          <a:xfrm>
            <a:off x="1337304" y="1869158"/>
            <a:ext cx="76192" cy="76192"/>
          </a:xfrm>
          <a:prstGeom prst="ellipse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24"/>
          <p:cNvSpPr/>
          <p:nvPr/>
        </p:nvSpPr>
        <p:spPr>
          <a:xfrm>
            <a:off x="697227" y="2002441"/>
            <a:ext cx="1356345" cy="11764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Ticket Creation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4"/>
          <p:cNvSpPr/>
          <p:nvPr/>
        </p:nvSpPr>
        <p:spPr>
          <a:xfrm>
            <a:off x="697227" y="2139115"/>
            <a:ext cx="1356345" cy="10884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500"/>
              <a:buFont typeface="Manrope"/>
              <a:buNone/>
            </a:pPr>
            <a:r>
              <a:rPr b="0" i="0" lang="en-GB" sz="5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Inbound interaction begins.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4"/>
          <p:cNvSpPr/>
          <p:nvPr/>
        </p:nvSpPr>
        <p:spPr>
          <a:xfrm>
            <a:off x="2207866" y="1745878"/>
            <a:ext cx="1531648" cy="680227"/>
          </a:xfrm>
          <a:prstGeom prst="roundRect">
            <a:avLst>
              <a:gd fmla="val 980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4"/>
          <p:cNvSpPr/>
          <p:nvPr/>
        </p:nvSpPr>
        <p:spPr>
          <a:xfrm>
            <a:off x="2207866" y="2423460"/>
            <a:ext cx="1531648" cy="4763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4"/>
          <p:cNvSpPr/>
          <p:nvPr/>
        </p:nvSpPr>
        <p:spPr>
          <a:xfrm>
            <a:off x="2207866" y="1745878"/>
            <a:ext cx="1531648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4"/>
          <p:cNvSpPr/>
          <p:nvPr/>
        </p:nvSpPr>
        <p:spPr>
          <a:xfrm>
            <a:off x="2207866" y="1745878"/>
            <a:ext cx="4763" cy="680227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4"/>
          <p:cNvSpPr/>
          <p:nvPr/>
        </p:nvSpPr>
        <p:spPr>
          <a:xfrm>
            <a:off x="3736868" y="1745878"/>
            <a:ext cx="4763" cy="680227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24"/>
          <p:cNvSpPr/>
          <p:nvPr/>
        </p:nvSpPr>
        <p:spPr>
          <a:xfrm>
            <a:off x="2935594" y="1869158"/>
            <a:ext cx="76192" cy="76192"/>
          </a:xfrm>
          <a:prstGeom prst="ellipse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4"/>
          <p:cNvSpPr/>
          <p:nvPr/>
        </p:nvSpPr>
        <p:spPr>
          <a:xfrm>
            <a:off x="2295517" y="2002441"/>
            <a:ext cx="1356345" cy="11764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Triage &amp; Routing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4"/>
          <p:cNvSpPr/>
          <p:nvPr/>
        </p:nvSpPr>
        <p:spPr>
          <a:xfrm>
            <a:off x="2295517" y="2139115"/>
            <a:ext cx="1356345" cy="19863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500"/>
              <a:buFont typeface="Manrope"/>
              <a:buNone/>
            </a:pPr>
            <a:r>
              <a:rPr b="0" i="0" lang="en-GB" sz="5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AI classifiers assign priority, category, and team — 85–95% accuracy on historical data.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4"/>
          <p:cNvSpPr/>
          <p:nvPr/>
        </p:nvSpPr>
        <p:spPr>
          <a:xfrm>
            <a:off x="3806155" y="1745878"/>
            <a:ext cx="1531648" cy="680227"/>
          </a:xfrm>
          <a:prstGeom prst="roundRect">
            <a:avLst>
              <a:gd fmla="val 980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4"/>
          <p:cNvSpPr/>
          <p:nvPr/>
        </p:nvSpPr>
        <p:spPr>
          <a:xfrm>
            <a:off x="3806155" y="2423460"/>
            <a:ext cx="1531648" cy="4763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24"/>
          <p:cNvSpPr/>
          <p:nvPr/>
        </p:nvSpPr>
        <p:spPr>
          <a:xfrm>
            <a:off x="3806155" y="1745878"/>
            <a:ext cx="1531648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24"/>
          <p:cNvSpPr/>
          <p:nvPr/>
        </p:nvSpPr>
        <p:spPr>
          <a:xfrm>
            <a:off x="3806156" y="1745878"/>
            <a:ext cx="4763" cy="680227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4"/>
          <p:cNvSpPr/>
          <p:nvPr/>
        </p:nvSpPr>
        <p:spPr>
          <a:xfrm>
            <a:off x="5335158" y="1745878"/>
            <a:ext cx="4763" cy="680227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24"/>
          <p:cNvSpPr/>
          <p:nvPr/>
        </p:nvSpPr>
        <p:spPr>
          <a:xfrm>
            <a:off x="4533883" y="1869158"/>
            <a:ext cx="76192" cy="76192"/>
          </a:xfrm>
          <a:prstGeom prst="ellipse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4"/>
          <p:cNvSpPr/>
          <p:nvPr/>
        </p:nvSpPr>
        <p:spPr>
          <a:xfrm>
            <a:off x="3893807" y="2002441"/>
            <a:ext cx="1356345" cy="11764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Knowledge Base &amp; Search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4"/>
          <p:cNvSpPr/>
          <p:nvPr/>
        </p:nvSpPr>
        <p:spPr>
          <a:xfrm>
            <a:off x="3893807" y="2139115"/>
            <a:ext cx="1356345" cy="19863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500"/>
              <a:buFont typeface="Manrope"/>
              <a:buNone/>
            </a:pPr>
            <a:r>
              <a:rPr b="0" i="0" lang="en-GB" sz="5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Semantic search connects user intent to articles without exact keyword matches.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4"/>
          <p:cNvSpPr/>
          <p:nvPr/>
        </p:nvSpPr>
        <p:spPr>
          <a:xfrm>
            <a:off x="5404446" y="1745878"/>
            <a:ext cx="1531648" cy="680227"/>
          </a:xfrm>
          <a:prstGeom prst="roundRect">
            <a:avLst>
              <a:gd fmla="val 980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4"/>
          <p:cNvSpPr/>
          <p:nvPr/>
        </p:nvSpPr>
        <p:spPr>
          <a:xfrm>
            <a:off x="5404446" y="2423460"/>
            <a:ext cx="1531648" cy="4763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4"/>
          <p:cNvSpPr/>
          <p:nvPr/>
        </p:nvSpPr>
        <p:spPr>
          <a:xfrm>
            <a:off x="5404446" y="1745878"/>
            <a:ext cx="1531648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4"/>
          <p:cNvSpPr/>
          <p:nvPr/>
        </p:nvSpPr>
        <p:spPr>
          <a:xfrm>
            <a:off x="5404446" y="1745878"/>
            <a:ext cx="4763" cy="680227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24"/>
          <p:cNvSpPr/>
          <p:nvPr/>
        </p:nvSpPr>
        <p:spPr>
          <a:xfrm>
            <a:off x="6933448" y="1745878"/>
            <a:ext cx="4763" cy="680227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24"/>
          <p:cNvSpPr/>
          <p:nvPr/>
        </p:nvSpPr>
        <p:spPr>
          <a:xfrm>
            <a:off x="6132174" y="1869158"/>
            <a:ext cx="76192" cy="76192"/>
          </a:xfrm>
          <a:prstGeom prst="ellipse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24"/>
          <p:cNvSpPr/>
          <p:nvPr/>
        </p:nvSpPr>
        <p:spPr>
          <a:xfrm>
            <a:off x="5492097" y="2002441"/>
            <a:ext cx="1356345" cy="11764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Response Drafting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4"/>
          <p:cNvSpPr/>
          <p:nvPr/>
        </p:nvSpPr>
        <p:spPr>
          <a:xfrm>
            <a:off x="5492097" y="2139115"/>
            <a:ext cx="1356345" cy="19863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500"/>
              <a:buFont typeface="Manrope"/>
              <a:buNone/>
            </a:pPr>
            <a:r>
              <a:rPr b="0" i="0" lang="en-GB" sz="5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Generates first drafts. Agents spend 40–60% less time composing replies.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4"/>
          <p:cNvSpPr/>
          <p:nvPr/>
        </p:nvSpPr>
        <p:spPr>
          <a:xfrm>
            <a:off x="7002736" y="1745878"/>
            <a:ext cx="1531648" cy="680227"/>
          </a:xfrm>
          <a:prstGeom prst="roundRect">
            <a:avLst>
              <a:gd fmla="val 980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4"/>
          <p:cNvSpPr/>
          <p:nvPr/>
        </p:nvSpPr>
        <p:spPr>
          <a:xfrm>
            <a:off x="7002736" y="2423460"/>
            <a:ext cx="1531648" cy="4763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24"/>
          <p:cNvSpPr/>
          <p:nvPr/>
        </p:nvSpPr>
        <p:spPr>
          <a:xfrm>
            <a:off x="7002736" y="1745878"/>
            <a:ext cx="1531648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4"/>
          <p:cNvSpPr/>
          <p:nvPr/>
        </p:nvSpPr>
        <p:spPr>
          <a:xfrm>
            <a:off x="7002736" y="1745878"/>
            <a:ext cx="4763" cy="680227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24"/>
          <p:cNvSpPr/>
          <p:nvPr/>
        </p:nvSpPr>
        <p:spPr>
          <a:xfrm>
            <a:off x="8531739" y="1745878"/>
            <a:ext cx="4763" cy="680227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24"/>
          <p:cNvSpPr/>
          <p:nvPr/>
        </p:nvSpPr>
        <p:spPr>
          <a:xfrm>
            <a:off x="7730464" y="1869158"/>
            <a:ext cx="76191" cy="76192"/>
          </a:xfrm>
          <a:prstGeom prst="ellipse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4"/>
          <p:cNvSpPr/>
          <p:nvPr/>
        </p:nvSpPr>
        <p:spPr>
          <a:xfrm>
            <a:off x="7090387" y="2002441"/>
            <a:ext cx="1356345" cy="11764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Sentiment &amp; CSAT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4"/>
          <p:cNvSpPr/>
          <p:nvPr/>
        </p:nvSpPr>
        <p:spPr>
          <a:xfrm>
            <a:off x="7090387" y="2139115"/>
            <a:ext cx="1356345" cy="19863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500"/>
              <a:buFont typeface="Manrope"/>
              <a:buNone/>
            </a:pPr>
            <a:r>
              <a:rPr b="0" i="0" lang="en-GB" sz="5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Real-time monitoring flags frustration; predicts mid-interaction CSAT for coaching.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4"/>
          <p:cNvSpPr/>
          <p:nvPr/>
        </p:nvSpPr>
        <p:spPr>
          <a:xfrm>
            <a:off x="609575" y="2654681"/>
            <a:ext cx="7358063" cy="1709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800"/>
              <a:buFont typeface="Manrope"/>
              <a:buNone/>
            </a:pPr>
            <a:r>
              <a:rPr b="0" i="0" lang="en-GB" sz="8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Agent remains the final sender — AI surfaces signal, prioritizes, and drafts; humans approve.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4"/>
          <p:cNvSpPr/>
          <p:nvPr/>
        </p:nvSpPr>
        <p:spPr>
          <a:xfrm>
            <a:off x="609575" y="4824967"/>
            <a:ext cx="1062244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L&amp;D · AI 104 · Module 01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4"/>
          <p:cNvSpPr/>
          <p:nvPr/>
        </p:nvSpPr>
        <p:spPr>
          <a:xfrm>
            <a:off x="8235694" y="4824967"/>
            <a:ext cx="336831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 / 62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2" name="Google Shape;38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242" y="251507"/>
            <a:ext cx="336900" cy="284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5"/>
          <p:cNvSpPr/>
          <p:nvPr/>
        </p:nvSpPr>
        <p:spPr>
          <a:xfrm>
            <a:off x="609575" y="328042"/>
            <a:ext cx="180950" cy="1809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25"/>
          <p:cNvSpPr/>
          <p:nvPr/>
        </p:nvSpPr>
        <p:spPr>
          <a:xfrm>
            <a:off x="857167" y="304767"/>
            <a:ext cx="77715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GlobalLogic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5"/>
          <p:cNvSpPr/>
          <p:nvPr/>
        </p:nvSpPr>
        <p:spPr>
          <a:xfrm>
            <a:off x="857167" y="447642"/>
            <a:ext cx="777156" cy="1037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Manrope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Manrope"/>
                <a:ea typeface="Manrope"/>
                <a:cs typeface="Manrope"/>
                <a:sym typeface="Manrope"/>
              </a:rPr>
              <a:t>A Hitachi Group Company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5"/>
          <p:cNvSpPr/>
          <p:nvPr/>
        </p:nvSpPr>
        <p:spPr>
          <a:xfrm>
            <a:off x="7984629" y="377527"/>
            <a:ext cx="587896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CONFIDENTIAL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5"/>
          <p:cNvSpPr/>
          <p:nvPr/>
        </p:nvSpPr>
        <p:spPr>
          <a:xfrm>
            <a:off x="609575" y="952500"/>
            <a:ext cx="8162596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THE CHATBOT EFFICACY MATRIX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5"/>
          <p:cNvSpPr/>
          <p:nvPr/>
        </p:nvSpPr>
        <p:spPr>
          <a:xfrm>
            <a:off x="609575" y="1185829"/>
            <a:ext cx="8162596" cy="40765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000"/>
              <a:buFont typeface="Manrope"/>
              <a:buNone/>
            </a:pP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Knowing </a:t>
            </a:r>
            <a:r>
              <a:rPr b="1" i="0" lang="en-GB" sz="30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when to automate</a:t>
            </a: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5"/>
          <p:cNvSpPr/>
          <p:nvPr/>
        </p:nvSpPr>
        <p:spPr>
          <a:xfrm>
            <a:off x="609575" y="1803012"/>
            <a:ext cx="3848117" cy="1483362"/>
          </a:xfrm>
          <a:prstGeom prst="roundRect">
            <a:avLst>
              <a:gd fmla="val 5779" name="adj"/>
            </a:avLst>
          </a:prstGeom>
          <a:solidFill>
            <a:srgbClr val="FFF7F1"/>
          </a:solidFill>
          <a:ln cap="flat" cmpd="sng" w="9525">
            <a:solidFill>
              <a:srgbClr val="FFD7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5"/>
          <p:cNvSpPr/>
          <p:nvPr/>
        </p:nvSpPr>
        <p:spPr>
          <a:xfrm>
            <a:off x="821738" y="1996158"/>
            <a:ext cx="3526505" cy="39905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400"/>
              <a:buFont typeface="Manrope"/>
              <a:buNone/>
            </a:pPr>
            <a:r>
              <a:rPr b="1" i="0" lang="en-GB" sz="14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✓ Ideal conditions — chatbots work well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5"/>
          <p:cNvSpPr/>
          <p:nvPr/>
        </p:nvSpPr>
        <p:spPr>
          <a:xfrm>
            <a:off x="765064" y="2452357"/>
            <a:ext cx="3518565" cy="65992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High-volume, repetitive queries (password resets, order status).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24/7 coverage outside business hours.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First-level triage before human handoff.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Guided troubleshooting with clear decision trees.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5"/>
          <p:cNvSpPr/>
          <p:nvPr/>
        </p:nvSpPr>
        <p:spPr>
          <a:xfrm>
            <a:off x="4686267" y="1803012"/>
            <a:ext cx="3848158" cy="1483362"/>
          </a:xfrm>
          <a:prstGeom prst="roundRect">
            <a:avLst>
              <a:gd fmla="val 5779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25"/>
          <p:cNvSpPr/>
          <p:nvPr/>
        </p:nvSpPr>
        <p:spPr>
          <a:xfrm>
            <a:off x="4898430" y="1996158"/>
            <a:ext cx="3526547" cy="20905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400"/>
              <a:buFont typeface="Manrope"/>
              <a:buNone/>
            </a:pPr>
            <a:r>
              <a:rPr b="1" i="0" lang="en-GB" sz="14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✗ Failure modes — chatbots fail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5"/>
          <p:cNvSpPr/>
          <p:nvPr/>
        </p:nvSpPr>
        <p:spPr>
          <a:xfrm>
            <a:off x="4841757" y="2262353"/>
            <a:ext cx="3518607" cy="65992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Complex, multi-issue problems requiring judgment.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Emotionally distressed or frustrated customers.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Novel situations not in training data.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Nuanced billing or legal disputes.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5"/>
          <p:cNvSpPr/>
          <p:nvPr/>
        </p:nvSpPr>
        <p:spPr>
          <a:xfrm>
            <a:off x="609575" y="4824967"/>
            <a:ext cx="1062244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L&amp;D · AI 104 · Module 01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5"/>
          <p:cNvSpPr/>
          <p:nvPr/>
        </p:nvSpPr>
        <p:spPr>
          <a:xfrm>
            <a:off x="8235694" y="4824967"/>
            <a:ext cx="336831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11 / 62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2" name="Google Shape;40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242" y="251507"/>
            <a:ext cx="336900" cy="284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6"/>
          <p:cNvSpPr/>
          <p:nvPr/>
        </p:nvSpPr>
        <p:spPr>
          <a:xfrm>
            <a:off x="609575" y="328042"/>
            <a:ext cx="180950" cy="1809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26"/>
          <p:cNvSpPr/>
          <p:nvPr/>
        </p:nvSpPr>
        <p:spPr>
          <a:xfrm>
            <a:off x="857167" y="304767"/>
            <a:ext cx="77715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GlobalLogic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6"/>
          <p:cNvSpPr/>
          <p:nvPr/>
        </p:nvSpPr>
        <p:spPr>
          <a:xfrm>
            <a:off x="857167" y="447642"/>
            <a:ext cx="777156" cy="1037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Manrope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Manrope"/>
                <a:ea typeface="Manrope"/>
                <a:cs typeface="Manrope"/>
                <a:sym typeface="Manrope"/>
              </a:rPr>
              <a:t>A Hitachi Group Company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6"/>
          <p:cNvSpPr/>
          <p:nvPr/>
        </p:nvSpPr>
        <p:spPr>
          <a:xfrm>
            <a:off x="7984629" y="377527"/>
            <a:ext cx="587896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CONFIDENTIAL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6"/>
          <p:cNvSpPr/>
          <p:nvPr/>
        </p:nvSpPr>
        <p:spPr>
          <a:xfrm>
            <a:off x="609575" y="952500"/>
            <a:ext cx="8162596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OPS LIFECYCLE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6"/>
          <p:cNvSpPr/>
          <p:nvPr/>
        </p:nvSpPr>
        <p:spPr>
          <a:xfrm>
            <a:off x="609575" y="1185830"/>
            <a:ext cx="8162596" cy="32993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2400"/>
              <a:buFont typeface="Manrope"/>
              <a:buNone/>
            </a:pPr>
            <a:r>
              <a:rPr b="1" i="0" lang="en-GB" sz="24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Catch issues earlier. </a:t>
            </a:r>
            <a:r>
              <a:rPr b="1" i="0" lang="en-GB" sz="24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Resolve them faster.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6"/>
          <p:cNvSpPr/>
          <p:nvPr/>
        </p:nvSpPr>
        <p:spPr>
          <a:xfrm>
            <a:off x="609575" y="1668156"/>
            <a:ext cx="1516393" cy="714458"/>
          </a:xfrm>
          <a:prstGeom prst="roundRect">
            <a:avLst>
              <a:gd fmla="val 9332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6"/>
          <p:cNvSpPr/>
          <p:nvPr/>
        </p:nvSpPr>
        <p:spPr>
          <a:xfrm>
            <a:off x="609575" y="1668156"/>
            <a:ext cx="1516393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6"/>
          <p:cNvSpPr/>
          <p:nvPr/>
        </p:nvSpPr>
        <p:spPr>
          <a:xfrm>
            <a:off x="723842" y="1800945"/>
            <a:ext cx="1326496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 · DETECTION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6"/>
          <p:cNvSpPr/>
          <p:nvPr/>
        </p:nvSpPr>
        <p:spPr>
          <a:xfrm>
            <a:off x="723842" y="1922653"/>
            <a:ext cx="1326496" cy="1238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Incident Detection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6"/>
          <p:cNvSpPr/>
          <p:nvPr/>
        </p:nvSpPr>
        <p:spPr>
          <a:xfrm>
            <a:off x="723842" y="2075037"/>
            <a:ext cx="1326496" cy="21236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500"/>
              <a:buFont typeface="Manrope"/>
              <a:buNone/>
            </a:pPr>
            <a:r>
              <a:rPr b="0" i="0" lang="en-GB" sz="5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Anomaly detection catches issues pre-outage. Reduces alert fatigue 60–80%.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6"/>
          <p:cNvSpPr/>
          <p:nvPr/>
        </p:nvSpPr>
        <p:spPr>
          <a:xfrm>
            <a:off x="2211669" y="1668156"/>
            <a:ext cx="1516394" cy="714458"/>
          </a:xfrm>
          <a:prstGeom prst="roundRect">
            <a:avLst>
              <a:gd fmla="val 9332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26"/>
          <p:cNvSpPr/>
          <p:nvPr/>
        </p:nvSpPr>
        <p:spPr>
          <a:xfrm>
            <a:off x="2211669" y="1668156"/>
            <a:ext cx="1516394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26"/>
          <p:cNvSpPr/>
          <p:nvPr/>
        </p:nvSpPr>
        <p:spPr>
          <a:xfrm>
            <a:off x="2325936" y="1800945"/>
            <a:ext cx="1326495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 · RCA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6"/>
          <p:cNvSpPr/>
          <p:nvPr/>
        </p:nvSpPr>
        <p:spPr>
          <a:xfrm>
            <a:off x="2325936" y="1922653"/>
            <a:ext cx="1326495" cy="1238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Root Cause Analysis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6"/>
          <p:cNvSpPr/>
          <p:nvPr/>
        </p:nvSpPr>
        <p:spPr>
          <a:xfrm>
            <a:off x="2325936" y="2075037"/>
            <a:ext cx="1326495" cy="21236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500"/>
              <a:buFont typeface="Manrope"/>
              <a:buNone/>
            </a:pPr>
            <a:r>
              <a:rPr b="0" i="0" lang="en-GB" sz="5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Correlates signals across logs, metrics, and deploys in minutes, not hours.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6"/>
          <p:cNvSpPr/>
          <p:nvPr/>
        </p:nvSpPr>
        <p:spPr>
          <a:xfrm>
            <a:off x="3813763" y="1668156"/>
            <a:ext cx="1516435" cy="714458"/>
          </a:xfrm>
          <a:prstGeom prst="roundRect">
            <a:avLst>
              <a:gd fmla="val 9332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26"/>
          <p:cNvSpPr/>
          <p:nvPr/>
        </p:nvSpPr>
        <p:spPr>
          <a:xfrm>
            <a:off x="3813763" y="1668156"/>
            <a:ext cx="1516435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26"/>
          <p:cNvSpPr/>
          <p:nvPr/>
        </p:nvSpPr>
        <p:spPr>
          <a:xfrm>
            <a:off x="3928029" y="1800945"/>
            <a:ext cx="1326538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 · RUNBOOKS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6"/>
          <p:cNvSpPr/>
          <p:nvPr/>
        </p:nvSpPr>
        <p:spPr>
          <a:xfrm>
            <a:off x="3928029" y="1922653"/>
            <a:ext cx="1326538" cy="1238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AI-Guided Runbooks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6"/>
          <p:cNvSpPr/>
          <p:nvPr/>
        </p:nvSpPr>
        <p:spPr>
          <a:xfrm>
            <a:off x="3928029" y="2075037"/>
            <a:ext cx="1326538" cy="21236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500"/>
              <a:buFont typeface="Manrope"/>
              <a:buNone/>
            </a:pPr>
            <a:r>
              <a:rPr b="0" i="0" lang="en-GB" sz="5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Natural-language execution with pre-populated commands for P2 incidents.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6"/>
          <p:cNvSpPr/>
          <p:nvPr/>
        </p:nvSpPr>
        <p:spPr>
          <a:xfrm>
            <a:off x="5415897" y="1668156"/>
            <a:ext cx="1516394" cy="714458"/>
          </a:xfrm>
          <a:prstGeom prst="roundRect">
            <a:avLst>
              <a:gd fmla="val 9332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26"/>
          <p:cNvSpPr/>
          <p:nvPr/>
        </p:nvSpPr>
        <p:spPr>
          <a:xfrm>
            <a:off x="5415897" y="1668156"/>
            <a:ext cx="1516394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6"/>
          <p:cNvSpPr/>
          <p:nvPr/>
        </p:nvSpPr>
        <p:spPr>
          <a:xfrm>
            <a:off x="5530164" y="1800945"/>
            <a:ext cx="1326496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 · SLA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6"/>
          <p:cNvSpPr/>
          <p:nvPr/>
        </p:nvSpPr>
        <p:spPr>
          <a:xfrm>
            <a:off x="5530164" y="1922653"/>
            <a:ext cx="1326496" cy="1238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SLA Monitoring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6"/>
          <p:cNvSpPr/>
          <p:nvPr/>
        </p:nvSpPr>
        <p:spPr>
          <a:xfrm>
            <a:off x="5530164" y="2075037"/>
            <a:ext cx="1326496" cy="21236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500"/>
              <a:buFont typeface="Manrope"/>
              <a:buNone/>
            </a:pPr>
            <a:r>
              <a:rPr b="0" i="0" lang="en-GB" sz="5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Predicts SLA breaches before they happen for proactive management.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6"/>
          <p:cNvSpPr/>
          <p:nvPr/>
        </p:nvSpPr>
        <p:spPr>
          <a:xfrm>
            <a:off x="7017991" y="1668156"/>
            <a:ext cx="1516393" cy="714458"/>
          </a:xfrm>
          <a:prstGeom prst="roundRect">
            <a:avLst>
              <a:gd fmla="val 9332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26"/>
          <p:cNvSpPr/>
          <p:nvPr/>
        </p:nvSpPr>
        <p:spPr>
          <a:xfrm>
            <a:off x="7017991" y="1668156"/>
            <a:ext cx="1516393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26"/>
          <p:cNvSpPr/>
          <p:nvPr/>
        </p:nvSpPr>
        <p:spPr>
          <a:xfrm>
            <a:off x="7132257" y="1800945"/>
            <a:ext cx="1326496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05 · CAPACITY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6"/>
          <p:cNvSpPr/>
          <p:nvPr/>
        </p:nvSpPr>
        <p:spPr>
          <a:xfrm>
            <a:off x="7132257" y="1922653"/>
            <a:ext cx="1326496" cy="1238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Capacity Planning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6"/>
          <p:cNvSpPr/>
          <p:nvPr/>
        </p:nvSpPr>
        <p:spPr>
          <a:xfrm>
            <a:off x="7132257" y="2075037"/>
            <a:ext cx="1326496" cy="21236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500"/>
              <a:buFont typeface="Manrope"/>
              <a:buNone/>
            </a:pPr>
            <a:r>
              <a:rPr b="0" i="0" lang="en-GB" sz="5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ML forecasts traffic spikes; automatically drafts post-mortems.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6"/>
          <p:cNvSpPr/>
          <p:nvPr/>
        </p:nvSpPr>
        <p:spPr>
          <a:xfrm>
            <a:off x="609575" y="2554056"/>
            <a:ext cx="7924850" cy="1854316"/>
          </a:xfrm>
          <a:prstGeom prst="roundRect">
            <a:avLst>
              <a:gd fmla="val 4623" name="adj"/>
            </a:avLst>
          </a:prstGeom>
          <a:solidFill>
            <a:srgbClr val="FFF7F1"/>
          </a:solidFill>
          <a:ln cap="flat" cmpd="sng" w="9525">
            <a:solidFill>
              <a:srgbClr val="FFD7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6"/>
          <p:cNvSpPr/>
          <p:nvPr/>
        </p:nvSpPr>
        <p:spPr>
          <a:xfrm>
            <a:off x="783663" y="2690027"/>
            <a:ext cx="7803975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REAL SCENARIO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6"/>
          <p:cNvSpPr/>
          <p:nvPr/>
        </p:nvSpPr>
        <p:spPr>
          <a:xfrm>
            <a:off x="783663" y="3345821"/>
            <a:ext cx="7576675" cy="4763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6"/>
          <p:cNvSpPr/>
          <p:nvPr/>
        </p:nvSpPr>
        <p:spPr>
          <a:xfrm>
            <a:off x="783663" y="3105382"/>
            <a:ext cx="704850" cy="13282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700"/>
              <a:buFont typeface="JetBrains Mono"/>
              <a:buNone/>
            </a:pPr>
            <a:r>
              <a:rPr b="1" i="0" lang="en-GB" sz="7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02:31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6"/>
          <p:cNvSpPr/>
          <p:nvPr/>
        </p:nvSpPr>
        <p:spPr>
          <a:xfrm>
            <a:off x="1583738" y="3105382"/>
            <a:ext cx="6979898" cy="15477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Database config change deployed.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6"/>
          <p:cNvSpPr/>
          <p:nvPr/>
        </p:nvSpPr>
        <p:spPr>
          <a:xfrm>
            <a:off x="783663" y="3741250"/>
            <a:ext cx="7576675" cy="4763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26"/>
          <p:cNvSpPr/>
          <p:nvPr/>
        </p:nvSpPr>
        <p:spPr>
          <a:xfrm>
            <a:off x="783663" y="3500810"/>
            <a:ext cx="704850" cy="13282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700"/>
              <a:buFont typeface="JetBrains Mono"/>
              <a:buNone/>
            </a:pPr>
            <a:r>
              <a:rPr b="1" i="0" lang="en-GB" sz="7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02:47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6"/>
          <p:cNvSpPr/>
          <p:nvPr/>
        </p:nvSpPr>
        <p:spPr>
          <a:xfrm>
            <a:off x="1583738" y="3500810"/>
            <a:ext cx="6979898" cy="15477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Payment service returns elevated error rates.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6"/>
          <p:cNvSpPr/>
          <p:nvPr/>
        </p:nvSpPr>
        <p:spPr>
          <a:xfrm>
            <a:off x="783663" y="3896238"/>
            <a:ext cx="704850" cy="24659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700"/>
              <a:buFont typeface="JetBrains Mono"/>
              <a:buNone/>
            </a:pPr>
            <a:r>
              <a:rPr b="1" i="0" lang="en-GB" sz="7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02:48 (+90s)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6"/>
          <p:cNvSpPr/>
          <p:nvPr/>
        </p:nvSpPr>
        <p:spPr>
          <a:xfrm>
            <a:off x="1583738" y="3896238"/>
            <a:ext cx="6979898" cy="15477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AI monitoring detects the anomaly.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6"/>
          <p:cNvSpPr/>
          <p:nvPr/>
        </p:nvSpPr>
        <p:spPr>
          <a:xfrm>
            <a:off x="1583738" y="4058916"/>
            <a:ext cx="3512112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700"/>
              <a:buFont typeface="Manrope"/>
              <a:buNone/>
            </a:pPr>
            <a:r>
              <a:rPr b="0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Correlates with the 02:31 deploy, pages on-call with full context, and suggests rollback.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6"/>
          <p:cNvSpPr/>
          <p:nvPr/>
        </p:nvSpPr>
        <p:spPr>
          <a:xfrm>
            <a:off x="5010671" y="4056270"/>
            <a:ext cx="1411488" cy="14075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Zero customer complaints filed.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6"/>
          <p:cNvSpPr/>
          <p:nvPr/>
        </p:nvSpPr>
        <p:spPr>
          <a:xfrm>
            <a:off x="609575" y="4824967"/>
            <a:ext cx="1062244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L&amp;D · AI 104 · Module 01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6"/>
          <p:cNvSpPr/>
          <p:nvPr/>
        </p:nvSpPr>
        <p:spPr>
          <a:xfrm>
            <a:off x="8235694" y="4824967"/>
            <a:ext cx="336831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12 / 62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3" name="Google Shape;45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242" y="251507"/>
            <a:ext cx="336900" cy="284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7"/>
          <p:cNvSpPr/>
          <p:nvPr/>
        </p:nvSpPr>
        <p:spPr>
          <a:xfrm>
            <a:off x="609575" y="328042"/>
            <a:ext cx="180950" cy="1809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27"/>
          <p:cNvSpPr/>
          <p:nvPr/>
        </p:nvSpPr>
        <p:spPr>
          <a:xfrm>
            <a:off x="857167" y="304767"/>
            <a:ext cx="77715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GlobalLogic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7"/>
          <p:cNvSpPr/>
          <p:nvPr/>
        </p:nvSpPr>
        <p:spPr>
          <a:xfrm>
            <a:off x="857167" y="447642"/>
            <a:ext cx="777156" cy="1037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Manrope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Manrope"/>
                <a:ea typeface="Manrope"/>
                <a:cs typeface="Manrope"/>
                <a:sym typeface="Manrope"/>
              </a:rPr>
              <a:t>A Hitachi Group Company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7"/>
          <p:cNvSpPr/>
          <p:nvPr/>
        </p:nvSpPr>
        <p:spPr>
          <a:xfrm>
            <a:off x="7984629" y="377527"/>
            <a:ext cx="587896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CONFIDENTIAL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7"/>
          <p:cNvSpPr/>
          <p:nvPr/>
        </p:nvSpPr>
        <p:spPr>
          <a:xfrm>
            <a:off x="609575" y="952500"/>
            <a:ext cx="8162596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AI MANIFESTED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7"/>
          <p:cNvSpPr/>
          <p:nvPr/>
        </p:nvSpPr>
        <p:spPr>
          <a:xfrm>
            <a:off x="609575" y="1185829"/>
            <a:ext cx="8162596" cy="40765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000"/>
              <a:buFont typeface="Manrope"/>
              <a:buNone/>
            </a:pP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The </a:t>
            </a:r>
            <a:r>
              <a:rPr b="1" i="0" lang="en-GB" sz="30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operations toolkit</a:t>
            </a: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7"/>
          <p:cNvSpPr/>
          <p:nvPr/>
        </p:nvSpPr>
        <p:spPr>
          <a:xfrm>
            <a:off x="609575" y="1803011"/>
            <a:ext cx="1895492" cy="1752038"/>
          </a:xfrm>
          <a:prstGeom prst="roundRect">
            <a:avLst>
              <a:gd fmla="val 4349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27"/>
          <p:cNvSpPr/>
          <p:nvPr/>
        </p:nvSpPr>
        <p:spPr>
          <a:xfrm>
            <a:off x="609575" y="1803012"/>
            <a:ext cx="1895492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27"/>
          <p:cNvSpPr/>
          <p:nvPr/>
        </p:nvSpPr>
        <p:spPr>
          <a:xfrm>
            <a:off x="761959" y="1973916"/>
            <a:ext cx="1638447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1100"/>
              <a:buFont typeface="Manrope"/>
              <a:buNone/>
            </a:pPr>
            <a:r>
              <a:rPr b="0" i="0" lang="en-GB" sz="11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🔍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7"/>
          <p:cNvSpPr/>
          <p:nvPr/>
        </p:nvSpPr>
        <p:spPr>
          <a:xfrm>
            <a:off x="761959" y="2183433"/>
            <a:ext cx="1638447" cy="16142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000"/>
              <a:buFont typeface="Manrope"/>
              <a:buNone/>
            </a:pPr>
            <a:r>
              <a:rPr b="1" i="0" lang="en-GB" sz="1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Patterns in Data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7"/>
          <p:cNvSpPr/>
          <p:nvPr/>
        </p:nvSpPr>
        <p:spPr>
          <a:xfrm>
            <a:off x="761959" y="2392453"/>
            <a:ext cx="1638447" cy="1333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1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Concept: </a:t>
            </a: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finding the needle in the haystack.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7"/>
          <p:cNvSpPr/>
          <p:nvPr/>
        </p:nvSpPr>
        <p:spPr>
          <a:xfrm>
            <a:off x="761959" y="3304770"/>
            <a:ext cx="1638447" cy="11694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600"/>
              <a:buFont typeface="Manrope"/>
              <a:buNone/>
            </a:pPr>
            <a:r>
              <a:rPr b="0" i="1" lang="en-GB" sz="600" u="none" cap="none" strike="noStrike">
                <a:solidFill>
                  <a:srgbClr val="8B95A6"/>
                </a:solidFill>
                <a:latin typeface="Manrope"/>
                <a:ea typeface="Manrope"/>
                <a:cs typeface="Manrope"/>
                <a:sym typeface="Manrope"/>
              </a:rPr>
              <a:t>Ops use: cybersecurity login anomaly detection.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7"/>
          <p:cNvSpPr/>
          <p:nvPr/>
        </p:nvSpPr>
        <p:spPr>
          <a:xfrm>
            <a:off x="2619334" y="1803011"/>
            <a:ext cx="1895533" cy="1752038"/>
          </a:xfrm>
          <a:prstGeom prst="roundRect">
            <a:avLst>
              <a:gd fmla="val 4349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27"/>
          <p:cNvSpPr/>
          <p:nvPr/>
        </p:nvSpPr>
        <p:spPr>
          <a:xfrm>
            <a:off x="2619334" y="1803012"/>
            <a:ext cx="1895533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27"/>
          <p:cNvSpPr/>
          <p:nvPr/>
        </p:nvSpPr>
        <p:spPr>
          <a:xfrm>
            <a:off x="2771717" y="1973916"/>
            <a:ext cx="1638489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1100"/>
              <a:buFont typeface="Manrope"/>
              <a:buNone/>
            </a:pPr>
            <a:r>
              <a:rPr b="0" i="0" lang="en-GB" sz="11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💬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7"/>
          <p:cNvSpPr/>
          <p:nvPr/>
        </p:nvSpPr>
        <p:spPr>
          <a:xfrm>
            <a:off x="2771717" y="2183433"/>
            <a:ext cx="1638489" cy="3038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000"/>
              <a:buFont typeface="Manrope"/>
              <a:buNone/>
            </a:pPr>
            <a:r>
              <a:rPr b="1" i="0" lang="en-GB" sz="1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Natural Language Processing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7"/>
          <p:cNvSpPr/>
          <p:nvPr/>
        </p:nvSpPr>
        <p:spPr>
          <a:xfrm>
            <a:off x="2771717" y="2534832"/>
            <a:ext cx="1638489" cy="1333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1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Concept: </a:t>
            </a: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understanding human-speak.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7"/>
          <p:cNvSpPr/>
          <p:nvPr/>
        </p:nvSpPr>
        <p:spPr>
          <a:xfrm>
            <a:off x="2771717" y="3206875"/>
            <a:ext cx="1638489" cy="21484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600"/>
              <a:buFont typeface="Manrope"/>
              <a:buNone/>
            </a:pPr>
            <a:r>
              <a:rPr b="0" i="1" lang="en-GB" sz="600" u="none" cap="none" strike="noStrike">
                <a:solidFill>
                  <a:srgbClr val="8B95A6"/>
                </a:solidFill>
                <a:latin typeface="Manrope"/>
                <a:ea typeface="Manrope"/>
                <a:cs typeface="Manrope"/>
                <a:sym typeface="Manrope"/>
              </a:rPr>
              <a:t>Ops use: auto-tagging and routing support tickets.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7"/>
          <p:cNvSpPr/>
          <p:nvPr/>
        </p:nvSpPr>
        <p:spPr>
          <a:xfrm>
            <a:off x="4629133" y="1803011"/>
            <a:ext cx="1895492" cy="1752038"/>
          </a:xfrm>
          <a:prstGeom prst="roundRect">
            <a:avLst>
              <a:gd fmla="val 4349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27"/>
          <p:cNvSpPr/>
          <p:nvPr/>
        </p:nvSpPr>
        <p:spPr>
          <a:xfrm>
            <a:off x="4629133" y="1803012"/>
            <a:ext cx="1895492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27"/>
          <p:cNvSpPr/>
          <p:nvPr/>
        </p:nvSpPr>
        <p:spPr>
          <a:xfrm>
            <a:off x="4781517" y="1973916"/>
            <a:ext cx="163844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1100"/>
              <a:buFont typeface="Manrope"/>
              <a:buNone/>
            </a:pPr>
            <a:r>
              <a:rPr b="0" i="0" lang="en-GB" sz="11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📡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7"/>
          <p:cNvSpPr/>
          <p:nvPr/>
        </p:nvSpPr>
        <p:spPr>
          <a:xfrm>
            <a:off x="4781517" y="2183433"/>
            <a:ext cx="1638446" cy="16142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000"/>
              <a:buFont typeface="Manrope"/>
              <a:buNone/>
            </a:pPr>
            <a:r>
              <a:rPr b="1" i="0" lang="en-GB" sz="1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Internet of Things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7"/>
          <p:cNvSpPr/>
          <p:nvPr/>
        </p:nvSpPr>
        <p:spPr>
          <a:xfrm>
            <a:off x="4781517" y="2392454"/>
            <a:ext cx="1638446" cy="24758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1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Concept: </a:t>
            </a: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connecting physical objects to the internet.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7"/>
          <p:cNvSpPr/>
          <p:nvPr/>
        </p:nvSpPr>
        <p:spPr>
          <a:xfrm>
            <a:off x="4781517" y="3206875"/>
            <a:ext cx="1638446" cy="21484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600"/>
              <a:buFont typeface="Manrope"/>
              <a:buNone/>
            </a:pPr>
            <a:r>
              <a:rPr b="0" i="1" lang="en-GB" sz="600" u="none" cap="none" strike="noStrike">
                <a:solidFill>
                  <a:srgbClr val="8B95A6"/>
                </a:solidFill>
                <a:latin typeface="Manrope"/>
                <a:ea typeface="Manrope"/>
                <a:cs typeface="Manrope"/>
                <a:sym typeface="Manrope"/>
              </a:rPr>
              <a:t>Ops use: smart factories &amp; predictive maintenance.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7"/>
          <p:cNvSpPr/>
          <p:nvPr/>
        </p:nvSpPr>
        <p:spPr>
          <a:xfrm>
            <a:off x="6638892" y="1803011"/>
            <a:ext cx="1895533" cy="1752038"/>
          </a:xfrm>
          <a:prstGeom prst="roundRect">
            <a:avLst>
              <a:gd fmla="val 4349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27"/>
          <p:cNvSpPr/>
          <p:nvPr/>
        </p:nvSpPr>
        <p:spPr>
          <a:xfrm>
            <a:off x="6638892" y="1803012"/>
            <a:ext cx="1895533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27"/>
          <p:cNvSpPr/>
          <p:nvPr/>
        </p:nvSpPr>
        <p:spPr>
          <a:xfrm>
            <a:off x="6791276" y="1973916"/>
            <a:ext cx="1638489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1100"/>
              <a:buFont typeface="Manrope"/>
              <a:buNone/>
            </a:pPr>
            <a:r>
              <a:rPr b="0" i="0" lang="en-GB" sz="11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✨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7"/>
          <p:cNvSpPr/>
          <p:nvPr/>
        </p:nvSpPr>
        <p:spPr>
          <a:xfrm>
            <a:off x="6791276" y="2183433"/>
            <a:ext cx="1638489" cy="16142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000"/>
              <a:buFont typeface="Manrope"/>
              <a:buNone/>
            </a:pPr>
            <a:r>
              <a:rPr b="1" i="0" lang="en-GB" sz="1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Generative Systems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7"/>
          <p:cNvSpPr/>
          <p:nvPr/>
        </p:nvSpPr>
        <p:spPr>
          <a:xfrm>
            <a:off x="6791276" y="2392454"/>
            <a:ext cx="1638489" cy="24758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1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Concept: </a:t>
            </a: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foundational large language models.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7"/>
          <p:cNvSpPr/>
          <p:nvPr/>
        </p:nvSpPr>
        <p:spPr>
          <a:xfrm>
            <a:off x="6791276" y="3304770"/>
            <a:ext cx="1638489" cy="11694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600"/>
              <a:buFont typeface="Manrope"/>
              <a:buNone/>
            </a:pPr>
            <a:r>
              <a:rPr b="0" i="1" lang="en-GB" sz="600" u="none" cap="none" strike="noStrike">
                <a:solidFill>
                  <a:srgbClr val="8B95A6"/>
                </a:solidFill>
                <a:latin typeface="Manrope"/>
                <a:ea typeface="Manrope"/>
                <a:cs typeface="Manrope"/>
                <a:sym typeface="Manrope"/>
              </a:rPr>
              <a:t>Ops use: synthetic data for safe system testing.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7"/>
          <p:cNvSpPr/>
          <p:nvPr/>
        </p:nvSpPr>
        <p:spPr>
          <a:xfrm>
            <a:off x="609575" y="4824967"/>
            <a:ext cx="1062244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L&amp;D · AI 104 · Module 01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7"/>
          <p:cNvSpPr/>
          <p:nvPr/>
        </p:nvSpPr>
        <p:spPr>
          <a:xfrm>
            <a:off x="8235694" y="4824967"/>
            <a:ext cx="336831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13 / 62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1" name="Google Shape;49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242" y="251507"/>
            <a:ext cx="336900" cy="284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84358"/>
        </a:solidFill>
      </p:bgPr>
    </p:bg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97" name="Google Shape;497;p28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6096000" y="2095500"/>
            <a:ext cx="3048000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28"/>
          <p:cNvSpPr/>
          <p:nvPr/>
        </p:nvSpPr>
        <p:spPr>
          <a:xfrm>
            <a:off x="857167" y="304767"/>
            <a:ext cx="77715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GlobalLogic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8"/>
          <p:cNvSpPr/>
          <p:nvPr/>
        </p:nvSpPr>
        <p:spPr>
          <a:xfrm>
            <a:off x="857167" y="447642"/>
            <a:ext cx="777156" cy="1037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Manrope"/>
              <a:buNone/>
            </a:pPr>
            <a:r>
              <a:rPr b="0" i="0" lang="en-GB" sz="5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A Hitachi Group Company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8"/>
          <p:cNvSpPr/>
          <p:nvPr/>
        </p:nvSpPr>
        <p:spPr>
          <a:xfrm>
            <a:off x="7984629" y="377527"/>
            <a:ext cx="587896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CONFIDENTIAL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8"/>
          <p:cNvSpPr/>
          <p:nvPr/>
        </p:nvSpPr>
        <p:spPr>
          <a:xfrm>
            <a:off x="762000" y="1143000"/>
            <a:ext cx="6376988" cy="1460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800"/>
              <a:buFont typeface="JetBrains Mono"/>
              <a:buNone/>
            </a:pPr>
            <a:r>
              <a:rPr b="0" i="0" lang="en-GB" sz="8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PART 02 · MODULE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8"/>
          <p:cNvSpPr/>
          <p:nvPr/>
        </p:nvSpPr>
        <p:spPr>
          <a:xfrm>
            <a:off x="762000" y="1422383"/>
            <a:ext cx="6376988" cy="27697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700"/>
              <a:buFont typeface="Manrope"/>
              <a:buNone/>
            </a:pPr>
            <a:r>
              <a:rPr b="1" i="0" lang="en-GB" sz="55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Artificial Intelligence and Machine Learning.</a:t>
            </a:r>
            <a:endParaRPr b="0" i="0" sz="5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8"/>
          <p:cNvSpPr/>
          <p:nvPr/>
        </p:nvSpPr>
        <p:spPr>
          <a:xfrm>
            <a:off x="762000" y="4306384"/>
            <a:ext cx="4905376" cy="19909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nrope"/>
              <a:buNone/>
            </a:pPr>
            <a:r>
              <a:rPr b="0" i="0" lang="en-GB" sz="11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Foundations, vocabulary, and the jobs each model class is actually good at.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8"/>
          <p:cNvSpPr/>
          <p:nvPr/>
        </p:nvSpPr>
        <p:spPr>
          <a:xfrm>
            <a:off x="609575" y="4824967"/>
            <a:ext cx="550193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L&amp;D · AI 104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8"/>
          <p:cNvSpPr/>
          <p:nvPr/>
        </p:nvSpPr>
        <p:spPr>
          <a:xfrm>
            <a:off x="8235694" y="4824967"/>
            <a:ext cx="336831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14 / 62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6" name="Google Shape;506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303" y="316172"/>
            <a:ext cx="336900" cy="284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9"/>
          <p:cNvSpPr/>
          <p:nvPr/>
        </p:nvSpPr>
        <p:spPr>
          <a:xfrm>
            <a:off x="609575" y="328042"/>
            <a:ext cx="180950" cy="1809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29"/>
          <p:cNvSpPr/>
          <p:nvPr/>
        </p:nvSpPr>
        <p:spPr>
          <a:xfrm>
            <a:off x="857167" y="304767"/>
            <a:ext cx="77715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GlobalLogic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9"/>
          <p:cNvSpPr/>
          <p:nvPr/>
        </p:nvSpPr>
        <p:spPr>
          <a:xfrm>
            <a:off x="857167" y="447642"/>
            <a:ext cx="777156" cy="1037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Manrope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Manrope"/>
                <a:ea typeface="Manrope"/>
                <a:cs typeface="Manrope"/>
                <a:sym typeface="Manrope"/>
              </a:rPr>
              <a:t>A Hitachi Group Company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9"/>
          <p:cNvSpPr/>
          <p:nvPr/>
        </p:nvSpPr>
        <p:spPr>
          <a:xfrm>
            <a:off x="7984629" y="377527"/>
            <a:ext cx="587896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CONFIDENTIAL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9"/>
          <p:cNvSpPr/>
          <p:nvPr/>
        </p:nvSpPr>
        <p:spPr>
          <a:xfrm>
            <a:off x="609575" y="952500"/>
            <a:ext cx="8162596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WHAT AN AI MODEL IS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9"/>
          <p:cNvSpPr/>
          <p:nvPr/>
        </p:nvSpPr>
        <p:spPr>
          <a:xfrm>
            <a:off x="609575" y="1185829"/>
            <a:ext cx="8162596" cy="79626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000"/>
              <a:buFont typeface="Manrope"/>
              <a:buNone/>
            </a:pP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Math that learns patterns — </a:t>
            </a:r>
            <a:r>
              <a:rPr b="1" i="0" lang="en-GB" sz="30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not rules someone wrote </a:t>
            </a: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9"/>
          <p:cNvSpPr/>
          <p:nvPr/>
        </p:nvSpPr>
        <p:spPr>
          <a:xfrm>
            <a:off x="609575" y="2048744"/>
            <a:ext cx="6867526" cy="1709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800"/>
              <a:buFont typeface="Manrope"/>
              <a:buNone/>
            </a:pPr>
            <a:r>
              <a:rPr b="0" i="0" lang="en-GB" sz="8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AI models are mathematical algorithms that learn patterns from data to make decisions, without being explicitly programmed.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9"/>
          <p:cNvSpPr/>
          <p:nvPr/>
        </p:nvSpPr>
        <p:spPr>
          <a:xfrm>
            <a:off x="609575" y="2429206"/>
            <a:ext cx="2451158" cy="784035"/>
          </a:xfrm>
          <a:prstGeom prst="roundRect">
            <a:avLst>
              <a:gd fmla="val 9719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29"/>
          <p:cNvSpPr/>
          <p:nvPr/>
        </p:nvSpPr>
        <p:spPr>
          <a:xfrm>
            <a:off x="609575" y="2429206"/>
            <a:ext cx="2451158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29"/>
          <p:cNvSpPr/>
          <p:nvPr/>
        </p:nvSpPr>
        <p:spPr>
          <a:xfrm>
            <a:off x="742901" y="2581052"/>
            <a:ext cx="2250043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STEP 01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9"/>
          <p:cNvSpPr/>
          <p:nvPr/>
        </p:nvSpPr>
        <p:spPr>
          <a:xfrm>
            <a:off x="742901" y="2702761"/>
            <a:ext cx="2250043" cy="13426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Takes input data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9"/>
          <p:cNvSpPr/>
          <p:nvPr/>
        </p:nvSpPr>
        <p:spPr>
          <a:xfrm>
            <a:off x="742901" y="2865603"/>
            <a:ext cx="2250043" cy="12620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Raw information is fed into the system.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9"/>
          <p:cNvSpPr/>
          <p:nvPr/>
        </p:nvSpPr>
        <p:spPr>
          <a:xfrm>
            <a:off x="3108325" y="2718015"/>
            <a:ext cx="190483" cy="2254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1200"/>
              <a:buFont typeface="Manrope"/>
              <a:buNone/>
            </a:pPr>
            <a:r>
              <a:rPr b="0" i="0" lang="en-GB" sz="12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9"/>
          <p:cNvSpPr/>
          <p:nvPr/>
        </p:nvSpPr>
        <p:spPr>
          <a:xfrm>
            <a:off x="3346400" y="2429206"/>
            <a:ext cx="2451158" cy="784035"/>
          </a:xfrm>
          <a:prstGeom prst="roundRect">
            <a:avLst>
              <a:gd fmla="val 9719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29"/>
          <p:cNvSpPr/>
          <p:nvPr/>
        </p:nvSpPr>
        <p:spPr>
          <a:xfrm>
            <a:off x="3346400" y="2429206"/>
            <a:ext cx="2451158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29"/>
          <p:cNvSpPr/>
          <p:nvPr/>
        </p:nvSpPr>
        <p:spPr>
          <a:xfrm>
            <a:off x="3479726" y="2581052"/>
            <a:ext cx="2250043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STEP 02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9"/>
          <p:cNvSpPr/>
          <p:nvPr/>
        </p:nvSpPr>
        <p:spPr>
          <a:xfrm>
            <a:off x="3479726" y="2702761"/>
            <a:ext cx="2250043" cy="13426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Learns patterns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9"/>
          <p:cNvSpPr/>
          <p:nvPr/>
        </p:nvSpPr>
        <p:spPr>
          <a:xfrm>
            <a:off x="3479726" y="2865603"/>
            <a:ext cx="2250043" cy="2333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The algorithm identifies hidden structures during the training phase.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9"/>
          <p:cNvSpPr/>
          <p:nvPr/>
        </p:nvSpPr>
        <p:spPr>
          <a:xfrm>
            <a:off x="5845150" y="2718015"/>
            <a:ext cx="190483" cy="2254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1200"/>
              <a:buFont typeface="Manrope"/>
              <a:buNone/>
            </a:pPr>
            <a:r>
              <a:rPr b="0" i="0" lang="en-GB" sz="12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9"/>
          <p:cNvSpPr/>
          <p:nvPr/>
        </p:nvSpPr>
        <p:spPr>
          <a:xfrm>
            <a:off x="6083226" y="2429206"/>
            <a:ext cx="2451158" cy="784035"/>
          </a:xfrm>
          <a:prstGeom prst="roundRect">
            <a:avLst>
              <a:gd fmla="val 9719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29"/>
          <p:cNvSpPr/>
          <p:nvPr/>
        </p:nvSpPr>
        <p:spPr>
          <a:xfrm>
            <a:off x="6083226" y="2429206"/>
            <a:ext cx="2451158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29"/>
          <p:cNvSpPr/>
          <p:nvPr/>
        </p:nvSpPr>
        <p:spPr>
          <a:xfrm>
            <a:off x="6216551" y="2581052"/>
            <a:ext cx="2250043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STEP 03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9"/>
          <p:cNvSpPr/>
          <p:nvPr/>
        </p:nvSpPr>
        <p:spPr>
          <a:xfrm>
            <a:off x="6216551" y="2702761"/>
            <a:ext cx="2250043" cy="13426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Produces output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9"/>
          <p:cNvSpPr/>
          <p:nvPr/>
        </p:nvSpPr>
        <p:spPr>
          <a:xfrm>
            <a:off x="6216551" y="2865603"/>
            <a:ext cx="2250043" cy="12620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Generates a prediction, decision, or generated result.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9"/>
          <p:cNvSpPr/>
          <p:nvPr/>
        </p:nvSpPr>
        <p:spPr>
          <a:xfrm>
            <a:off x="609575" y="4824967"/>
            <a:ext cx="1062244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L&amp;D · AI 104 · Module 02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9"/>
          <p:cNvSpPr/>
          <p:nvPr/>
        </p:nvSpPr>
        <p:spPr>
          <a:xfrm>
            <a:off x="8235694" y="4824967"/>
            <a:ext cx="336831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15 / 62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8" name="Google Shape;53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242" y="251507"/>
            <a:ext cx="336900" cy="284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30"/>
          <p:cNvSpPr/>
          <p:nvPr/>
        </p:nvSpPr>
        <p:spPr>
          <a:xfrm>
            <a:off x="609575" y="328042"/>
            <a:ext cx="180950" cy="1809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30"/>
          <p:cNvSpPr/>
          <p:nvPr/>
        </p:nvSpPr>
        <p:spPr>
          <a:xfrm>
            <a:off x="857167" y="304767"/>
            <a:ext cx="77715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GlobalLogic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30"/>
          <p:cNvSpPr/>
          <p:nvPr/>
        </p:nvSpPr>
        <p:spPr>
          <a:xfrm>
            <a:off x="857167" y="447642"/>
            <a:ext cx="777156" cy="1037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Manrope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Manrope"/>
                <a:ea typeface="Manrope"/>
                <a:cs typeface="Manrope"/>
                <a:sym typeface="Manrope"/>
              </a:rPr>
              <a:t>A Hitachi Group Company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30"/>
          <p:cNvSpPr/>
          <p:nvPr/>
        </p:nvSpPr>
        <p:spPr>
          <a:xfrm>
            <a:off x="7984629" y="377527"/>
            <a:ext cx="587896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CONFIDENTIAL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30"/>
          <p:cNvSpPr/>
          <p:nvPr/>
        </p:nvSpPr>
        <p:spPr>
          <a:xfrm>
            <a:off x="609575" y="952500"/>
            <a:ext cx="8162596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THREE CORE LEARNING STYLES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30"/>
          <p:cNvSpPr/>
          <p:nvPr/>
        </p:nvSpPr>
        <p:spPr>
          <a:xfrm>
            <a:off x="609575" y="1185829"/>
            <a:ext cx="8162596" cy="40765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000"/>
              <a:buFont typeface="Manrope"/>
              <a:buNone/>
            </a:pP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How models </a:t>
            </a:r>
            <a:r>
              <a:rPr b="1" i="0" lang="en-GB" sz="30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learn</a:t>
            </a: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30"/>
          <p:cNvSpPr/>
          <p:nvPr/>
        </p:nvSpPr>
        <p:spPr>
          <a:xfrm>
            <a:off x="609575" y="1803011"/>
            <a:ext cx="2540000" cy="1752038"/>
          </a:xfrm>
          <a:prstGeom prst="roundRect">
            <a:avLst>
              <a:gd fmla="val 4349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30"/>
          <p:cNvSpPr/>
          <p:nvPr/>
        </p:nvSpPr>
        <p:spPr>
          <a:xfrm>
            <a:off x="609575" y="1803012"/>
            <a:ext cx="2540000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30"/>
          <p:cNvSpPr/>
          <p:nvPr/>
        </p:nvSpPr>
        <p:spPr>
          <a:xfrm>
            <a:off x="761958" y="1973916"/>
            <a:ext cx="2302290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30"/>
          <p:cNvSpPr/>
          <p:nvPr/>
        </p:nvSpPr>
        <p:spPr>
          <a:xfrm>
            <a:off x="761958" y="2114641"/>
            <a:ext cx="2302290" cy="16142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000"/>
              <a:buFont typeface="Manrope"/>
              <a:buNone/>
            </a:pPr>
            <a:r>
              <a:rPr b="1" i="0" lang="en-GB" sz="1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Supervised Learning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30"/>
          <p:cNvSpPr/>
          <p:nvPr/>
        </p:nvSpPr>
        <p:spPr>
          <a:xfrm>
            <a:off x="761958" y="2323662"/>
            <a:ext cx="2302290" cy="1333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1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Data: </a:t>
            </a: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labeled (input + correct output).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30"/>
          <p:cNvSpPr/>
          <p:nvPr/>
        </p:nvSpPr>
        <p:spPr>
          <a:xfrm>
            <a:off x="761958" y="2504571"/>
            <a:ext cx="2302290" cy="1333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1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Goal: </a:t>
            </a: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predict correct answers.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30"/>
          <p:cNvSpPr/>
          <p:nvPr/>
        </p:nvSpPr>
        <p:spPr>
          <a:xfrm>
            <a:off x="761958" y="3304770"/>
            <a:ext cx="2302290" cy="11694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600"/>
              <a:buFont typeface="Manrope"/>
              <a:buNone/>
            </a:pPr>
            <a:r>
              <a:rPr b="0" i="1" lang="en-GB" sz="600" u="none" cap="none" strike="noStrike">
                <a:solidFill>
                  <a:srgbClr val="8B95A6"/>
                </a:solidFill>
                <a:latin typeface="Manrope"/>
                <a:ea typeface="Manrope"/>
                <a:cs typeface="Manrope"/>
                <a:sym typeface="Manrope"/>
              </a:rPr>
              <a:t>Email spam detection (Gmail).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30"/>
          <p:cNvSpPr/>
          <p:nvPr/>
        </p:nvSpPr>
        <p:spPr>
          <a:xfrm>
            <a:off x="3301959" y="1803011"/>
            <a:ext cx="2540042" cy="1752038"/>
          </a:xfrm>
          <a:prstGeom prst="roundRect">
            <a:avLst>
              <a:gd fmla="val 4349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30"/>
          <p:cNvSpPr/>
          <p:nvPr/>
        </p:nvSpPr>
        <p:spPr>
          <a:xfrm>
            <a:off x="3301959" y="1803012"/>
            <a:ext cx="2540042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30"/>
          <p:cNvSpPr/>
          <p:nvPr/>
        </p:nvSpPr>
        <p:spPr>
          <a:xfrm>
            <a:off x="3454343" y="1973916"/>
            <a:ext cx="2302332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30"/>
          <p:cNvSpPr/>
          <p:nvPr/>
        </p:nvSpPr>
        <p:spPr>
          <a:xfrm>
            <a:off x="3454343" y="2114641"/>
            <a:ext cx="2302332" cy="16142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000"/>
              <a:buFont typeface="Manrope"/>
              <a:buNone/>
            </a:pPr>
            <a:r>
              <a:rPr b="1" i="0" lang="en-GB" sz="1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Unsupervised Learning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30"/>
          <p:cNvSpPr/>
          <p:nvPr/>
        </p:nvSpPr>
        <p:spPr>
          <a:xfrm>
            <a:off x="3454343" y="2323662"/>
            <a:ext cx="2302332" cy="1333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1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Data: </a:t>
            </a: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unlabeled.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30"/>
          <p:cNvSpPr/>
          <p:nvPr/>
        </p:nvSpPr>
        <p:spPr>
          <a:xfrm>
            <a:off x="3454343" y="2504571"/>
            <a:ext cx="2302332" cy="1333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1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Goal: </a:t>
            </a: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find hidden patterns or groups.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30"/>
          <p:cNvSpPr/>
          <p:nvPr/>
        </p:nvSpPr>
        <p:spPr>
          <a:xfrm>
            <a:off x="3454343" y="3304770"/>
            <a:ext cx="2302332" cy="11694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600"/>
              <a:buFont typeface="Manrope"/>
              <a:buNone/>
            </a:pPr>
            <a:r>
              <a:rPr b="0" i="1" lang="en-GB" sz="600" u="none" cap="none" strike="noStrike">
                <a:solidFill>
                  <a:srgbClr val="8B95A6"/>
                </a:solidFill>
                <a:latin typeface="Manrope"/>
                <a:ea typeface="Manrope"/>
                <a:cs typeface="Manrope"/>
                <a:sym typeface="Manrope"/>
              </a:rPr>
              <a:t>Customer segmentation by buying behavior (Amazon).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30"/>
          <p:cNvSpPr/>
          <p:nvPr/>
        </p:nvSpPr>
        <p:spPr>
          <a:xfrm>
            <a:off x="5994383" y="1803011"/>
            <a:ext cx="2540042" cy="1752038"/>
          </a:xfrm>
          <a:prstGeom prst="roundRect">
            <a:avLst>
              <a:gd fmla="val 4349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30"/>
          <p:cNvSpPr/>
          <p:nvPr/>
        </p:nvSpPr>
        <p:spPr>
          <a:xfrm>
            <a:off x="5994383" y="1803012"/>
            <a:ext cx="2540042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30"/>
          <p:cNvSpPr/>
          <p:nvPr/>
        </p:nvSpPr>
        <p:spPr>
          <a:xfrm>
            <a:off x="6146768" y="1973916"/>
            <a:ext cx="2302332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30"/>
          <p:cNvSpPr/>
          <p:nvPr/>
        </p:nvSpPr>
        <p:spPr>
          <a:xfrm>
            <a:off x="6146768" y="2114641"/>
            <a:ext cx="2302332" cy="16142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000"/>
              <a:buFont typeface="Manrope"/>
              <a:buNone/>
            </a:pPr>
            <a:r>
              <a:rPr b="1" i="0" lang="en-GB" sz="1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Reinforcement Learning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30"/>
          <p:cNvSpPr/>
          <p:nvPr/>
        </p:nvSpPr>
        <p:spPr>
          <a:xfrm>
            <a:off x="6146768" y="2323662"/>
            <a:ext cx="2302332" cy="1333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1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Data: </a:t>
            </a: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trial &amp; error (rewards / penalties).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30"/>
          <p:cNvSpPr/>
          <p:nvPr/>
        </p:nvSpPr>
        <p:spPr>
          <a:xfrm>
            <a:off x="6146768" y="2504571"/>
            <a:ext cx="2302332" cy="1333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1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Goal: </a:t>
            </a: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maximize reward over time.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30"/>
          <p:cNvSpPr/>
          <p:nvPr/>
        </p:nvSpPr>
        <p:spPr>
          <a:xfrm>
            <a:off x="6146768" y="3304770"/>
            <a:ext cx="2302332" cy="11694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600"/>
              <a:buFont typeface="Manrope"/>
              <a:buNone/>
            </a:pPr>
            <a:r>
              <a:rPr b="0" i="1" lang="en-GB" sz="600" u="none" cap="none" strike="noStrike">
                <a:solidFill>
                  <a:srgbClr val="8B95A6"/>
                </a:solidFill>
                <a:latin typeface="Manrope"/>
                <a:ea typeface="Manrope"/>
                <a:cs typeface="Manrope"/>
                <a:sym typeface="Manrope"/>
              </a:rPr>
              <a:t>Game-playing AI like AlphaGo.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30"/>
          <p:cNvSpPr/>
          <p:nvPr/>
        </p:nvSpPr>
        <p:spPr>
          <a:xfrm>
            <a:off x="609575" y="4824967"/>
            <a:ext cx="1062244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L&amp;D · AI 104 · Module 02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30"/>
          <p:cNvSpPr/>
          <p:nvPr/>
        </p:nvSpPr>
        <p:spPr>
          <a:xfrm>
            <a:off x="8235694" y="4824967"/>
            <a:ext cx="336831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16 / 62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3" name="Google Shape;57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242" y="251507"/>
            <a:ext cx="336900" cy="284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31"/>
          <p:cNvSpPr/>
          <p:nvPr/>
        </p:nvSpPr>
        <p:spPr>
          <a:xfrm>
            <a:off x="609575" y="328042"/>
            <a:ext cx="180950" cy="1809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31"/>
          <p:cNvSpPr/>
          <p:nvPr/>
        </p:nvSpPr>
        <p:spPr>
          <a:xfrm>
            <a:off x="857167" y="304767"/>
            <a:ext cx="77715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GlobalLogic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31"/>
          <p:cNvSpPr/>
          <p:nvPr/>
        </p:nvSpPr>
        <p:spPr>
          <a:xfrm>
            <a:off x="857167" y="447642"/>
            <a:ext cx="777156" cy="1037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Manrope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Manrope"/>
                <a:ea typeface="Manrope"/>
                <a:cs typeface="Manrope"/>
                <a:sym typeface="Manrope"/>
              </a:rPr>
              <a:t>A Hitachi Group Company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31"/>
          <p:cNvSpPr/>
          <p:nvPr/>
        </p:nvSpPr>
        <p:spPr>
          <a:xfrm>
            <a:off x="7984629" y="377527"/>
            <a:ext cx="587896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CONFIDENTIAL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31"/>
          <p:cNvSpPr/>
          <p:nvPr/>
        </p:nvSpPr>
        <p:spPr>
          <a:xfrm>
            <a:off x="609575" y="952500"/>
            <a:ext cx="8162596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PRIMARY TASK CATEGORIES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31"/>
          <p:cNvSpPr/>
          <p:nvPr/>
        </p:nvSpPr>
        <p:spPr>
          <a:xfrm>
            <a:off x="609575" y="1185829"/>
            <a:ext cx="8162596" cy="79626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000"/>
              <a:buFont typeface="Manrope"/>
              <a:buNone/>
            </a:pP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Four output shapes — </a:t>
            </a:r>
            <a:r>
              <a:rPr b="1" i="0" lang="en-GB" sz="30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categorize, predict, group, recommend </a:t>
            </a: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31"/>
          <p:cNvSpPr/>
          <p:nvPr/>
        </p:nvSpPr>
        <p:spPr>
          <a:xfrm>
            <a:off x="609575" y="2191618"/>
            <a:ext cx="1895492" cy="1752038"/>
          </a:xfrm>
          <a:prstGeom prst="roundRect">
            <a:avLst>
              <a:gd fmla="val 4349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31"/>
          <p:cNvSpPr/>
          <p:nvPr/>
        </p:nvSpPr>
        <p:spPr>
          <a:xfrm>
            <a:off x="609575" y="2191619"/>
            <a:ext cx="1895492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31"/>
          <p:cNvSpPr/>
          <p:nvPr/>
        </p:nvSpPr>
        <p:spPr>
          <a:xfrm>
            <a:off x="761959" y="2362523"/>
            <a:ext cx="1638447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CLASSIFICATION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31"/>
          <p:cNvSpPr/>
          <p:nvPr/>
        </p:nvSpPr>
        <p:spPr>
          <a:xfrm>
            <a:off x="761959" y="2503248"/>
            <a:ext cx="1638447" cy="16142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000"/>
              <a:buFont typeface="Manrope"/>
              <a:buNone/>
            </a:pPr>
            <a:r>
              <a:rPr b="1" i="0" lang="en-GB" sz="1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Categories &amp; labels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31"/>
          <p:cNvSpPr/>
          <p:nvPr/>
        </p:nvSpPr>
        <p:spPr>
          <a:xfrm>
            <a:off x="761959" y="2712268"/>
            <a:ext cx="1638447" cy="1333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Output: discrete categories.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31"/>
          <p:cNvSpPr/>
          <p:nvPr/>
        </p:nvSpPr>
        <p:spPr>
          <a:xfrm>
            <a:off x="761959" y="3595481"/>
            <a:ext cx="1638447" cy="21484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600"/>
              <a:buFont typeface="Manrope"/>
              <a:buNone/>
            </a:pPr>
            <a:r>
              <a:rPr b="0" i="1" lang="en-GB" sz="600" u="none" cap="none" strike="noStrike">
                <a:solidFill>
                  <a:srgbClr val="8B95A6"/>
                </a:solidFill>
                <a:latin typeface="Manrope"/>
                <a:ea typeface="Manrope"/>
                <a:cs typeface="Manrope"/>
                <a:sym typeface="Manrope"/>
              </a:rPr>
              <a:t>Fraud detection in PayPal — transaction → fraud / not fraud.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31"/>
          <p:cNvSpPr/>
          <p:nvPr/>
        </p:nvSpPr>
        <p:spPr>
          <a:xfrm>
            <a:off x="2619334" y="2191618"/>
            <a:ext cx="1895533" cy="1752038"/>
          </a:xfrm>
          <a:prstGeom prst="roundRect">
            <a:avLst>
              <a:gd fmla="val 4349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31"/>
          <p:cNvSpPr/>
          <p:nvPr/>
        </p:nvSpPr>
        <p:spPr>
          <a:xfrm>
            <a:off x="2619334" y="2191619"/>
            <a:ext cx="1895533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31"/>
          <p:cNvSpPr/>
          <p:nvPr/>
        </p:nvSpPr>
        <p:spPr>
          <a:xfrm>
            <a:off x="2771717" y="2362523"/>
            <a:ext cx="1638489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REGRESSION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31"/>
          <p:cNvSpPr/>
          <p:nvPr/>
        </p:nvSpPr>
        <p:spPr>
          <a:xfrm>
            <a:off x="2771717" y="2503248"/>
            <a:ext cx="1638489" cy="16142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000"/>
              <a:buFont typeface="Manrope"/>
              <a:buNone/>
            </a:pPr>
            <a:r>
              <a:rPr b="1" i="0" lang="en-GB" sz="1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Continuous values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31"/>
          <p:cNvSpPr/>
          <p:nvPr/>
        </p:nvSpPr>
        <p:spPr>
          <a:xfrm>
            <a:off x="2771717" y="2712268"/>
            <a:ext cx="1638489" cy="1333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Output: a real-valued number.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31"/>
          <p:cNvSpPr/>
          <p:nvPr/>
        </p:nvSpPr>
        <p:spPr>
          <a:xfrm>
            <a:off x="2771717" y="3693377"/>
            <a:ext cx="1638489" cy="11694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600"/>
              <a:buFont typeface="Manrope"/>
              <a:buNone/>
            </a:pPr>
            <a:r>
              <a:rPr b="0" i="1" lang="en-GB" sz="600" u="none" cap="none" strike="noStrike">
                <a:solidFill>
                  <a:srgbClr val="8B95A6"/>
                </a:solidFill>
                <a:latin typeface="Manrope"/>
                <a:ea typeface="Manrope"/>
                <a:cs typeface="Manrope"/>
                <a:sym typeface="Manrope"/>
              </a:rPr>
              <a:t>Zillow house-price prediction from features.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31"/>
          <p:cNvSpPr/>
          <p:nvPr/>
        </p:nvSpPr>
        <p:spPr>
          <a:xfrm>
            <a:off x="4629133" y="2191618"/>
            <a:ext cx="1895492" cy="1752038"/>
          </a:xfrm>
          <a:prstGeom prst="roundRect">
            <a:avLst>
              <a:gd fmla="val 4349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31"/>
          <p:cNvSpPr/>
          <p:nvPr/>
        </p:nvSpPr>
        <p:spPr>
          <a:xfrm>
            <a:off x="4629133" y="2191619"/>
            <a:ext cx="1895492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31"/>
          <p:cNvSpPr/>
          <p:nvPr/>
        </p:nvSpPr>
        <p:spPr>
          <a:xfrm>
            <a:off x="4781517" y="2362523"/>
            <a:ext cx="1638446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CLUSTERING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31"/>
          <p:cNvSpPr/>
          <p:nvPr/>
        </p:nvSpPr>
        <p:spPr>
          <a:xfrm>
            <a:off x="4781517" y="2503248"/>
            <a:ext cx="1638446" cy="16142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000"/>
              <a:buFont typeface="Manrope"/>
              <a:buNone/>
            </a:pPr>
            <a:r>
              <a:rPr b="1" i="0" lang="en-GB" sz="1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Groups of similar data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31"/>
          <p:cNvSpPr/>
          <p:nvPr/>
        </p:nvSpPr>
        <p:spPr>
          <a:xfrm>
            <a:off x="4781517" y="2712268"/>
            <a:ext cx="1638446" cy="1333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Output: unsupervised groupings.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31"/>
          <p:cNvSpPr/>
          <p:nvPr/>
        </p:nvSpPr>
        <p:spPr>
          <a:xfrm>
            <a:off x="4781517" y="3693377"/>
            <a:ext cx="1638446" cy="11694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600"/>
              <a:buFont typeface="Manrope"/>
              <a:buNone/>
            </a:pPr>
            <a:r>
              <a:rPr b="0" i="1" lang="en-GB" sz="600" u="none" cap="none" strike="noStrike">
                <a:solidFill>
                  <a:srgbClr val="8B95A6"/>
                </a:solidFill>
                <a:latin typeface="Manrope"/>
                <a:ea typeface="Manrope"/>
                <a:cs typeface="Manrope"/>
                <a:sym typeface="Manrope"/>
              </a:rPr>
              <a:t>Spotify clusters songs by listening patterns.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31"/>
          <p:cNvSpPr/>
          <p:nvPr/>
        </p:nvSpPr>
        <p:spPr>
          <a:xfrm>
            <a:off x="6638892" y="2191618"/>
            <a:ext cx="1895533" cy="1752038"/>
          </a:xfrm>
          <a:prstGeom prst="roundRect">
            <a:avLst>
              <a:gd fmla="val 4349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31"/>
          <p:cNvSpPr/>
          <p:nvPr/>
        </p:nvSpPr>
        <p:spPr>
          <a:xfrm>
            <a:off x="6638892" y="2191619"/>
            <a:ext cx="1895533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31"/>
          <p:cNvSpPr/>
          <p:nvPr/>
        </p:nvSpPr>
        <p:spPr>
          <a:xfrm>
            <a:off x="6791276" y="2362523"/>
            <a:ext cx="1638489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RECOMMENDATION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31"/>
          <p:cNvSpPr/>
          <p:nvPr/>
        </p:nvSpPr>
        <p:spPr>
          <a:xfrm>
            <a:off x="6791276" y="2503248"/>
            <a:ext cx="1638489" cy="16142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000"/>
              <a:buFont typeface="Manrope"/>
              <a:buNone/>
            </a:pPr>
            <a:r>
              <a:rPr b="1" i="0" lang="en-GB" sz="1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Personalized suggestions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31"/>
          <p:cNvSpPr/>
          <p:nvPr/>
        </p:nvSpPr>
        <p:spPr>
          <a:xfrm>
            <a:off x="6791276" y="2712268"/>
            <a:ext cx="1638489" cy="1333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Output: ranked items.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31"/>
          <p:cNvSpPr/>
          <p:nvPr/>
        </p:nvSpPr>
        <p:spPr>
          <a:xfrm>
            <a:off x="6791276" y="3693377"/>
            <a:ext cx="1638489" cy="11694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600"/>
              <a:buFont typeface="Manrope"/>
              <a:buNone/>
            </a:pPr>
            <a:r>
              <a:rPr b="0" i="1" lang="en-GB" sz="600" u="none" cap="none" strike="noStrike">
                <a:solidFill>
                  <a:srgbClr val="8B95A6"/>
                </a:solidFill>
                <a:latin typeface="Manrope"/>
                <a:ea typeface="Manrope"/>
                <a:cs typeface="Manrope"/>
                <a:sym typeface="Manrope"/>
              </a:rPr>
              <a:t>Netflix movie suggestions based on behavior.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31"/>
          <p:cNvSpPr/>
          <p:nvPr/>
        </p:nvSpPr>
        <p:spPr>
          <a:xfrm>
            <a:off x="609575" y="4824967"/>
            <a:ext cx="1062244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L&amp;D · AI 104 · Module 02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31"/>
          <p:cNvSpPr/>
          <p:nvPr/>
        </p:nvSpPr>
        <p:spPr>
          <a:xfrm>
            <a:off x="8235694" y="4824967"/>
            <a:ext cx="336831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17 / 62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1" name="Google Shape;61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242" y="251507"/>
            <a:ext cx="336900" cy="284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32"/>
          <p:cNvSpPr/>
          <p:nvPr/>
        </p:nvSpPr>
        <p:spPr>
          <a:xfrm>
            <a:off x="609575" y="328042"/>
            <a:ext cx="180950" cy="1809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32"/>
          <p:cNvSpPr/>
          <p:nvPr/>
        </p:nvSpPr>
        <p:spPr>
          <a:xfrm>
            <a:off x="857167" y="304767"/>
            <a:ext cx="77715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GlobalLogic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32"/>
          <p:cNvSpPr/>
          <p:nvPr/>
        </p:nvSpPr>
        <p:spPr>
          <a:xfrm>
            <a:off x="857167" y="447642"/>
            <a:ext cx="777156" cy="1037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Manrope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Manrope"/>
                <a:ea typeface="Manrope"/>
                <a:cs typeface="Manrope"/>
                <a:sym typeface="Manrope"/>
              </a:rPr>
              <a:t>A Hitachi Group Company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32"/>
          <p:cNvSpPr/>
          <p:nvPr/>
        </p:nvSpPr>
        <p:spPr>
          <a:xfrm>
            <a:off x="7984629" y="377527"/>
            <a:ext cx="587896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CONFIDENTIAL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32"/>
          <p:cNvSpPr/>
          <p:nvPr/>
        </p:nvSpPr>
        <p:spPr>
          <a:xfrm>
            <a:off x="609575" y="952500"/>
            <a:ext cx="8162596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ALGORITHM GALLERY — CLASSIFICATION MODELS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32"/>
          <p:cNvSpPr/>
          <p:nvPr/>
        </p:nvSpPr>
        <p:spPr>
          <a:xfrm>
            <a:off x="609575" y="1185829"/>
            <a:ext cx="8162596" cy="40765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000"/>
              <a:buFont typeface="Manrope"/>
              <a:buNone/>
            </a:pP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Four classifiers, four </a:t>
            </a:r>
            <a:r>
              <a:rPr b="1" i="0" lang="en-GB" sz="30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jobs</a:t>
            </a: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32"/>
          <p:cNvSpPr/>
          <p:nvPr/>
        </p:nvSpPr>
        <p:spPr>
          <a:xfrm>
            <a:off x="609575" y="1803011"/>
            <a:ext cx="1895492" cy="1752038"/>
          </a:xfrm>
          <a:prstGeom prst="roundRect">
            <a:avLst>
              <a:gd fmla="val 4349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32"/>
          <p:cNvSpPr/>
          <p:nvPr/>
        </p:nvSpPr>
        <p:spPr>
          <a:xfrm>
            <a:off x="609575" y="1803012"/>
            <a:ext cx="1895492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32"/>
          <p:cNvSpPr/>
          <p:nvPr/>
        </p:nvSpPr>
        <p:spPr>
          <a:xfrm>
            <a:off x="761959" y="1973916"/>
            <a:ext cx="1638447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DECISION TREE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32"/>
          <p:cNvSpPr/>
          <p:nvPr/>
        </p:nvSpPr>
        <p:spPr>
          <a:xfrm>
            <a:off x="761959" y="2114641"/>
            <a:ext cx="1638447" cy="16142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000"/>
              <a:buFont typeface="Manrope"/>
              <a:buNone/>
            </a:pPr>
            <a:r>
              <a:rPr b="1" i="0" lang="en-GB" sz="1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If-then rules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32"/>
          <p:cNvSpPr/>
          <p:nvPr/>
        </p:nvSpPr>
        <p:spPr>
          <a:xfrm>
            <a:off x="761959" y="2323662"/>
            <a:ext cx="1638447" cy="24758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Classify using a series of if-then rules. Easy to explain to non-technical stakeholders.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32"/>
          <p:cNvSpPr/>
          <p:nvPr/>
        </p:nvSpPr>
        <p:spPr>
          <a:xfrm>
            <a:off x="761959" y="3304770"/>
            <a:ext cx="1638447" cy="11694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600"/>
              <a:buFont typeface="Manrope"/>
              <a:buNone/>
            </a:pPr>
            <a:r>
              <a:rPr b="0" i="1" lang="en-GB" sz="600" u="none" cap="none" strike="noStrike">
                <a:solidFill>
                  <a:srgbClr val="8B95A6"/>
                </a:solidFill>
                <a:latin typeface="Manrope"/>
                <a:ea typeface="Manrope"/>
                <a:cs typeface="Manrope"/>
                <a:sym typeface="Manrope"/>
              </a:rPr>
              <a:t>rules-based · medical diagnosis · loan approval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32"/>
          <p:cNvSpPr/>
          <p:nvPr/>
        </p:nvSpPr>
        <p:spPr>
          <a:xfrm>
            <a:off x="2619334" y="1803011"/>
            <a:ext cx="1895533" cy="1752038"/>
          </a:xfrm>
          <a:prstGeom prst="roundRect">
            <a:avLst>
              <a:gd fmla="val 4349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32"/>
          <p:cNvSpPr/>
          <p:nvPr/>
        </p:nvSpPr>
        <p:spPr>
          <a:xfrm>
            <a:off x="2619334" y="1803012"/>
            <a:ext cx="1895533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32"/>
          <p:cNvSpPr/>
          <p:nvPr/>
        </p:nvSpPr>
        <p:spPr>
          <a:xfrm>
            <a:off x="2771717" y="1973916"/>
            <a:ext cx="1638489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RANDOM FOREST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32"/>
          <p:cNvSpPr/>
          <p:nvPr/>
        </p:nvSpPr>
        <p:spPr>
          <a:xfrm>
            <a:off x="2771717" y="2114641"/>
            <a:ext cx="1638489" cy="16142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000"/>
              <a:buFont typeface="Manrope"/>
              <a:buNone/>
            </a:pPr>
            <a:r>
              <a:rPr b="1" i="0" lang="en-GB" sz="1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Many trees, voted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32"/>
          <p:cNvSpPr/>
          <p:nvPr/>
        </p:nvSpPr>
        <p:spPr>
          <a:xfrm>
            <a:off x="2771717" y="2323662"/>
            <a:ext cx="1638489" cy="24758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More accurate than a single tree, less prone to overfitting.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32"/>
          <p:cNvSpPr/>
          <p:nvPr/>
        </p:nvSpPr>
        <p:spPr>
          <a:xfrm>
            <a:off x="2771717" y="3304770"/>
            <a:ext cx="1638489" cy="11694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600"/>
              <a:buFont typeface="Manrope"/>
              <a:buNone/>
            </a:pPr>
            <a:r>
              <a:rPr b="0" i="1" lang="en-GB" sz="600" u="none" cap="none" strike="noStrike">
                <a:solidFill>
                  <a:srgbClr val="8B95A6"/>
                </a:solidFill>
                <a:latin typeface="Manrope"/>
                <a:ea typeface="Manrope"/>
                <a:cs typeface="Manrope"/>
                <a:sym typeface="Manrope"/>
              </a:rPr>
              <a:t>tabular data · fraud detection · churn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32"/>
          <p:cNvSpPr/>
          <p:nvPr/>
        </p:nvSpPr>
        <p:spPr>
          <a:xfrm>
            <a:off x="4629133" y="1803011"/>
            <a:ext cx="1895492" cy="1752038"/>
          </a:xfrm>
          <a:prstGeom prst="roundRect">
            <a:avLst>
              <a:gd fmla="val 4349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32"/>
          <p:cNvSpPr/>
          <p:nvPr/>
        </p:nvSpPr>
        <p:spPr>
          <a:xfrm>
            <a:off x="4629133" y="1803012"/>
            <a:ext cx="1895492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32"/>
          <p:cNvSpPr/>
          <p:nvPr/>
        </p:nvSpPr>
        <p:spPr>
          <a:xfrm>
            <a:off x="4781517" y="1973916"/>
            <a:ext cx="1638446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KNN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32"/>
          <p:cNvSpPr/>
          <p:nvPr/>
        </p:nvSpPr>
        <p:spPr>
          <a:xfrm>
            <a:off x="4781517" y="2114641"/>
            <a:ext cx="1638446" cy="16142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000"/>
              <a:buFont typeface="Manrope"/>
              <a:buNone/>
            </a:pPr>
            <a:r>
              <a:rPr b="1" i="0" lang="en-GB" sz="1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Nearest neighbours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32"/>
          <p:cNvSpPr/>
          <p:nvPr/>
        </p:nvSpPr>
        <p:spPr>
          <a:xfrm>
            <a:off x="4781517" y="2323662"/>
            <a:ext cx="1638446" cy="24758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Classify by looking at the K most similar past examples. No training phase.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32"/>
          <p:cNvSpPr/>
          <p:nvPr/>
        </p:nvSpPr>
        <p:spPr>
          <a:xfrm>
            <a:off x="4781517" y="3304770"/>
            <a:ext cx="1638446" cy="11694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600"/>
              <a:buFont typeface="Manrope"/>
              <a:buNone/>
            </a:pPr>
            <a:r>
              <a:rPr b="0" i="1" lang="en-GB" sz="600" u="none" cap="none" strike="noStrike">
                <a:solidFill>
                  <a:srgbClr val="8B95A6"/>
                </a:solidFill>
                <a:latin typeface="Manrope"/>
                <a:ea typeface="Manrope"/>
                <a:cs typeface="Manrope"/>
                <a:sym typeface="Manrope"/>
              </a:rPr>
              <a:t>similarity-based · small dataset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32"/>
          <p:cNvSpPr/>
          <p:nvPr/>
        </p:nvSpPr>
        <p:spPr>
          <a:xfrm>
            <a:off x="6638892" y="1803011"/>
            <a:ext cx="1895533" cy="1752038"/>
          </a:xfrm>
          <a:prstGeom prst="roundRect">
            <a:avLst>
              <a:gd fmla="val 4349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32"/>
          <p:cNvSpPr/>
          <p:nvPr/>
        </p:nvSpPr>
        <p:spPr>
          <a:xfrm>
            <a:off x="6638892" y="1803012"/>
            <a:ext cx="1895533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32"/>
          <p:cNvSpPr/>
          <p:nvPr/>
        </p:nvSpPr>
        <p:spPr>
          <a:xfrm>
            <a:off x="6791276" y="1973916"/>
            <a:ext cx="1638489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LOGISTIC REGRESSION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32"/>
          <p:cNvSpPr/>
          <p:nvPr/>
        </p:nvSpPr>
        <p:spPr>
          <a:xfrm>
            <a:off x="6791276" y="2114641"/>
            <a:ext cx="1638489" cy="16142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000"/>
              <a:buFont typeface="Manrope"/>
              <a:buNone/>
            </a:pPr>
            <a:r>
              <a:rPr b="1" i="0" lang="en-GB" sz="1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Yes / No decisions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32"/>
          <p:cNvSpPr/>
          <p:nvPr/>
        </p:nvSpPr>
        <p:spPr>
          <a:xfrm>
            <a:off x="6791276" y="2323662"/>
            <a:ext cx="1638489" cy="24758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Classify into 2 categories. Despite the name, it's a classifier.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32"/>
          <p:cNvSpPr/>
          <p:nvPr/>
        </p:nvSpPr>
        <p:spPr>
          <a:xfrm>
            <a:off x="6791276" y="3304770"/>
            <a:ext cx="1638489" cy="11694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600"/>
              <a:buFont typeface="Manrope"/>
              <a:buNone/>
            </a:pPr>
            <a:r>
              <a:rPr b="0" i="1" lang="en-GB" sz="600" u="none" cap="none" strike="noStrike">
                <a:solidFill>
                  <a:srgbClr val="8B95A6"/>
                </a:solidFill>
                <a:latin typeface="Manrope"/>
                <a:ea typeface="Manrope"/>
                <a:cs typeface="Manrope"/>
                <a:sym typeface="Manrope"/>
              </a:rPr>
              <a:t>spam-or-not · churn-or-not · binary outcomes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32"/>
          <p:cNvSpPr/>
          <p:nvPr/>
        </p:nvSpPr>
        <p:spPr>
          <a:xfrm>
            <a:off x="609575" y="4824967"/>
            <a:ext cx="1062244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L&amp;D · AI 104 · Module 02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32"/>
          <p:cNvSpPr/>
          <p:nvPr/>
        </p:nvSpPr>
        <p:spPr>
          <a:xfrm>
            <a:off x="8235694" y="4824967"/>
            <a:ext cx="336831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18 / 62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9" name="Google Shape;64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242" y="251507"/>
            <a:ext cx="336900" cy="284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33"/>
          <p:cNvSpPr/>
          <p:nvPr/>
        </p:nvSpPr>
        <p:spPr>
          <a:xfrm>
            <a:off x="609575" y="328042"/>
            <a:ext cx="180950" cy="1809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33"/>
          <p:cNvSpPr/>
          <p:nvPr/>
        </p:nvSpPr>
        <p:spPr>
          <a:xfrm>
            <a:off x="857167" y="304767"/>
            <a:ext cx="77715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GlobalLogic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33"/>
          <p:cNvSpPr/>
          <p:nvPr/>
        </p:nvSpPr>
        <p:spPr>
          <a:xfrm>
            <a:off x="857167" y="447642"/>
            <a:ext cx="777156" cy="1037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Manrope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Manrope"/>
                <a:ea typeface="Manrope"/>
                <a:cs typeface="Manrope"/>
                <a:sym typeface="Manrope"/>
              </a:rPr>
              <a:t>A Hitachi Group Company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33"/>
          <p:cNvSpPr/>
          <p:nvPr/>
        </p:nvSpPr>
        <p:spPr>
          <a:xfrm>
            <a:off x="7984629" y="377527"/>
            <a:ext cx="587896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CONFIDENTIAL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33"/>
          <p:cNvSpPr/>
          <p:nvPr/>
        </p:nvSpPr>
        <p:spPr>
          <a:xfrm>
            <a:off x="609575" y="952500"/>
            <a:ext cx="8162596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ALGORITHM GALLERY — ADVANCED MODELS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33"/>
          <p:cNvSpPr/>
          <p:nvPr/>
        </p:nvSpPr>
        <p:spPr>
          <a:xfrm>
            <a:off x="609575" y="1185829"/>
            <a:ext cx="8162596" cy="40765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000"/>
              <a:buFont typeface="Manrope"/>
              <a:buNone/>
            </a:pP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From a straight line to </a:t>
            </a:r>
            <a:r>
              <a:rPr b="1" i="0" lang="en-GB" sz="30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deep nets</a:t>
            </a: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33"/>
          <p:cNvSpPr/>
          <p:nvPr/>
        </p:nvSpPr>
        <p:spPr>
          <a:xfrm>
            <a:off x="609575" y="1803011"/>
            <a:ext cx="1895492" cy="1752038"/>
          </a:xfrm>
          <a:prstGeom prst="roundRect">
            <a:avLst>
              <a:gd fmla="val 4349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33"/>
          <p:cNvSpPr/>
          <p:nvPr/>
        </p:nvSpPr>
        <p:spPr>
          <a:xfrm>
            <a:off x="609575" y="1803012"/>
            <a:ext cx="1895492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33"/>
          <p:cNvSpPr/>
          <p:nvPr/>
        </p:nvSpPr>
        <p:spPr>
          <a:xfrm>
            <a:off x="761959" y="1973916"/>
            <a:ext cx="1638447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LINEAR REGRESSION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33"/>
          <p:cNvSpPr/>
          <p:nvPr/>
        </p:nvSpPr>
        <p:spPr>
          <a:xfrm>
            <a:off x="761959" y="2114641"/>
            <a:ext cx="1638447" cy="16142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000"/>
              <a:buFont typeface="Manrope"/>
              <a:buNone/>
            </a:pPr>
            <a:r>
              <a:rPr b="1" i="0" lang="en-GB" sz="1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Predict a number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33"/>
          <p:cNvSpPr/>
          <p:nvPr/>
        </p:nvSpPr>
        <p:spPr>
          <a:xfrm>
            <a:off x="761959" y="2323662"/>
            <a:ext cx="1638447" cy="1333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When you expect a straight-line relationship.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33"/>
          <p:cNvSpPr/>
          <p:nvPr/>
        </p:nvSpPr>
        <p:spPr>
          <a:xfrm>
            <a:off x="761959" y="3304770"/>
            <a:ext cx="1638447" cy="11694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600"/>
              <a:buFont typeface="Manrope"/>
              <a:buNone/>
            </a:pPr>
            <a:r>
              <a:rPr b="0" i="1" lang="en-GB" sz="600" u="none" cap="none" strike="noStrike">
                <a:solidFill>
                  <a:srgbClr val="8B95A6"/>
                </a:solidFill>
                <a:latin typeface="Manrope"/>
                <a:ea typeface="Manrope"/>
                <a:cs typeface="Manrope"/>
                <a:sym typeface="Manrope"/>
              </a:rPr>
              <a:t>predict price · forecast sales · how much / many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33"/>
          <p:cNvSpPr/>
          <p:nvPr/>
        </p:nvSpPr>
        <p:spPr>
          <a:xfrm>
            <a:off x="2619334" y="1803011"/>
            <a:ext cx="1895533" cy="1752038"/>
          </a:xfrm>
          <a:prstGeom prst="roundRect">
            <a:avLst>
              <a:gd fmla="val 4349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33"/>
          <p:cNvSpPr/>
          <p:nvPr/>
        </p:nvSpPr>
        <p:spPr>
          <a:xfrm>
            <a:off x="2619334" y="1803012"/>
            <a:ext cx="1895533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33"/>
          <p:cNvSpPr/>
          <p:nvPr/>
        </p:nvSpPr>
        <p:spPr>
          <a:xfrm>
            <a:off x="2771717" y="1973916"/>
            <a:ext cx="1638489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K-MEANS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33"/>
          <p:cNvSpPr/>
          <p:nvPr/>
        </p:nvSpPr>
        <p:spPr>
          <a:xfrm>
            <a:off x="2771717" y="2114641"/>
            <a:ext cx="1638489" cy="16142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000"/>
              <a:buFont typeface="Manrope"/>
              <a:buNone/>
            </a:pPr>
            <a:r>
              <a:rPr b="1" i="0" lang="en-GB" sz="1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Group unlabelled data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33"/>
          <p:cNvSpPr/>
          <p:nvPr/>
        </p:nvSpPr>
        <p:spPr>
          <a:xfrm>
            <a:off x="2771717" y="2323662"/>
            <a:ext cx="1638489" cy="1333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Find K natural groups in your data.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33"/>
          <p:cNvSpPr/>
          <p:nvPr/>
        </p:nvSpPr>
        <p:spPr>
          <a:xfrm>
            <a:off x="2771717" y="3304770"/>
            <a:ext cx="1638489" cy="11694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600"/>
              <a:buFont typeface="Manrope"/>
              <a:buNone/>
            </a:pPr>
            <a:r>
              <a:rPr b="0" i="1" lang="en-GB" sz="600" u="none" cap="none" strike="noStrike">
                <a:solidFill>
                  <a:srgbClr val="8B95A6"/>
                </a:solidFill>
                <a:latin typeface="Manrope"/>
                <a:ea typeface="Manrope"/>
                <a:cs typeface="Manrope"/>
                <a:sym typeface="Manrope"/>
              </a:rPr>
              <a:t>group customers · segment users · find patterns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33"/>
          <p:cNvSpPr/>
          <p:nvPr/>
        </p:nvSpPr>
        <p:spPr>
          <a:xfrm>
            <a:off x="4629133" y="1803011"/>
            <a:ext cx="1895492" cy="1752038"/>
          </a:xfrm>
          <a:prstGeom prst="roundRect">
            <a:avLst>
              <a:gd fmla="val 4349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33"/>
          <p:cNvSpPr/>
          <p:nvPr/>
        </p:nvSpPr>
        <p:spPr>
          <a:xfrm>
            <a:off x="4629133" y="1803012"/>
            <a:ext cx="1895492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33"/>
          <p:cNvSpPr/>
          <p:nvPr/>
        </p:nvSpPr>
        <p:spPr>
          <a:xfrm>
            <a:off x="4781517" y="1973916"/>
            <a:ext cx="1638446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NEURAL NET / DEEP LEARNING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33"/>
          <p:cNvSpPr/>
          <p:nvPr/>
        </p:nvSpPr>
        <p:spPr>
          <a:xfrm>
            <a:off x="4781517" y="2114641"/>
            <a:ext cx="1638446" cy="16142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000"/>
              <a:buFont typeface="Manrope"/>
              <a:buNone/>
            </a:pPr>
            <a:r>
              <a:rPr b="1" i="0" lang="en-GB" sz="1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Complex patterns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33"/>
          <p:cNvSpPr/>
          <p:nvPr/>
        </p:nvSpPr>
        <p:spPr>
          <a:xfrm>
            <a:off x="4781517" y="2323662"/>
            <a:ext cx="1638446" cy="1333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Images, text, audio. Needs lots of compute.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33"/>
          <p:cNvSpPr/>
          <p:nvPr/>
        </p:nvSpPr>
        <p:spPr>
          <a:xfrm>
            <a:off x="4781517" y="3304770"/>
            <a:ext cx="1638446" cy="11694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600"/>
              <a:buFont typeface="Manrope"/>
              <a:buNone/>
            </a:pPr>
            <a:r>
              <a:rPr b="0" i="1" lang="en-GB" sz="600" u="none" cap="none" strike="noStrike">
                <a:solidFill>
                  <a:srgbClr val="8B95A6"/>
                </a:solidFill>
                <a:latin typeface="Manrope"/>
                <a:ea typeface="Manrope"/>
                <a:cs typeface="Manrope"/>
                <a:sym typeface="Manrope"/>
              </a:rPr>
              <a:t>image recognition · speech · text generation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33"/>
          <p:cNvSpPr/>
          <p:nvPr/>
        </p:nvSpPr>
        <p:spPr>
          <a:xfrm>
            <a:off x="6638892" y="1803011"/>
            <a:ext cx="1895533" cy="1752038"/>
          </a:xfrm>
          <a:prstGeom prst="roundRect">
            <a:avLst>
              <a:gd fmla="val 4349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33"/>
          <p:cNvSpPr/>
          <p:nvPr/>
        </p:nvSpPr>
        <p:spPr>
          <a:xfrm>
            <a:off x="6638892" y="1803012"/>
            <a:ext cx="1895533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33"/>
          <p:cNvSpPr/>
          <p:nvPr/>
        </p:nvSpPr>
        <p:spPr>
          <a:xfrm>
            <a:off x="6791276" y="1973916"/>
            <a:ext cx="1638489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POLYNOMIAL / MULTIPLE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33"/>
          <p:cNvSpPr/>
          <p:nvPr/>
        </p:nvSpPr>
        <p:spPr>
          <a:xfrm>
            <a:off x="6791276" y="2114641"/>
            <a:ext cx="1638489" cy="16142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000"/>
              <a:buFont typeface="Manrope"/>
              <a:buNone/>
            </a:pPr>
            <a:r>
              <a:rPr b="1" i="0" lang="en-GB" sz="1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Many factors, curves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33"/>
          <p:cNvSpPr/>
          <p:nvPr/>
        </p:nvSpPr>
        <p:spPr>
          <a:xfrm>
            <a:off x="6791276" y="2323662"/>
            <a:ext cx="1638489" cy="24758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Predict a number using multiple features when the relationship curves.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33"/>
          <p:cNvSpPr/>
          <p:nvPr/>
        </p:nvSpPr>
        <p:spPr>
          <a:xfrm>
            <a:off x="6791276" y="3304770"/>
            <a:ext cx="1638489" cy="11694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600"/>
              <a:buFont typeface="Manrope"/>
              <a:buNone/>
            </a:pPr>
            <a:r>
              <a:rPr b="0" i="1" lang="en-GB" sz="600" u="none" cap="none" strike="noStrike">
                <a:solidFill>
                  <a:srgbClr val="8B95A6"/>
                </a:solidFill>
                <a:latin typeface="Manrope"/>
                <a:ea typeface="Manrope"/>
                <a:cs typeface="Manrope"/>
                <a:sym typeface="Manrope"/>
              </a:rPr>
              <a:t>house price with many features · curved trend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33"/>
          <p:cNvSpPr/>
          <p:nvPr/>
        </p:nvSpPr>
        <p:spPr>
          <a:xfrm>
            <a:off x="609575" y="4824967"/>
            <a:ext cx="1062244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L&amp;D · AI 104 · Module 02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33"/>
          <p:cNvSpPr/>
          <p:nvPr/>
        </p:nvSpPr>
        <p:spPr>
          <a:xfrm>
            <a:off x="8235694" y="4824967"/>
            <a:ext cx="336831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19 / 62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7" name="Google Shape;68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242" y="251507"/>
            <a:ext cx="336900" cy="284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34"/>
          <p:cNvSpPr/>
          <p:nvPr/>
        </p:nvSpPr>
        <p:spPr>
          <a:xfrm>
            <a:off x="609575" y="328042"/>
            <a:ext cx="180950" cy="1809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34"/>
          <p:cNvSpPr/>
          <p:nvPr/>
        </p:nvSpPr>
        <p:spPr>
          <a:xfrm>
            <a:off x="857167" y="304767"/>
            <a:ext cx="77715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GlobalLogic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34"/>
          <p:cNvSpPr/>
          <p:nvPr/>
        </p:nvSpPr>
        <p:spPr>
          <a:xfrm>
            <a:off x="857167" y="447642"/>
            <a:ext cx="777156" cy="1037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Manrope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Manrope"/>
                <a:ea typeface="Manrope"/>
                <a:cs typeface="Manrope"/>
                <a:sym typeface="Manrope"/>
              </a:rPr>
              <a:t>A Hitachi Group Company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34"/>
          <p:cNvSpPr/>
          <p:nvPr/>
        </p:nvSpPr>
        <p:spPr>
          <a:xfrm>
            <a:off x="7984629" y="377527"/>
            <a:ext cx="587896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CONFIDENTIAL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34"/>
          <p:cNvSpPr/>
          <p:nvPr/>
        </p:nvSpPr>
        <p:spPr>
          <a:xfrm>
            <a:off x="609575" y="952500"/>
            <a:ext cx="8162596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THE COMPLEXITY EVOLUTION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34"/>
          <p:cNvSpPr/>
          <p:nvPr/>
        </p:nvSpPr>
        <p:spPr>
          <a:xfrm>
            <a:off x="609575" y="1185829"/>
            <a:ext cx="8162596" cy="40765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000"/>
              <a:buFont typeface="Manrope"/>
              <a:buNone/>
            </a:pP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From decision trees to </a:t>
            </a:r>
            <a:r>
              <a:rPr b="1" i="0" lang="en-GB" sz="30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generative systems</a:t>
            </a: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34"/>
          <p:cNvSpPr/>
          <p:nvPr/>
        </p:nvSpPr>
        <p:spPr>
          <a:xfrm>
            <a:off x="609575" y="1803012"/>
            <a:ext cx="2451158" cy="837737"/>
          </a:xfrm>
          <a:prstGeom prst="roundRect">
            <a:avLst>
              <a:gd fmla="val 9096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34"/>
          <p:cNvSpPr/>
          <p:nvPr/>
        </p:nvSpPr>
        <p:spPr>
          <a:xfrm>
            <a:off x="609575" y="1803012"/>
            <a:ext cx="2451158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34"/>
          <p:cNvSpPr/>
          <p:nvPr/>
        </p:nvSpPr>
        <p:spPr>
          <a:xfrm>
            <a:off x="742901" y="1954858"/>
            <a:ext cx="2250043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TIER 01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34"/>
          <p:cNvSpPr/>
          <p:nvPr/>
        </p:nvSpPr>
        <p:spPr>
          <a:xfrm>
            <a:off x="742901" y="2076566"/>
            <a:ext cx="2250043" cy="13426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Traditional ML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34"/>
          <p:cNvSpPr/>
          <p:nvPr/>
        </p:nvSpPr>
        <p:spPr>
          <a:xfrm>
            <a:off x="742901" y="2239409"/>
            <a:ext cx="2250043" cy="12620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Simpler, foundational models — Linear Regression, Decision Trees.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34"/>
          <p:cNvSpPr/>
          <p:nvPr/>
        </p:nvSpPr>
        <p:spPr>
          <a:xfrm>
            <a:off x="742901" y="2422757"/>
            <a:ext cx="2250043" cy="1037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Manrope"/>
              <a:buNone/>
            </a:pPr>
            <a:r>
              <a:rPr b="0" i="1" lang="en-GB" sz="500" u="none" cap="none" strike="noStrike">
                <a:solidFill>
                  <a:srgbClr val="8B95A6"/>
                </a:solidFill>
                <a:latin typeface="Manrope"/>
                <a:ea typeface="Manrope"/>
                <a:cs typeface="Manrope"/>
                <a:sym typeface="Manrope"/>
              </a:rPr>
              <a:t>Predicting sales trends in retail.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34"/>
          <p:cNvSpPr/>
          <p:nvPr/>
        </p:nvSpPr>
        <p:spPr>
          <a:xfrm>
            <a:off x="3108325" y="2118693"/>
            <a:ext cx="190483" cy="2254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1200"/>
              <a:buFont typeface="Manrope"/>
              <a:buNone/>
            </a:pPr>
            <a:r>
              <a:rPr b="0" i="0" lang="en-GB" sz="12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▶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34"/>
          <p:cNvSpPr/>
          <p:nvPr/>
        </p:nvSpPr>
        <p:spPr>
          <a:xfrm>
            <a:off x="3346400" y="1803012"/>
            <a:ext cx="2451158" cy="837737"/>
          </a:xfrm>
          <a:prstGeom prst="roundRect">
            <a:avLst>
              <a:gd fmla="val 9096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34"/>
          <p:cNvSpPr/>
          <p:nvPr/>
        </p:nvSpPr>
        <p:spPr>
          <a:xfrm>
            <a:off x="3346400" y="1803012"/>
            <a:ext cx="2451158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34"/>
          <p:cNvSpPr/>
          <p:nvPr/>
        </p:nvSpPr>
        <p:spPr>
          <a:xfrm>
            <a:off x="3479726" y="1954858"/>
            <a:ext cx="2250043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TIER 02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34"/>
          <p:cNvSpPr/>
          <p:nvPr/>
        </p:nvSpPr>
        <p:spPr>
          <a:xfrm>
            <a:off x="3479726" y="2076566"/>
            <a:ext cx="2250043" cy="13426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Deep Learning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34"/>
          <p:cNvSpPr/>
          <p:nvPr/>
        </p:nvSpPr>
        <p:spPr>
          <a:xfrm>
            <a:off x="3479726" y="2239409"/>
            <a:ext cx="2250043" cy="12620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Built on multi-layered neural networks. Higher compute.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34"/>
          <p:cNvSpPr/>
          <p:nvPr/>
        </p:nvSpPr>
        <p:spPr>
          <a:xfrm>
            <a:off x="3479726" y="2422757"/>
            <a:ext cx="2250043" cy="1037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Manrope"/>
              <a:buNone/>
            </a:pPr>
            <a:r>
              <a:rPr b="0" i="1" lang="en-GB" sz="500" u="none" cap="none" strike="noStrike">
                <a:solidFill>
                  <a:srgbClr val="8B95A6"/>
                </a:solidFill>
                <a:latin typeface="Manrope"/>
                <a:ea typeface="Manrope"/>
                <a:cs typeface="Manrope"/>
                <a:sym typeface="Manrope"/>
              </a:rPr>
              <a:t>Face recognition technology (Facebook).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34"/>
          <p:cNvSpPr/>
          <p:nvPr/>
        </p:nvSpPr>
        <p:spPr>
          <a:xfrm>
            <a:off x="5845150" y="2118693"/>
            <a:ext cx="190483" cy="2254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1200"/>
              <a:buFont typeface="Manrope"/>
              <a:buNone/>
            </a:pPr>
            <a:r>
              <a:rPr b="0" i="0" lang="en-GB" sz="12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▶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34"/>
          <p:cNvSpPr/>
          <p:nvPr/>
        </p:nvSpPr>
        <p:spPr>
          <a:xfrm>
            <a:off x="6083226" y="1803012"/>
            <a:ext cx="2451158" cy="837737"/>
          </a:xfrm>
          <a:prstGeom prst="roundRect">
            <a:avLst>
              <a:gd fmla="val 9096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34"/>
          <p:cNvSpPr/>
          <p:nvPr/>
        </p:nvSpPr>
        <p:spPr>
          <a:xfrm>
            <a:off x="6083226" y="1803012"/>
            <a:ext cx="2451158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34"/>
          <p:cNvSpPr/>
          <p:nvPr/>
        </p:nvSpPr>
        <p:spPr>
          <a:xfrm>
            <a:off x="6216551" y="1954858"/>
            <a:ext cx="2250043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TIER 03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34"/>
          <p:cNvSpPr/>
          <p:nvPr/>
        </p:nvSpPr>
        <p:spPr>
          <a:xfrm>
            <a:off x="6216551" y="2076566"/>
            <a:ext cx="2250043" cy="13426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Generative AI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34"/>
          <p:cNvSpPr/>
          <p:nvPr/>
        </p:nvSpPr>
        <p:spPr>
          <a:xfrm>
            <a:off x="6216551" y="2239409"/>
            <a:ext cx="2250043" cy="12620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Systems capable of synthesizing entirely novel outputs.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34"/>
          <p:cNvSpPr/>
          <p:nvPr/>
        </p:nvSpPr>
        <p:spPr>
          <a:xfrm>
            <a:off x="6216551" y="2422757"/>
            <a:ext cx="2250043" cy="1037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Manrope"/>
              <a:buNone/>
            </a:pPr>
            <a:r>
              <a:rPr b="0" i="1" lang="en-GB" sz="500" u="none" cap="none" strike="noStrike">
                <a:solidFill>
                  <a:srgbClr val="8B95A6"/>
                </a:solidFill>
                <a:latin typeface="Manrope"/>
                <a:ea typeface="Manrope"/>
                <a:cs typeface="Manrope"/>
                <a:sym typeface="Manrope"/>
              </a:rPr>
              <a:t>Chatbots like ChatGPT generating answers and code.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34"/>
          <p:cNvSpPr/>
          <p:nvPr/>
        </p:nvSpPr>
        <p:spPr>
          <a:xfrm>
            <a:off x="609575" y="4824967"/>
            <a:ext cx="1062244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L&amp;D · AI 104 · Module 02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34"/>
          <p:cNvSpPr/>
          <p:nvPr/>
        </p:nvSpPr>
        <p:spPr>
          <a:xfrm>
            <a:off x="8235694" y="4824967"/>
            <a:ext cx="336831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20 / 62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1" name="Google Shape;72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242" y="251507"/>
            <a:ext cx="336900" cy="284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35"/>
          <p:cNvSpPr/>
          <p:nvPr/>
        </p:nvSpPr>
        <p:spPr>
          <a:xfrm>
            <a:off x="609575" y="328042"/>
            <a:ext cx="180950" cy="1809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35"/>
          <p:cNvSpPr/>
          <p:nvPr/>
        </p:nvSpPr>
        <p:spPr>
          <a:xfrm>
            <a:off x="857167" y="304767"/>
            <a:ext cx="77715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GlobalLogic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35"/>
          <p:cNvSpPr/>
          <p:nvPr/>
        </p:nvSpPr>
        <p:spPr>
          <a:xfrm>
            <a:off x="857167" y="447642"/>
            <a:ext cx="777156" cy="1037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Manrope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Manrope"/>
                <a:ea typeface="Manrope"/>
                <a:cs typeface="Manrope"/>
                <a:sym typeface="Manrope"/>
              </a:rPr>
              <a:t>A Hitachi Group Company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35"/>
          <p:cNvSpPr/>
          <p:nvPr/>
        </p:nvSpPr>
        <p:spPr>
          <a:xfrm>
            <a:off x="7984629" y="377527"/>
            <a:ext cx="587896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CONFIDENTIAL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35"/>
          <p:cNvSpPr/>
          <p:nvPr/>
        </p:nvSpPr>
        <p:spPr>
          <a:xfrm>
            <a:off x="609575" y="952500"/>
            <a:ext cx="8162596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THE AI TAXONOMY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35"/>
          <p:cNvSpPr/>
          <p:nvPr/>
        </p:nvSpPr>
        <p:spPr>
          <a:xfrm>
            <a:off x="609575" y="1185829"/>
            <a:ext cx="8162596" cy="40765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000"/>
              <a:buFont typeface="Manrope"/>
              <a:buNone/>
            </a:pP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Master </a:t>
            </a:r>
            <a:r>
              <a:rPr b="1" i="0" lang="en-GB" sz="30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cheat sheet</a:t>
            </a: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35"/>
          <p:cNvSpPr/>
          <p:nvPr/>
        </p:nvSpPr>
        <p:spPr>
          <a:xfrm>
            <a:off x="609575" y="1726820"/>
            <a:ext cx="1181034" cy="458474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35"/>
          <p:cNvSpPr/>
          <p:nvPr/>
        </p:nvSpPr>
        <p:spPr>
          <a:xfrm>
            <a:off x="609575" y="2182647"/>
            <a:ext cx="1181034" cy="4763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35"/>
          <p:cNvSpPr/>
          <p:nvPr/>
        </p:nvSpPr>
        <p:spPr>
          <a:xfrm>
            <a:off x="723875" y="1812545"/>
            <a:ext cx="990534" cy="30342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Classification type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35"/>
          <p:cNvSpPr/>
          <p:nvPr/>
        </p:nvSpPr>
        <p:spPr>
          <a:xfrm>
            <a:off x="1790609" y="1726820"/>
            <a:ext cx="3250737" cy="458474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35"/>
          <p:cNvSpPr/>
          <p:nvPr/>
        </p:nvSpPr>
        <p:spPr>
          <a:xfrm>
            <a:off x="1790609" y="2182647"/>
            <a:ext cx="3250737" cy="4763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35"/>
          <p:cNvSpPr/>
          <p:nvPr/>
        </p:nvSpPr>
        <p:spPr>
          <a:xfrm>
            <a:off x="1904909" y="1812545"/>
            <a:ext cx="3119659" cy="30342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Core focus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35"/>
          <p:cNvSpPr/>
          <p:nvPr/>
        </p:nvSpPr>
        <p:spPr>
          <a:xfrm>
            <a:off x="5041347" y="1726820"/>
            <a:ext cx="3493079" cy="458474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35"/>
          <p:cNvSpPr/>
          <p:nvPr/>
        </p:nvSpPr>
        <p:spPr>
          <a:xfrm>
            <a:off x="5041347" y="2182647"/>
            <a:ext cx="3493079" cy="4763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35"/>
          <p:cNvSpPr/>
          <p:nvPr/>
        </p:nvSpPr>
        <p:spPr>
          <a:xfrm>
            <a:off x="5155647" y="1812545"/>
            <a:ext cx="3369271" cy="30342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Real-world example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35"/>
          <p:cNvSpPr/>
          <p:nvPr/>
        </p:nvSpPr>
        <p:spPr>
          <a:xfrm>
            <a:off x="609575" y="2481007"/>
            <a:ext cx="1181034" cy="4763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35"/>
          <p:cNvSpPr/>
          <p:nvPr/>
        </p:nvSpPr>
        <p:spPr>
          <a:xfrm>
            <a:off x="723875" y="2271018"/>
            <a:ext cx="990534" cy="1433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SUPERVISED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35"/>
          <p:cNvSpPr/>
          <p:nvPr/>
        </p:nvSpPr>
        <p:spPr>
          <a:xfrm>
            <a:off x="1790609" y="2481007"/>
            <a:ext cx="3250737" cy="4763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35"/>
          <p:cNvSpPr/>
          <p:nvPr/>
        </p:nvSpPr>
        <p:spPr>
          <a:xfrm>
            <a:off x="1904909" y="2271018"/>
            <a:ext cx="3119659" cy="1433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700"/>
              <a:buFont typeface="Manrope"/>
              <a:buNone/>
            </a:pPr>
            <a:r>
              <a:rPr b="0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Labeled data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35"/>
          <p:cNvSpPr/>
          <p:nvPr/>
        </p:nvSpPr>
        <p:spPr>
          <a:xfrm>
            <a:off x="5041347" y="2481007"/>
            <a:ext cx="3493079" cy="4763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35"/>
          <p:cNvSpPr/>
          <p:nvPr/>
        </p:nvSpPr>
        <p:spPr>
          <a:xfrm>
            <a:off x="5155647" y="2271018"/>
            <a:ext cx="3369271" cy="1433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Spam detection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35"/>
          <p:cNvSpPr/>
          <p:nvPr/>
        </p:nvSpPr>
        <p:spPr>
          <a:xfrm>
            <a:off x="609575" y="2779366"/>
            <a:ext cx="1181034" cy="4763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35"/>
          <p:cNvSpPr/>
          <p:nvPr/>
        </p:nvSpPr>
        <p:spPr>
          <a:xfrm>
            <a:off x="723875" y="2569377"/>
            <a:ext cx="990534" cy="1433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UNSUPERVISED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35"/>
          <p:cNvSpPr/>
          <p:nvPr/>
        </p:nvSpPr>
        <p:spPr>
          <a:xfrm>
            <a:off x="1790609" y="2779366"/>
            <a:ext cx="3250737" cy="4763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35"/>
          <p:cNvSpPr/>
          <p:nvPr/>
        </p:nvSpPr>
        <p:spPr>
          <a:xfrm>
            <a:off x="1904909" y="2569377"/>
            <a:ext cx="3119659" cy="1433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700"/>
              <a:buFont typeface="Manrope"/>
              <a:buNone/>
            </a:pPr>
            <a:r>
              <a:rPr b="0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Pattern discovery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35"/>
          <p:cNvSpPr/>
          <p:nvPr/>
        </p:nvSpPr>
        <p:spPr>
          <a:xfrm>
            <a:off x="5041347" y="2779366"/>
            <a:ext cx="3493079" cy="4763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35"/>
          <p:cNvSpPr/>
          <p:nvPr/>
        </p:nvSpPr>
        <p:spPr>
          <a:xfrm>
            <a:off x="5155647" y="2569377"/>
            <a:ext cx="3369271" cy="1433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Customer groups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35"/>
          <p:cNvSpPr/>
          <p:nvPr/>
        </p:nvSpPr>
        <p:spPr>
          <a:xfrm>
            <a:off x="609575" y="3077725"/>
            <a:ext cx="1181034" cy="4763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35"/>
          <p:cNvSpPr/>
          <p:nvPr/>
        </p:nvSpPr>
        <p:spPr>
          <a:xfrm>
            <a:off x="723875" y="2867737"/>
            <a:ext cx="990534" cy="1433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REINFORCEMENT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35"/>
          <p:cNvSpPr/>
          <p:nvPr/>
        </p:nvSpPr>
        <p:spPr>
          <a:xfrm>
            <a:off x="1790609" y="3077725"/>
            <a:ext cx="3250737" cy="4763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35"/>
          <p:cNvSpPr/>
          <p:nvPr/>
        </p:nvSpPr>
        <p:spPr>
          <a:xfrm>
            <a:off x="1904909" y="2867737"/>
            <a:ext cx="3119659" cy="1433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700"/>
              <a:buFont typeface="Manrope"/>
              <a:buNone/>
            </a:pPr>
            <a:r>
              <a:rPr b="0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Reward-based learning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35"/>
          <p:cNvSpPr/>
          <p:nvPr/>
        </p:nvSpPr>
        <p:spPr>
          <a:xfrm>
            <a:off x="5041347" y="3077725"/>
            <a:ext cx="3493079" cy="4763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35"/>
          <p:cNvSpPr/>
          <p:nvPr/>
        </p:nvSpPr>
        <p:spPr>
          <a:xfrm>
            <a:off x="5155647" y="2867737"/>
            <a:ext cx="3369271" cy="1433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Game AI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35"/>
          <p:cNvSpPr/>
          <p:nvPr/>
        </p:nvSpPr>
        <p:spPr>
          <a:xfrm>
            <a:off x="609575" y="3376084"/>
            <a:ext cx="1181034" cy="4763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35"/>
          <p:cNvSpPr/>
          <p:nvPr/>
        </p:nvSpPr>
        <p:spPr>
          <a:xfrm>
            <a:off x="723875" y="3166096"/>
            <a:ext cx="990534" cy="1433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CLASSIFICATION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35"/>
          <p:cNvSpPr/>
          <p:nvPr/>
        </p:nvSpPr>
        <p:spPr>
          <a:xfrm>
            <a:off x="1790609" y="3376084"/>
            <a:ext cx="3250737" cy="4763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35"/>
          <p:cNvSpPr/>
          <p:nvPr/>
        </p:nvSpPr>
        <p:spPr>
          <a:xfrm>
            <a:off x="1904909" y="3166096"/>
            <a:ext cx="3119659" cy="1433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700"/>
              <a:buFont typeface="Manrope"/>
              <a:buNone/>
            </a:pPr>
            <a:r>
              <a:rPr b="0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Categories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35"/>
          <p:cNvSpPr/>
          <p:nvPr/>
        </p:nvSpPr>
        <p:spPr>
          <a:xfrm>
            <a:off x="5041347" y="3376084"/>
            <a:ext cx="3493079" cy="4763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35"/>
          <p:cNvSpPr/>
          <p:nvPr/>
        </p:nvSpPr>
        <p:spPr>
          <a:xfrm>
            <a:off x="5155647" y="3166096"/>
            <a:ext cx="3369271" cy="1433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Fraud detection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35"/>
          <p:cNvSpPr/>
          <p:nvPr/>
        </p:nvSpPr>
        <p:spPr>
          <a:xfrm>
            <a:off x="609575" y="3674443"/>
            <a:ext cx="1181034" cy="4763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35"/>
          <p:cNvSpPr/>
          <p:nvPr/>
        </p:nvSpPr>
        <p:spPr>
          <a:xfrm>
            <a:off x="723875" y="3464454"/>
            <a:ext cx="990534" cy="1433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REGRESSION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35"/>
          <p:cNvSpPr/>
          <p:nvPr/>
        </p:nvSpPr>
        <p:spPr>
          <a:xfrm>
            <a:off x="1790609" y="3674443"/>
            <a:ext cx="3250737" cy="4763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35"/>
          <p:cNvSpPr/>
          <p:nvPr/>
        </p:nvSpPr>
        <p:spPr>
          <a:xfrm>
            <a:off x="1904909" y="3464454"/>
            <a:ext cx="3119659" cy="1433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700"/>
              <a:buFont typeface="Manrope"/>
              <a:buNone/>
            </a:pPr>
            <a:r>
              <a:rPr b="0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Numbers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35"/>
          <p:cNvSpPr/>
          <p:nvPr/>
        </p:nvSpPr>
        <p:spPr>
          <a:xfrm>
            <a:off x="5041347" y="3674443"/>
            <a:ext cx="3493079" cy="4763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35"/>
          <p:cNvSpPr/>
          <p:nvPr/>
        </p:nvSpPr>
        <p:spPr>
          <a:xfrm>
            <a:off x="5155647" y="3464454"/>
            <a:ext cx="3369271" cy="1433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Price prediction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35"/>
          <p:cNvSpPr/>
          <p:nvPr/>
        </p:nvSpPr>
        <p:spPr>
          <a:xfrm>
            <a:off x="609575" y="3972802"/>
            <a:ext cx="1181034" cy="4763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35"/>
          <p:cNvSpPr/>
          <p:nvPr/>
        </p:nvSpPr>
        <p:spPr>
          <a:xfrm>
            <a:off x="723875" y="3762814"/>
            <a:ext cx="990534" cy="1433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DEEP LEARNING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35"/>
          <p:cNvSpPr/>
          <p:nvPr/>
        </p:nvSpPr>
        <p:spPr>
          <a:xfrm>
            <a:off x="1790609" y="3972802"/>
            <a:ext cx="3250737" cy="4763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35"/>
          <p:cNvSpPr/>
          <p:nvPr/>
        </p:nvSpPr>
        <p:spPr>
          <a:xfrm>
            <a:off x="1904909" y="3762814"/>
            <a:ext cx="3119659" cy="1433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700"/>
              <a:buFont typeface="Manrope"/>
              <a:buNone/>
            </a:pPr>
            <a:r>
              <a:rPr b="0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Complex patterns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35"/>
          <p:cNvSpPr/>
          <p:nvPr/>
        </p:nvSpPr>
        <p:spPr>
          <a:xfrm>
            <a:off x="5041347" y="3972802"/>
            <a:ext cx="3493079" cy="4763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35"/>
          <p:cNvSpPr/>
          <p:nvPr/>
        </p:nvSpPr>
        <p:spPr>
          <a:xfrm>
            <a:off x="5155647" y="3762814"/>
            <a:ext cx="3369271" cy="1433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Face recognition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35"/>
          <p:cNvSpPr/>
          <p:nvPr/>
        </p:nvSpPr>
        <p:spPr>
          <a:xfrm>
            <a:off x="609575" y="4271161"/>
            <a:ext cx="1181034" cy="4763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35"/>
          <p:cNvSpPr/>
          <p:nvPr/>
        </p:nvSpPr>
        <p:spPr>
          <a:xfrm>
            <a:off x="723875" y="4061173"/>
            <a:ext cx="990534" cy="1433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GENERATIVE AI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35"/>
          <p:cNvSpPr/>
          <p:nvPr/>
        </p:nvSpPr>
        <p:spPr>
          <a:xfrm>
            <a:off x="1790609" y="4271161"/>
            <a:ext cx="3250737" cy="4763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35"/>
          <p:cNvSpPr/>
          <p:nvPr/>
        </p:nvSpPr>
        <p:spPr>
          <a:xfrm>
            <a:off x="1904909" y="4061173"/>
            <a:ext cx="3119659" cy="1433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700"/>
              <a:buFont typeface="Manrope"/>
              <a:buNone/>
            </a:pPr>
            <a:r>
              <a:rPr b="0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Content creation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35"/>
          <p:cNvSpPr/>
          <p:nvPr/>
        </p:nvSpPr>
        <p:spPr>
          <a:xfrm>
            <a:off x="5041347" y="4271161"/>
            <a:ext cx="3493079" cy="4763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35"/>
          <p:cNvSpPr/>
          <p:nvPr/>
        </p:nvSpPr>
        <p:spPr>
          <a:xfrm>
            <a:off x="5155647" y="4061173"/>
            <a:ext cx="3369271" cy="1433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Chatbots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35"/>
          <p:cNvSpPr/>
          <p:nvPr/>
        </p:nvSpPr>
        <p:spPr>
          <a:xfrm>
            <a:off x="609575" y="4824967"/>
            <a:ext cx="1062244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L&amp;D · AI 104 · Module 02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35"/>
          <p:cNvSpPr/>
          <p:nvPr/>
        </p:nvSpPr>
        <p:spPr>
          <a:xfrm>
            <a:off x="8235694" y="4824967"/>
            <a:ext cx="336831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21 / 62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86" name="Google Shape;78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242" y="251507"/>
            <a:ext cx="336900" cy="284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36"/>
          <p:cNvSpPr/>
          <p:nvPr/>
        </p:nvSpPr>
        <p:spPr>
          <a:xfrm>
            <a:off x="609575" y="328042"/>
            <a:ext cx="180950" cy="1809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36"/>
          <p:cNvSpPr/>
          <p:nvPr/>
        </p:nvSpPr>
        <p:spPr>
          <a:xfrm>
            <a:off x="857167" y="304767"/>
            <a:ext cx="77715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GlobalLogic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36"/>
          <p:cNvSpPr/>
          <p:nvPr/>
        </p:nvSpPr>
        <p:spPr>
          <a:xfrm>
            <a:off x="857167" y="447642"/>
            <a:ext cx="777156" cy="1037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Manrope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Manrope"/>
                <a:ea typeface="Manrope"/>
                <a:cs typeface="Manrope"/>
                <a:sym typeface="Manrope"/>
              </a:rPr>
              <a:t>A Hitachi Group Company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36"/>
          <p:cNvSpPr/>
          <p:nvPr/>
        </p:nvSpPr>
        <p:spPr>
          <a:xfrm>
            <a:off x="7984629" y="377527"/>
            <a:ext cx="587896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CONFIDENTIAL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36"/>
          <p:cNvSpPr/>
          <p:nvPr/>
        </p:nvSpPr>
        <p:spPr>
          <a:xfrm>
            <a:off x="609575" y="952500"/>
            <a:ext cx="8162596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MACHINE LEARNING — THE ENGINE INSIDE THE AI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36"/>
          <p:cNvSpPr/>
          <p:nvPr/>
        </p:nvSpPr>
        <p:spPr>
          <a:xfrm>
            <a:off x="609575" y="1185829"/>
            <a:ext cx="8162596" cy="40765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000"/>
              <a:buFont typeface="Manrope"/>
              <a:buNone/>
            </a:pP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Artificial Neural Networks </a:t>
            </a:r>
            <a:r>
              <a:rPr b="1" i="0" lang="en-GB" sz="30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mimic neurons</a:t>
            </a: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36"/>
          <p:cNvSpPr/>
          <p:nvPr/>
        </p:nvSpPr>
        <p:spPr>
          <a:xfrm>
            <a:off x="609575" y="1660137"/>
            <a:ext cx="7358063" cy="1709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800"/>
              <a:buFont typeface="Manrope"/>
              <a:buNone/>
            </a:pPr>
            <a:r>
              <a:rPr b="0" i="0" lang="en-GB" sz="8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They train themselves without fixed instructions — adjusting their internal weights as data flows through.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36"/>
          <p:cNvSpPr/>
          <p:nvPr/>
        </p:nvSpPr>
        <p:spPr>
          <a:xfrm>
            <a:off x="609575" y="1983466"/>
            <a:ext cx="2451158" cy="947043"/>
          </a:xfrm>
          <a:prstGeom prst="roundRect">
            <a:avLst>
              <a:gd fmla="val 8046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36"/>
          <p:cNvSpPr/>
          <p:nvPr/>
        </p:nvSpPr>
        <p:spPr>
          <a:xfrm>
            <a:off x="609575" y="1983466"/>
            <a:ext cx="2451158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36"/>
          <p:cNvSpPr/>
          <p:nvPr/>
        </p:nvSpPr>
        <p:spPr>
          <a:xfrm>
            <a:off x="729763" y="2154370"/>
            <a:ext cx="2210783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LAYER 01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36"/>
          <p:cNvSpPr/>
          <p:nvPr/>
        </p:nvSpPr>
        <p:spPr>
          <a:xfrm>
            <a:off x="729763" y="2274466"/>
            <a:ext cx="2210783" cy="2016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100"/>
              <a:buFont typeface="Manrope"/>
              <a:buNone/>
            </a:pPr>
            <a:r>
              <a:rPr b="1" i="0" lang="en-GB" sz="11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Input Layer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36"/>
          <p:cNvSpPr/>
          <p:nvPr/>
        </p:nvSpPr>
        <p:spPr>
          <a:xfrm>
            <a:off x="729763" y="2495103"/>
            <a:ext cx="2210783" cy="1333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Receives the raw data.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36"/>
          <p:cNvSpPr/>
          <p:nvPr/>
        </p:nvSpPr>
        <p:spPr>
          <a:xfrm>
            <a:off x="729763" y="2685521"/>
            <a:ext cx="2210783" cy="11165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Manrope"/>
              <a:buNone/>
            </a:pPr>
            <a:r>
              <a:rPr b="0" i="1" lang="en-GB" sz="500" u="none" cap="none" strike="noStrike">
                <a:solidFill>
                  <a:srgbClr val="8B95A6"/>
                </a:solidFill>
                <a:latin typeface="Manrope"/>
                <a:ea typeface="Manrope"/>
                <a:cs typeface="Manrope"/>
                <a:sym typeface="Manrope"/>
              </a:rPr>
              <a:t>Raw pixels of a scanned invoice.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36"/>
          <p:cNvSpPr/>
          <p:nvPr/>
        </p:nvSpPr>
        <p:spPr>
          <a:xfrm>
            <a:off x="3108325" y="2353800"/>
            <a:ext cx="190483" cy="2254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1200"/>
              <a:buFont typeface="Manrope"/>
              <a:buNone/>
            </a:pPr>
            <a:r>
              <a:rPr b="0" i="0" lang="en-GB" sz="12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36"/>
          <p:cNvSpPr/>
          <p:nvPr/>
        </p:nvSpPr>
        <p:spPr>
          <a:xfrm>
            <a:off x="3346400" y="1983466"/>
            <a:ext cx="2451158" cy="947043"/>
          </a:xfrm>
          <a:prstGeom prst="roundRect">
            <a:avLst>
              <a:gd fmla="val 8046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36"/>
          <p:cNvSpPr/>
          <p:nvPr/>
        </p:nvSpPr>
        <p:spPr>
          <a:xfrm>
            <a:off x="3346400" y="1983466"/>
            <a:ext cx="2451158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36"/>
          <p:cNvSpPr/>
          <p:nvPr/>
        </p:nvSpPr>
        <p:spPr>
          <a:xfrm>
            <a:off x="3466588" y="2154370"/>
            <a:ext cx="2210783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LAYER 02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36"/>
          <p:cNvSpPr/>
          <p:nvPr/>
        </p:nvSpPr>
        <p:spPr>
          <a:xfrm>
            <a:off x="3466588" y="2274466"/>
            <a:ext cx="2210783" cy="2016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100"/>
              <a:buFont typeface="Manrope"/>
              <a:buNone/>
            </a:pPr>
            <a:r>
              <a:rPr b="1" i="0" lang="en-GB" sz="11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Hidden Layers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36"/>
          <p:cNvSpPr/>
          <p:nvPr/>
        </p:nvSpPr>
        <p:spPr>
          <a:xfrm>
            <a:off x="3466588" y="2495103"/>
            <a:ext cx="2210783" cy="1333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Where the thinking happens — pattern recognition.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36"/>
          <p:cNvSpPr/>
          <p:nvPr/>
        </p:nvSpPr>
        <p:spPr>
          <a:xfrm>
            <a:off x="3466588" y="2685521"/>
            <a:ext cx="2210783" cy="11165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Manrope"/>
              <a:buNone/>
            </a:pPr>
            <a:r>
              <a:rPr b="0" i="1" lang="en-GB" sz="500" u="none" cap="none" strike="noStrike">
                <a:solidFill>
                  <a:srgbClr val="8B95A6"/>
                </a:solidFill>
                <a:latin typeface="Manrope"/>
                <a:ea typeface="Manrope"/>
                <a:cs typeface="Manrope"/>
                <a:sym typeface="Manrope"/>
              </a:rPr>
              <a:t>Algorithm searches for the key pattern (e.g., total amount).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36"/>
          <p:cNvSpPr/>
          <p:nvPr/>
        </p:nvSpPr>
        <p:spPr>
          <a:xfrm>
            <a:off x="5845150" y="2353800"/>
            <a:ext cx="190483" cy="2254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1200"/>
              <a:buFont typeface="Manrope"/>
              <a:buNone/>
            </a:pPr>
            <a:r>
              <a:rPr b="0" i="0" lang="en-GB" sz="12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36"/>
          <p:cNvSpPr/>
          <p:nvPr/>
        </p:nvSpPr>
        <p:spPr>
          <a:xfrm>
            <a:off x="6083226" y="1983466"/>
            <a:ext cx="2451158" cy="947043"/>
          </a:xfrm>
          <a:prstGeom prst="roundRect">
            <a:avLst>
              <a:gd fmla="val 8046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36"/>
          <p:cNvSpPr/>
          <p:nvPr/>
        </p:nvSpPr>
        <p:spPr>
          <a:xfrm>
            <a:off x="6083226" y="1983466"/>
            <a:ext cx="2451158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36"/>
          <p:cNvSpPr/>
          <p:nvPr/>
        </p:nvSpPr>
        <p:spPr>
          <a:xfrm>
            <a:off x="6203414" y="2154370"/>
            <a:ext cx="2210783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LAYER 03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36"/>
          <p:cNvSpPr/>
          <p:nvPr/>
        </p:nvSpPr>
        <p:spPr>
          <a:xfrm>
            <a:off x="6203414" y="2274466"/>
            <a:ext cx="2210783" cy="2016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100"/>
              <a:buFont typeface="Manrope"/>
              <a:buNone/>
            </a:pPr>
            <a:r>
              <a:rPr b="1" i="0" lang="en-GB" sz="11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Output Layer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36"/>
          <p:cNvSpPr/>
          <p:nvPr/>
        </p:nvSpPr>
        <p:spPr>
          <a:xfrm>
            <a:off x="6203414" y="2495103"/>
            <a:ext cx="2210783" cy="1333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The final result.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36"/>
          <p:cNvSpPr/>
          <p:nvPr/>
        </p:nvSpPr>
        <p:spPr>
          <a:xfrm>
            <a:off x="6203414" y="2685521"/>
            <a:ext cx="2210783" cy="11165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Manrope"/>
              <a:buNone/>
            </a:pPr>
            <a:r>
              <a:rPr b="0" i="1" lang="en-GB" sz="500" u="none" cap="none" strike="noStrike">
                <a:solidFill>
                  <a:srgbClr val="8B95A6"/>
                </a:solidFill>
                <a:latin typeface="Manrope"/>
                <a:ea typeface="Manrope"/>
                <a:cs typeface="Manrope"/>
                <a:sym typeface="Manrope"/>
              </a:rPr>
              <a:t>"This is an invoice for $500."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36"/>
          <p:cNvSpPr/>
          <p:nvPr/>
        </p:nvSpPr>
        <p:spPr>
          <a:xfrm>
            <a:off x="609575" y="4824967"/>
            <a:ext cx="1062244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L&amp;D · AI 104 · Module 02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36"/>
          <p:cNvSpPr/>
          <p:nvPr/>
        </p:nvSpPr>
        <p:spPr>
          <a:xfrm>
            <a:off x="8235694" y="4824967"/>
            <a:ext cx="336831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22 / 62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1" name="Google Shape;82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242" y="251507"/>
            <a:ext cx="336900" cy="284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F2A"/>
        </a:solidFill>
      </p:bgPr>
    </p:bg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37"/>
          <p:cNvSpPr/>
          <p:nvPr/>
        </p:nvSpPr>
        <p:spPr>
          <a:xfrm>
            <a:off x="857167" y="304767"/>
            <a:ext cx="77715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GlobalLogic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37"/>
          <p:cNvSpPr/>
          <p:nvPr/>
        </p:nvSpPr>
        <p:spPr>
          <a:xfrm>
            <a:off x="857167" y="447642"/>
            <a:ext cx="777156" cy="1037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Manrope"/>
              <a:buNone/>
            </a:pPr>
            <a:r>
              <a:rPr b="0" i="0" lang="en-GB" sz="5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A Hitachi Group Company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37"/>
          <p:cNvSpPr/>
          <p:nvPr/>
        </p:nvSpPr>
        <p:spPr>
          <a:xfrm>
            <a:off x="7984629" y="377527"/>
            <a:ext cx="587896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CONFIDENTIAL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37"/>
          <p:cNvSpPr/>
          <p:nvPr/>
        </p:nvSpPr>
        <p:spPr>
          <a:xfrm>
            <a:off x="952500" y="1798588"/>
            <a:ext cx="7456171" cy="13282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700"/>
              <a:buFont typeface="JetBrains Mono"/>
              <a:buNone/>
            </a:pPr>
            <a:r>
              <a:rPr b="1" i="0" lang="en-GB" sz="7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ON MODEL TRAINING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37"/>
          <p:cNvSpPr/>
          <p:nvPr/>
        </p:nvSpPr>
        <p:spPr>
          <a:xfrm>
            <a:off x="952500" y="1912359"/>
            <a:ext cx="7358063" cy="177919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Manrope"/>
              <a:buNone/>
            </a:pPr>
            <a:r>
              <a:rPr b="1" i="0" lang="en-GB" sz="29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The goal of an AI model is not to memorize the past — but to </a:t>
            </a:r>
            <a:r>
              <a:rPr b="1" i="0" lang="en-GB" sz="29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learn the patterns </a:t>
            </a:r>
            <a:r>
              <a:rPr b="1" i="0" lang="en-GB" sz="29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necessary to predict the future.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37"/>
          <p:cNvSpPr/>
          <p:nvPr/>
        </p:nvSpPr>
        <p:spPr>
          <a:xfrm>
            <a:off x="952500" y="3824883"/>
            <a:ext cx="5395913" cy="339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nrope"/>
              <a:buNone/>
            </a:pPr>
            <a:r>
              <a:rPr b="0" i="0" lang="en-GB" sz="9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The ultimate challenge of model training is balancing how well a system learns without simply memorizing data.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37"/>
          <p:cNvSpPr/>
          <p:nvPr/>
        </p:nvSpPr>
        <p:spPr>
          <a:xfrm>
            <a:off x="609575" y="4824967"/>
            <a:ext cx="1062244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L&amp;D · AI 104 · Module 02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37"/>
          <p:cNvSpPr/>
          <p:nvPr/>
        </p:nvSpPr>
        <p:spPr>
          <a:xfrm>
            <a:off x="8235694" y="4824967"/>
            <a:ext cx="336831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23 / 62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5" name="Google Shape;83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435" y="294238"/>
            <a:ext cx="336900" cy="284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38"/>
          <p:cNvSpPr/>
          <p:nvPr/>
        </p:nvSpPr>
        <p:spPr>
          <a:xfrm>
            <a:off x="609575" y="328042"/>
            <a:ext cx="180950" cy="1809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38"/>
          <p:cNvSpPr/>
          <p:nvPr/>
        </p:nvSpPr>
        <p:spPr>
          <a:xfrm>
            <a:off x="857167" y="304767"/>
            <a:ext cx="77715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GlobalLogic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38"/>
          <p:cNvSpPr/>
          <p:nvPr/>
        </p:nvSpPr>
        <p:spPr>
          <a:xfrm>
            <a:off x="857167" y="447642"/>
            <a:ext cx="777156" cy="1037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Manrope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Manrope"/>
                <a:ea typeface="Manrope"/>
                <a:cs typeface="Manrope"/>
                <a:sym typeface="Manrope"/>
              </a:rPr>
              <a:t>A Hitachi Group Company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38"/>
          <p:cNvSpPr/>
          <p:nvPr/>
        </p:nvSpPr>
        <p:spPr>
          <a:xfrm>
            <a:off x="7984629" y="377527"/>
            <a:ext cx="587896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CONFIDENTIAL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38"/>
          <p:cNvSpPr/>
          <p:nvPr/>
        </p:nvSpPr>
        <p:spPr>
          <a:xfrm>
            <a:off x="609575" y="952500"/>
            <a:ext cx="8162596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THE TWO FAILURE MODES OF TRAINING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38"/>
          <p:cNvSpPr/>
          <p:nvPr/>
        </p:nvSpPr>
        <p:spPr>
          <a:xfrm>
            <a:off x="609575" y="1185829"/>
            <a:ext cx="8162596" cy="40765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000"/>
              <a:buFont typeface="Manrope"/>
              <a:buNone/>
            </a:pP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Underfitting &amp; </a:t>
            </a:r>
            <a:r>
              <a:rPr b="1" i="0" lang="en-GB" sz="30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overfitting</a:t>
            </a: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38"/>
          <p:cNvSpPr/>
          <p:nvPr/>
        </p:nvSpPr>
        <p:spPr>
          <a:xfrm>
            <a:off x="609575" y="1803012"/>
            <a:ext cx="3848117" cy="1459674"/>
          </a:xfrm>
          <a:prstGeom prst="roundRect">
            <a:avLst>
              <a:gd fmla="val 5873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38"/>
          <p:cNvSpPr/>
          <p:nvPr/>
        </p:nvSpPr>
        <p:spPr>
          <a:xfrm>
            <a:off x="821738" y="1996158"/>
            <a:ext cx="3526505" cy="19049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1400"/>
              <a:buFont typeface="Manrope"/>
              <a:buNone/>
            </a:pPr>
            <a:r>
              <a:rPr b="0" i="0" lang="en-GB" sz="14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▭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38"/>
          <p:cNvSpPr/>
          <p:nvPr/>
        </p:nvSpPr>
        <p:spPr>
          <a:xfrm>
            <a:off x="821738" y="2243791"/>
            <a:ext cx="3526505" cy="20905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400"/>
              <a:buFont typeface="Manrope"/>
              <a:buNone/>
            </a:pPr>
            <a:r>
              <a:rPr b="1" i="0" lang="en-GB" sz="14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Underfitting — the simple failure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38"/>
          <p:cNvSpPr/>
          <p:nvPr/>
        </p:nvSpPr>
        <p:spPr>
          <a:xfrm>
            <a:off x="821738" y="2509987"/>
            <a:ext cx="3526505" cy="15477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The flaw: </a:t>
            </a:r>
            <a:r>
              <a:rPr b="0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model is too simple; fails to learn the pattern.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38"/>
          <p:cNvSpPr/>
          <p:nvPr/>
        </p:nvSpPr>
        <p:spPr>
          <a:xfrm>
            <a:off x="821738" y="2721902"/>
            <a:ext cx="3526505" cy="15477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Performance: </a:t>
            </a:r>
            <a:r>
              <a:rPr b="0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fails on training data ✗ | fails on new data ✗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38"/>
          <p:cNvSpPr/>
          <p:nvPr/>
        </p:nvSpPr>
        <p:spPr>
          <a:xfrm>
            <a:off x="821738" y="2933816"/>
            <a:ext cx="3526505" cy="15477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Root causes: </a:t>
            </a:r>
            <a:r>
              <a:rPr b="0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not enough training time, missing critical features.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38"/>
          <p:cNvSpPr/>
          <p:nvPr/>
        </p:nvSpPr>
        <p:spPr>
          <a:xfrm>
            <a:off x="4686267" y="1803012"/>
            <a:ext cx="3848158" cy="1459674"/>
          </a:xfrm>
          <a:prstGeom prst="roundRect">
            <a:avLst>
              <a:gd fmla="val 5873" name="adj"/>
            </a:avLst>
          </a:prstGeom>
          <a:solidFill>
            <a:srgbClr val="FFF7F1"/>
          </a:solidFill>
          <a:ln cap="flat" cmpd="sng" w="9525">
            <a:solidFill>
              <a:srgbClr val="FFD7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38"/>
          <p:cNvSpPr/>
          <p:nvPr/>
        </p:nvSpPr>
        <p:spPr>
          <a:xfrm>
            <a:off x="4898430" y="1996158"/>
            <a:ext cx="3526547" cy="19049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1400"/>
              <a:buFont typeface="Manrope"/>
              <a:buNone/>
            </a:pPr>
            <a:r>
              <a:rPr b="0" i="0" lang="en-GB" sz="14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38"/>
          <p:cNvSpPr/>
          <p:nvPr/>
        </p:nvSpPr>
        <p:spPr>
          <a:xfrm>
            <a:off x="4898430" y="2243791"/>
            <a:ext cx="3526547" cy="20905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400"/>
              <a:buFont typeface="Manrope"/>
              <a:buNone/>
            </a:pPr>
            <a:r>
              <a:rPr b="1" i="0" lang="en-GB" sz="14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Overfitting — the complex failure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38"/>
          <p:cNvSpPr/>
          <p:nvPr/>
        </p:nvSpPr>
        <p:spPr>
          <a:xfrm>
            <a:off x="4898430" y="2509987"/>
            <a:ext cx="3526547" cy="15477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The flaw: </a:t>
            </a:r>
            <a:r>
              <a:rPr b="0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model learns too much, including pure noise.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38"/>
          <p:cNvSpPr/>
          <p:nvPr/>
        </p:nvSpPr>
        <p:spPr>
          <a:xfrm>
            <a:off x="4898430" y="2721902"/>
            <a:ext cx="3526547" cy="15477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Performance: </a:t>
            </a:r>
            <a:r>
              <a:rPr b="0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perfect on training data ✓ | fails on new data ✗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38"/>
          <p:cNvSpPr/>
          <p:nvPr/>
        </p:nvSpPr>
        <p:spPr>
          <a:xfrm>
            <a:off x="4898430" y="2933816"/>
            <a:ext cx="3526547" cy="15477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Root causes: </a:t>
            </a:r>
            <a:r>
              <a:rPr b="0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model is too complex, dataset is too small.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38"/>
          <p:cNvSpPr/>
          <p:nvPr/>
        </p:nvSpPr>
        <p:spPr>
          <a:xfrm>
            <a:off x="609575" y="4824967"/>
            <a:ext cx="1062244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L&amp;D · AI 104 · Module 02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38"/>
          <p:cNvSpPr/>
          <p:nvPr/>
        </p:nvSpPr>
        <p:spPr>
          <a:xfrm>
            <a:off x="8235694" y="4824967"/>
            <a:ext cx="336831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24 / 62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1" name="Google Shape;86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242" y="251507"/>
            <a:ext cx="336900" cy="284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39"/>
          <p:cNvSpPr/>
          <p:nvPr/>
        </p:nvSpPr>
        <p:spPr>
          <a:xfrm>
            <a:off x="609575" y="328042"/>
            <a:ext cx="180950" cy="1809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39"/>
          <p:cNvSpPr/>
          <p:nvPr/>
        </p:nvSpPr>
        <p:spPr>
          <a:xfrm>
            <a:off x="857167" y="304767"/>
            <a:ext cx="77715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GlobalLogic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39"/>
          <p:cNvSpPr/>
          <p:nvPr/>
        </p:nvSpPr>
        <p:spPr>
          <a:xfrm>
            <a:off x="857167" y="447642"/>
            <a:ext cx="777156" cy="1037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Manrope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Manrope"/>
                <a:ea typeface="Manrope"/>
                <a:cs typeface="Manrope"/>
                <a:sym typeface="Manrope"/>
              </a:rPr>
              <a:t>A Hitachi Group Company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39"/>
          <p:cNvSpPr/>
          <p:nvPr/>
        </p:nvSpPr>
        <p:spPr>
          <a:xfrm>
            <a:off x="7984629" y="377527"/>
            <a:ext cx="587896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CONFIDENTIAL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39"/>
          <p:cNvSpPr/>
          <p:nvPr/>
        </p:nvSpPr>
        <p:spPr>
          <a:xfrm>
            <a:off x="609575" y="952500"/>
            <a:ext cx="8162596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REAL-WORLD IMPACT — PREDICTING HOUSE PRICES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39"/>
          <p:cNvSpPr/>
          <p:nvPr/>
        </p:nvSpPr>
        <p:spPr>
          <a:xfrm>
            <a:off x="609575" y="1185829"/>
            <a:ext cx="8162596" cy="40765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000"/>
              <a:buFont typeface="Manrope"/>
              <a:buNone/>
            </a:pP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Three fits, </a:t>
            </a:r>
            <a:r>
              <a:rPr b="1" i="0" lang="en-GB" sz="30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three outcomes</a:t>
            </a: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39"/>
          <p:cNvSpPr/>
          <p:nvPr/>
        </p:nvSpPr>
        <p:spPr>
          <a:xfrm>
            <a:off x="609575" y="1803011"/>
            <a:ext cx="2540000" cy="1752038"/>
          </a:xfrm>
          <a:prstGeom prst="roundRect">
            <a:avLst>
              <a:gd fmla="val 4349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39"/>
          <p:cNvSpPr/>
          <p:nvPr/>
        </p:nvSpPr>
        <p:spPr>
          <a:xfrm>
            <a:off x="609575" y="1803012"/>
            <a:ext cx="2540000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39"/>
          <p:cNvSpPr/>
          <p:nvPr/>
        </p:nvSpPr>
        <p:spPr>
          <a:xfrm>
            <a:off x="761958" y="1973916"/>
            <a:ext cx="230229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1100"/>
              <a:buFont typeface="Manrope"/>
              <a:buNone/>
            </a:pPr>
            <a:r>
              <a:rPr b="0" i="0" lang="en-GB" sz="11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🏠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39"/>
          <p:cNvSpPr/>
          <p:nvPr/>
        </p:nvSpPr>
        <p:spPr>
          <a:xfrm>
            <a:off x="761958" y="2183433"/>
            <a:ext cx="2302290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UNDERFIT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39"/>
          <p:cNvSpPr/>
          <p:nvPr/>
        </p:nvSpPr>
        <p:spPr>
          <a:xfrm>
            <a:off x="761958" y="2324158"/>
            <a:ext cx="2302290" cy="16142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000"/>
              <a:buFont typeface="Manrope"/>
              <a:buNone/>
            </a:pPr>
            <a:r>
              <a:rPr b="1" i="0" lang="en-GB" sz="1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Looks at rooms only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39"/>
          <p:cNvSpPr/>
          <p:nvPr/>
        </p:nvSpPr>
        <p:spPr>
          <a:xfrm>
            <a:off x="761958" y="2533179"/>
            <a:ext cx="2302290" cy="24758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Ignores location, size, and amenities. Predictions fail everywhere.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39"/>
          <p:cNvSpPr/>
          <p:nvPr/>
        </p:nvSpPr>
        <p:spPr>
          <a:xfrm>
            <a:off x="3301959" y="1803011"/>
            <a:ext cx="2540042" cy="1752038"/>
          </a:xfrm>
          <a:prstGeom prst="roundRect">
            <a:avLst>
              <a:gd fmla="val 4349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39"/>
          <p:cNvSpPr/>
          <p:nvPr/>
        </p:nvSpPr>
        <p:spPr>
          <a:xfrm>
            <a:off x="3301959" y="1803012"/>
            <a:ext cx="2540042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39"/>
          <p:cNvSpPr/>
          <p:nvPr/>
        </p:nvSpPr>
        <p:spPr>
          <a:xfrm>
            <a:off x="3454343" y="1973916"/>
            <a:ext cx="2302332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1100"/>
              <a:buFont typeface="Manrope"/>
              <a:buNone/>
            </a:pPr>
            <a:r>
              <a:rPr b="0" i="0" lang="en-GB" sz="11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39"/>
          <p:cNvSpPr/>
          <p:nvPr/>
        </p:nvSpPr>
        <p:spPr>
          <a:xfrm>
            <a:off x="3454343" y="2183433"/>
            <a:ext cx="2302332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OVERFIT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39"/>
          <p:cNvSpPr/>
          <p:nvPr/>
        </p:nvSpPr>
        <p:spPr>
          <a:xfrm>
            <a:off x="3454343" y="2324158"/>
            <a:ext cx="2302332" cy="16142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000"/>
              <a:buFont typeface="Manrope"/>
              <a:buNone/>
            </a:pPr>
            <a:r>
              <a:rPr b="1" i="0" lang="en-GB" sz="1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Obsesses over noise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39"/>
          <p:cNvSpPr/>
          <p:nvPr/>
        </p:nvSpPr>
        <p:spPr>
          <a:xfrm>
            <a:off x="3454343" y="2533179"/>
            <a:ext cx="2302332" cy="24758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Memorizes a specific crack in one training house's driveway. Cannot predict prices in a new neighborhood.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39"/>
          <p:cNvSpPr/>
          <p:nvPr/>
        </p:nvSpPr>
        <p:spPr>
          <a:xfrm>
            <a:off x="5994383" y="1803011"/>
            <a:ext cx="2540042" cy="1752038"/>
          </a:xfrm>
          <a:prstGeom prst="roundRect">
            <a:avLst>
              <a:gd fmla="val 4349" name="adj"/>
            </a:avLst>
          </a:prstGeom>
          <a:solidFill>
            <a:srgbClr val="FFF7F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39"/>
          <p:cNvSpPr/>
          <p:nvPr/>
        </p:nvSpPr>
        <p:spPr>
          <a:xfrm>
            <a:off x="5994383" y="1803012"/>
            <a:ext cx="2540042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39"/>
          <p:cNvSpPr/>
          <p:nvPr/>
        </p:nvSpPr>
        <p:spPr>
          <a:xfrm>
            <a:off x="6146768" y="1973916"/>
            <a:ext cx="2302332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1100"/>
              <a:buFont typeface="Manrope"/>
              <a:buNone/>
            </a:pPr>
            <a:r>
              <a:rPr b="0" i="0" lang="en-GB" sz="11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🏗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39"/>
          <p:cNvSpPr/>
          <p:nvPr/>
        </p:nvSpPr>
        <p:spPr>
          <a:xfrm>
            <a:off x="6146768" y="2183433"/>
            <a:ext cx="2302332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PERFECT FIT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39"/>
          <p:cNvSpPr/>
          <p:nvPr/>
        </p:nvSpPr>
        <p:spPr>
          <a:xfrm>
            <a:off x="6146768" y="2324158"/>
            <a:ext cx="2302332" cy="16142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000"/>
              <a:buFont typeface="Manrope"/>
              <a:buNone/>
            </a:pPr>
            <a:r>
              <a:rPr b="1" i="0" lang="en-GB" sz="1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True patterns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39"/>
          <p:cNvSpPr/>
          <p:nvPr/>
        </p:nvSpPr>
        <p:spPr>
          <a:xfrm>
            <a:off x="6146768" y="2533179"/>
            <a:ext cx="2302332" cy="24758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Identifies square footage, zip code, and market trends. Generalizes cleanly.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39"/>
          <p:cNvSpPr/>
          <p:nvPr/>
        </p:nvSpPr>
        <p:spPr>
          <a:xfrm>
            <a:off x="609575" y="4824967"/>
            <a:ext cx="1062244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L&amp;D · AI 104 · Module 02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39"/>
          <p:cNvSpPr/>
          <p:nvPr/>
        </p:nvSpPr>
        <p:spPr>
          <a:xfrm>
            <a:off x="8235694" y="4824967"/>
            <a:ext cx="336831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25 / 62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3" name="Google Shape;89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242" y="251507"/>
            <a:ext cx="336900" cy="284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40"/>
          <p:cNvSpPr/>
          <p:nvPr/>
        </p:nvSpPr>
        <p:spPr>
          <a:xfrm>
            <a:off x="609575" y="328042"/>
            <a:ext cx="180950" cy="1809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40"/>
          <p:cNvSpPr/>
          <p:nvPr/>
        </p:nvSpPr>
        <p:spPr>
          <a:xfrm>
            <a:off x="857167" y="304767"/>
            <a:ext cx="77715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GlobalLogic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40"/>
          <p:cNvSpPr/>
          <p:nvPr/>
        </p:nvSpPr>
        <p:spPr>
          <a:xfrm>
            <a:off x="857167" y="447642"/>
            <a:ext cx="777156" cy="1037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Manrope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Manrope"/>
                <a:ea typeface="Manrope"/>
                <a:cs typeface="Manrope"/>
                <a:sym typeface="Manrope"/>
              </a:rPr>
              <a:t>A Hitachi Group Company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40"/>
          <p:cNvSpPr/>
          <p:nvPr/>
        </p:nvSpPr>
        <p:spPr>
          <a:xfrm>
            <a:off x="7984629" y="377527"/>
            <a:ext cx="587896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CONFIDENTIAL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40"/>
          <p:cNvSpPr/>
          <p:nvPr/>
        </p:nvSpPr>
        <p:spPr>
          <a:xfrm>
            <a:off x="609575" y="952500"/>
            <a:ext cx="8162596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INSIDE THE NEURAL NET · PART 01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40"/>
          <p:cNvSpPr/>
          <p:nvPr/>
        </p:nvSpPr>
        <p:spPr>
          <a:xfrm>
            <a:off x="609575" y="1185829"/>
            <a:ext cx="8162596" cy="40765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000"/>
              <a:buFont typeface="Manrope"/>
              <a:buNone/>
            </a:pP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The </a:t>
            </a:r>
            <a:r>
              <a:rPr b="1" i="0" lang="en-GB" sz="30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neuronal core</a:t>
            </a: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40"/>
          <p:cNvSpPr/>
          <p:nvPr/>
        </p:nvSpPr>
        <p:spPr>
          <a:xfrm>
            <a:off x="609575" y="1803011"/>
            <a:ext cx="2540000" cy="1752038"/>
          </a:xfrm>
          <a:prstGeom prst="roundRect">
            <a:avLst>
              <a:gd fmla="val 4349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40"/>
          <p:cNvSpPr/>
          <p:nvPr/>
        </p:nvSpPr>
        <p:spPr>
          <a:xfrm>
            <a:off x="609575" y="1803012"/>
            <a:ext cx="2540000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40"/>
          <p:cNvSpPr/>
          <p:nvPr/>
        </p:nvSpPr>
        <p:spPr>
          <a:xfrm>
            <a:off x="761958" y="1973916"/>
            <a:ext cx="2302290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 · WEIGHTS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40"/>
          <p:cNvSpPr/>
          <p:nvPr/>
        </p:nvSpPr>
        <p:spPr>
          <a:xfrm>
            <a:off x="761958" y="2114641"/>
            <a:ext cx="2302290" cy="16142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000"/>
              <a:buFont typeface="Manrope"/>
              <a:buNone/>
            </a:pPr>
            <a:r>
              <a:rPr b="1" i="0" lang="en-GB" sz="1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The dials of importance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40"/>
          <p:cNvSpPr/>
          <p:nvPr/>
        </p:nvSpPr>
        <p:spPr>
          <a:xfrm>
            <a:off x="761958" y="2323662"/>
            <a:ext cx="2302290" cy="24758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Numerical values that determine how strongly a particular input influences the neuron's output.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40"/>
          <p:cNvSpPr/>
          <p:nvPr/>
        </p:nvSpPr>
        <p:spPr>
          <a:xfrm>
            <a:off x="3301959" y="1803011"/>
            <a:ext cx="2540042" cy="1752038"/>
          </a:xfrm>
          <a:prstGeom prst="roundRect">
            <a:avLst>
              <a:gd fmla="val 4349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40"/>
          <p:cNvSpPr/>
          <p:nvPr/>
        </p:nvSpPr>
        <p:spPr>
          <a:xfrm>
            <a:off x="3301959" y="1803012"/>
            <a:ext cx="2540042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40"/>
          <p:cNvSpPr/>
          <p:nvPr/>
        </p:nvSpPr>
        <p:spPr>
          <a:xfrm>
            <a:off x="3454343" y="1973916"/>
            <a:ext cx="2302332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 · BIAS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40"/>
          <p:cNvSpPr/>
          <p:nvPr/>
        </p:nvSpPr>
        <p:spPr>
          <a:xfrm>
            <a:off x="3454343" y="2114641"/>
            <a:ext cx="2302332" cy="16142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000"/>
              <a:buFont typeface="Manrope"/>
              <a:buNone/>
            </a:pPr>
            <a:r>
              <a:rPr b="1" i="0" lang="en-GB" sz="1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The baseline shift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40"/>
          <p:cNvSpPr/>
          <p:nvPr/>
        </p:nvSpPr>
        <p:spPr>
          <a:xfrm>
            <a:off x="3454343" y="2323662"/>
            <a:ext cx="2302332" cy="24758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An extra parameter that shifts predictions, allowing the model to fit data flexibly — not forced through zero.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40"/>
          <p:cNvSpPr/>
          <p:nvPr/>
        </p:nvSpPr>
        <p:spPr>
          <a:xfrm>
            <a:off x="5994383" y="1803011"/>
            <a:ext cx="2540042" cy="1752038"/>
          </a:xfrm>
          <a:prstGeom prst="roundRect">
            <a:avLst>
              <a:gd fmla="val 4349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p40"/>
          <p:cNvSpPr/>
          <p:nvPr/>
        </p:nvSpPr>
        <p:spPr>
          <a:xfrm>
            <a:off x="5994383" y="1803012"/>
            <a:ext cx="2540042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p40"/>
          <p:cNvSpPr/>
          <p:nvPr/>
        </p:nvSpPr>
        <p:spPr>
          <a:xfrm>
            <a:off x="6146768" y="1973916"/>
            <a:ext cx="2302332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 · ACTIVATION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40"/>
          <p:cNvSpPr/>
          <p:nvPr/>
        </p:nvSpPr>
        <p:spPr>
          <a:xfrm>
            <a:off x="6146768" y="2114641"/>
            <a:ext cx="2302332" cy="16142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000"/>
              <a:buFont typeface="Manrope"/>
              <a:buNone/>
            </a:pPr>
            <a:r>
              <a:rPr b="1" i="0" lang="en-GB" sz="1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The decision gate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40"/>
          <p:cNvSpPr/>
          <p:nvPr/>
        </p:nvSpPr>
        <p:spPr>
          <a:xfrm>
            <a:off x="6146768" y="2323662"/>
            <a:ext cx="2302332" cy="24758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Decides if a neuron should fire. Introduces non-linearity so the network can learn complex patterns.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40"/>
          <p:cNvSpPr/>
          <p:nvPr/>
        </p:nvSpPr>
        <p:spPr>
          <a:xfrm>
            <a:off x="609575" y="4824967"/>
            <a:ext cx="1062244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L&amp;D · AI 104 · Module 02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40"/>
          <p:cNvSpPr/>
          <p:nvPr/>
        </p:nvSpPr>
        <p:spPr>
          <a:xfrm>
            <a:off x="8235694" y="4824967"/>
            <a:ext cx="336831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26 / 62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2" name="Google Shape;92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242" y="251507"/>
            <a:ext cx="336900" cy="284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41"/>
          <p:cNvSpPr/>
          <p:nvPr/>
        </p:nvSpPr>
        <p:spPr>
          <a:xfrm>
            <a:off x="609575" y="328042"/>
            <a:ext cx="180950" cy="1809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p41"/>
          <p:cNvSpPr/>
          <p:nvPr/>
        </p:nvSpPr>
        <p:spPr>
          <a:xfrm>
            <a:off x="857167" y="304767"/>
            <a:ext cx="77715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GlobalLogic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41"/>
          <p:cNvSpPr/>
          <p:nvPr/>
        </p:nvSpPr>
        <p:spPr>
          <a:xfrm>
            <a:off x="857167" y="447642"/>
            <a:ext cx="777156" cy="1037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Manrope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Manrope"/>
                <a:ea typeface="Manrope"/>
                <a:cs typeface="Manrope"/>
                <a:sym typeface="Manrope"/>
              </a:rPr>
              <a:t>A Hitachi Group Company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41"/>
          <p:cNvSpPr/>
          <p:nvPr/>
        </p:nvSpPr>
        <p:spPr>
          <a:xfrm>
            <a:off x="7984629" y="377527"/>
            <a:ext cx="587896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CONFIDENTIAL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41"/>
          <p:cNvSpPr/>
          <p:nvPr/>
        </p:nvSpPr>
        <p:spPr>
          <a:xfrm>
            <a:off x="609575" y="952500"/>
            <a:ext cx="8162596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INSIDE THE NEURAL NET · PART 02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41"/>
          <p:cNvSpPr/>
          <p:nvPr/>
        </p:nvSpPr>
        <p:spPr>
          <a:xfrm>
            <a:off x="609575" y="1185829"/>
            <a:ext cx="8162596" cy="40765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000"/>
              <a:buFont typeface="Manrope"/>
              <a:buNone/>
            </a:pP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The </a:t>
            </a:r>
            <a:r>
              <a:rPr b="1" i="0" lang="en-GB" sz="30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correction loop</a:t>
            </a: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41"/>
          <p:cNvSpPr/>
          <p:nvPr/>
        </p:nvSpPr>
        <p:spPr>
          <a:xfrm>
            <a:off x="609575" y="1803011"/>
            <a:ext cx="2540000" cy="1752038"/>
          </a:xfrm>
          <a:prstGeom prst="roundRect">
            <a:avLst>
              <a:gd fmla="val 4349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41"/>
          <p:cNvSpPr/>
          <p:nvPr/>
        </p:nvSpPr>
        <p:spPr>
          <a:xfrm>
            <a:off x="609575" y="1803012"/>
            <a:ext cx="2540000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41"/>
          <p:cNvSpPr/>
          <p:nvPr/>
        </p:nvSpPr>
        <p:spPr>
          <a:xfrm>
            <a:off x="761958" y="1973916"/>
            <a:ext cx="2302290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 · LOSS FUNCTION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41"/>
          <p:cNvSpPr/>
          <p:nvPr/>
        </p:nvSpPr>
        <p:spPr>
          <a:xfrm>
            <a:off x="761958" y="2114641"/>
            <a:ext cx="2302290" cy="16142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000"/>
              <a:buFont typeface="Manrope"/>
              <a:buNone/>
            </a:pPr>
            <a:r>
              <a:rPr b="1" i="0" lang="en-GB" sz="1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The judge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41"/>
          <p:cNvSpPr/>
          <p:nvPr/>
        </p:nvSpPr>
        <p:spPr>
          <a:xfrm>
            <a:off x="761958" y="2323662"/>
            <a:ext cx="2302290" cy="36185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Measures exactly how wrong the model's prediction is compared to reality. The sole goal of training is to minimize this number.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41"/>
          <p:cNvSpPr/>
          <p:nvPr/>
        </p:nvSpPr>
        <p:spPr>
          <a:xfrm>
            <a:off x="3301959" y="1803011"/>
            <a:ext cx="2540042" cy="1752038"/>
          </a:xfrm>
          <a:prstGeom prst="roundRect">
            <a:avLst>
              <a:gd fmla="val 4349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41"/>
          <p:cNvSpPr/>
          <p:nvPr/>
        </p:nvSpPr>
        <p:spPr>
          <a:xfrm>
            <a:off x="3301959" y="1803012"/>
            <a:ext cx="2540042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41"/>
          <p:cNvSpPr/>
          <p:nvPr/>
        </p:nvSpPr>
        <p:spPr>
          <a:xfrm>
            <a:off x="3454343" y="1973916"/>
            <a:ext cx="2302332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 · BACKPROPAGATION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41"/>
          <p:cNvSpPr/>
          <p:nvPr/>
        </p:nvSpPr>
        <p:spPr>
          <a:xfrm>
            <a:off x="3454343" y="2114641"/>
            <a:ext cx="2302332" cy="16142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000"/>
              <a:buFont typeface="Manrope"/>
              <a:buNone/>
            </a:pPr>
            <a:r>
              <a:rPr b="1" i="0" lang="en-GB" sz="1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The messenger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41"/>
          <p:cNvSpPr/>
          <p:nvPr/>
        </p:nvSpPr>
        <p:spPr>
          <a:xfrm>
            <a:off x="3454343" y="2323662"/>
            <a:ext cx="2302332" cy="24758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Takes the error from the loss function and propagates it backward through the network to update Weights and Bias.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41"/>
          <p:cNvSpPr/>
          <p:nvPr/>
        </p:nvSpPr>
        <p:spPr>
          <a:xfrm>
            <a:off x="5994383" y="1803011"/>
            <a:ext cx="2540042" cy="1752038"/>
          </a:xfrm>
          <a:prstGeom prst="roundRect">
            <a:avLst>
              <a:gd fmla="val 4349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41"/>
          <p:cNvSpPr/>
          <p:nvPr/>
        </p:nvSpPr>
        <p:spPr>
          <a:xfrm>
            <a:off x="5994383" y="1803012"/>
            <a:ext cx="2540042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41"/>
          <p:cNvSpPr/>
          <p:nvPr/>
        </p:nvSpPr>
        <p:spPr>
          <a:xfrm>
            <a:off x="6146768" y="1973916"/>
            <a:ext cx="2302332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 · GRADIENT DESCENT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41"/>
          <p:cNvSpPr/>
          <p:nvPr/>
        </p:nvSpPr>
        <p:spPr>
          <a:xfrm>
            <a:off x="6146768" y="2114641"/>
            <a:ext cx="2302332" cy="16142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000"/>
              <a:buFont typeface="Manrope"/>
              <a:buNone/>
            </a:pPr>
            <a:r>
              <a:rPr b="1" i="0" lang="en-GB" sz="1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The navigator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41"/>
          <p:cNvSpPr/>
          <p:nvPr/>
        </p:nvSpPr>
        <p:spPr>
          <a:xfrm>
            <a:off x="6146768" y="2323662"/>
            <a:ext cx="2302332" cy="24758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The optimization technique that physically moves the weights in the mathematical direction of lowest error.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41"/>
          <p:cNvSpPr/>
          <p:nvPr/>
        </p:nvSpPr>
        <p:spPr>
          <a:xfrm>
            <a:off x="609575" y="4824967"/>
            <a:ext cx="1062244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L&amp;D · AI 104 · Module 02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41"/>
          <p:cNvSpPr/>
          <p:nvPr/>
        </p:nvSpPr>
        <p:spPr>
          <a:xfrm>
            <a:off x="8235694" y="4824967"/>
            <a:ext cx="336831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27 / 62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1" name="Google Shape;95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242" y="251507"/>
            <a:ext cx="336900" cy="284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42"/>
          <p:cNvSpPr/>
          <p:nvPr/>
        </p:nvSpPr>
        <p:spPr>
          <a:xfrm>
            <a:off x="609575" y="328042"/>
            <a:ext cx="180950" cy="1809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42"/>
          <p:cNvSpPr/>
          <p:nvPr/>
        </p:nvSpPr>
        <p:spPr>
          <a:xfrm>
            <a:off x="857167" y="304767"/>
            <a:ext cx="77715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GlobalLogic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42"/>
          <p:cNvSpPr/>
          <p:nvPr/>
        </p:nvSpPr>
        <p:spPr>
          <a:xfrm>
            <a:off x="857167" y="447642"/>
            <a:ext cx="777156" cy="1037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Manrope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Manrope"/>
                <a:ea typeface="Manrope"/>
                <a:cs typeface="Manrope"/>
                <a:sym typeface="Manrope"/>
              </a:rPr>
              <a:t>A Hitachi Group Company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42"/>
          <p:cNvSpPr/>
          <p:nvPr/>
        </p:nvSpPr>
        <p:spPr>
          <a:xfrm>
            <a:off x="7984629" y="377527"/>
            <a:ext cx="587896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CONFIDENTIAL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42"/>
          <p:cNvSpPr/>
          <p:nvPr/>
        </p:nvSpPr>
        <p:spPr>
          <a:xfrm>
            <a:off x="609575" y="952500"/>
            <a:ext cx="8162596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INSIDE THE NEURAL NET · PART 03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42"/>
          <p:cNvSpPr/>
          <p:nvPr/>
        </p:nvSpPr>
        <p:spPr>
          <a:xfrm>
            <a:off x="609575" y="1185829"/>
            <a:ext cx="8162596" cy="40765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000"/>
              <a:buFont typeface="Manrope"/>
              <a:buNone/>
            </a:pP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The </a:t>
            </a:r>
            <a:r>
              <a:rPr b="1" i="0" lang="en-GB" sz="30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hyperparameters</a:t>
            </a: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42"/>
          <p:cNvSpPr/>
          <p:nvPr/>
        </p:nvSpPr>
        <p:spPr>
          <a:xfrm>
            <a:off x="609575" y="1803011"/>
            <a:ext cx="2540000" cy="1752038"/>
          </a:xfrm>
          <a:prstGeom prst="roundRect">
            <a:avLst>
              <a:gd fmla="val 4349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p42"/>
          <p:cNvSpPr/>
          <p:nvPr/>
        </p:nvSpPr>
        <p:spPr>
          <a:xfrm>
            <a:off x="609575" y="1803012"/>
            <a:ext cx="2540000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42"/>
          <p:cNvSpPr/>
          <p:nvPr/>
        </p:nvSpPr>
        <p:spPr>
          <a:xfrm>
            <a:off x="761958" y="1973916"/>
            <a:ext cx="230229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1100"/>
              <a:buFont typeface="Manrope"/>
              <a:buNone/>
            </a:pPr>
            <a:r>
              <a:rPr b="0" i="0" lang="en-GB" sz="11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⟺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42"/>
          <p:cNvSpPr/>
          <p:nvPr/>
        </p:nvSpPr>
        <p:spPr>
          <a:xfrm>
            <a:off x="761958" y="2183433"/>
            <a:ext cx="2302290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LEARNING RATE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42"/>
          <p:cNvSpPr/>
          <p:nvPr/>
        </p:nvSpPr>
        <p:spPr>
          <a:xfrm>
            <a:off x="761958" y="2324158"/>
            <a:ext cx="2302290" cy="16142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000"/>
              <a:buFont typeface="Manrope"/>
              <a:buNone/>
            </a:pPr>
            <a:r>
              <a:rPr b="1" i="0" lang="en-GB" sz="1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The step size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42"/>
          <p:cNvSpPr/>
          <p:nvPr/>
        </p:nvSpPr>
        <p:spPr>
          <a:xfrm>
            <a:off x="761958" y="2533179"/>
            <a:ext cx="2302290" cy="24758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Controls how drastically weights are updated. </a:t>
            </a:r>
            <a:r>
              <a:rPr b="1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Too high </a:t>
            </a: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overshoots the solution. </a:t>
            </a:r>
            <a:r>
              <a:rPr b="1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Too low </a:t>
            </a: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takes forever.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42"/>
          <p:cNvSpPr/>
          <p:nvPr/>
        </p:nvSpPr>
        <p:spPr>
          <a:xfrm>
            <a:off x="3301959" y="1803011"/>
            <a:ext cx="2540042" cy="1752038"/>
          </a:xfrm>
          <a:prstGeom prst="roundRect">
            <a:avLst>
              <a:gd fmla="val 4349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42"/>
          <p:cNvSpPr/>
          <p:nvPr/>
        </p:nvSpPr>
        <p:spPr>
          <a:xfrm>
            <a:off x="3301959" y="1803012"/>
            <a:ext cx="2540042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42"/>
          <p:cNvSpPr/>
          <p:nvPr/>
        </p:nvSpPr>
        <p:spPr>
          <a:xfrm>
            <a:off x="3454343" y="1973916"/>
            <a:ext cx="2302332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1100"/>
              <a:buFont typeface="Manrope"/>
              <a:buNone/>
            </a:pPr>
            <a:r>
              <a:rPr b="0" i="0" lang="en-GB" sz="11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⏱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42"/>
          <p:cNvSpPr/>
          <p:nvPr/>
        </p:nvSpPr>
        <p:spPr>
          <a:xfrm>
            <a:off x="3454343" y="2183433"/>
            <a:ext cx="2302332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EPOCH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42"/>
          <p:cNvSpPr/>
          <p:nvPr/>
        </p:nvSpPr>
        <p:spPr>
          <a:xfrm>
            <a:off x="3454343" y="2324158"/>
            <a:ext cx="2302332" cy="16142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000"/>
              <a:buFont typeface="Manrope"/>
              <a:buNone/>
            </a:pPr>
            <a:r>
              <a:rPr b="1" i="0" lang="en-GB" sz="1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The repetitions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42"/>
          <p:cNvSpPr/>
          <p:nvPr/>
        </p:nvSpPr>
        <p:spPr>
          <a:xfrm>
            <a:off x="3454343" y="2533179"/>
            <a:ext cx="2302332" cy="24758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One complete pass through the entire dataset. Multiple passes improve learning, but too many trigger overfitting.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42"/>
          <p:cNvSpPr/>
          <p:nvPr/>
        </p:nvSpPr>
        <p:spPr>
          <a:xfrm>
            <a:off x="5994383" y="1803011"/>
            <a:ext cx="2540042" cy="1752038"/>
          </a:xfrm>
          <a:prstGeom prst="roundRect">
            <a:avLst>
              <a:gd fmla="val 4349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42"/>
          <p:cNvSpPr/>
          <p:nvPr/>
        </p:nvSpPr>
        <p:spPr>
          <a:xfrm>
            <a:off x="5994383" y="1803012"/>
            <a:ext cx="2540042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42"/>
          <p:cNvSpPr/>
          <p:nvPr/>
        </p:nvSpPr>
        <p:spPr>
          <a:xfrm>
            <a:off x="6146768" y="1973916"/>
            <a:ext cx="2302332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1100"/>
              <a:buFont typeface="Manrope"/>
              <a:buNone/>
            </a:pPr>
            <a:r>
              <a:rPr b="0" i="0" lang="en-GB" sz="11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📦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42"/>
          <p:cNvSpPr/>
          <p:nvPr/>
        </p:nvSpPr>
        <p:spPr>
          <a:xfrm>
            <a:off x="6146768" y="2183433"/>
            <a:ext cx="2302332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BATCH SIZE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42"/>
          <p:cNvSpPr/>
          <p:nvPr/>
        </p:nvSpPr>
        <p:spPr>
          <a:xfrm>
            <a:off x="6146768" y="2324158"/>
            <a:ext cx="2302332" cy="16142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000"/>
              <a:buFont typeface="Manrope"/>
              <a:buNone/>
            </a:pPr>
            <a:r>
              <a:rPr b="1" i="0" lang="en-GB" sz="1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The chunks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42"/>
          <p:cNvSpPr/>
          <p:nvPr/>
        </p:nvSpPr>
        <p:spPr>
          <a:xfrm>
            <a:off x="6146768" y="2533179"/>
            <a:ext cx="2302332" cy="24758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Number of samples processed at once. </a:t>
            </a:r>
            <a:r>
              <a:rPr b="1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Small </a:t>
            </a: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is fast but chaotic. </a:t>
            </a:r>
            <a:r>
              <a:rPr b="1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Large </a:t>
            </a: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is stable but slow.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42"/>
          <p:cNvSpPr/>
          <p:nvPr/>
        </p:nvSpPr>
        <p:spPr>
          <a:xfrm>
            <a:off x="609575" y="4824967"/>
            <a:ext cx="1062244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L&amp;D · AI 104 · Module 02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42"/>
          <p:cNvSpPr/>
          <p:nvPr/>
        </p:nvSpPr>
        <p:spPr>
          <a:xfrm>
            <a:off x="8235694" y="4824967"/>
            <a:ext cx="336831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28 / 62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3" name="Google Shape;98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242" y="251507"/>
            <a:ext cx="336900" cy="284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43"/>
          <p:cNvSpPr/>
          <p:nvPr/>
        </p:nvSpPr>
        <p:spPr>
          <a:xfrm>
            <a:off x="609575" y="328042"/>
            <a:ext cx="180950" cy="1809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43"/>
          <p:cNvSpPr/>
          <p:nvPr/>
        </p:nvSpPr>
        <p:spPr>
          <a:xfrm>
            <a:off x="857167" y="304767"/>
            <a:ext cx="77715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GlobalLogic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43"/>
          <p:cNvSpPr/>
          <p:nvPr/>
        </p:nvSpPr>
        <p:spPr>
          <a:xfrm>
            <a:off x="857167" y="447642"/>
            <a:ext cx="777156" cy="1037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Manrope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Manrope"/>
                <a:ea typeface="Manrope"/>
                <a:cs typeface="Manrope"/>
                <a:sym typeface="Manrope"/>
              </a:rPr>
              <a:t>A Hitachi Group Company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43"/>
          <p:cNvSpPr/>
          <p:nvPr/>
        </p:nvSpPr>
        <p:spPr>
          <a:xfrm>
            <a:off x="7984629" y="377527"/>
            <a:ext cx="587896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CONFIDENTIAL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43"/>
          <p:cNvSpPr/>
          <p:nvPr/>
        </p:nvSpPr>
        <p:spPr>
          <a:xfrm>
            <a:off x="609575" y="952500"/>
            <a:ext cx="8162596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SYNTHESIS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43"/>
          <p:cNvSpPr/>
          <p:nvPr/>
        </p:nvSpPr>
        <p:spPr>
          <a:xfrm>
            <a:off x="609575" y="1185829"/>
            <a:ext cx="8162596" cy="40765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000"/>
              <a:buFont typeface="Manrope"/>
              <a:buNone/>
            </a:pP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The </a:t>
            </a:r>
            <a:r>
              <a:rPr b="1" i="0" lang="en-GB" sz="30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model-training lifecycle</a:t>
            </a: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43"/>
          <p:cNvSpPr/>
          <p:nvPr/>
        </p:nvSpPr>
        <p:spPr>
          <a:xfrm>
            <a:off x="609575" y="1803011"/>
            <a:ext cx="1766962" cy="891191"/>
          </a:xfrm>
          <a:prstGeom prst="roundRect">
            <a:avLst>
              <a:gd fmla="val 8550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43"/>
          <p:cNvSpPr/>
          <p:nvPr/>
        </p:nvSpPr>
        <p:spPr>
          <a:xfrm>
            <a:off x="609575" y="1803012"/>
            <a:ext cx="1766962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43"/>
          <p:cNvSpPr/>
          <p:nvPr/>
        </p:nvSpPr>
        <p:spPr>
          <a:xfrm>
            <a:off x="742901" y="1954858"/>
            <a:ext cx="1545321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STEP 01 · INPUT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43"/>
          <p:cNvSpPr/>
          <p:nvPr/>
        </p:nvSpPr>
        <p:spPr>
          <a:xfrm>
            <a:off x="742901" y="2076566"/>
            <a:ext cx="1545321" cy="13426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Predict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9" name="Google Shape;999;p43"/>
          <p:cNvSpPr/>
          <p:nvPr/>
        </p:nvSpPr>
        <p:spPr>
          <a:xfrm>
            <a:off x="742901" y="2239409"/>
            <a:ext cx="1545321" cy="2333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Data meets Weights, Bias, &amp; Activation to make a prediction.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43"/>
          <p:cNvSpPr/>
          <p:nvPr/>
        </p:nvSpPr>
        <p:spPr>
          <a:xfrm>
            <a:off x="2424129" y="2145399"/>
            <a:ext cx="190483" cy="2254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1200"/>
              <a:buFont typeface="Manrope"/>
              <a:buNone/>
            </a:pPr>
            <a:r>
              <a:rPr b="0" i="0" lang="en-GB" sz="12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Google Shape;1001;p43"/>
          <p:cNvSpPr/>
          <p:nvPr/>
        </p:nvSpPr>
        <p:spPr>
          <a:xfrm>
            <a:off x="2662205" y="1803011"/>
            <a:ext cx="1766962" cy="891191"/>
          </a:xfrm>
          <a:prstGeom prst="roundRect">
            <a:avLst>
              <a:gd fmla="val 8550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43"/>
          <p:cNvSpPr/>
          <p:nvPr/>
        </p:nvSpPr>
        <p:spPr>
          <a:xfrm>
            <a:off x="2662205" y="1803012"/>
            <a:ext cx="1766962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43"/>
          <p:cNvSpPr/>
          <p:nvPr/>
        </p:nvSpPr>
        <p:spPr>
          <a:xfrm>
            <a:off x="2795529" y="1954858"/>
            <a:ext cx="1545321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STEP 02 · EVALUATE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p43"/>
          <p:cNvSpPr/>
          <p:nvPr/>
        </p:nvSpPr>
        <p:spPr>
          <a:xfrm>
            <a:off x="2795529" y="2076566"/>
            <a:ext cx="1545321" cy="13426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Measure error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p43"/>
          <p:cNvSpPr/>
          <p:nvPr/>
        </p:nvSpPr>
        <p:spPr>
          <a:xfrm>
            <a:off x="2795529" y="2239409"/>
            <a:ext cx="1545321" cy="2333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The Loss Function measures how wrong the prediction was.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43"/>
          <p:cNvSpPr/>
          <p:nvPr/>
        </p:nvSpPr>
        <p:spPr>
          <a:xfrm>
            <a:off x="4476759" y="2145399"/>
            <a:ext cx="190483" cy="2254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1200"/>
              <a:buFont typeface="Manrope"/>
              <a:buNone/>
            </a:pPr>
            <a:r>
              <a:rPr b="0" i="0" lang="en-GB" sz="12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43"/>
          <p:cNvSpPr/>
          <p:nvPr/>
        </p:nvSpPr>
        <p:spPr>
          <a:xfrm>
            <a:off x="4714834" y="1803011"/>
            <a:ext cx="1766962" cy="891191"/>
          </a:xfrm>
          <a:prstGeom prst="roundRect">
            <a:avLst>
              <a:gd fmla="val 8550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8" name="Google Shape;1008;p43"/>
          <p:cNvSpPr/>
          <p:nvPr/>
        </p:nvSpPr>
        <p:spPr>
          <a:xfrm>
            <a:off x="4714834" y="1803012"/>
            <a:ext cx="1766962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p43"/>
          <p:cNvSpPr/>
          <p:nvPr/>
        </p:nvSpPr>
        <p:spPr>
          <a:xfrm>
            <a:off x="4848159" y="1954858"/>
            <a:ext cx="1545321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STEP 03 · CORRECT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43"/>
          <p:cNvSpPr/>
          <p:nvPr/>
        </p:nvSpPr>
        <p:spPr>
          <a:xfrm>
            <a:off x="4848159" y="2076566"/>
            <a:ext cx="1545321" cy="13426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Adjust weights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43"/>
          <p:cNvSpPr/>
          <p:nvPr/>
        </p:nvSpPr>
        <p:spPr>
          <a:xfrm>
            <a:off x="4848159" y="2239409"/>
            <a:ext cx="1545321" cy="2333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Backpropagation &amp; Gradient Descent reduce the error.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43"/>
          <p:cNvSpPr/>
          <p:nvPr/>
        </p:nvSpPr>
        <p:spPr>
          <a:xfrm>
            <a:off x="6529388" y="2145399"/>
            <a:ext cx="190483" cy="2254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1200"/>
              <a:buFont typeface="Manrope"/>
              <a:buNone/>
            </a:pPr>
            <a:r>
              <a:rPr b="0" i="0" lang="en-GB" sz="12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↻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43"/>
          <p:cNvSpPr/>
          <p:nvPr/>
        </p:nvSpPr>
        <p:spPr>
          <a:xfrm>
            <a:off x="6767463" y="1803011"/>
            <a:ext cx="1766962" cy="891191"/>
          </a:xfrm>
          <a:prstGeom prst="roundRect">
            <a:avLst>
              <a:gd fmla="val 8550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" name="Google Shape;1014;p43"/>
          <p:cNvSpPr/>
          <p:nvPr/>
        </p:nvSpPr>
        <p:spPr>
          <a:xfrm>
            <a:off x="6767463" y="1803012"/>
            <a:ext cx="1766962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43"/>
          <p:cNvSpPr/>
          <p:nvPr/>
        </p:nvSpPr>
        <p:spPr>
          <a:xfrm>
            <a:off x="6900788" y="1954858"/>
            <a:ext cx="1545321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STEP 04 · REPEAT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p43"/>
          <p:cNvSpPr/>
          <p:nvPr/>
        </p:nvSpPr>
        <p:spPr>
          <a:xfrm>
            <a:off x="6900788" y="2076566"/>
            <a:ext cx="1545321" cy="13426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Generalize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43"/>
          <p:cNvSpPr/>
          <p:nvPr/>
        </p:nvSpPr>
        <p:spPr>
          <a:xfrm>
            <a:off x="6900788" y="2239409"/>
            <a:ext cx="1545321" cy="34051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Guided by Learning Rate, Batch Size, &amp; Epochs — until the model generalizes to new data.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43"/>
          <p:cNvSpPr/>
          <p:nvPr/>
        </p:nvSpPr>
        <p:spPr>
          <a:xfrm>
            <a:off x="609575" y="4824967"/>
            <a:ext cx="1062244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L&amp;D · AI 104 · Module 02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43"/>
          <p:cNvSpPr/>
          <p:nvPr/>
        </p:nvSpPr>
        <p:spPr>
          <a:xfrm>
            <a:off x="8235694" y="4824967"/>
            <a:ext cx="336831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29 / 62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0" name="Google Shape;1020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242" y="251507"/>
            <a:ext cx="336900" cy="284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p44"/>
          <p:cNvSpPr/>
          <p:nvPr/>
        </p:nvSpPr>
        <p:spPr>
          <a:xfrm>
            <a:off x="609575" y="328042"/>
            <a:ext cx="180950" cy="1809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7" name="Google Shape;1027;p44"/>
          <p:cNvSpPr/>
          <p:nvPr/>
        </p:nvSpPr>
        <p:spPr>
          <a:xfrm>
            <a:off x="857167" y="304767"/>
            <a:ext cx="77715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GlobalLogic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" name="Google Shape;1028;p44"/>
          <p:cNvSpPr/>
          <p:nvPr/>
        </p:nvSpPr>
        <p:spPr>
          <a:xfrm>
            <a:off x="857167" y="447642"/>
            <a:ext cx="777156" cy="1037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Manrope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Manrope"/>
                <a:ea typeface="Manrope"/>
                <a:cs typeface="Manrope"/>
                <a:sym typeface="Manrope"/>
              </a:rPr>
              <a:t>A Hitachi Group Company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9" name="Google Shape;1029;p44"/>
          <p:cNvSpPr/>
          <p:nvPr/>
        </p:nvSpPr>
        <p:spPr>
          <a:xfrm>
            <a:off x="7984629" y="377527"/>
            <a:ext cx="587896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CONFIDENTIAL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0" name="Google Shape;1030;p44"/>
          <p:cNvSpPr/>
          <p:nvPr/>
        </p:nvSpPr>
        <p:spPr>
          <a:xfrm>
            <a:off x="609575" y="952500"/>
            <a:ext cx="8162596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FILTERING THE NOISE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44"/>
          <p:cNvSpPr/>
          <p:nvPr/>
        </p:nvSpPr>
        <p:spPr>
          <a:xfrm>
            <a:off x="609575" y="1185829"/>
            <a:ext cx="8162596" cy="40765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000"/>
              <a:buFont typeface="Manrope"/>
              <a:buNone/>
            </a:pP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Activation bias — </a:t>
            </a:r>
            <a:r>
              <a:rPr b="1" i="0" lang="en-GB" sz="30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the manager analogy</a:t>
            </a: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2" name="Google Shape;1032;p44"/>
          <p:cNvSpPr/>
          <p:nvPr/>
        </p:nvSpPr>
        <p:spPr>
          <a:xfrm>
            <a:off x="609575" y="1803011"/>
            <a:ext cx="4197946" cy="1320188"/>
          </a:xfrm>
          <a:prstGeom prst="roundRect">
            <a:avLst>
              <a:gd fmla="val 6493" name="adj"/>
            </a:avLst>
          </a:prstGeom>
          <a:solidFill>
            <a:srgbClr val="FFF7F1"/>
          </a:solidFill>
          <a:ln cap="flat" cmpd="sng" w="9525">
            <a:solidFill>
              <a:srgbClr val="FFD7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44"/>
          <p:cNvSpPr/>
          <p:nvPr/>
        </p:nvSpPr>
        <p:spPr>
          <a:xfrm>
            <a:off x="821738" y="1996158"/>
            <a:ext cx="3886829" cy="20905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400"/>
              <a:buFont typeface="Manrope"/>
              <a:buNone/>
            </a:pPr>
            <a:r>
              <a:rPr b="1" i="0" lang="en-GB" sz="14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Setting a filter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44"/>
          <p:cNvSpPr/>
          <p:nvPr/>
        </p:nvSpPr>
        <p:spPr>
          <a:xfrm>
            <a:off x="821738" y="2262353"/>
            <a:ext cx="3886829" cy="339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900"/>
              <a:buFont typeface="Manrope"/>
              <a:buNone/>
            </a:pPr>
            <a:r>
              <a:rPr b="0" i="1" lang="en-GB" sz="9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"Don't bother me with minor complaints; only come to me if the total loss is over $500."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44"/>
          <p:cNvSpPr/>
          <p:nvPr/>
        </p:nvSpPr>
        <p:spPr>
          <a:xfrm>
            <a:off x="821738" y="2658608"/>
            <a:ext cx="3886829" cy="2904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700"/>
              <a:buFont typeface="Manrope"/>
              <a:buNone/>
            </a:pPr>
            <a:r>
              <a:rPr b="0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A neuron only fires if the total signal crosses a mathematical threshold — exactly the same principle.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6" name="Google Shape;1036;p44"/>
          <p:cNvSpPr/>
          <p:nvPr/>
        </p:nvSpPr>
        <p:spPr>
          <a:xfrm>
            <a:off x="5036096" y="1803011"/>
            <a:ext cx="3498329" cy="1320188"/>
          </a:xfrm>
          <a:prstGeom prst="roundRect">
            <a:avLst>
              <a:gd fmla="val 6493" name="adj"/>
            </a:avLst>
          </a:prstGeom>
          <a:solidFill>
            <a:srgbClr val="1B1F2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p44"/>
          <p:cNvSpPr/>
          <p:nvPr/>
        </p:nvSpPr>
        <p:spPr>
          <a:xfrm>
            <a:off x="5248258" y="1996158"/>
            <a:ext cx="3166224" cy="20905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nrope"/>
              <a:buNone/>
            </a:pPr>
            <a:r>
              <a:rPr b="1" i="0" lang="en-GB" sz="14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The application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p44"/>
          <p:cNvSpPr/>
          <p:nvPr/>
        </p:nvSpPr>
        <p:spPr>
          <a:xfrm>
            <a:off x="5248258" y="2262353"/>
            <a:ext cx="3166224" cy="2904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Manrope"/>
              <a:buNone/>
            </a:pPr>
            <a:r>
              <a:rPr b="0" i="0" lang="en-GB" sz="7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The </a:t>
            </a:r>
            <a:r>
              <a:rPr b="1" i="0" lang="en-GB" sz="7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$500 </a:t>
            </a:r>
            <a:r>
              <a:rPr b="0" i="0" lang="en-GB" sz="7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is the bias. It filters out the noise so the AI system stays focused entirely on what matters.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p44"/>
          <p:cNvSpPr/>
          <p:nvPr/>
        </p:nvSpPr>
        <p:spPr>
          <a:xfrm>
            <a:off x="5248258" y="2609991"/>
            <a:ext cx="3166224" cy="2904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Manrope"/>
              <a:buNone/>
            </a:pPr>
            <a:r>
              <a:rPr b="0" i="0" lang="en-GB" sz="7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Without bias, every signal would shout equally loudly — and nothing would actually get learned.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p44"/>
          <p:cNvSpPr/>
          <p:nvPr/>
        </p:nvSpPr>
        <p:spPr>
          <a:xfrm>
            <a:off x="609575" y="4824967"/>
            <a:ext cx="1062244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L&amp;D · AI 104 · Module 02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1" name="Google Shape;1041;p44"/>
          <p:cNvSpPr/>
          <p:nvPr/>
        </p:nvSpPr>
        <p:spPr>
          <a:xfrm>
            <a:off x="8235694" y="4824967"/>
            <a:ext cx="336831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30 / 62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2" name="Google Shape;104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242" y="251507"/>
            <a:ext cx="336900" cy="284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p45"/>
          <p:cNvSpPr/>
          <p:nvPr/>
        </p:nvSpPr>
        <p:spPr>
          <a:xfrm>
            <a:off x="609575" y="328042"/>
            <a:ext cx="180950" cy="1809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9" name="Google Shape;1049;p45"/>
          <p:cNvSpPr/>
          <p:nvPr/>
        </p:nvSpPr>
        <p:spPr>
          <a:xfrm>
            <a:off x="857167" y="304767"/>
            <a:ext cx="77715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GlobalLogic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45"/>
          <p:cNvSpPr/>
          <p:nvPr/>
        </p:nvSpPr>
        <p:spPr>
          <a:xfrm>
            <a:off x="857167" y="447642"/>
            <a:ext cx="777156" cy="1037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Manrope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Manrope"/>
                <a:ea typeface="Manrope"/>
                <a:cs typeface="Manrope"/>
                <a:sym typeface="Manrope"/>
              </a:rPr>
              <a:t>A Hitachi Group Company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45"/>
          <p:cNvSpPr/>
          <p:nvPr/>
        </p:nvSpPr>
        <p:spPr>
          <a:xfrm>
            <a:off x="7984629" y="377527"/>
            <a:ext cx="587896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CONFIDENTIAL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45"/>
          <p:cNvSpPr/>
          <p:nvPr/>
        </p:nvSpPr>
        <p:spPr>
          <a:xfrm>
            <a:off x="609575" y="952500"/>
            <a:ext cx="8162596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THE PROBABILITY ENGINE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45"/>
          <p:cNvSpPr/>
          <p:nvPr/>
        </p:nvSpPr>
        <p:spPr>
          <a:xfrm>
            <a:off x="609575" y="1185829"/>
            <a:ext cx="8162596" cy="40765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000"/>
              <a:buFont typeface="Manrope"/>
              <a:buNone/>
            </a:pP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How LLMs </a:t>
            </a:r>
            <a:r>
              <a:rPr b="1" i="0" lang="en-GB" sz="30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actually </a:t>
            </a: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work.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4" name="Google Shape;1054;p45"/>
          <p:cNvSpPr/>
          <p:nvPr/>
        </p:nvSpPr>
        <p:spPr>
          <a:xfrm>
            <a:off x="609575" y="1660137"/>
            <a:ext cx="6376988" cy="17358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800"/>
              <a:buFont typeface="Manrope"/>
              <a:buNone/>
            </a:pPr>
            <a:r>
              <a:rPr b="0" i="0" lang="en-GB" sz="8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Prompt: </a:t>
            </a:r>
            <a:r>
              <a:rPr b="1" i="0" lang="en-GB" sz="800" u="none" cap="none" strike="noStrike">
                <a:solidFill>
                  <a:srgbClr val="1B1F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"The capital of France is…"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5" name="Google Shape;1055;p45"/>
          <p:cNvSpPr/>
          <p:nvPr/>
        </p:nvSpPr>
        <p:spPr>
          <a:xfrm>
            <a:off x="609575" y="1986112"/>
            <a:ext cx="1181100" cy="1460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JetBrains Mono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Paris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6" name="Google Shape;1056;p45"/>
          <p:cNvSpPr/>
          <p:nvPr/>
        </p:nvSpPr>
        <p:spPr>
          <a:xfrm>
            <a:off x="1866842" y="2006741"/>
            <a:ext cx="6077066" cy="85700"/>
          </a:xfrm>
          <a:prstGeom prst="roundRect">
            <a:avLst>
              <a:gd fmla="val 50000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p45"/>
          <p:cNvSpPr/>
          <p:nvPr/>
        </p:nvSpPr>
        <p:spPr>
          <a:xfrm>
            <a:off x="1866842" y="2006741"/>
            <a:ext cx="6016294" cy="85700"/>
          </a:xfrm>
          <a:prstGeom prst="roundRect">
            <a:avLst>
              <a:gd fmla="val 50000" name="adj"/>
            </a:avLst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p45"/>
          <p:cNvSpPr/>
          <p:nvPr/>
        </p:nvSpPr>
        <p:spPr>
          <a:xfrm>
            <a:off x="8020075" y="1986112"/>
            <a:ext cx="514350" cy="1460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800"/>
              <a:buFont typeface="JetBrains Mono"/>
              <a:buNone/>
            </a:pPr>
            <a:r>
              <a:rPr b="1" i="0" lang="en-GB" sz="8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99%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9" name="Google Shape;1059;p45"/>
          <p:cNvSpPr/>
          <p:nvPr/>
        </p:nvSpPr>
        <p:spPr>
          <a:xfrm>
            <a:off x="609575" y="2179754"/>
            <a:ext cx="1181100" cy="1460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800"/>
              <a:buFont typeface="JetBrains Mono"/>
              <a:buNone/>
            </a:pPr>
            <a:r>
              <a:rPr b="1" i="0" lang="en-GB" sz="8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Lyon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0" name="Google Shape;1060;p45"/>
          <p:cNvSpPr/>
          <p:nvPr/>
        </p:nvSpPr>
        <p:spPr>
          <a:xfrm>
            <a:off x="1866842" y="2200383"/>
            <a:ext cx="6077066" cy="85700"/>
          </a:xfrm>
          <a:prstGeom prst="roundRect">
            <a:avLst>
              <a:gd fmla="val 50000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1" name="Google Shape;1061;p45"/>
          <p:cNvSpPr/>
          <p:nvPr/>
        </p:nvSpPr>
        <p:spPr>
          <a:xfrm>
            <a:off x="1866842" y="2200383"/>
            <a:ext cx="30344" cy="85700"/>
          </a:xfrm>
          <a:prstGeom prst="roundRect">
            <a:avLst>
              <a:gd fmla="val 50000" name="adj"/>
            </a:avLst>
          </a:prstGeom>
          <a:solidFill>
            <a:srgbClr val="C2C8D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45"/>
          <p:cNvSpPr/>
          <p:nvPr/>
        </p:nvSpPr>
        <p:spPr>
          <a:xfrm>
            <a:off x="8020075" y="2179754"/>
            <a:ext cx="514350" cy="1460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800"/>
              <a:buFont typeface="JetBrains Mono"/>
              <a:buNone/>
            </a:pPr>
            <a:r>
              <a:rPr b="1" i="0" lang="en-GB" sz="8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0.5%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3" name="Google Shape;1063;p45"/>
          <p:cNvSpPr/>
          <p:nvPr/>
        </p:nvSpPr>
        <p:spPr>
          <a:xfrm>
            <a:off x="609575" y="2373395"/>
            <a:ext cx="1181100" cy="1460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800"/>
              <a:buFont typeface="JetBrains Mono"/>
              <a:buNone/>
            </a:pPr>
            <a:r>
              <a:rPr b="1" i="0" lang="en-GB" sz="8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Marseille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4" name="Google Shape;1064;p45"/>
          <p:cNvSpPr/>
          <p:nvPr/>
        </p:nvSpPr>
        <p:spPr>
          <a:xfrm>
            <a:off x="1866842" y="2394025"/>
            <a:ext cx="6077066" cy="85700"/>
          </a:xfrm>
          <a:prstGeom prst="roundRect">
            <a:avLst>
              <a:gd fmla="val 50000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5" name="Google Shape;1065;p45"/>
          <p:cNvSpPr/>
          <p:nvPr/>
        </p:nvSpPr>
        <p:spPr>
          <a:xfrm>
            <a:off x="1866842" y="2394025"/>
            <a:ext cx="18190" cy="85700"/>
          </a:xfrm>
          <a:prstGeom prst="roundRect">
            <a:avLst>
              <a:gd fmla="val 50000" name="adj"/>
            </a:avLst>
          </a:prstGeom>
          <a:solidFill>
            <a:srgbClr val="C2C8D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6" name="Google Shape;1066;p45"/>
          <p:cNvSpPr/>
          <p:nvPr/>
        </p:nvSpPr>
        <p:spPr>
          <a:xfrm>
            <a:off x="8020075" y="2373395"/>
            <a:ext cx="514350" cy="1460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800"/>
              <a:buFont typeface="JetBrains Mono"/>
              <a:buNone/>
            </a:pPr>
            <a:r>
              <a:rPr b="1" i="0" lang="en-GB" sz="8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0.3%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7" name="Google Shape;1067;p45"/>
          <p:cNvSpPr/>
          <p:nvPr/>
        </p:nvSpPr>
        <p:spPr>
          <a:xfrm>
            <a:off x="609575" y="2567037"/>
            <a:ext cx="1181100" cy="1460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800"/>
              <a:buFont typeface="JetBrains Mono"/>
              <a:buNone/>
            </a:pPr>
            <a:r>
              <a:rPr b="1" i="0" lang="en-GB" sz="8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London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8" name="Google Shape;1068;p45"/>
          <p:cNvSpPr/>
          <p:nvPr/>
        </p:nvSpPr>
        <p:spPr>
          <a:xfrm>
            <a:off x="1866842" y="2587667"/>
            <a:ext cx="6077066" cy="85700"/>
          </a:xfrm>
          <a:prstGeom prst="roundRect">
            <a:avLst>
              <a:gd fmla="val 50000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9" name="Google Shape;1069;p45"/>
          <p:cNvSpPr/>
          <p:nvPr/>
        </p:nvSpPr>
        <p:spPr>
          <a:xfrm>
            <a:off x="1866842" y="2587667"/>
            <a:ext cx="6036" cy="85700"/>
          </a:xfrm>
          <a:prstGeom prst="roundRect">
            <a:avLst>
              <a:gd fmla="val 49998" name="adj"/>
            </a:avLst>
          </a:prstGeom>
          <a:solidFill>
            <a:srgbClr val="C2C8D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0" name="Google Shape;1070;p45"/>
          <p:cNvSpPr/>
          <p:nvPr/>
        </p:nvSpPr>
        <p:spPr>
          <a:xfrm>
            <a:off x="8020075" y="2567037"/>
            <a:ext cx="514350" cy="1460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800"/>
              <a:buFont typeface="JetBrains Mono"/>
              <a:buNone/>
            </a:pPr>
            <a:r>
              <a:rPr b="1" i="0" lang="en-GB" sz="8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0.1%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1" name="Google Shape;1071;p45"/>
          <p:cNvSpPr/>
          <p:nvPr/>
        </p:nvSpPr>
        <p:spPr>
          <a:xfrm>
            <a:off x="609575" y="2865479"/>
            <a:ext cx="7924850" cy="1159495"/>
          </a:xfrm>
          <a:prstGeom prst="roundRect">
            <a:avLst>
              <a:gd fmla="val 9858" name="adj"/>
            </a:avLst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2" name="Google Shape;1072;p45"/>
          <p:cNvSpPr/>
          <p:nvPr/>
        </p:nvSpPr>
        <p:spPr>
          <a:xfrm>
            <a:off x="838150" y="3036921"/>
            <a:ext cx="7691731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KEY TAKEAWAY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3" name="Google Shape;1073;p45"/>
          <p:cNvSpPr/>
          <p:nvPr/>
        </p:nvSpPr>
        <p:spPr>
          <a:xfrm>
            <a:off x="838150" y="3212579"/>
            <a:ext cx="7691731" cy="41716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nrope"/>
              <a:buNone/>
            </a:pPr>
            <a:r>
              <a:rPr b="1" i="0" lang="en-GB" sz="14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LLMs operate through pattern recognition and probability — not factual reasoning or conscious thought.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4" name="Google Shape;1074;p45"/>
          <p:cNvSpPr/>
          <p:nvPr/>
        </p:nvSpPr>
        <p:spPr>
          <a:xfrm>
            <a:off x="838150" y="3696395"/>
            <a:ext cx="5886450" cy="17618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nrope"/>
              <a:buNone/>
            </a:pPr>
            <a:r>
              <a:rPr b="0" i="0" lang="en-GB" sz="8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The model selects the next word based on statistics, not sentient thought.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5" name="Google Shape;1075;p45"/>
          <p:cNvSpPr/>
          <p:nvPr/>
        </p:nvSpPr>
        <p:spPr>
          <a:xfrm>
            <a:off x="609575" y="4824967"/>
            <a:ext cx="1062244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L&amp;D · AI 104 · Module 02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6" name="Google Shape;1076;p45"/>
          <p:cNvSpPr/>
          <p:nvPr/>
        </p:nvSpPr>
        <p:spPr>
          <a:xfrm>
            <a:off x="8235694" y="4824967"/>
            <a:ext cx="336831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31 / 62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7" name="Google Shape;107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242" y="251507"/>
            <a:ext cx="336900" cy="284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84358"/>
        </a:solidFill>
      </p:bgPr>
    </p:bg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83" name="Google Shape;1083;p46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6096000" y="2095500"/>
            <a:ext cx="3048000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4" name="Google Shape;1084;p46"/>
          <p:cNvSpPr/>
          <p:nvPr/>
        </p:nvSpPr>
        <p:spPr>
          <a:xfrm>
            <a:off x="609575" y="328042"/>
            <a:ext cx="180950" cy="180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5" name="Google Shape;1085;p46"/>
          <p:cNvSpPr/>
          <p:nvPr/>
        </p:nvSpPr>
        <p:spPr>
          <a:xfrm>
            <a:off x="857167" y="304767"/>
            <a:ext cx="77715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GlobalLogic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p46"/>
          <p:cNvSpPr/>
          <p:nvPr/>
        </p:nvSpPr>
        <p:spPr>
          <a:xfrm>
            <a:off x="857167" y="447642"/>
            <a:ext cx="777156" cy="1037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Manrope"/>
              <a:buNone/>
            </a:pPr>
            <a:r>
              <a:rPr b="0" i="0" lang="en-GB" sz="5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A Hitachi Group Company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7" name="Google Shape;1087;p46"/>
          <p:cNvSpPr/>
          <p:nvPr/>
        </p:nvSpPr>
        <p:spPr>
          <a:xfrm>
            <a:off x="7984629" y="377527"/>
            <a:ext cx="587896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CONFIDENTIAL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p46"/>
          <p:cNvSpPr/>
          <p:nvPr/>
        </p:nvSpPr>
        <p:spPr>
          <a:xfrm>
            <a:off x="762000" y="1143000"/>
            <a:ext cx="6376988" cy="1460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800"/>
              <a:buFont typeface="JetBrains Mono"/>
              <a:buNone/>
            </a:pPr>
            <a:r>
              <a:rPr b="0" i="0" lang="en-GB" sz="8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PART 03 · MODULE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p46"/>
          <p:cNvSpPr/>
          <p:nvPr/>
        </p:nvSpPr>
        <p:spPr>
          <a:xfrm>
            <a:off x="762000" y="1422384"/>
            <a:ext cx="6376988" cy="139438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700"/>
              <a:buFont typeface="Manrope"/>
              <a:buNone/>
            </a:pPr>
            <a:r>
              <a:rPr b="1" i="0" lang="en-GB" sz="57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Prompt Engineering.</a:t>
            </a:r>
            <a:endParaRPr b="0" i="0" sz="5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0" name="Google Shape;1090;p46"/>
          <p:cNvSpPr/>
          <p:nvPr/>
        </p:nvSpPr>
        <p:spPr>
          <a:xfrm>
            <a:off x="762000" y="2931046"/>
            <a:ext cx="4905376" cy="19909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nrope"/>
              <a:buNone/>
            </a:pPr>
            <a:r>
              <a:rPr b="0" i="0" lang="en-GB" sz="11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Design the question and the model becomes a colleague — not a coin flip.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1" name="Google Shape;1091;p46"/>
          <p:cNvSpPr/>
          <p:nvPr/>
        </p:nvSpPr>
        <p:spPr>
          <a:xfrm>
            <a:off x="609575" y="4824967"/>
            <a:ext cx="550193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L&amp;D · AI 104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2" name="Google Shape;1092;p46"/>
          <p:cNvSpPr/>
          <p:nvPr/>
        </p:nvSpPr>
        <p:spPr>
          <a:xfrm>
            <a:off x="8235694" y="4824967"/>
            <a:ext cx="336831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32 / 62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3" name="Google Shape;1093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7374" y="262474"/>
            <a:ext cx="336900" cy="284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p47"/>
          <p:cNvSpPr/>
          <p:nvPr/>
        </p:nvSpPr>
        <p:spPr>
          <a:xfrm>
            <a:off x="609575" y="328042"/>
            <a:ext cx="180950" cy="1809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0" name="Google Shape;1100;p47"/>
          <p:cNvSpPr/>
          <p:nvPr/>
        </p:nvSpPr>
        <p:spPr>
          <a:xfrm>
            <a:off x="857167" y="304767"/>
            <a:ext cx="77715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GlobalLogic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1" name="Google Shape;1101;p47"/>
          <p:cNvSpPr/>
          <p:nvPr/>
        </p:nvSpPr>
        <p:spPr>
          <a:xfrm>
            <a:off x="857167" y="447642"/>
            <a:ext cx="777156" cy="1037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Manrope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Manrope"/>
                <a:ea typeface="Manrope"/>
                <a:cs typeface="Manrope"/>
                <a:sym typeface="Manrope"/>
              </a:rPr>
              <a:t>A Hitachi Group Company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2" name="Google Shape;1102;p47"/>
          <p:cNvSpPr/>
          <p:nvPr/>
        </p:nvSpPr>
        <p:spPr>
          <a:xfrm>
            <a:off x="7984629" y="377527"/>
            <a:ext cx="587896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CONFIDENTIAL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3" name="Google Shape;1103;p47"/>
          <p:cNvSpPr/>
          <p:nvPr/>
        </p:nvSpPr>
        <p:spPr>
          <a:xfrm>
            <a:off x="609575" y="952500"/>
            <a:ext cx="8162596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PROMPT ENGINEERING — THE STEERING WHEEL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4" name="Google Shape;1104;p47"/>
          <p:cNvSpPr/>
          <p:nvPr/>
        </p:nvSpPr>
        <p:spPr>
          <a:xfrm>
            <a:off x="609575" y="1185829"/>
            <a:ext cx="8162596" cy="40765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000"/>
              <a:buFont typeface="Manrope"/>
              <a:buNone/>
            </a:pP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The human </a:t>
            </a:r>
            <a:r>
              <a:rPr b="1" i="0" lang="en-GB" sz="30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orchestrator</a:t>
            </a: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5" name="Google Shape;1105;p47"/>
          <p:cNvSpPr/>
          <p:nvPr/>
        </p:nvSpPr>
        <p:spPr>
          <a:xfrm>
            <a:off x="609575" y="1660137"/>
            <a:ext cx="7358063" cy="1709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800"/>
              <a:buFont typeface="Manrope"/>
              <a:buNone/>
            </a:pPr>
            <a:r>
              <a:rPr b="0" i="0" lang="en-GB" sz="8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We're now operating in a world where technology generates new data — text, code, images. Prompt engineering is how you steer it.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6" name="Google Shape;1106;p47"/>
          <p:cNvSpPr/>
          <p:nvPr/>
        </p:nvSpPr>
        <p:spPr>
          <a:xfrm>
            <a:off x="609575" y="2040599"/>
            <a:ext cx="2451158" cy="784035"/>
          </a:xfrm>
          <a:prstGeom prst="roundRect">
            <a:avLst>
              <a:gd fmla="val 9719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7" name="Google Shape;1107;p47"/>
          <p:cNvSpPr/>
          <p:nvPr/>
        </p:nvSpPr>
        <p:spPr>
          <a:xfrm>
            <a:off x="609575" y="2040599"/>
            <a:ext cx="2451158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8" name="Google Shape;1108;p47"/>
          <p:cNvSpPr/>
          <p:nvPr/>
        </p:nvSpPr>
        <p:spPr>
          <a:xfrm>
            <a:off x="742901" y="2192445"/>
            <a:ext cx="2250043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ROLE 01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9" name="Google Shape;1109;p47"/>
          <p:cNvSpPr/>
          <p:nvPr/>
        </p:nvSpPr>
        <p:spPr>
          <a:xfrm>
            <a:off x="742901" y="2314154"/>
            <a:ext cx="2250043" cy="13426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The human orchestrator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0" name="Google Shape;1110;p47"/>
          <p:cNvSpPr/>
          <p:nvPr/>
        </p:nvSpPr>
        <p:spPr>
          <a:xfrm>
            <a:off x="742901" y="2476996"/>
            <a:ext cx="2250043" cy="12620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Sets intent, context, and constraints. Owns the outcome.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p47"/>
          <p:cNvSpPr/>
          <p:nvPr/>
        </p:nvSpPr>
        <p:spPr>
          <a:xfrm>
            <a:off x="3108325" y="2329409"/>
            <a:ext cx="190483" cy="2254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1200"/>
              <a:buFont typeface="Manrope"/>
              <a:buNone/>
            </a:pPr>
            <a:r>
              <a:rPr b="0" i="0" lang="en-GB" sz="12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2" name="Google Shape;1112;p47"/>
          <p:cNvSpPr/>
          <p:nvPr/>
        </p:nvSpPr>
        <p:spPr>
          <a:xfrm>
            <a:off x="3346400" y="2040599"/>
            <a:ext cx="2451158" cy="784035"/>
          </a:xfrm>
          <a:prstGeom prst="roundRect">
            <a:avLst>
              <a:gd fmla="val 9719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3" name="Google Shape;1113;p47"/>
          <p:cNvSpPr/>
          <p:nvPr/>
        </p:nvSpPr>
        <p:spPr>
          <a:xfrm>
            <a:off x="3346400" y="2040599"/>
            <a:ext cx="2451158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4" name="Google Shape;1114;p47"/>
          <p:cNvSpPr/>
          <p:nvPr/>
        </p:nvSpPr>
        <p:spPr>
          <a:xfrm>
            <a:off x="3479726" y="2192445"/>
            <a:ext cx="2250043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ROLE 02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5" name="Google Shape;1115;p47"/>
          <p:cNvSpPr/>
          <p:nvPr/>
        </p:nvSpPr>
        <p:spPr>
          <a:xfrm>
            <a:off x="3479726" y="2314154"/>
            <a:ext cx="2250043" cy="13426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Prompt engineering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6" name="Google Shape;1116;p47"/>
          <p:cNvSpPr/>
          <p:nvPr/>
        </p:nvSpPr>
        <p:spPr>
          <a:xfrm>
            <a:off x="3479726" y="2476996"/>
            <a:ext cx="2250043" cy="2333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The interface that translates intent into model-readable instruction.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7" name="Google Shape;1117;p47"/>
          <p:cNvSpPr/>
          <p:nvPr/>
        </p:nvSpPr>
        <p:spPr>
          <a:xfrm>
            <a:off x="5845150" y="2329409"/>
            <a:ext cx="190483" cy="2254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1200"/>
              <a:buFont typeface="Manrope"/>
              <a:buNone/>
            </a:pPr>
            <a:r>
              <a:rPr b="0" i="0" lang="en-GB" sz="12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8" name="Google Shape;1118;p47"/>
          <p:cNvSpPr/>
          <p:nvPr/>
        </p:nvSpPr>
        <p:spPr>
          <a:xfrm>
            <a:off x="6083226" y="2040599"/>
            <a:ext cx="2451158" cy="784035"/>
          </a:xfrm>
          <a:prstGeom prst="roundRect">
            <a:avLst>
              <a:gd fmla="val 9719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9" name="Google Shape;1119;p47"/>
          <p:cNvSpPr/>
          <p:nvPr/>
        </p:nvSpPr>
        <p:spPr>
          <a:xfrm>
            <a:off x="6083226" y="2040599"/>
            <a:ext cx="2451158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p47"/>
          <p:cNvSpPr/>
          <p:nvPr/>
        </p:nvSpPr>
        <p:spPr>
          <a:xfrm>
            <a:off x="6216551" y="2192445"/>
            <a:ext cx="2250043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ROLE 03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1" name="Google Shape;1121;p47"/>
          <p:cNvSpPr/>
          <p:nvPr/>
        </p:nvSpPr>
        <p:spPr>
          <a:xfrm>
            <a:off x="6216551" y="2314154"/>
            <a:ext cx="2250043" cy="13426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The generative engine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2" name="Google Shape;1122;p47"/>
          <p:cNvSpPr/>
          <p:nvPr/>
        </p:nvSpPr>
        <p:spPr>
          <a:xfrm>
            <a:off x="6216551" y="2476996"/>
            <a:ext cx="2250043" cy="12620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The model that produces output, conditioned on the prompt.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3" name="Google Shape;1123;p47"/>
          <p:cNvSpPr/>
          <p:nvPr/>
        </p:nvSpPr>
        <p:spPr>
          <a:xfrm>
            <a:off x="609575" y="2996075"/>
            <a:ext cx="7924850" cy="1290051"/>
          </a:xfrm>
          <a:prstGeom prst="roundRect">
            <a:avLst>
              <a:gd fmla="val 6645" name="adj"/>
            </a:avLst>
          </a:prstGeom>
          <a:solidFill>
            <a:srgbClr val="FFF7F1"/>
          </a:solidFill>
          <a:ln cap="flat" cmpd="sng" w="9525">
            <a:solidFill>
              <a:srgbClr val="FFD7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4" name="Google Shape;1124;p47"/>
          <p:cNvSpPr/>
          <p:nvPr/>
        </p:nvSpPr>
        <p:spPr>
          <a:xfrm>
            <a:off x="802721" y="3151105"/>
            <a:ext cx="7764715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FEW-SHOT LEARNING IN ACTION · CLAUDE AI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5" name="Google Shape;1125;p47"/>
          <p:cNvSpPr/>
          <p:nvPr/>
        </p:nvSpPr>
        <p:spPr>
          <a:xfrm>
            <a:off x="802721" y="3309318"/>
            <a:ext cx="7764715" cy="15907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100"/>
              <a:buFont typeface="Manrope"/>
              <a:buNone/>
            </a:pPr>
            <a:r>
              <a:rPr b="1" i="0" lang="en-GB" sz="11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Standardizing messy incident reports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6" name="Google Shape;1126;p47"/>
          <p:cNvSpPr/>
          <p:nvPr/>
        </p:nvSpPr>
        <p:spPr>
          <a:xfrm>
            <a:off x="802721" y="3525532"/>
            <a:ext cx="7764715" cy="15477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The prompt: </a:t>
            </a:r>
            <a:r>
              <a:rPr b="0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"Turn raw notes into formal reports. Follow this style exactly:"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7" name="Google Shape;1127;p47"/>
          <p:cNvSpPr/>
          <p:nvPr/>
        </p:nvSpPr>
        <p:spPr>
          <a:xfrm>
            <a:off x="802721" y="3775522"/>
            <a:ext cx="3726409" cy="355575"/>
          </a:xfrm>
          <a:prstGeom prst="roundRect">
            <a:avLst>
              <a:gd fmla="val 13394" name="adj"/>
            </a:avLst>
          </a:prstGeom>
          <a:solidFill>
            <a:srgbClr val="FFFFFF"/>
          </a:solidFill>
          <a:ln cap="flat" cmpd="sng" w="9525">
            <a:solidFill>
              <a:srgbClr val="C9CF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47"/>
          <p:cNvSpPr/>
          <p:nvPr/>
        </p:nvSpPr>
        <p:spPr>
          <a:xfrm>
            <a:off x="900617" y="3854359"/>
            <a:ext cx="3636536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RAW DATA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9" name="Google Shape;1129;p47"/>
          <p:cNvSpPr/>
          <p:nvPr/>
        </p:nvSpPr>
        <p:spPr>
          <a:xfrm>
            <a:off x="900617" y="3957010"/>
            <a:ext cx="3636536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600"/>
              <a:buFont typeface="JetBrains Mono"/>
              <a:buNone/>
            </a:pPr>
            <a:r>
              <a:rPr b="0" i="0" lang="en-GB" sz="600" u="none" cap="none" strike="noStrike">
                <a:solidFill>
                  <a:srgbClr val="1B1F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Server went down at 2pm…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0" name="Google Shape;1130;p47"/>
          <p:cNvSpPr/>
          <p:nvPr/>
        </p:nvSpPr>
        <p:spPr>
          <a:xfrm>
            <a:off x="4614830" y="3775522"/>
            <a:ext cx="3726450" cy="355575"/>
          </a:xfrm>
          <a:prstGeom prst="roundRect">
            <a:avLst>
              <a:gd fmla="val 13394" name="adj"/>
            </a:avLst>
          </a:prstGeom>
          <a:solidFill>
            <a:srgbClr val="FFFFFF"/>
          </a:solidFill>
          <a:ln cap="flat" cmpd="sng" w="9525">
            <a:solidFill>
              <a:srgbClr val="FF67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1" name="Google Shape;1131;p47"/>
          <p:cNvSpPr/>
          <p:nvPr/>
        </p:nvSpPr>
        <p:spPr>
          <a:xfrm>
            <a:off x="4712725" y="3854359"/>
            <a:ext cx="3636578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FORMAL OUTPUT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2" name="Google Shape;1132;p47"/>
          <p:cNvSpPr/>
          <p:nvPr/>
        </p:nvSpPr>
        <p:spPr>
          <a:xfrm>
            <a:off x="4712725" y="3957010"/>
            <a:ext cx="3636578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600"/>
              <a:buFont typeface="JetBrains Mono"/>
              <a:buNone/>
            </a:pPr>
            <a:r>
              <a:rPr b="0" i="0" lang="en-GB" sz="600" u="none" cap="none" strike="noStrike">
                <a:solidFill>
                  <a:srgbClr val="1B1F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[INCIDENT-001] | Status: Resolved | Duration: 60m…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3" name="Google Shape;1133;p47"/>
          <p:cNvSpPr/>
          <p:nvPr/>
        </p:nvSpPr>
        <p:spPr>
          <a:xfrm>
            <a:off x="609575" y="4824967"/>
            <a:ext cx="1062244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L&amp;D · AI 104 · Module 03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4" name="Google Shape;1134;p47"/>
          <p:cNvSpPr/>
          <p:nvPr/>
        </p:nvSpPr>
        <p:spPr>
          <a:xfrm>
            <a:off x="8235694" y="4824967"/>
            <a:ext cx="336831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33 / 62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5" name="Google Shape;1135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242" y="251507"/>
            <a:ext cx="336900" cy="284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p48"/>
          <p:cNvSpPr/>
          <p:nvPr/>
        </p:nvSpPr>
        <p:spPr>
          <a:xfrm>
            <a:off x="609575" y="328042"/>
            <a:ext cx="180950" cy="1809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2" name="Google Shape;1142;p48"/>
          <p:cNvSpPr/>
          <p:nvPr/>
        </p:nvSpPr>
        <p:spPr>
          <a:xfrm>
            <a:off x="857167" y="304767"/>
            <a:ext cx="77715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GlobalLogic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3" name="Google Shape;1143;p48"/>
          <p:cNvSpPr/>
          <p:nvPr/>
        </p:nvSpPr>
        <p:spPr>
          <a:xfrm>
            <a:off x="857167" y="447642"/>
            <a:ext cx="777156" cy="1037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Manrope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Manrope"/>
                <a:ea typeface="Manrope"/>
                <a:cs typeface="Manrope"/>
                <a:sym typeface="Manrope"/>
              </a:rPr>
              <a:t>A Hitachi Group Company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4" name="Google Shape;1144;p48"/>
          <p:cNvSpPr/>
          <p:nvPr/>
        </p:nvSpPr>
        <p:spPr>
          <a:xfrm>
            <a:off x="7984629" y="377527"/>
            <a:ext cx="587896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CONFIDENTIAL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5" name="Google Shape;1145;p48"/>
          <p:cNvSpPr/>
          <p:nvPr/>
        </p:nvSpPr>
        <p:spPr>
          <a:xfrm>
            <a:off x="609575" y="952500"/>
            <a:ext cx="8162596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BEYOND TEXT — VISUAL &amp; VOICE OPERATIONS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6" name="Google Shape;1146;p48"/>
          <p:cNvSpPr/>
          <p:nvPr/>
        </p:nvSpPr>
        <p:spPr>
          <a:xfrm>
            <a:off x="609575" y="1185829"/>
            <a:ext cx="8162596" cy="40765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000"/>
              <a:buFont typeface="Manrope"/>
              <a:buNone/>
            </a:pP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Multi-modal prompting in </a:t>
            </a:r>
            <a:r>
              <a:rPr b="1" i="0" lang="en-GB" sz="30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the field</a:t>
            </a: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7" name="Google Shape;1147;p48"/>
          <p:cNvSpPr/>
          <p:nvPr/>
        </p:nvSpPr>
        <p:spPr>
          <a:xfrm>
            <a:off x="609575" y="1803011"/>
            <a:ext cx="3848117" cy="1519205"/>
          </a:xfrm>
          <a:prstGeom prst="roundRect">
            <a:avLst>
              <a:gd fmla="val 5643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8" name="Google Shape;1148;p48"/>
          <p:cNvSpPr/>
          <p:nvPr/>
        </p:nvSpPr>
        <p:spPr>
          <a:xfrm>
            <a:off x="821738" y="1996158"/>
            <a:ext cx="3526505" cy="19049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1400"/>
              <a:buFont typeface="Manrope"/>
              <a:buNone/>
            </a:pPr>
            <a:r>
              <a:rPr b="0" i="0" lang="en-GB" sz="14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🖼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9" name="Google Shape;1149;p48"/>
          <p:cNvSpPr/>
          <p:nvPr/>
        </p:nvSpPr>
        <p:spPr>
          <a:xfrm>
            <a:off x="821738" y="2243791"/>
            <a:ext cx="3526505" cy="20905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400"/>
              <a:buFont typeface="Manrope"/>
              <a:buNone/>
            </a:pPr>
            <a:r>
              <a:rPr b="1" i="0" lang="en-GB" sz="14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Text-to-Image (T2I) prototyping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0" name="Google Shape;1150;p48"/>
          <p:cNvSpPr/>
          <p:nvPr/>
        </p:nvSpPr>
        <p:spPr>
          <a:xfrm>
            <a:off x="821738" y="2509987"/>
            <a:ext cx="3526505" cy="2904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The shift: </a:t>
            </a:r>
            <a:r>
              <a:rPr b="0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from hours searching stock art or waiting for designers to creating UI mockups in seconds.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1" name="Google Shape;1151;p48"/>
          <p:cNvSpPr/>
          <p:nvPr/>
        </p:nvSpPr>
        <p:spPr>
          <a:xfrm>
            <a:off x="821738" y="2857624"/>
            <a:ext cx="3526505" cy="2904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Application: </a:t>
            </a:r>
            <a:r>
              <a:rPr b="0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generating instant visual prototypes — Figma AI layouts or DALL-E server-rack visualizations — directly from plain English descriptions.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2" name="Google Shape;1152;p48"/>
          <p:cNvSpPr/>
          <p:nvPr/>
        </p:nvSpPr>
        <p:spPr>
          <a:xfrm>
            <a:off x="4686267" y="1803011"/>
            <a:ext cx="3848158" cy="1519205"/>
          </a:xfrm>
          <a:prstGeom prst="roundRect">
            <a:avLst>
              <a:gd fmla="val 5643" name="adj"/>
            </a:avLst>
          </a:prstGeom>
          <a:solidFill>
            <a:srgbClr val="1B1F2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3" name="Google Shape;1153;p48"/>
          <p:cNvSpPr/>
          <p:nvPr/>
        </p:nvSpPr>
        <p:spPr>
          <a:xfrm>
            <a:off x="4898430" y="1996158"/>
            <a:ext cx="3526547" cy="19049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1400"/>
              <a:buFont typeface="Manrope"/>
              <a:buNone/>
            </a:pPr>
            <a:r>
              <a:rPr b="0" i="0" lang="en-GB" sz="14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🎙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4" name="Google Shape;1154;p48"/>
          <p:cNvSpPr/>
          <p:nvPr/>
        </p:nvSpPr>
        <p:spPr>
          <a:xfrm>
            <a:off x="4898430" y="2243791"/>
            <a:ext cx="3526547" cy="20905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nrope"/>
              <a:buNone/>
            </a:pPr>
            <a:r>
              <a:rPr b="1" i="0" lang="en-GB" sz="14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Multimodal voice — eyes-on assistant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5" name="Google Shape;1155;p48"/>
          <p:cNvSpPr/>
          <p:nvPr/>
        </p:nvSpPr>
        <p:spPr>
          <a:xfrm>
            <a:off x="4898430" y="2509987"/>
            <a:ext cx="3526547" cy="24758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JetBrains Mono"/>
              <a:buNone/>
            </a:pPr>
            <a:r>
              <a:rPr b="1" i="0" lang="en-GB" sz="6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User: </a:t>
            </a:r>
            <a:r>
              <a:rPr b="0" i="0" lang="en-GB" sz="6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"Status light on primary PSU is flashing green, secondary is solid amber on an R740. Hot-swap or firmware sync?"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6" name="Google Shape;1156;p48"/>
          <p:cNvSpPr/>
          <p:nvPr/>
        </p:nvSpPr>
        <p:spPr>
          <a:xfrm>
            <a:off x="4898430" y="2814712"/>
            <a:ext cx="3526547" cy="24758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600"/>
              <a:buFont typeface="JetBrains Mono"/>
              <a:buNone/>
            </a:pPr>
            <a:r>
              <a:rPr b="1" i="0" lang="en-GB" sz="6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AI: </a:t>
            </a:r>
            <a:r>
              <a:rPr b="0" i="0" lang="en-GB" sz="6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"Solid amber indicates predictive failure or power mismatch. Prep a replacement unit for a hot-swap immediately."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7" name="Google Shape;1157;p48"/>
          <p:cNvSpPr/>
          <p:nvPr/>
        </p:nvSpPr>
        <p:spPr>
          <a:xfrm>
            <a:off x="609575" y="4824967"/>
            <a:ext cx="1062244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L&amp;D · AI 104 · Module 03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8" name="Google Shape;1158;p48"/>
          <p:cNvSpPr/>
          <p:nvPr/>
        </p:nvSpPr>
        <p:spPr>
          <a:xfrm>
            <a:off x="8235694" y="4824967"/>
            <a:ext cx="336831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34 / 62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9" name="Google Shape;1159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242" y="251507"/>
            <a:ext cx="336900" cy="284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49"/>
          <p:cNvSpPr/>
          <p:nvPr/>
        </p:nvSpPr>
        <p:spPr>
          <a:xfrm>
            <a:off x="609575" y="328042"/>
            <a:ext cx="180950" cy="1809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p49"/>
          <p:cNvSpPr/>
          <p:nvPr/>
        </p:nvSpPr>
        <p:spPr>
          <a:xfrm>
            <a:off x="857167" y="304767"/>
            <a:ext cx="77715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GlobalLogic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7" name="Google Shape;1167;p49"/>
          <p:cNvSpPr/>
          <p:nvPr/>
        </p:nvSpPr>
        <p:spPr>
          <a:xfrm>
            <a:off x="857167" y="447642"/>
            <a:ext cx="777156" cy="1037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Manrope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Manrope"/>
                <a:ea typeface="Manrope"/>
                <a:cs typeface="Manrope"/>
                <a:sym typeface="Manrope"/>
              </a:rPr>
              <a:t>A Hitachi Group Company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8" name="Google Shape;1168;p49"/>
          <p:cNvSpPr/>
          <p:nvPr/>
        </p:nvSpPr>
        <p:spPr>
          <a:xfrm>
            <a:off x="7984629" y="377527"/>
            <a:ext cx="587896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CONFIDENTIAL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9" name="Google Shape;1169;p49"/>
          <p:cNvSpPr/>
          <p:nvPr/>
        </p:nvSpPr>
        <p:spPr>
          <a:xfrm>
            <a:off x="609575" y="952500"/>
            <a:ext cx="8162596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THE ANATOMY OF A PRODUCTION-GRADE PROMPT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0" name="Google Shape;1170;p49"/>
          <p:cNvSpPr/>
          <p:nvPr/>
        </p:nvSpPr>
        <p:spPr>
          <a:xfrm>
            <a:off x="609575" y="1185829"/>
            <a:ext cx="8162596" cy="40765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000"/>
              <a:buFont typeface="Manrope"/>
              <a:buNone/>
            </a:pP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Five parts. </a:t>
            </a:r>
            <a:r>
              <a:rPr b="1" i="0" lang="en-GB" sz="30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No exceptions.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1" name="Google Shape;1171;p49"/>
          <p:cNvSpPr/>
          <p:nvPr/>
        </p:nvSpPr>
        <p:spPr>
          <a:xfrm>
            <a:off x="609575" y="1745878"/>
            <a:ext cx="1531648" cy="1180538"/>
          </a:xfrm>
          <a:prstGeom prst="roundRect">
            <a:avLst>
              <a:gd fmla="val 6455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2" name="Google Shape;1172;p49"/>
          <p:cNvSpPr/>
          <p:nvPr/>
        </p:nvSpPr>
        <p:spPr>
          <a:xfrm>
            <a:off x="609575" y="1745878"/>
            <a:ext cx="1531648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3" name="Google Shape;1173;p49"/>
          <p:cNvSpPr/>
          <p:nvPr/>
        </p:nvSpPr>
        <p:spPr>
          <a:xfrm>
            <a:off x="761958" y="1916783"/>
            <a:ext cx="1264981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 · ROLE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4" name="Google Shape;1174;p49"/>
          <p:cNvSpPr/>
          <p:nvPr/>
        </p:nvSpPr>
        <p:spPr>
          <a:xfrm>
            <a:off x="761958" y="2057508"/>
            <a:ext cx="1264981" cy="16142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000"/>
              <a:buFont typeface="Manrope"/>
              <a:buNone/>
            </a:pPr>
            <a:r>
              <a:rPr b="1" i="0" lang="en-GB" sz="1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Who the AI 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5" name="Google Shape;1175;p49"/>
          <p:cNvSpPr/>
          <p:nvPr/>
        </p:nvSpPr>
        <p:spPr>
          <a:xfrm>
            <a:off x="2207866" y="1745878"/>
            <a:ext cx="1531648" cy="1180538"/>
          </a:xfrm>
          <a:prstGeom prst="roundRect">
            <a:avLst>
              <a:gd fmla="val 6455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6" name="Google Shape;1176;p49"/>
          <p:cNvSpPr/>
          <p:nvPr/>
        </p:nvSpPr>
        <p:spPr>
          <a:xfrm>
            <a:off x="2207866" y="1745878"/>
            <a:ext cx="1531648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7" name="Google Shape;1177;p49"/>
          <p:cNvSpPr/>
          <p:nvPr/>
        </p:nvSpPr>
        <p:spPr>
          <a:xfrm>
            <a:off x="2360249" y="1916783"/>
            <a:ext cx="1264981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 · CONTEXT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8" name="Google Shape;1178;p49"/>
          <p:cNvSpPr/>
          <p:nvPr/>
        </p:nvSpPr>
        <p:spPr>
          <a:xfrm>
            <a:off x="2360249" y="2057508"/>
            <a:ext cx="1264981" cy="3038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000"/>
              <a:buFont typeface="Manrope"/>
              <a:buNone/>
            </a:pPr>
            <a:r>
              <a:rPr b="1" i="0" lang="en-GB" sz="1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Background &amp; history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9" name="Google Shape;1179;p49"/>
          <p:cNvSpPr/>
          <p:nvPr/>
        </p:nvSpPr>
        <p:spPr>
          <a:xfrm>
            <a:off x="3806155" y="1745878"/>
            <a:ext cx="1531648" cy="1180538"/>
          </a:xfrm>
          <a:prstGeom prst="roundRect">
            <a:avLst>
              <a:gd fmla="val 6455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0" name="Google Shape;1180;p49"/>
          <p:cNvSpPr/>
          <p:nvPr/>
        </p:nvSpPr>
        <p:spPr>
          <a:xfrm>
            <a:off x="3806155" y="1745878"/>
            <a:ext cx="1531648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1" name="Google Shape;1181;p49"/>
          <p:cNvSpPr/>
          <p:nvPr/>
        </p:nvSpPr>
        <p:spPr>
          <a:xfrm>
            <a:off x="3958539" y="1916783"/>
            <a:ext cx="1264981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 · TASK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2" name="Google Shape;1182;p49"/>
          <p:cNvSpPr/>
          <p:nvPr/>
        </p:nvSpPr>
        <p:spPr>
          <a:xfrm>
            <a:off x="3958539" y="2057508"/>
            <a:ext cx="1264981" cy="3038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000"/>
              <a:buFont typeface="Manrope"/>
              <a:buNone/>
            </a:pPr>
            <a:r>
              <a:rPr b="1" i="0" lang="en-GB" sz="1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Explicit output wanted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3" name="Google Shape;1183;p49"/>
          <p:cNvSpPr/>
          <p:nvPr/>
        </p:nvSpPr>
        <p:spPr>
          <a:xfrm>
            <a:off x="5404446" y="1745878"/>
            <a:ext cx="1531648" cy="1180538"/>
          </a:xfrm>
          <a:prstGeom prst="roundRect">
            <a:avLst>
              <a:gd fmla="val 6455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4" name="Google Shape;1184;p49"/>
          <p:cNvSpPr/>
          <p:nvPr/>
        </p:nvSpPr>
        <p:spPr>
          <a:xfrm>
            <a:off x="5404446" y="1745878"/>
            <a:ext cx="1531648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5" name="Google Shape;1185;p49"/>
          <p:cNvSpPr/>
          <p:nvPr/>
        </p:nvSpPr>
        <p:spPr>
          <a:xfrm>
            <a:off x="5556829" y="1916783"/>
            <a:ext cx="1264981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 · FORMAT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6" name="Google Shape;1186;p49"/>
          <p:cNvSpPr/>
          <p:nvPr/>
        </p:nvSpPr>
        <p:spPr>
          <a:xfrm>
            <a:off x="5556829" y="2057508"/>
            <a:ext cx="1264981" cy="16142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000"/>
              <a:buFont typeface="Manrope"/>
              <a:buNone/>
            </a:pPr>
            <a:r>
              <a:rPr b="1" i="0" lang="en-GB" sz="1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Output structure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7" name="Google Shape;1187;p49"/>
          <p:cNvSpPr/>
          <p:nvPr/>
        </p:nvSpPr>
        <p:spPr>
          <a:xfrm>
            <a:off x="7002736" y="1745878"/>
            <a:ext cx="1531648" cy="1180538"/>
          </a:xfrm>
          <a:prstGeom prst="roundRect">
            <a:avLst>
              <a:gd fmla="val 6455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8" name="Google Shape;1188;p49"/>
          <p:cNvSpPr/>
          <p:nvPr/>
        </p:nvSpPr>
        <p:spPr>
          <a:xfrm>
            <a:off x="7002736" y="1745878"/>
            <a:ext cx="1531648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9" name="Google Shape;1189;p49"/>
          <p:cNvSpPr/>
          <p:nvPr/>
        </p:nvSpPr>
        <p:spPr>
          <a:xfrm>
            <a:off x="7155119" y="1916783"/>
            <a:ext cx="1264981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05 · CONSTRAINTS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p49"/>
          <p:cNvSpPr/>
          <p:nvPr/>
        </p:nvSpPr>
        <p:spPr>
          <a:xfrm>
            <a:off x="7155119" y="2057508"/>
            <a:ext cx="1264981" cy="16142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000"/>
              <a:buFont typeface="Manrope"/>
              <a:buNone/>
            </a:pPr>
            <a:r>
              <a:rPr b="1" i="0" lang="en-GB" sz="1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Guardrails &amp; tone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1" name="Google Shape;1191;p49"/>
          <p:cNvSpPr/>
          <p:nvPr/>
        </p:nvSpPr>
        <p:spPr>
          <a:xfrm>
            <a:off x="609575" y="3097858"/>
            <a:ext cx="3848117" cy="1164622"/>
          </a:xfrm>
          <a:prstGeom prst="roundRect">
            <a:avLst>
              <a:gd fmla="val 7361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2" name="Google Shape;1192;p49"/>
          <p:cNvSpPr/>
          <p:nvPr/>
        </p:nvSpPr>
        <p:spPr>
          <a:xfrm>
            <a:off x="821738" y="3291004"/>
            <a:ext cx="3526505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WEAK PROMPT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3" name="Google Shape;1193;p49"/>
          <p:cNvSpPr/>
          <p:nvPr/>
        </p:nvSpPr>
        <p:spPr>
          <a:xfrm>
            <a:off x="821738" y="3449216"/>
            <a:ext cx="3526505" cy="1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700"/>
              <a:buFont typeface="JetBrains Mono"/>
              <a:buNone/>
            </a:pPr>
            <a:r>
              <a:rPr b="0" i="0" lang="en-GB" sz="700" u="none" cap="none" strike="noStrike">
                <a:solidFill>
                  <a:srgbClr val="1B1F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"Write a reply to this angry customer."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4" name="Google Shape;1194;p49"/>
          <p:cNvSpPr/>
          <p:nvPr/>
        </p:nvSpPr>
        <p:spPr>
          <a:xfrm>
            <a:off x="4686267" y="3097858"/>
            <a:ext cx="3848158" cy="1164622"/>
          </a:xfrm>
          <a:prstGeom prst="roundRect">
            <a:avLst>
              <a:gd fmla="val 7361" name="adj"/>
            </a:avLst>
          </a:prstGeom>
          <a:solidFill>
            <a:srgbClr val="FFF7F1"/>
          </a:solidFill>
          <a:ln cap="flat" cmpd="sng" w="9525">
            <a:solidFill>
              <a:srgbClr val="FFD7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5" name="Google Shape;1195;p49"/>
          <p:cNvSpPr/>
          <p:nvPr/>
        </p:nvSpPr>
        <p:spPr>
          <a:xfrm>
            <a:off x="4898430" y="3291004"/>
            <a:ext cx="3526547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STRONG PROMPT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6" name="Google Shape;1196;p49"/>
          <p:cNvSpPr/>
          <p:nvPr/>
        </p:nvSpPr>
        <p:spPr>
          <a:xfrm>
            <a:off x="4898430" y="3449216"/>
            <a:ext cx="3526547" cy="63916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[ROLE]: </a:t>
            </a:r>
            <a:r>
              <a:rPr b="0" i="0" lang="en-GB" sz="500" u="none" cap="none" strike="noStrike">
                <a:solidFill>
                  <a:srgbClr val="1B1F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You are a senior support agent at a cloud SaaS company. </a:t>
            </a: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[TASK]: </a:t>
            </a:r>
            <a:r>
              <a:rPr b="0" i="0" lang="en-GB" sz="500" u="none" cap="none" strike="noStrike">
                <a:solidFill>
                  <a:srgbClr val="1B1F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Draft a response to the following ticket… </a:t>
            </a: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[CONTEXT]: </a:t>
            </a:r>
            <a:r>
              <a:rPr b="0" i="0" lang="en-GB" sz="500" u="none" cap="none" strike="noStrike">
                <a:solidFill>
                  <a:srgbClr val="1B1F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…from a customer who has been waiting 3 days for a refund. </a:t>
            </a: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[CONSTRAINTS]: </a:t>
            </a:r>
            <a:r>
              <a:rPr b="0" i="0" lang="en-GB" sz="500" u="none" cap="none" strike="noStrike">
                <a:solidFill>
                  <a:srgbClr val="1B1F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Tone: empathetic and apologetic. Acknowledge delay, explain timeline (5–7 days). Do not promise anything beyond policy. </a:t>
            </a: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[FORMAT]: </a:t>
            </a:r>
            <a:r>
              <a:rPr b="0" i="0" lang="en-GB" sz="500" u="none" cap="none" strike="noStrike">
                <a:solidFill>
                  <a:srgbClr val="1B1F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Keep it under 150 words.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7" name="Google Shape;1197;p49"/>
          <p:cNvSpPr/>
          <p:nvPr/>
        </p:nvSpPr>
        <p:spPr>
          <a:xfrm>
            <a:off x="609575" y="4824967"/>
            <a:ext cx="1062244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L&amp;D · AI 104 · Module 03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8" name="Google Shape;1198;p49"/>
          <p:cNvSpPr/>
          <p:nvPr/>
        </p:nvSpPr>
        <p:spPr>
          <a:xfrm>
            <a:off x="8235694" y="4824967"/>
            <a:ext cx="336831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35 / 62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9" name="Google Shape;1199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242" y="251507"/>
            <a:ext cx="336900" cy="284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4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50"/>
          <p:cNvSpPr/>
          <p:nvPr/>
        </p:nvSpPr>
        <p:spPr>
          <a:xfrm>
            <a:off x="609575" y="328042"/>
            <a:ext cx="180900" cy="180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6" name="Google Shape;1206;p50"/>
          <p:cNvSpPr/>
          <p:nvPr/>
        </p:nvSpPr>
        <p:spPr>
          <a:xfrm>
            <a:off x="857167" y="304767"/>
            <a:ext cx="77715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GlobalLogic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7" name="Google Shape;1207;p50"/>
          <p:cNvSpPr/>
          <p:nvPr/>
        </p:nvSpPr>
        <p:spPr>
          <a:xfrm>
            <a:off x="857167" y="447642"/>
            <a:ext cx="777156" cy="1037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Manrope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Manrope"/>
                <a:ea typeface="Manrope"/>
                <a:cs typeface="Manrope"/>
                <a:sym typeface="Manrope"/>
              </a:rPr>
              <a:t>A Hitachi Group Company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8" name="Google Shape;1208;p50"/>
          <p:cNvSpPr/>
          <p:nvPr/>
        </p:nvSpPr>
        <p:spPr>
          <a:xfrm>
            <a:off x="7984629" y="377527"/>
            <a:ext cx="587896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CONFIDENTIAL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9" name="Google Shape;1209;p50"/>
          <p:cNvSpPr/>
          <p:nvPr/>
        </p:nvSpPr>
        <p:spPr>
          <a:xfrm>
            <a:off x="609575" y="952500"/>
            <a:ext cx="8162596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DIVING INTO CHATGPT-5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0" name="Google Shape;1210;p50"/>
          <p:cNvSpPr/>
          <p:nvPr/>
        </p:nvSpPr>
        <p:spPr>
          <a:xfrm>
            <a:off x="609575" y="1185829"/>
            <a:ext cx="8162596" cy="40765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000"/>
              <a:buFont typeface="Manrope"/>
              <a:buNone/>
            </a:pP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Your </a:t>
            </a:r>
            <a:r>
              <a:rPr b="1" i="0" lang="en-GB" sz="30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logic engine</a:t>
            </a: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1" name="Google Shape;1211;p50"/>
          <p:cNvSpPr/>
          <p:nvPr/>
        </p:nvSpPr>
        <p:spPr>
          <a:xfrm>
            <a:off x="609575" y="1660137"/>
            <a:ext cx="7358063" cy="1709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800"/>
              <a:buFont typeface="Manrope"/>
              <a:buNone/>
            </a:pPr>
            <a:r>
              <a:rPr b="0" i="0" lang="en-GB" sz="8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ChatGPT-5 is the most advanced model for multi-step reasoning and complex problem-solving.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2" name="Google Shape;1212;p50"/>
          <p:cNvSpPr/>
          <p:nvPr/>
        </p:nvSpPr>
        <p:spPr>
          <a:xfrm>
            <a:off x="609575" y="2040599"/>
            <a:ext cx="2540000" cy="1752038"/>
          </a:xfrm>
          <a:prstGeom prst="roundRect">
            <a:avLst>
              <a:gd fmla="val 4349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3" name="Google Shape;1213;p50"/>
          <p:cNvSpPr/>
          <p:nvPr/>
        </p:nvSpPr>
        <p:spPr>
          <a:xfrm>
            <a:off x="609575" y="2040599"/>
            <a:ext cx="2540000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4" name="Google Shape;1214;p50"/>
          <p:cNvSpPr/>
          <p:nvPr/>
        </p:nvSpPr>
        <p:spPr>
          <a:xfrm>
            <a:off x="761958" y="2211504"/>
            <a:ext cx="2302290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KEY FEATURE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5" name="Google Shape;1215;p50"/>
          <p:cNvSpPr/>
          <p:nvPr/>
        </p:nvSpPr>
        <p:spPr>
          <a:xfrm>
            <a:off x="761958" y="2352229"/>
            <a:ext cx="2302290" cy="16142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000"/>
              <a:buFont typeface="Manrope"/>
              <a:buNone/>
            </a:pPr>
            <a:r>
              <a:rPr b="1" i="0" lang="en-GB" sz="1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Deep Thinking mode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6" name="Google Shape;1216;p50"/>
          <p:cNvSpPr/>
          <p:nvPr/>
        </p:nvSpPr>
        <p:spPr>
          <a:xfrm>
            <a:off x="761958" y="2561250"/>
            <a:ext cx="2302290" cy="24758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The model pauses and 'reasons' through a problem before answering. Ideal for multi-step analysis and debugging.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7" name="Google Shape;1217;p50"/>
          <p:cNvSpPr/>
          <p:nvPr/>
        </p:nvSpPr>
        <p:spPr>
          <a:xfrm>
            <a:off x="3301959" y="2040599"/>
            <a:ext cx="2540042" cy="1752038"/>
          </a:xfrm>
          <a:prstGeom prst="roundRect">
            <a:avLst>
              <a:gd fmla="val 4349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8" name="Google Shape;1218;p50"/>
          <p:cNvSpPr/>
          <p:nvPr/>
        </p:nvSpPr>
        <p:spPr>
          <a:xfrm>
            <a:off x="3301959" y="2040599"/>
            <a:ext cx="2540042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9" name="Google Shape;1219;p50"/>
          <p:cNvSpPr/>
          <p:nvPr/>
        </p:nvSpPr>
        <p:spPr>
          <a:xfrm>
            <a:off x="3454343" y="2211504"/>
            <a:ext cx="2302332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OPS USE CASE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0" name="Google Shape;1220;p50"/>
          <p:cNvSpPr/>
          <p:nvPr/>
        </p:nvSpPr>
        <p:spPr>
          <a:xfrm>
            <a:off x="3454343" y="2352229"/>
            <a:ext cx="2302332" cy="16142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000"/>
              <a:buFont typeface="Manrope"/>
              <a:buNone/>
            </a:pPr>
            <a:r>
              <a:rPr b="1" i="0" lang="en-GB" sz="1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Complex debugging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1" name="Google Shape;1221;p50"/>
          <p:cNvSpPr/>
          <p:nvPr/>
        </p:nvSpPr>
        <p:spPr>
          <a:xfrm>
            <a:off x="3454343" y="2561250"/>
            <a:ext cx="2302332" cy="24758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Microservices logs, sophisticated scripts, and runbooks — paste-and-reason flows.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2" name="Google Shape;1222;p50"/>
          <p:cNvSpPr/>
          <p:nvPr/>
        </p:nvSpPr>
        <p:spPr>
          <a:xfrm>
            <a:off x="5994383" y="2040599"/>
            <a:ext cx="2540042" cy="1752038"/>
          </a:xfrm>
          <a:prstGeom prst="roundRect">
            <a:avLst>
              <a:gd fmla="val 4349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3" name="Google Shape;1223;p50"/>
          <p:cNvSpPr/>
          <p:nvPr/>
        </p:nvSpPr>
        <p:spPr>
          <a:xfrm>
            <a:off x="5994383" y="2040599"/>
            <a:ext cx="2540042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4" name="Google Shape;1224;p50"/>
          <p:cNvSpPr/>
          <p:nvPr/>
        </p:nvSpPr>
        <p:spPr>
          <a:xfrm>
            <a:off x="6146768" y="2211504"/>
            <a:ext cx="2302332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POWER USER TIP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5" name="Google Shape;1225;p50"/>
          <p:cNvSpPr/>
          <p:nvPr/>
        </p:nvSpPr>
        <p:spPr>
          <a:xfrm>
            <a:off x="6146768" y="2352229"/>
            <a:ext cx="2302332" cy="16142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000"/>
              <a:buFont typeface="Manrope"/>
              <a:buNone/>
            </a:pPr>
            <a:r>
              <a:rPr b="1" i="0" lang="en-GB" sz="1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272k token window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6" name="Google Shape;1226;p50"/>
          <p:cNvSpPr/>
          <p:nvPr/>
        </p:nvSpPr>
        <p:spPr>
          <a:xfrm>
            <a:off x="6146768" y="2561250"/>
            <a:ext cx="2302332" cy="24758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Feed it an entire codebase or a 200-page technical manual in one go. Ideal for large-scale document analysis.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7" name="Google Shape;1227;p50"/>
          <p:cNvSpPr/>
          <p:nvPr/>
        </p:nvSpPr>
        <p:spPr>
          <a:xfrm>
            <a:off x="609575" y="4824967"/>
            <a:ext cx="1062244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L&amp;D · AI 104 · Module 03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8" name="Google Shape;1228;p50"/>
          <p:cNvSpPr/>
          <p:nvPr/>
        </p:nvSpPr>
        <p:spPr>
          <a:xfrm>
            <a:off x="8235694" y="4824967"/>
            <a:ext cx="336831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36 / 62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9" name="Google Shape;1229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242" y="251507"/>
            <a:ext cx="336900" cy="284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34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p51"/>
          <p:cNvSpPr/>
          <p:nvPr/>
        </p:nvSpPr>
        <p:spPr>
          <a:xfrm>
            <a:off x="609575" y="328042"/>
            <a:ext cx="180950" cy="1809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6" name="Google Shape;1236;p51"/>
          <p:cNvSpPr/>
          <p:nvPr/>
        </p:nvSpPr>
        <p:spPr>
          <a:xfrm>
            <a:off x="857167" y="304767"/>
            <a:ext cx="77715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GlobalLogic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7" name="Google Shape;1237;p51"/>
          <p:cNvSpPr/>
          <p:nvPr/>
        </p:nvSpPr>
        <p:spPr>
          <a:xfrm>
            <a:off x="857167" y="447642"/>
            <a:ext cx="777156" cy="1037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Manrope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Manrope"/>
                <a:ea typeface="Manrope"/>
                <a:cs typeface="Manrope"/>
                <a:sym typeface="Manrope"/>
              </a:rPr>
              <a:t>A Hitachi Group Company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8" name="Google Shape;1238;p51"/>
          <p:cNvSpPr/>
          <p:nvPr/>
        </p:nvSpPr>
        <p:spPr>
          <a:xfrm>
            <a:off x="7984629" y="377527"/>
            <a:ext cx="587896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CONFIDENTIAL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9" name="Google Shape;1239;p51"/>
          <p:cNvSpPr/>
          <p:nvPr/>
        </p:nvSpPr>
        <p:spPr>
          <a:xfrm>
            <a:off x="609575" y="952500"/>
            <a:ext cx="8162596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DIVING INTO CHATGPT-5 · EXAMPLE A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0" name="Google Shape;1240;p51"/>
          <p:cNvSpPr/>
          <p:nvPr/>
        </p:nvSpPr>
        <p:spPr>
          <a:xfrm>
            <a:off x="609575" y="1185829"/>
            <a:ext cx="8162596" cy="40765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000"/>
              <a:buFont typeface="Manrope"/>
              <a:buNone/>
            </a:pP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Use ChatGPT-5 as your </a:t>
            </a:r>
            <a:r>
              <a:rPr b="1" i="0" lang="en-GB" sz="30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Senior Architect</a:t>
            </a: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1" name="Google Shape;1241;p51"/>
          <p:cNvSpPr/>
          <p:nvPr/>
        </p:nvSpPr>
        <p:spPr>
          <a:xfrm>
            <a:off x="609575" y="1660137"/>
            <a:ext cx="6867526" cy="1709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800"/>
              <a:buFont typeface="Manrope"/>
              <a:buNone/>
            </a:pPr>
            <a:r>
              <a:rPr b="0" i="0" lang="en-GB" sz="8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It excels at complex reasoning and connecting disparate pieces of information.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2" name="Google Shape;1242;p51"/>
          <p:cNvSpPr/>
          <p:nvPr/>
        </p:nvSpPr>
        <p:spPr>
          <a:xfrm>
            <a:off x="609575" y="1982928"/>
            <a:ext cx="1321300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EXAMPLE A · SCRIPT DEBUGGING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3" name="Google Shape;1243;p51"/>
          <p:cNvSpPr/>
          <p:nvPr/>
        </p:nvSpPr>
        <p:spPr>
          <a:xfrm>
            <a:off x="609575" y="2150650"/>
            <a:ext cx="7924850" cy="692919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4" name="Google Shape;1244;p51"/>
          <p:cNvSpPr/>
          <p:nvPr/>
        </p:nvSpPr>
        <p:spPr>
          <a:xfrm>
            <a:off x="609575" y="2150650"/>
            <a:ext cx="18521" cy="692919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5" name="Google Shape;1245;p51"/>
          <p:cNvSpPr/>
          <p:nvPr/>
        </p:nvSpPr>
        <p:spPr>
          <a:xfrm>
            <a:off x="780479" y="2283974"/>
            <a:ext cx="7829609" cy="11194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PROMPT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6" name="Google Shape;1246;p51"/>
          <p:cNvSpPr/>
          <p:nvPr/>
        </p:nvSpPr>
        <p:spPr>
          <a:xfrm>
            <a:off x="780479" y="2429785"/>
            <a:ext cx="7735334" cy="2915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0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"You are a Senior Systems Engineer. I have a Python script that is supposed to automate user offboarding in Azure, but it's failing at the 'Revoke License' step with a 403 error. Here is the code: [Paste Code]. Analyze the logic, identify the most likely permission mismatch, and provide the corrected snippet."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7" name="Google Shape;1247;p51"/>
          <p:cNvSpPr/>
          <p:nvPr/>
        </p:nvSpPr>
        <p:spPr>
          <a:xfrm>
            <a:off x="609575" y="3015010"/>
            <a:ext cx="7924850" cy="1161149"/>
          </a:xfrm>
          <a:prstGeom prst="roundRect">
            <a:avLst>
              <a:gd fmla="val 4922" name="adj"/>
            </a:avLst>
          </a:prstGeom>
          <a:solidFill>
            <a:srgbClr val="FFFFFF"/>
          </a:solidFill>
          <a:ln cap="flat" cmpd="sng" w="9525">
            <a:solidFill>
              <a:srgbClr val="C9CF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8" name="Google Shape;1248;p51"/>
          <p:cNvSpPr/>
          <p:nvPr/>
        </p:nvSpPr>
        <p:spPr>
          <a:xfrm>
            <a:off x="745547" y="3131923"/>
            <a:ext cx="7882495" cy="118103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💭 THINKING · GPT-5 REASONING ENGINE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9" name="Google Shape;1249;p51"/>
          <p:cNvSpPr/>
          <p:nvPr/>
        </p:nvSpPr>
        <p:spPr>
          <a:xfrm>
            <a:off x="745547" y="3297618"/>
            <a:ext cx="7882495" cy="14853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600"/>
              <a:buFont typeface="JetBrains Mono"/>
              <a:buNone/>
            </a:pPr>
            <a:r>
              <a:rPr b="0" i="0" lang="en-GB" sz="600" u="none" cap="none" strike="noStrike">
                <a:solidFill>
                  <a:srgbClr val="1B1F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User is performing Azure AD (Entra ID) offboarding.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0" name="Google Shape;1250;p51"/>
          <p:cNvSpPr/>
          <p:nvPr/>
        </p:nvSpPr>
        <p:spPr>
          <a:xfrm>
            <a:off x="745547" y="3465174"/>
            <a:ext cx="7882495" cy="14853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600"/>
              <a:buFont typeface="JetBrains Mono"/>
              <a:buNone/>
            </a:pPr>
            <a:r>
              <a:rPr b="0" i="0" lang="en-GB" sz="600" u="none" cap="none" strike="noStrike">
                <a:solidFill>
                  <a:srgbClr val="1B1F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Error is 403 Forbidden during the license revocation step.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1" name="Google Shape;1251;p51"/>
          <p:cNvSpPr/>
          <p:nvPr/>
        </p:nvSpPr>
        <p:spPr>
          <a:xfrm>
            <a:off x="841913" y="3643313"/>
            <a:ext cx="1600592" cy="124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600"/>
              <a:buFont typeface="JetBrains Mono"/>
              <a:buNone/>
            </a:pPr>
            <a:r>
              <a:rPr b="0" i="0" lang="en-GB" sz="600" u="none" cap="none" strike="noStrike">
                <a:solidFill>
                  <a:srgbClr val="1B1F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Script uses MS Graph API via the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2" name="Google Shape;1252;p51"/>
          <p:cNvSpPr/>
          <p:nvPr/>
        </p:nvSpPr>
        <p:spPr>
          <a:xfrm>
            <a:off x="2443510" y="3632730"/>
            <a:ext cx="232362" cy="14853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600"/>
              <a:buFont typeface="JetBrains Mono"/>
              <a:buNone/>
            </a:pPr>
            <a:r>
              <a:rPr b="1" i="0" lang="en-GB" sz="600" u="none" cap="none" strike="noStrike">
                <a:solidFill>
                  <a:srgbClr val="1B1F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msal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3" name="Google Shape;1253;p51"/>
          <p:cNvSpPr/>
          <p:nvPr/>
        </p:nvSpPr>
        <p:spPr>
          <a:xfrm>
            <a:off x="2685397" y="3643313"/>
            <a:ext cx="426624" cy="124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600"/>
              <a:buFont typeface="JetBrains Mono"/>
              <a:buNone/>
            </a:pPr>
            <a:r>
              <a:rPr b="0" i="0" lang="en-GB" sz="600" u="none" cap="none" strike="noStrike">
                <a:solidFill>
                  <a:srgbClr val="1B1F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library.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4" name="Google Shape;1254;p51"/>
          <p:cNvSpPr/>
          <p:nvPr/>
        </p:nvSpPr>
        <p:spPr>
          <a:xfrm>
            <a:off x="841913" y="3810869"/>
            <a:ext cx="2350876" cy="254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600"/>
              <a:buFont typeface="JetBrains Mono"/>
              <a:buNone/>
            </a:pPr>
            <a:r>
              <a:rPr b="0" i="0" lang="en-GB" sz="600" u="none" cap="none" strike="noStrike">
                <a:solidFill>
                  <a:srgbClr val="1B1F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Common pitfall: 403 usually implies the Service Principal lacks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5" name="Google Shape;1255;p51"/>
          <p:cNvSpPr/>
          <p:nvPr/>
        </p:nvSpPr>
        <p:spPr>
          <a:xfrm>
            <a:off x="3252184" y="3800285"/>
            <a:ext cx="1155014" cy="27801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600"/>
              <a:buFont typeface="JetBrains Mono"/>
              <a:buNone/>
            </a:pPr>
            <a:r>
              <a:rPr b="1" i="0" lang="en-GB" sz="600" u="none" cap="none" strike="noStrike">
                <a:solidFill>
                  <a:srgbClr val="1B1F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Directory.ReadWrite.All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6" name="Google Shape;1256;p51"/>
          <p:cNvSpPr/>
          <p:nvPr/>
        </p:nvSpPr>
        <p:spPr>
          <a:xfrm>
            <a:off x="4416723" y="3810869"/>
            <a:ext cx="135251" cy="124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600"/>
              <a:buFont typeface="JetBrains Mono"/>
              <a:buNone/>
            </a:pPr>
            <a:r>
              <a:rPr b="0" i="0" lang="en-GB" sz="600" u="none" cap="none" strike="noStrike">
                <a:solidFill>
                  <a:srgbClr val="1B1F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or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7" name="Google Shape;1257;p51"/>
          <p:cNvSpPr/>
          <p:nvPr/>
        </p:nvSpPr>
        <p:spPr>
          <a:xfrm>
            <a:off x="4561500" y="3800285"/>
            <a:ext cx="912217" cy="27801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600"/>
              <a:buFont typeface="JetBrains Mono"/>
              <a:buNone/>
            </a:pPr>
            <a:r>
              <a:rPr b="1" i="0" lang="en-GB" sz="600" u="none" cap="none" strike="noStrike">
                <a:solidFill>
                  <a:srgbClr val="1B1F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User.ReadWrite.All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8" name="Google Shape;1258;p51"/>
          <p:cNvSpPr/>
          <p:nvPr/>
        </p:nvSpPr>
        <p:spPr>
          <a:xfrm>
            <a:off x="5483242" y="3810869"/>
            <a:ext cx="912217" cy="254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600"/>
              <a:buFont typeface="JetBrains Mono"/>
              <a:buNone/>
            </a:pPr>
            <a:r>
              <a:rPr b="0" i="0" lang="en-GB" sz="600" u="none" cap="none" strike="noStrike">
                <a:solidFill>
                  <a:srgbClr val="1B1F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— but for licenses specifically,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9" name="Google Shape;1259;p51"/>
          <p:cNvSpPr/>
          <p:nvPr/>
        </p:nvSpPr>
        <p:spPr>
          <a:xfrm>
            <a:off x="6730959" y="3800285"/>
            <a:ext cx="1057904" cy="27801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600"/>
              <a:buFont typeface="JetBrains Mono"/>
              <a:buNone/>
            </a:pPr>
            <a:r>
              <a:rPr b="1" i="0" lang="en-GB" sz="600" u="none" cap="none" strike="noStrike">
                <a:solidFill>
                  <a:srgbClr val="1B1F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Organization.Read.All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0" name="Google Shape;1260;p51"/>
          <p:cNvSpPr/>
          <p:nvPr/>
        </p:nvSpPr>
        <p:spPr>
          <a:xfrm>
            <a:off x="7798388" y="3810869"/>
            <a:ext cx="426624" cy="254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600"/>
              <a:buFont typeface="JetBrains Mono"/>
              <a:buNone/>
            </a:pPr>
            <a:r>
              <a:rPr b="0" i="0" lang="en-GB" sz="600" u="none" cap="none" strike="noStrike">
                <a:solidFill>
                  <a:srgbClr val="1B1F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is often missed.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1" name="Google Shape;1261;p51"/>
          <p:cNvSpPr/>
          <p:nvPr/>
        </p:nvSpPr>
        <p:spPr>
          <a:xfrm>
            <a:off x="609575" y="4824967"/>
            <a:ext cx="1062244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L&amp;D · AI 104 · Module 03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2" name="Google Shape;1262;p51"/>
          <p:cNvSpPr/>
          <p:nvPr/>
        </p:nvSpPr>
        <p:spPr>
          <a:xfrm>
            <a:off x="8235694" y="4824967"/>
            <a:ext cx="336831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37 / 62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3" name="Google Shape;1263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242" y="251507"/>
            <a:ext cx="336900" cy="284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p52"/>
          <p:cNvSpPr/>
          <p:nvPr/>
        </p:nvSpPr>
        <p:spPr>
          <a:xfrm>
            <a:off x="609575" y="328042"/>
            <a:ext cx="180950" cy="1809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p52"/>
          <p:cNvSpPr/>
          <p:nvPr/>
        </p:nvSpPr>
        <p:spPr>
          <a:xfrm>
            <a:off x="857167" y="304767"/>
            <a:ext cx="77715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GlobalLogic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1" name="Google Shape;1271;p52"/>
          <p:cNvSpPr/>
          <p:nvPr/>
        </p:nvSpPr>
        <p:spPr>
          <a:xfrm>
            <a:off x="857167" y="447642"/>
            <a:ext cx="777156" cy="1037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Manrope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Manrope"/>
                <a:ea typeface="Manrope"/>
                <a:cs typeface="Manrope"/>
                <a:sym typeface="Manrope"/>
              </a:rPr>
              <a:t>A Hitachi Group Company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2" name="Google Shape;1272;p52"/>
          <p:cNvSpPr/>
          <p:nvPr/>
        </p:nvSpPr>
        <p:spPr>
          <a:xfrm>
            <a:off x="7984629" y="377527"/>
            <a:ext cx="587896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CONFIDENTIAL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3" name="Google Shape;1273;p52"/>
          <p:cNvSpPr/>
          <p:nvPr/>
        </p:nvSpPr>
        <p:spPr>
          <a:xfrm>
            <a:off x="609575" y="952500"/>
            <a:ext cx="8162596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DIVING INTO CHATGPT-5 · EXAMPLE A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4" name="Google Shape;1274;p52"/>
          <p:cNvSpPr/>
          <p:nvPr/>
        </p:nvSpPr>
        <p:spPr>
          <a:xfrm>
            <a:off x="609575" y="1185829"/>
            <a:ext cx="8162596" cy="40765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000"/>
              <a:buFont typeface="Manrope"/>
              <a:buNone/>
            </a:pP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Analysis: the </a:t>
            </a:r>
            <a:r>
              <a:rPr b="1" i="0" lang="en-GB" sz="30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403 Forbidden </a:t>
            </a: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error.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5" name="Google Shape;1275;p52"/>
          <p:cNvSpPr/>
          <p:nvPr/>
        </p:nvSpPr>
        <p:spPr>
          <a:xfrm>
            <a:off x="609575" y="1660137"/>
            <a:ext cx="6867526" cy="1709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800"/>
              <a:buFont typeface="Manrope"/>
              <a:buNone/>
            </a:pPr>
            <a:r>
              <a:rPr b="0" i="0" lang="en-GB" sz="8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Based on the code provided, the 403 error isn't a syntax bug — it's a </a:t>
            </a:r>
            <a:r>
              <a:rPr b="1" i="0" lang="en-GB" sz="8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scope mismatch</a:t>
            </a:r>
            <a:r>
              <a:rPr b="0" i="0" lang="en-GB" sz="8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6" name="Google Shape;1276;p52"/>
          <p:cNvSpPr/>
          <p:nvPr/>
        </p:nvSpPr>
        <p:spPr>
          <a:xfrm>
            <a:off x="609575" y="1983466"/>
            <a:ext cx="3848117" cy="2209932"/>
          </a:xfrm>
          <a:prstGeom prst="roundRect">
            <a:avLst>
              <a:gd fmla="val 3448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7" name="Google Shape;1277;p52"/>
          <p:cNvSpPr/>
          <p:nvPr/>
        </p:nvSpPr>
        <p:spPr>
          <a:xfrm>
            <a:off x="800075" y="2154908"/>
            <a:ext cx="3571130" cy="17618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100"/>
              <a:buFont typeface="Manrope"/>
              <a:buNone/>
            </a:pPr>
            <a:r>
              <a:rPr b="1" i="0" lang="en-GB" sz="11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Root cause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8" name="Google Shape;1278;p52"/>
          <p:cNvSpPr/>
          <p:nvPr/>
        </p:nvSpPr>
        <p:spPr>
          <a:xfrm>
            <a:off x="800075" y="2397745"/>
            <a:ext cx="3571130" cy="4397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700"/>
              <a:buFont typeface="Manrope"/>
              <a:buNone/>
            </a:pPr>
            <a:r>
              <a:rPr b="0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Your Service Principal is likely missing the </a:t>
            </a:r>
            <a:r>
              <a:rPr b="1" i="0" lang="en-GB" sz="7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Organization.Read.All </a:t>
            </a:r>
            <a:r>
              <a:rPr b="0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permission. While </a:t>
            </a:r>
            <a:r>
              <a:rPr b="1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User.ReadWrite.All </a:t>
            </a:r>
            <a:r>
              <a:rPr b="0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lets you edit the user, the license-assignment endpoint needs to </a:t>
            </a:r>
            <a:r>
              <a:rPr b="0" i="1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read </a:t>
            </a:r>
            <a:r>
              <a:rPr b="0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the organization's SKU details to verify which licenses are being removed.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9" name="Google Shape;1279;p52"/>
          <p:cNvSpPr/>
          <p:nvPr/>
        </p:nvSpPr>
        <p:spPr>
          <a:xfrm>
            <a:off x="4686267" y="1983466"/>
            <a:ext cx="3963603" cy="17515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900"/>
              <a:buFont typeface="Manrope"/>
              <a:buNone/>
            </a:pPr>
            <a:r>
              <a:rPr b="1" i="0" lang="en-GB" sz="9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Required Microsoft Graph permissions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0" name="Google Shape;1280;p52"/>
          <p:cNvSpPr/>
          <p:nvPr/>
        </p:nvSpPr>
        <p:spPr>
          <a:xfrm>
            <a:off x="4686267" y="2253837"/>
            <a:ext cx="3848158" cy="602092"/>
          </a:xfrm>
          <a:prstGeom prst="roundRect">
            <a:avLst>
              <a:gd fmla="val 11074" name="adj"/>
            </a:avLst>
          </a:prstGeom>
          <a:solidFill>
            <a:srgbClr val="FFFFFF"/>
          </a:solidFill>
          <a:ln cap="flat" cmpd="sng" w="9525">
            <a:solidFill>
              <a:srgbClr val="C9CF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1" name="Google Shape;1281;p52"/>
          <p:cNvSpPr/>
          <p:nvPr/>
        </p:nvSpPr>
        <p:spPr>
          <a:xfrm>
            <a:off x="4803180" y="2370750"/>
            <a:ext cx="3722763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 · APPLICATION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2" name="Google Shape;1282;p52"/>
          <p:cNvSpPr/>
          <p:nvPr/>
        </p:nvSpPr>
        <p:spPr>
          <a:xfrm>
            <a:off x="4803180" y="2490846"/>
            <a:ext cx="3722763" cy="1460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JetBrains Mono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User.ReadWrite.All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3" name="Google Shape;1283;p52"/>
          <p:cNvSpPr/>
          <p:nvPr/>
        </p:nvSpPr>
        <p:spPr>
          <a:xfrm>
            <a:off x="4803180" y="2646413"/>
            <a:ext cx="3722763" cy="11165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500"/>
              <a:buFont typeface="Manrope"/>
              <a:buNone/>
            </a:pPr>
            <a:r>
              <a:rPr b="0" i="0" lang="en-GB" sz="5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Edit user objects in the directory.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4" name="Google Shape;1284;p52"/>
          <p:cNvSpPr/>
          <p:nvPr/>
        </p:nvSpPr>
        <p:spPr>
          <a:xfrm>
            <a:off x="4686267" y="2922571"/>
            <a:ext cx="3848158" cy="602093"/>
          </a:xfrm>
          <a:prstGeom prst="roundRect">
            <a:avLst>
              <a:gd fmla="val 11074" name="adj"/>
            </a:avLst>
          </a:prstGeom>
          <a:solidFill>
            <a:srgbClr val="FFFFFF"/>
          </a:solidFill>
          <a:ln cap="flat" cmpd="sng" w="9525">
            <a:solidFill>
              <a:srgbClr val="C9CF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5" name="Google Shape;1285;p52"/>
          <p:cNvSpPr/>
          <p:nvPr/>
        </p:nvSpPr>
        <p:spPr>
          <a:xfrm>
            <a:off x="4803180" y="3039484"/>
            <a:ext cx="3722763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 · APPLICATION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6" name="Google Shape;1286;p52"/>
          <p:cNvSpPr/>
          <p:nvPr/>
        </p:nvSpPr>
        <p:spPr>
          <a:xfrm>
            <a:off x="4803180" y="3159580"/>
            <a:ext cx="3722763" cy="1460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JetBrains Mono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Directory.ReadWrite.All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7" name="Google Shape;1287;p52"/>
          <p:cNvSpPr/>
          <p:nvPr/>
        </p:nvSpPr>
        <p:spPr>
          <a:xfrm>
            <a:off x="4803180" y="3315147"/>
            <a:ext cx="3722763" cy="11165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500"/>
              <a:buFont typeface="Manrope"/>
              <a:buNone/>
            </a:pPr>
            <a:r>
              <a:rPr b="0" i="0" lang="en-GB" sz="5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Read &amp; write directory data.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8" name="Google Shape;1288;p52"/>
          <p:cNvSpPr/>
          <p:nvPr/>
        </p:nvSpPr>
        <p:spPr>
          <a:xfrm>
            <a:off x="4686267" y="3591306"/>
            <a:ext cx="3848158" cy="602093"/>
          </a:xfrm>
          <a:prstGeom prst="roundRect">
            <a:avLst>
              <a:gd fmla="val 11074" name="adj"/>
            </a:avLst>
          </a:prstGeom>
          <a:solidFill>
            <a:srgbClr val="FFF7F1"/>
          </a:solidFill>
          <a:ln cap="flat" cmpd="sng" w="9525">
            <a:solidFill>
              <a:srgbClr val="FF67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9" name="Google Shape;1289;p52"/>
          <p:cNvSpPr/>
          <p:nvPr/>
        </p:nvSpPr>
        <p:spPr>
          <a:xfrm>
            <a:off x="4803180" y="3708218"/>
            <a:ext cx="3722763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 · MISSING PIECE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0" name="Google Shape;1290;p52"/>
          <p:cNvSpPr/>
          <p:nvPr/>
        </p:nvSpPr>
        <p:spPr>
          <a:xfrm>
            <a:off x="4803180" y="3828315"/>
            <a:ext cx="3722763" cy="1460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800"/>
              <a:buFont typeface="JetBrains Mono"/>
              <a:buNone/>
            </a:pPr>
            <a:r>
              <a:rPr b="1" i="0" lang="en-GB" sz="8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Organization.Read.All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1" name="Google Shape;1291;p52"/>
          <p:cNvSpPr/>
          <p:nvPr/>
        </p:nvSpPr>
        <p:spPr>
          <a:xfrm>
            <a:off x="4803180" y="3983881"/>
            <a:ext cx="3722763" cy="11165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500"/>
              <a:buFont typeface="Manrope"/>
              <a:buNone/>
            </a:pPr>
            <a:r>
              <a:rPr b="0" i="0" lang="en-GB" sz="5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Read tenant SKU &amp; license data.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2" name="Google Shape;1292;p52"/>
          <p:cNvSpPr/>
          <p:nvPr/>
        </p:nvSpPr>
        <p:spPr>
          <a:xfrm>
            <a:off x="609575" y="4824967"/>
            <a:ext cx="1062244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L&amp;D · AI 104 · Module 03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3" name="Google Shape;1293;p52"/>
          <p:cNvSpPr/>
          <p:nvPr/>
        </p:nvSpPr>
        <p:spPr>
          <a:xfrm>
            <a:off x="8235694" y="4824967"/>
            <a:ext cx="336831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38 / 62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4" name="Google Shape;1294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242" y="251507"/>
            <a:ext cx="336900" cy="284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9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p53"/>
          <p:cNvSpPr/>
          <p:nvPr/>
        </p:nvSpPr>
        <p:spPr>
          <a:xfrm>
            <a:off x="609575" y="328042"/>
            <a:ext cx="180950" cy="1809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53"/>
          <p:cNvSpPr/>
          <p:nvPr/>
        </p:nvSpPr>
        <p:spPr>
          <a:xfrm>
            <a:off x="857167" y="304767"/>
            <a:ext cx="77715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GlobalLogic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2" name="Google Shape;1302;p53"/>
          <p:cNvSpPr/>
          <p:nvPr/>
        </p:nvSpPr>
        <p:spPr>
          <a:xfrm>
            <a:off x="857167" y="447642"/>
            <a:ext cx="777156" cy="1037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Manrope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Manrope"/>
                <a:ea typeface="Manrope"/>
                <a:cs typeface="Manrope"/>
                <a:sym typeface="Manrope"/>
              </a:rPr>
              <a:t>A Hitachi Group Company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3" name="Google Shape;1303;p53"/>
          <p:cNvSpPr/>
          <p:nvPr/>
        </p:nvSpPr>
        <p:spPr>
          <a:xfrm>
            <a:off x="7984629" y="377527"/>
            <a:ext cx="587896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CONFIDENTIAL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4" name="Google Shape;1304;p53"/>
          <p:cNvSpPr/>
          <p:nvPr/>
        </p:nvSpPr>
        <p:spPr>
          <a:xfrm>
            <a:off x="609575" y="952500"/>
            <a:ext cx="8162596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DIVING INTO CHATGPT-5 · EXAMPLE A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5" name="Google Shape;1305;p53"/>
          <p:cNvSpPr/>
          <p:nvPr/>
        </p:nvSpPr>
        <p:spPr>
          <a:xfrm>
            <a:off x="609575" y="1185829"/>
            <a:ext cx="8162596" cy="40765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000"/>
              <a:buFont typeface="Manrope"/>
              <a:buNone/>
            </a:pP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Corrected code — </a:t>
            </a:r>
            <a:r>
              <a:rPr b="1" i="0" lang="en-GB" sz="30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logic update</a:t>
            </a: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6" name="Google Shape;1306;p53"/>
          <p:cNvSpPr/>
          <p:nvPr/>
        </p:nvSpPr>
        <p:spPr>
          <a:xfrm>
            <a:off x="609575" y="1660137"/>
            <a:ext cx="6867526" cy="1709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800"/>
              <a:buFont typeface="Manrope"/>
              <a:buNone/>
            </a:pPr>
            <a:r>
              <a:rPr b="0" i="0" lang="en-GB" sz="8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Ensure your header includes the correct scope and check for administrative locks before the call.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7" name="Google Shape;1307;p53"/>
          <p:cNvSpPr/>
          <p:nvPr/>
        </p:nvSpPr>
        <p:spPr>
          <a:xfrm>
            <a:off x="609575" y="1964407"/>
            <a:ext cx="7924850" cy="2417465"/>
          </a:xfrm>
          <a:prstGeom prst="roundRect">
            <a:avLst>
              <a:gd fmla="val 2758" name="adj"/>
            </a:avLst>
          </a:prstGeom>
          <a:solidFill>
            <a:srgbClr val="1B1F2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Google Shape;1308;p53"/>
          <p:cNvSpPr/>
          <p:nvPr/>
        </p:nvSpPr>
        <p:spPr>
          <a:xfrm>
            <a:off x="609575" y="1964408"/>
            <a:ext cx="7924850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9" name="Google Shape;1309;p53"/>
          <p:cNvSpPr/>
          <p:nvPr/>
        </p:nvSpPr>
        <p:spPr>
          <a:xfrm>
            <a:off x="761975" y="2116278"/>
            <a:ext cx="7857796" cy="215129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600"/>
              <a:buFont typeface="JetBrains Mono"/>
              <a:buNone/>
            </a:pPr>
            <a:r>
              <a:rPr b="0" i="0" lang="en-GB" sz="6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Ensure the Service Principal has 'Organization.Read.All' </a:t>
            </a:r>
            <a:r>
              <a:rPr b="0" i="0" lang="en-GB" sz="600" u="none" cap="none" strike="noStrike">
                <a:solidFill>
                  <a:srgbClr val="FF8A4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 </a:t>
            </a:r>
            <a:r>
              <a:rPr b="0" i="0" lang="en-GB" sz="600" u="none" cap="none" strike="noStrike">
                <a:solidFill>
                  <a:srgbClr val="E8EBF0"/>
                </a:solidFill>
                <a:highlight>
                  <a:srgbClr val="1B1F2A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revoke_licenses(user_id, access_token):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E8EBF0"/>
              </a:buClr>
              <a:buSzPts val="600"/>
              <a:buFont typeface="JetBrains Mono"/>
              <a:buNone/>
            </a:pPr>
            <a:r>
              <a:rPr b="0" i="0" lang="en-GB" sz="600" u="none" cap="none" strike="noStrike">
                <a:solidFill>
                  <a:srgbClr val="E8EBF0"/>
                </a:solidFill>
                <a:highlight>
                  <a:srgbClr val="1B1F2A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endpoint =  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9DCBFF"/>
              </a:buClr>
              <a:buSzPts val="600"/>
              <a:buFont typeface="JetBrains Mono"/>
              <a:buNone/>
            </a:pPr>
            <a:r>
              <a:rPr b="0" i="0" lang="en-GB" sz="600" u="none" cap="none" strike="noStrike">
                <a:solidFill>
                  <a:srgbClr val="9DCB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f"https://graph.microsoft.com/v1.0/users/{user_id}/assignLicense" </a:t>
            </a:r>
            <a:r>
              <a:rPr b="0" i="0" lang="en-GB" sz="600" u="none" cap="none" strike="noStrike">
                <a:solidFill>
                  <a:srgbClr val="E8EBF0"/>
                </a:solidFill>
                <a:highlight>
                  <a:srgbClr val="1B1F2A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headers  = {</a:t>
            </a:r>
            <a:r>
              <a:rPr b="0" i="0" lang="en-GB" sz="600" u="none" cap="none" strike="noStrike">
                <a:solidFill>
                  <a:srgbClr val="9DCB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'Authorization'</a:t>
            </a:r>
            <a:r>
              <a:rPr b="0" i="0" lang="en-GB" sz="600" u="none" cap="none" strike="noStrike">
                <a:solidFill>
                  <a:srgbClr val="E8EBF0"/>
                </a:solidFill>
                <a:highlight>
                  <a:srgbClr val="1B1F2A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b="0" i="0" lang="en-GB" sz="600" u="none" cap="none" strike="noStrike">
                <a:solidFill>
                  <a:srgbClr val="9DCB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f'Bearer {access_token}' </a:t>
            </a:r>
            <a:r>
              <a:rPr b="0" i="0" lang="en-GB" sz="600" u="none" cap="none" strike="noStrike">
                <a:solidFill>
                  <a:srgbClr val="E8EBF0"/>
                </a:solidFill>
                <a:highlight>
                  <a:srgbClr val="1B1F2A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E8EBF0"/>
              </a:buClr>
              <a:buSzPts val="600"/>
              <a:buFont typeface="JetBrains Mono"/>
              <a:buNone/>
            </a:pPr>
            <a:r>
              <a:rPr b="0" i="0" lang="en-GB" sz="600" u="none" cap="none" strike="noStrike">
                <a:solidFill>
                  <a:srgbClr val="E8EBF0"/>
                </a:solidFill>
                <a:highlight>
                  <a:srgbClr val="1B1F2A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          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9DCBFF"/>
              </a:buClr>
              <a:buSzPts val="600"/>
              <a:buFont typeface="JetBrains Mono"/>
              <a:buNone/>
            </a:pPr>
            <a:r>
              <a:rPr b="0" i="0" lang="en-GB" sz="600" u="none" cap="none" strike="noStrike">
                <a:solidFill>
                  <a:srgbClr val="9DCB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'Content-Type'</a:t>
            </a:r>
            <a:r>
              <a:rPr b="0" i="0" lang="en-GB" sz="600" u="none" cap="none" strike="noStrike">
                <a:solidFill>
                  <a:srgbClr val="E8EBF0"/>
                </a:solidFill>
                <a:highlight>
                  <a:srgbClr val="1B1F2A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:  </a:t>
            </a:r>
            <a:r>
              <a:rPr b="0" i="0" lang="en-GB" sz="600" u="none" cap="none" strike="noStrike">
                <a:solidFill>
                  <a:srgbClr val="9DCB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'application/json' </a:t>
            </a:r>
            <a:r>
              <a:rPr b="0" i="0" lang="en-GB" sz="600" u="none" cap="none" strike="noStrike">
                <a:solidFill>
                  <a:srgbClr val="E8EBF0"/>
                </a:solidFill>
                <a:highlight>
                  <a:srgbClr val="1B1F2A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E8EBF0"/>
              </a:buClr>
              <a:buSzPts val="600"/>
              <a:buFont typeface="JetBrains Mono"/>
              <a:buNone/>
            </a:pPr>
            <a:r>
              <a:rPr b="0" i="0" lang="en-GB" sz="600" u="none" cap="none" strike="noStrike">
                <a:solidFill>
                  <a:srgbClr val="E8EBF0"/>
                </a:solidFill>
                <a:highlight>
                  <a:srgbClr val="1B1F2A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600"/>
              <a:buFont typeface="JetBrains Mono"/>
              <a:buNone/>
            </a:pPr>
            <a:r>
              <a:rPr b="0" i="0" lang="en-GB" sz="6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Correct payload for revoking all licenses </a:t>
            </a:r>
            <a:r>
              <a:rPr b="0" i="0" lang="en-GB" sz="600" u="none" cap="none" strike="noStrike">
                <a:solidFill>
                  <a:srgbClr val="E8EBF0"/>
                </a:solidFill>
                <a:highlight>
                  <a:srgbClr val="1B1F2A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b="0" i="0" lang="en-GB" sz="6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We must fetch active licenses first to populate 'removedLicenses' </a:t>
            </a:r>
            <a:r>
              <a:rPr b="0" i="0" lang="en-GB" sz="600" u="none" cap="none" strike="noStrike">
                <a:solidFill>
                  <a:srgbClr val="E8EBF0"/>
                </a:solidFill>
                <a:highlight>
                  <a:srgbClr val="1B1F2A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payload = {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E8EBF0"/>
              </a:buClr>
              <a:buSzPts val="600"/>
              <a:buFont typeface="JetBrains Mono"/>
              <a:buNone/>
            </a:pPr>
            <a:r>
              <a:rPr b="0" i="0" lang="en-GB" sz="600" u="none" cap="none" strike="noStrike">
                <a:solidFill>
                  <a:srgbClr val="E8EBF0"/>
                </a:solidFill>
                <a:highlight>
                  <a:srgbClr val="1B1F2A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  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9DCBFF"/>
              </a:buClr>
              <a:buSzPts val="600"/>
              <a:buFont typeface="JetBrains Mono"/>
              <a:buNone/>
            </a:pPr>
            <a:r>
              <a:rPr b="0" i="0" lang="en-GB" sz="600" u="none" cap="none" strike="noStrike">
                <a:solidFill>
                  <a:srgbClr val="9DCB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"addLicenses" </a:t>
            </a:r>
            <a:r>
              <a:rPr b="0" i="0" lang="en-GB" sz="600" u="none" cap="none" strike="noStrike">
                <a:solidFill>
                  <a:srgbClr val="E8EBF0"/>
                </a:solidFill>
                <a:highlight>
                  <a:srgbClr val="1B1F2A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:     [],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E8EBF0"/>
              </a:buClr>
              <a:buSzPts val="600"/>
              <a:buFont typeface="JetBrains Mono"/>
              <a:buNone/>
            </a:pPr>
            <a:r>
              <a:rPr b="0" i="0" lang="en-GB" sz="600" u="none" cap="none" strike="noStrike">
                <a:solidFill>
                  <a:srgbClr val="E8EBF0"/>
                </a:solidFill>
                <a:highlight>
                  <a:srgbClr val="1B1F2A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  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9DCBFF"/>
              </a:buClr>
              <a:buSzPts val="600"/>
              <a:buFont typeface="JetBrains Mono"/>
              <a:buNone/>
            </a:pPr>
            <a:r>
              <a:rPr b="0" i="0" lang="en-GB" sz="600" u="none" cap="none" strike="noStrike">
                <a:solidFill>
                  <a:srgbClr val="9DCB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"removedLicenses"</a:t>
            </a:r>
            <a:r>
              <a:rPr b="0" i="0" lang="en-GB" sz="600" u="none" cap="none" strike="noStrike">
                <a:solidFill>
                  <a:srgbClr val="E8EBF0"/>
                </a:solidFill>
                <a:highlight>
                  <a:srgbClr val="1B1F2A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: active_sku_ids   </a:t>
            </a:r>
            <a:r>
              <a:rPr b="0" i="0" lang="en-GB" sz="6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populated from a prior /users/{id}/licenseDetails call </a:t>
            </a:r>
            <a:r>
              <a:rPr b="0" i="0" lang="en-GB" sz="600" u="none" cap="none" strike="noStrike">
                <a:solidFill>
                  <a:srgbClr val="E8EBF0"/>
                </a:solidFill>
                <a:highlight>
                  <a:srgbClr val="1B1F2A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}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E8EBF0"/>
              </a:buClr>
              <a:buSzPts val="600"/>
              <a:buFont typeface="JetBrains Mono"/>
              <a:buNone/>
            </a:pPr>
            <a:r>
              <a:rPr b="0" i="0" lang="en-GB" sz="600" u="none" cap="none" strike="noStrike">
                <a:solidFill>
                  <a:srgbClr val="E8EBF0"/>
                </a:solidFill>
                <a:highlight>
                  <a:srgbClr val="1B1F2A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response = requests.post(endpoint, headers=headers, json=payload)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E8EBF0"/>
              </a:buClr>
              <a:buSzPts val="600"/>
              <a:buFont typeface="JetBrains Mono"/>
              <a:buNone/>
            </a:pPr>
            <a:r>
              <a:rPr b="0" i="0" lang="en-GB" sz="600" u="none" cap="none" strike="noStrike">
                <a:solidFill>
                  <a:srgbClr val="E8EBF0"/>
                </a:solidFill>
                <a:highlight>
                  <a:srgbClr val="1B1F2A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FF8A4C"/>
              </a:buClr>
              <a:buSzPts val="600"/>
              <a:buFont typeface="JetBrains Mono"/>
              <a:buNone/>
            </a:pPr>
            <a:r>
              <a:rPr b="0" i="0" lang="en-GB" sz="600" u="none" cap="none" strike="noStrike">
                <a:solidFill>
                  <a:srgbClr val="FF8A4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 </a:t>
            </a:r>
            <a:r>
              <a:rPr b="0" i="0" lang="en-GB" sz="600" u="none" cap="none" strike="noStrike">
                <a:solidFill>
                  <a:srgbClr val="E8EBF0"/>
                </a:solidFill>
                <a:highlight>
                  <a:srgbClr val="1B1F2A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response.status_code == 403: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E8EBF0"/>
              </a:buClr>
              <a:buSzPts val="600"/>
              <a:buFont typeface="JetBrains Mono"/>
              <a:buNone/>
            </a:pPr>
            <a:r>
              <a:rPr b="0" i="0" lang="en-GB" sz="600" u="none" cap="none" strike="noStrike">
                <a:solidFill>
                  <a:srgbClr val="E8EBF0"/>
                </a:solidFill>
                <a:highlight>
                  <a:srgbClr val="1B1F2A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 print( 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9DCBFF"/>
              </a:buClr>
              <a:buSzPts val="600"/>
              <a:buFont typeface="JetBrains Mono"/>
              <a:buNone/>
            </a:pPr>
            <a:r>
              <a:rPr b="0" i="0" lang="en-GB" sz="600" u="none" cap="none" strike="noStrike">
                <a:solidFill>
                  <a:srgbClr val="9DCB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"Error: 403. Check 'Organization.Read.All' permissions in Azure Portal." </a:t>
            </a:r>
            <a:r>
              <a:rPr b="0" i="0" lang="en-GB" sz="600" u="none" cap="none" strike="noStrike">
                <a:solidFill>
                  <a:srgbClr val="E8EBF0"/>
                </a:solidFill>
                <a:highlight>
                  <a:srgbClr val="1B1F2A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E8EBF0"/>
              </a:buClr>
              <a:buSzPts val="600"/>
              <a:buFont typeface="JetBrains Mono"/>
              <a:buNone/>
            </a:pPr>
            <a:r>
              <a:rPr b="0" i="0" lang="en-GB" sz="600" u="none" cap="none" strike="noStrike">
                <a:solidFill>
                  <a:srgbClr val="E8EBF0"/>
                </a:solidFill>
                <a:highlight>
                  <a:srgbClr val="1B1F2A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FF8A4C"/>
              </a:buClr>
              <a:buSzPts val="600"/>
              <a:buFont typeface="JetBrains Mono"/>
              <a:buNone/>
            </a:pPr>
            <a:r>
              <a:rPr b="0" i="0" lang="en-GB" sz="600" u="none" cap="none" strike="noStrike">
                <a:solidFill>
                  <a:srgbClr val="FF8A4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</a:t>
            </a:r>
            <a:r>
              <a:rPr b="0" i="0" lang="en-GB" sz="600" u="none" cap="none" strike="noStrike">
                <a:solidFill>
                  <a:srgbClr val="E8EBF0"/>
                </a:solidFill>
                <a:highlight>
                  <a:srgbClr val="1B1F2A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response.json()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0" name="Google Shape;1310;p53"/>
          <p:cNvSpPr/>
          <p:nvPr/>
        </p:nvSpPr>
        <p:spPr>
          <a:xfrm>
            <a:off x="609575" y="4824967"/>
            <a:ext cx="1062244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L&amp;D · AI 104 · Module 03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1" name="Google Shape;1311;p53"/>
          <p:cNvSpPr/>
          <p:nvPr/>
        </p:nvSpPr>
        <p:spPr>
          <a:xfrm>
            <a:off x="8235694" y="4824967"/>
            <a:ext cx="336831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39 / 62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2" name="Google Shape;1312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242" y="251507"/>
            <a:ext cx="336900" cy="284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p54"/>
          <p:cNvSpPr/>
          <p:nvPr/>
        </p:nvSpPr>
        <p:spPr>
          <a:xfrm>
            <a:off x="609575" y="328042"/>
            <a:ext cx="180950" cy="1809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9" name="Google Shape;1319;p54"/>
          <p:cNvSpPr/>
          <p:nvPr/>
        </p:nvSpPr>
        <p:spPr>
          <a:xfrm>
            <a:off x="857167" y="304767"/>
            <a:ext cx="77715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GlobalLogic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0" name="Google Shape;1320;p54"/>
          <p:cNvSpPr/>
          <p:nvPr/>
        </p:nvSpPr>
        <p:spPr>
          <a:xfrm>
            <a:off x="857167" y="447642"/>
            <a:ext cx="777156" cy="1037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Manrope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Manrope"/>
                <a:ea typeface="Manrope"/>
                <a:cs typeface="Manrope"/>
                <a:sym typeface="Manrope"/>
              </a:rPr>
              <a:t>A Hitachi Group Company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1" name="Google Shape;1321;p54"/>
          <p:cNvSpPr/>
          <p:nvPr/>
        </p:nvSpPr>
        <p:spPr>
          <a:xfrm>
            <a:off x="7984629" y="377527"/>
            <a:ext cx="587896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CONFIDENTIAL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2" name="Google Shape;1322;p54"/>
          <p:cNvSpPr/>
          <p:nvPr/>
        </p:nvSpPr>
        <p:spPr>
          <a:xfrm>
            <a:off x="609575" y="952500"/>
            <a:ext cx="8162596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DIVING INTO CHATGPT-5 · EXAMPLE B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3" name="Google Shape;1323;p54"/>
          <p:cNvSpPr/>
          <p:nvPr/>
        </p:nvSpPr>
        <p:spPr>
          <a:xfrm>
            <a:off x="609575" y="1185829"/>
            <a:ext cx="8162596" cy="79626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3000"/>
              <a:buFont typeface="Manrope"/>
              <a:buNone/>
            </a:pPr>
            <a:r>
              <a:rPr b="1" i="0" lang="en-GB" sz="30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Root cause analysis </a:t>
            </a: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— drafting a post-mortem.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4" name="Google Shape;1324;p54"/>
          <p:cNvSpPr/>
          <p:nvPr/>
        </p:nvSpPr>
        <p:spPr>
          <a:xfrm>
            <a:off x="609575" y="2115427"/>
            <a:ext cx="7924850" cy="692919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5" name="Google Shape;1325;p54"/>
          <p:cNvSpPr/>
          <p:nvPr/>
        </p:nvSpPr>
        <p:spPr>
          <a:xfrm>
            <a:off x="609575" y="2115427"/>
            <a:ext cx="18521" cy="692919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6" name="Google Shape;1326;p54"/>
          <p:cNvSpPr/>
          <p:nvPr/>
        </p:nvSpPr>
        <p:spPr>
          <a:xfrm>
            <a:off x="780479" y="2248752"/>
            <a:ext cx="7829609" cy="11194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PROMPT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7" name="Google Shape;1327;p54"/>
          <p:cNvSpPr/>
          <p:nvPr/>
        </p:nvSpPr>
        <p:spPr>
          <a:xfrm>
            <a:off x="780479" y="2394562"/>
            <a:ext cx="7715491" cy="148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0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"I am drafting an RCA for a 2-hour outage in our Slack-to-Jira integration. Based on these raw incident logs: [Paste Logs], write a professional post-mortem. Structure it with: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8" name="Google Shape;1328;p54"/>
          <p:cNvSpPr/>
          <p:nvPr/>
        </p:nvSpPr>
        <p:spPr>
          <a:xfrm>
            <a:off x="780479" y="2537437"/>
            <a:ext cx="2007883" cy="1486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Executive Summary, Technical Root Cause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9" name="Google Shape;1329;p54"/>
          <p:cNvSpPr/>
          <p:nvPr/>
        </p:nvSpPr>
        <p:spPr>
          <a:xfrm>
            <a:off x="2729880" y="2537437"/>
            <a:ext cx="248072" cy="148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0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, and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0" name="Google Shape;1330;p54"/>
          <p:cNvSpPr/>
          <p:nvPr/>
        </p:nvSpPr>
        <p:spPr>
          <a:xfrm>
            <a:off x="2958869" y="2537437"/>
            <a:ext cx="1080145" cy="1486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3 Preventative Actions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1" name="Google Shape;1331;p54"/>
          <p:cNvSpPr/>
          <p:nvPr/>
        </p:nvSpPr>
        <p:spPr>
          <a:xfrm>
            <a:off x="4000913" y="2537437"/>
            <a:ext cx="2107225" cy="148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0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. Use a tone that is accountable yet confident."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2" name="Google Shape;1332;p54"/>
          <p:cNvSpPr/>
          <p:nvPr/>
        </p:nvSpPr>
        <p:spPr>
          <a:xfrm>
            <a:off x="609575" y="2979788"/>
            <a:ext cx="7924850" cy="1404400"/>
          </a:xfrm>
          <a:prstGeom prst="roundRect">
            <a:avLst>
              <a:gd fmla="val 542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3" name="Google Shape;1333;p54"/>
          <p:cNvSpPr/>
          <p:nvPr/>
        </p:nvSpPr>
        <p:spPr>
          <a:xfrm>
            <a:off x="609575" y="4381542"/>
            <a:ext cx="7924850" cy="4763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4" name="Google Shape;1334;p54"/>
          <p:cNvSpPr/>
          <p:nvPr/>
        </p:nvSpPr>
        <p:spPr>
          <a:xfrm>
            <a:off x="609575" y="2979788"/>
            <a:ext cx="7924850" cy="26458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5" name="Google Shape;1335;p54"/>
          <p:cNvSpPr/>
          <p:nvPr/>
        </p:nvSpPr>
        <p:spPr>
          <a:xfrm>
            <a:off x="609575" y="2979788"/>
            <a:ext cx="4763" cy="140440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6" name="Google Shape;1336;p54"/>
          <p:cNvSpPr/>
          <p:nvPr/>
        </p:nvSpPr>
        <p:spPr>
          <a:xfrm>
            <a:off x="8531780" y="2979788"/>
            <a:ext cx="4763" cy="1404400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7" name="Google Shape;1337;p54"/>
          <p:cNvSpPr/>
          <p:nvPr/>
        </p:nvSpPr>
        <p:spPr>
          <a:xfrm>
            <a:off x="840797" y="3540704"/>
            <a:ext cx="7462408" cy="4763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p54"/>
          <p:cNvSpPr/>
          <p:nvPr/>
        </p:nvSpPr>
        <p:spPr>
          <a:xfrm>
            <a:off x="840797" y="3196746"/>
            <a:ext cx="4289989" cy="26775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400"/>
              <a:buFont typeface="Manrope"/>
              <a:buNone/>
            </a:pPr>
            <a:r>
              <a:rPr b="1" i="0" lang="en-GB" sz="14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Incident report — Slack ↔ Jira integration outage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9" name="Google Shape;1339;p54"/>
          <p:cNvSpPr/>
          <p:nvPr/>
        </p:nvSpPr>
        <p:spPr>
          <a:xfrm>
            <a:off x="6336854" y="3236433"/>
            <a:ext cx="576238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April 21, 2026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0" name="Google Shape;1340;p54"/>
          <p:cNvSpPr/>
          <p:nvPr/>
        </p:nvSpPr>
        <p:spPr>
          <a:xfrm>
            <a:off x="6336854" y="3355496"/>
            <a:ext cx="214131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Date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1" name="Google Shape;1341;p54"/>
          <p:cNvSpPr/>
          <p:nvPr/>
        </p:nvSpPr>
        <p:spPr>
          <a:xfrm>
            <a:off x="7027375" y="3236433"/>
            <a:ext cx="786210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120 minutes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2" name="Google Shape;1342;p54"/>
          <p:cNvSpPr/>
          <p:nvPr/>
        </p:nvSpPr>
        <p:spPr>
          <a:xfrm>
            <a:off x="7027375" y="3355496"/>
            <a:ext cx="786210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14:00 – 16:00 UTC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3" name="Google Shape;1343;p54"/>
          <p:cNvSpPr/>
          <p:nvPr/>
        </p:nvSpPr>
        <p:spPr>
          <a:xfrm>
            <a:off x="7927868" y="3236433"/>
            <a:ext cx="413437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Resolved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4" name="Google Shape;1344;p54"/>
          <p:cNvSpPr/>
          <p:nvPr/>
        </p:nvSpPr>
        <p:spPr>
          <a:xfrm>
            <a:off x="7927868" y="3355496"/>
            <a:ext cx="302146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Status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5" name="Google Shape;1345;p54"/>
          <p:cNvSpPr/>
          <p:nvPr/>
        </p:nvSpPr>
        <p:spPr>
          <a:xfrm>
            <a:off x="840797" y="3657617"/>
            <a:ext cx="768628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1 · Executive summary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6" name="Google Shape;1346;p54"/>
          <p:cNvSpPr/>
          <p:nvPr/>
        </p:nvSpPr>
        <p:spPr>
          <a:xfrm>
            <a:off x="840797" y="3848117"/>
            <a:ext cx="7686280" cy="27627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700"/>
              <a:buFont typeface="Manrope"/>
              <a:buNone/>
            </a:pPr>
            <a:r>
              <a:rPr b="0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The bi-directional sync between Slack and Jira experienced a total service disruption for approximately two hours. Service was restored by rolling back a faulty webhook listener configuration. No data was lost, though a backlog of 450+ events required manual reconciliation.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7" name="Google Shape;1347;p54"/>
          <p:cNvSpPr/>
          <p:nvPr/>
        </p:nvSpPr>
        <p:spPr>
          <a:xfrm>
            <a:off x="609575" y="4824967"/>
            <a:ext cx="1062244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L&amp;D · AI 104 · Module 03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8" name="Google Shape;1348;p54"/>
          <p:cNvSpPr/>
          <p:nvPr/>
        </p:nvSpPr>
        <p:spPr>
          <a:xfrm>
            <a:off x="8235694" y="4824967"/>
            <a:ext cx="336831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40 / 62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9" name="Google Shape;1349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242" y="251507"/>
            <a:ext cx="336900" cy="284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p55"/>
          <p:cNvSpPr/>
          <p:nvPr/>
        </p:nvSpPr>
        <p:spPr>
          <a:xfrm>
            <a:off x="609575" y="328042"/>
            <a:ext cx="180950" cy="1809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6" name="Google Shape;1356;p55"/>
          <p:cNvSpPr/>
          <p:nvPr/>
        </p:nvSpPr>
        <p:spPr>
          <a:xfrm>
            <a:off x="857167" y="304767"/>
            <a:ext cx="77715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GlobalLogic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7" name="Google Shape;1357;p55"/>
          <p:cNvSpPr/>
          <p:nvPr/>
        </p:nvSpPr>
        <p:spPr>
          <a:xfrm>
            <a:off x="857167" y="447642"/>
            <a:ext cx="777156" cy="1037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Manrope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Manrope"/>
                <a:ea typeface="Manrope"/>
                <a:cs typeface="Manrope"/>
                <a:sym typeface="Manrope"/>
              </a:rPr>
              <a:t>A Hitachi Group Company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8" name="Google Shape;1358;p55"/>
          <p:cNvSpPr/>
          <p:nvPr/>
        </p:nvSpPr>
        <p:spPr>
          <a:xfrm>
            <a:off x="7984629" y="377527"/>
            <a:ext cx="587896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CONFIDENTIAL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9" name="Google Shape;1359;p55"/>
          <p:cNvSpPr/>
          <p:nvPr/>
        </p:nvSpPr>
        <p:spPr>
          <a:xfrm>
            <a:off x="609575" y="952500"/>
            <a:ext cx="8162596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DIVING INTO CHATGPT-5 · EXAMPLE B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0" name="Google Shape;1360;p55"/>
          <p:cNvSpPr/>
          <p:nvPr/>
        </p:nvSpPr>
        <p:spPr>
          <a:xfrm>
            <a:off x="609575" y="1185829"/>
            <a:ext cx="8162596" cy="40765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000"/>
              <a:buFont typeface="Manrope"/>
              <a:buNone/>
            </a:pP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Technical root cause &amp; </a:t>
            </a:r>
            <a:r>
              <a:rPr b="1" i="0" lang="en-GB" sz="30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preventative actions</a:t>
            </a: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1" name="Google Shape;1361;p55"/>
          <p:cNvSpPr/>
          <p:nvPr/>
        </p:nvSpPr>
        <p:spPr>
          <a:xfrm>
            <a:off x="609575" y="1745878"/>
            <a:ext cx="3848117" cy="1796810"/>
          </a:xfrm>
          <a:prstGeom prst="roundRect">
            <a:avLst>
              <a:gd fmla="val 4241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2" name="Google Shape;1362;p55"/>
          <p:cNvSpPr/>
          <p:nvPr/>
        </p:nvSpPr>
        <p:spPr>
          <a:xfrm>
            <a:off x="800075" y="1917320"/>
            <a:ext cx="3571130" cy="17618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100"/>
              <a:buFont typeface="Manrope"/>
              <a:buNone/>
            </a:pPr>
            <a:r>
              <a:rPr b="1" i="0" lang="en-GB" sz="11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2 · Technical root cause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3" name="Google Shape;1363;p55"/>
          <p:cNvSpPr/>
          <p:nvPr/>
        </p:nvSpPr>
        <p:spPr>
          <a:xfrm>
            <a:off x="800075" y="2160158"/>
            <a:ext cx="3571130" cy="15927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700"/>
              <a:buFont typeface="Manrope"/>
              <a:buNone/>
            </a:pPr>
            <a:r>
              <a:rPr b="0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Logs (specifically </a:t>
            </a:r>
            <a:r>
              <a:rPr b="1" i="0" lang="en-GB" sz="700" u="none" cap="none" strike="noStrike">
                <a:solidFill>
                  <a:srgbClr val="1B1F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E_TIMED_OUT </a:t>
            </a:r>
            <a:r>
              <a:rPr b="0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at 14:04:12) indicate a </a:t>
            </a:r>
            <a:r>
              <a:rPr b="1" i="0" lang="en-GB" sz="7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webhook deadlock</a:t>
            </a:r>
            <a:r>
              <a:rPr b="0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4" name="Google Shape;1364;p55"/>
          <p:cNvSpPr/>
          <p:nvPr/>
        </p:nvSpPr>
        <p:spPr>
          <a:xfrm>
            <a:off x="904792" y="2386087"/>
            <a:ext cx="383051" cy="41270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Trigger: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5" name="Google Shape;1365;p55"/>
          <p:cNvSpPr/>
          <p:nvPr/>
        </p:nvSpPr>
        <p:spPr>
          <a:xfrm>
            <a:off x="1316385" y="2388733"/>
            <a:ext cx="2833791" cy="40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700"/>
              <a:buFont typeface="Manrope"/>
              <a:buNone/>
            </a:pPr>
            <a:r>
              <a:rPr b="0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a minor update to the Amazon Transform middleware introduced a recursive loop — a Jira status update triggered a Slack notification, which the middleware re-interpreted as a new Jira update.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6" name="Google Shape;1366;p55"/>
          <p:cNvSpPr/>
          <p:nvPr/>
        </p:nvSpPr>
        <p:spPr>
          <a:xfrm>
            <a:off x="904792" y="2846380"/>
            <a:ext cx="353492" cy="5439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Result: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7" name="Google Shape;1367;p55"/>
          <p:cNvSpPr/>
          <p:nvPr/>
        </p:nvSpPr>
        <p:spPr>
          <a:xfrm>
            <a:off x="1286826" y="2849025"/>
            <a:ext cx="857978" cy="40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700"/>
              <a:buFont typeface="Manrope"/>
              <a:buNone/>
            </a:pPr>
            <a:r>
              <a:rPr b="0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an exponential surge in API calls hit Slack's rate limits (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8" name="Google Shape;1368;p55"/>
          <p:cNvSpPr/>
          <p:nvPr/>
        </p:nvSpPr>
        <p:spPr>
          <a:xfrm>
            <a:off x="2188353" y="2846380"/>
            <a:ext cx="472430" cy="5439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700"/>
              <a:buFont typeface="JetBrains Mono"/>
              <a:buNone/>
            </a:pPr>
            <a:r>
              <a:rPr b="1" i="0" lang="en-GB" sz="700" u="none" cap="none" strike="noStrike">
                <a:solidFill>
                  <a:srgbClr val="3843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429 Too Many Requests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9" name="Google Shape;1369;p55"/>
          <p:cNvSpPr/>
          <p:nvPr/>
        </p:nvSpPr>
        <p:spPr>
          <a:xfrm>
            <a:off x="2689324" y="2849025"/>
            <a:ext cx="870917" cy="5344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700"/>
              <a:buFont typeface="Manrope"/>
              <a:buNone/>
            </a:pPr>
            <a:r>
              <a:rPr b="0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) and ultimately crashed the listener pod via memory exhaustion (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0" name="Google Shape;1370;p55"/>
          <p:cNvSpPr/>
          <p:nvPr/>
        </p:nvSpPr>
        <p:spPr>
          <a:xfrm>
            <a:off x="3759027" y="2846380"/>
            <a:ext cx="418149" cy="5439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700"/>
              <a:buFont typeface="JetBrains Mono"/>
              <a:buNone/>
            </a:pPr>
            <a:r>
              <a:rPr b="1" i="0" lang="en-GB" sz="700" u="none" cap="none" strike="noStrike">
                <a:solidFill>
                  <a:srgbClr val="3843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OOMKill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1" name="Google Shape;1371;p55"/>
          <p:cNvSpPr/>
          <p:nvPr/>
        </p:nvSpPr>
        <p:spPr>
          <a:xfrm>
            <a:off x="4205718" y="2849025"/>
            <a:ext cx="99574" cy="1407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700"/>
              <a:buFont typeface="Manrope"/>
              <a:buNone/>
            </a:pPr>
            <a:r>
              <a:rPr b="0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).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2" name="Google Shape;1372;p55"/>
          <p:cNvSpPr/>
          <p:nvPr/>
        </p:nvSpPr>
        <p:spPr>
          <a:xfrm>
            <a:off x="4686267" y="1745878"/>
            <a:ext cx="3848158" cy="1796810"/>
          </a:xfrm>
          <a:prstGeom prst="roundRect">
            <a:avLst>
              <a:gd fmla="val 4241" name="adj"/>
            </a:avLst>
          </a:prstGeom>
          <a:solidFill>
            <a:srgbClr val="38435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3" name="Google Shape;1373;p55"/>
          <p:cNvSpPr/>
          <p:nvPr/>
        </p:nvSpPr>
        <p:spPr>
          <a:xfrm>
            <a:off x="4876767" y="1917320"/>
            <a:ext cx="3571173" cy="17618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nrope"/>
              <a:buNone/>
            </a:pPr>
            <a:r>
              <a:rPr b="1" i="0" lang="en-GB" sz="11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3 · Preventative actions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4" name="Google Shape;1374;p55"/>
          <p:cNvSpPr/>
          <p:nvPr/>
        </p:nvSpPr>
        <p:spPr>
          <a:xfrm>
            <a:off x="4981485" y="2160158"/>
            <a:ext cx="612039" cy="28148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Idempotency keys.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5" name="Google Shape;1375;p55"/>
          <p:cNvSpPr/>
          <p:nvPr/>
        </p:nvSpPr>
        <p:spPr>
          <a:xfrm>
            <a:off x="5622066" y="2162804"/>
            <a:ext cx="2783545" cy="27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Manrope"/>
              <a:buNone/>
            </a:pPr>
            <a:r>
              <a:rPr b="0" i="0" lang="en-GB" sz="7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Mandatory idempotency headers for all Amazon Transform traffic to ignore duplicate event IDs.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6" name="Google Shape;1376;p55"/>
          <p:cNvSpPr/>
          <p:nvPr/>
        </p:nvSpPr>
        <p:spPr>
          <a:xfrm>
            <a:off x="4981485" y="2489233"/>
            <a:ext cx="593353" cy="28148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Circuit breaker.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7" name="Google Shape;1377;p55"/>
          <p:cNvSpPr/>
          <p:nvPr/>
        </p:nvSpPr>
        <p:spPr>
          <a:xfrm>
            <a:off x="5603379" y="2491879"/>
            <a:ext cx="2744456" cy="271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Manrope"/>
              <a:buNone/>
            </a:pPr>
            <a:r>
              <a:rPr b="0" i="0" lang="en-GB" sz="7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Auto-kill the webhook sync if the error rate exceeds 15% in a 60-second window.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8" name="Google Shape;1378;p55"/>
          <p:cNvSpPr/>
          <p:nvPr/>
        </p:nvSpPr>
        <p:spPr>
          <a:xfrm>
            <a:off x="4981485" y="2818309"/>
            <a:ext cx="678185" cy="28148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Enhanced monitoring.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9" name="Google Shape;1379;p55"/>
          <p:cNvSpPr/>
          <p:nvPr/>
        </p:nvSpPr>
        <p:spPr>
          <a:xfrm>
            <a:off x="5688211" y="2820955"/>
            <a:ext cx="2717799" cy="271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Manrope"/>
              <a:buNone/>
            </a:pPr>
            <a:r>
              <a:rPr b="0" i="0" lang="en-GB" sz="7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Configure Amazon Q to alert on recursive traffic patterns rather than just standard uptime pings.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0" name="Google Shape;1380;p55"/>
          <p:cNvSpPr/>
          <p:nvPr/>
        </p:nvSpPr>
        <p:spPr>
          <a:xfrm>
            <a:off x="609575" y="4824967"/>
            <a:ext cx="1062244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L&amp;D · AI 104 · Module 03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1" name="Google Shape;1381;p55"/>
          <p:cNvSpPr/>
          <p:nvPr/>
        </p:nvSpPr>
        <p:spPr>
          <a:xfrm>
            <a:off x="8235694" y="4824967"/>
            <a:ext cx="336831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41 / 62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82" name="Google Shape;1382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242" y="251507"/>
            <a:ext cx="336900" cy="284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87" name="Shape 1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Google Shape;1388;p56"/>
          <p:cNvSpPr/>
          <p:nvPr/>
        </p:nvSpPr>
        <p:spPr>
          <a:xfrm>
            <a:off x="609575" y="328042"/>
            <a:ext cx="180950" cy="1809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9" name="Google Shape;1389;p56"/>
          <p:cNvSpPr/>
          <p:nvPr/>
        </p:nvSpPr>
        <p:spPr>
          <a:xfrm>
            <a:off x="857167" y="304767"/>
            <a:ext cx="77715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GlobalLogic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0" name="Google Shape;1390;p56"/>
          <p:cNvSpPr/>
          <p:nvPr/>
        </p:nvSpPr>
        <p:spPr>
          <a:xfrm>
            <a:off x="857167" y="447642"/>
            <a:ext cx="777156" cy="1037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Manrope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Manrope"/>
                <a:ea typeface="Manrope"/>
                <a:cs typeface="Manrope"/>
                <a:sym typeface="Manrope"/>
              </a:rPr>
              <a:t>A Hitachi Group Company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1" name="Google Shape;1391;p56"/>
          <p:cNvSpPr/>
          <p:nvPr/>
        </p:nvSpPr>
        <p:spPr>
          <a:xfrm>
            <a:off x="7984629" y="377527"/>
            <a:ext cx="587896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CONFIDENTIAL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2" name="Google Shape;1392;p56"/>
          <p:cNvSpPr/>
          <p:nvPr/>
        </p:nvSpPr>
        <p:spPr>
          <a:xfrm>
            <a:off x="609575" y="952500"/>
            <a:ext cx="8162596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EXPLORING MICROSOFT COPILOT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3" name="Google Shape;1393;p56"/>
          <p:cNvSpPr/>
          <p:nvPr/>
        </p:nvSpPr>
        <p:spPr>
          <a:xfrm>
            <a:off x="609575" y="1185829"/>
            <a:ext cx="8162596" cy="40765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000"/>
              <a:buFont typeface="Manrope"/>
              <a:buNone/>
            </a:pP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The </a:t>
            </a:r>
            <a:r>
              <a:rPr b="1" i="0" lang="en-GB" sz="30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corporate navigator</a:t>
            </a: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4" name="Google Shape;1394;p56"/>
          <p:cNvSpPr/>
          <p:nvPr/>
        </p:nvSpPr>
        <p:spPr>
          <a:xfrm>
            <a:off x="609575" y="1660137"/>
            <a:ext cx="6867526" cy="1709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800"/>
              <a:buFont typeface="Manrope"/>
              <a:buNone/>
            </a:pPr>
            <a:r>
              <a:rPr b="0" i="0" lang="en-GB" sz="8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Copilot excels at finding information buried in internal Microsoft Graph — Teams, Outlook, SharePoint.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5" name="Google Shape;1395;p56"/>
          <p:cNvSpPr/>
          <p:nvPr/>
        </p:nvSpPr>
        <p:spPr>
          <a:xfrm>
            <a:off x="609575" y="2040599"/>
            <a:ext cx="2540000" cy="2179092"/>
          </a:xfrm>
          <a:prstGeom prst="roundRect">
            <a:avLst>
              <a:gd fmla="val 393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6" name="Google Shape;1396;p56"/>
          <p:cNvSpPr/>
          <p:nvPr/>
        </p:nvSpPr>
        <p:spPr>
          <a:xfrm>
            <a:off x="609575" y="4217045"/>
            <a:ext cx="2540000" cy="4763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7" name="Google Shape;1397;p56"/>
          <p:cNvSpPr/>
          <p:nvPr/>
        </p:nvSpPr>
        <p:spPr>
          <a:xfrm>
            <a:off x="609575" y="2040599"/>
            <a:ext cx="2540000" cy="23813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8" name="Google Shape;1398;p56"/>
          <p:cNvSpPr/>
          <p:nvPr/>
        </p:nvSpPr>
        <p:spPr>
          <a:xfrm>
            <a:off x="609575" y="2040599"/>
            <a:ext cx="4763" cy="2179092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9" name="Google Shape;1399;p56"/>
          <p:cNvSpPr/>
          <p:nvPr/>
        </p:nvSpPr>
        <p:spPr>
          <a:xfrm>
            <a:off x="3146930" y="2040599"/>
            <a:ext cx="4763" cy="2179092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0" name="Google Shape;1400;p56"/>
          <p:cNvSpPr/>
          <p:nvPr/>
        </p:nvSpPr>
        <p:spPr>
          <a:xfrm>
            <a:off x="783663" y="2235854"/>
            <a:ext cx="2257580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OPS USE CASE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1" name="Google Shape;1401;p56"/>
          <p:cNvSpPr/>
          <p:nvPr/>
        </p:nvSpPr>
        <p:spPr>
          <a:xfrm>
            <a:off x="783663" y="2384516"/>
            <a:ext cx="2257580" cy="19904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400"/>
              <a:buFont typeface="Manrope"/>
              <a:buNone/>
            </a:pPr>
            <a:r>
              <a:rPr b="1" i="0" lang="en-GB" sz="14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Internal search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2" name="Google Shape;1402;p56"/>
          <p:cNvSpPr/>
          <p:nvPr/>
        </p:nvSpPr>
        <p:spPr>
          <a:xfrm>
            <a:off x="783663" y="2631158"/>
            <a:ext cx="2257580" cy="27627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700"/>
              <a:buFont typeface="Manrope"/>
              <a:buNone/>
            </a:pPr>
            <a:r>
              <a:rPr b="0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Pull SOPs, decisions, and threads out of channels you barely remember joining.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3" name="Google Shape;1403;p56"/>
          <p:cNvSpPr/>
          <p:nvPr/>
        </p:nvSpPr>
        <p:spPr>
          <a:xfrm>
            <a:off x="783663" y="3214977"/>
            <a:ext cx="2191825" cy="830627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4" name="Google Shape;1404;p56"/>
          <p:cNvSpPr/>
          <p:nvPr/>
        </p:nvSpPr>
        <p:spPr>
          <a:xfrm>
            <a:off x="783663" y="3214977"/>
            <a:ext cx="18521" cy="830627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5" name="Google Shape;1405;p56"/>
          <p:cNvSpPr/>
          <p:nvPr/>
        </p:nvSpPr>
        <p:spPr>
          <a:xfrm>
            <a:off x="935533" y="3310227"/>
            <a:ext cx="1972359" cy="65917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900"/>
              <a:buFont typeface="Manrope"/>
              <a:buNone/>
            </a:pPr>
            <a:r>
              <a:rPr b="0" i="1" lang="en-GB" sz="9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"Find the SOP for 'Firewall Exception Requests' that was shared in the 'Security-Ops' Teams channel last month."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6" name="Google Shape;1406;p56"/>
          <p:cNvSpPr/>
          <p:nvPr/>
        </p:nvSpPr>
        <p:spPr>
          <a:xfrm>
            <a:off x="3301959" y="2040599"/>
            <a:ext cx="2540042" cy="2179092"/>
          </a:xfrm>
          <a:prstGeom prst="roundRect">
            <a:avLst>
              <a:gd fmla="val 393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7" name="Google Shape;1407;p56"/>
          <p:cNvSpPr/>
          <p:nvPr/>
        </p:nvSpPr>
        <p:spPr>
          <a:xfrm>
            <a:off x="3301959" y="4217045"/>
            <a:ext cx="2540042" cy="4763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8" name="Google Shape;1408;p56"/>
          <p:cNvSpPr/>
          <p:nvPr/>
        </p:nvSpPr>
        <p:spPr>
          <a:xfrm>
            <a:off x="3301959" y="2040599"/>
            <a:ext cx="2540042" cy="23813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9" name="Google Shape;1409;p56"/>
          <p:cNvSpPr/>
          <p:nvPr/>
        </p:nvSpPr>
        <p:spPr>
          <a:xfrm>
            <a:off x="3301959" y="2040599"/>
            <a:ext cx="4763" cy="2179092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0" name="Google Shape;1410;p56"/>
          <p:cNvSpPr/>
          <p:nvPr/>
        </p:nvSpPr>
        <p:spPr>
          <a:xfrm>
            <a:off x="5839355" y="2040599"/>
            <a:ext cx="4763" cy="2179092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1" name="Google Shape;1411;p56"/>
          <p:cNvSpPr/>
          <p:nvPr/>
        </p:nvSpPr>
        <p:spPr>
          <a:xfrm>
            <a:off x="3476046" y="2235854"/>
            <a:ext cx="2257623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FEATURE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2" name="Google Shape;1412;p56"/>
          <p:cNvSpPr/>
          <p:nvPr/>
        </p:nvSpPr>
        <p:spPr>
          <a:xfrm>
            <a:off x="3476046" y="2384516"/>
            <a:ext cx="2257623" cy="19904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400"/>
              <a:buFont typeface="Manrope"/>
              <a:buNone/>
            </a:pPr>
            <a:r>
              <a:rPr b="1" i="0" lang="en-GB" sz="14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Copilot Agents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3" name="Google Shape;1413;p56"/>
          <p:cNvSpPr/>
          <p:nvPr/>
        </p:nvSpPr>
        <p:spPr>
          <a:xfrm>
            <a:off x="3476046" y="2631158"/>
            <a:ext cx="2257623" cy="40488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700"/>
              <a:buFont typeface="Manrope"/>
              <a:buNone/>
            </a:pPr>
            <a:r>
              <a:rPr b="0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Mini-AI assistants that live inside Teams to handle specific tasks — onboarding a new hire, checking ticket status, escalating outages.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4" name="Google Shape;1414;p56"/>
          <p:cNvSpPr/>
          <p:nvPr/>
        </p:nvSpPr>
        <p:spPr>
          <a:xfrm>
            <a:off x="5994383" y="2040599"/>
            <a:ext cx="2540042" cy="2179092"/>
          </a:xfrm>
          <a:prstGeom prst="roundRect">
            <a:avLst>
              <a:gd fmla="val 393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5" name="Google Shape;1415;p56"/>
          <p:cNvSpPr/>
          <p:nvPr/>
        </p:nvSpPr>
        <p:spPr>
          <a:xfrm>
            <a:off x="5994383" y="4217045"/>
            <a:ext cx="2540042" cy="4763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6" name="Google Shape;1416;p56"/>
          <p:cNvSpPr/>
          <p:nvPr/>
        </p:nvSpPr>
        <p:spPr>
          <a:xfrm>
            <a:off x="5994383" y="2040599"/>
            <a:ext cx="2540042" cy="23813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7" name="Google Shape;1417;p56"/>
          <p:cNvSpPr/>
          <p:nvPr/>
        </p:nvSpPr>
        <p:spPr>
          <a:xfrm>
            <a:off x="5994384" y="2040599"/>
            <a:ext cx="4763" cy="2179092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8" name="Google Shape;1418;p56"/>
          <p:cNvSpPr/>
          <p:nvPr/>
        </p:nvSpPr>
        <p:spPr>
          <a:xfrm>
            <a:off x="8531779" y="2040599"/>
            <a:ext cx="4763" cy="2179092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9" name="Google Shape;1419;p56"/>
          <p:cNvSpPr/>
          <p:nvPr/>
        </p:nvSpPr>
        <p:spPr>
          <a:xfrm>
            <a:off x="6168471" y="2235854"/>
            <a:ext cx="2257623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INTEGRATION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0" name="Google Shape;1420;p56"/>
          <p:cNvSpPr/>
          <p:nvPr/>
        </p:nvSpPr>
        <p:spPr>
          <a:xfrm>
            <a:off x="6168471" y="2384516"/>
            <a:ext cx="2257623" cy="19904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400"/>
              <a:buFont typeface="Manrope"/>
              <a:buNone/>
            </a:pPr>
            <a:r>
              <a:rPr b="1" i="0" lang="en-GB" sz="14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Microsoft 365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1" name="Google Shape;1421;p56"/>
          <p:cNvSpPr/>
          <p:nvPr/>
        </p:nvSpPr>
        <p:spPr>
          <a:xfrm>
            <a:off x="6168471" y="2631158"/>
            <a:ext cx="2257623" cy="40488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700"/>
              <a:buFont typeface="Manrope"/>
              <a:buNone/>
            </a:pPr>
            <a:r>
              <a:rPr b="0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Seamless connectivity across Outlook, Teams, and SharePoint — one query against your organizational knowledge.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2" name="Google Shape;1422;p56"/>
          <p:cNvSpPr/>
          <p:nvPr/>
        </p:nvSpPr>
        <p:spPr>
          <a:xfrm>
            <a:off x="609575" y="4824967"/>
            <a:ext cx="1062244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L&amp;D · AI 104 · Module 03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3" name="Google Shape;1423;p56"/>
          <p:cNvSpPr/>
          <p:nvPr/>
        </p:nvSpPr>
        <p:spPr>
          <a:xfrm>
            <a:off x="8235694" y="4824967"/>
            <a:ext cx="336831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42 / 62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4" name="Google Shape;1424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242" y="251507"/>
            <a:ext cx="336900" cy="284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84358"/>
        </a:solidFill>
      </p:bgPr>
    </p:bg>
    <p:spTree>
      <p:nvGrpSpPr>
        <p:cNvPr id="1429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30" name="Google Shape;1430;p57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6096000" y="2095500"/>
            <a:ext cx="3048000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1" name="Google Shape;1431;p57"/>
          <p:cNvSpPr/>
          <p:nvPr/>
        </p:nvSpPr>
        <p:spPr>
          <a:xfrm>
            <a:off x="609575" y="328042"/>
            <a:ext cx="180950" cy="180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2" name="Google Shape;1432;p57"/>
          <p:cNvSpPr/>
          <p:nvPr/>
        </p:nvSpPr>
        <p:spPr>
          <a:xfrm>
            <a:off x="857167" y="304767"/>
            <a:ext cx="77715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GlobalLogic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3" name="Google Shape;1433;p57"/>
          <p:cNvSpPr/>
          <p:nvPr/>
        </p:nvSpPr>
        <p:spPr>
          <a:xfrm>
            <a:off x="857167" y="447642"/>
            <a:ext cx="777156" cy="1037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Manrope"/>
              <a:buNone/>
            </a:pPr>
            <a:r>
              <a:rPr b="0" i="0" lang="en-GB" sz="5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A Hitachi Group Company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4" name="Google Shape;1434;p57"/>
          <p:cNvSpPr/>
          <p:nvPr/>
        </p:nvSpPr>
        <p:spPr>
          <a:xfrm>
            <a:off x="7984629" y="377527"/>
            <a:ext cx="587896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CONFIDENTIAL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5" name="Google Shape;1435;p57"/>
          <p:cNvSpPr/>
          <p:nvPr/>
        </p:nvSpPr>
        <p:spPr>
          <a:xfrm>
            <a:off x="762000" y="1143000"/>
            <a:ext cx="6376988" cy="1460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800"/>
              <a:buFont typeface="JetBrains Mono"/>
              <a:buNone/>
            </a:pPr>
            <a:r>
              <a:rPr b="0" i="0" lang="en-GB" sz="8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PART 04 · MODULE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6" name="Google Shape;1436;p57"/>
          <p:cNvSpPr/>
          <p:nvPr/>
        </p:nvSpPr>
        <p:spPr>
          <a:xfrm>
            <a:off x="762000" y="1422383"/>
            <a:ext cx="6376988" cy="208205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700"/>
              <a:buFont typeface="Manrope"/>
              <a:buNone/>
            </a:pPr>
            <a:r>
              <a:rPr b="1" i="0" lang="en-GB" sz="57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Ethics &amp; Governance in AI.</a:t>
            </a:r>
            <a:endParaRPr b="0" i="0" sz="5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7" name="Google Shape;1437;p57"/>
          <p:cNvSpPr/>
          <p:nvPr/>
        </p:nvSpPr>
        <p:spPr>
          <a:xfrm>
            <a:off x="762000" y="3618714"/>
            <a:ext cx="4905376" cy="37913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nrope"/>
              <a:buNone/>
            </a:pPr>
            <a:r>
              <a:rPr b="0" i="0" lang="en-GB" sz="11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Drawing the line between augmentation and abdication — for our clients, our data, and ourselves.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8" name="Google Shape;1438;p57"/>
          <p:cNvSpPr/>
          <p:nvPr/>
        </p:nvSpPr>
        <p:spPr>
          <a:xfrm>
            <a:off x="609575" y="4824967"/>
            <a:ext cx="550193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L&amp;D · AI 104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9" name="Google Shape;1439;p57"/>
          <p:cNvSpPr/>
          <p:nvPr/>
        </p:nvSpPr>
        <p:spPr>
          <a:xfrm>
            <a:off x="8235694" y="4824967"/>
            <a:ext cx="336831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43 / 62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0" name="Google Shape;1440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1242" y="251507"/>
            <a:ext cx="336900" cy="284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5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Google Shape;1446;p58"/>
          <p:cNvSpPr/>
          <p:nvPr/>
        </p:nvSpPr>
        <p:spPr>
          <a:xfrm>
            <a:off x="609575" y="328042"/>
            <a:ext cx="180950" cy="1809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7" name="Google Shape;1447;p58"/>
          <p:cNvSpPr/>
          <p:nvPr/>
        </p:nvSpPr>
        <p:spPr>
          <a:xfrm>
            <a:off x="857167" y="304767"/>
            <a:ext cx="77715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GlobalLogic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8" name="Google Shape;1448;p58"/>
          <p:cNvSpPr/>
          <p:nvPr/>
        </p:nvSpPr>
        <p:spPr>
          <a:xfrm>
            <a:off x="857167" y="447642"/>
            <a:ext cx="777156" cy="1037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Manrope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Manrope"/>
                <a:ea typeface="Manrope"/>
                <a:cs typeface="Manrope"/>
                <a:sym typeface="Manrope"/>
              </a:rPr>
              <a:t>A Hitachi Group Company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9" name="Google Shape;1449;p58"/>
          <p:cNvSpPr/>
          <p:nvPr/>
        </p:nvSpPr>
        <p:spPr>
          <a:xfrm>
            <a:off x="7984629" y="377527"/>
            <a:ext cx="587896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CONFIDENTIAL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0" name="Google Shape;1450;p58"/>
          <p:cNvSpPr/>
          <p:nvPr/>
        </p:nvSpPr>
        <p:spPr>
          <a:xfrm>
            <a:off x="609575" y="952500"/>
            <a:ext cx="8162596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GOVERNANCE WORKFLOW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1" name="Google Shape;1451;p58"/>
          <p:cNvSpPr/>
          <p:nvPr/>
        </p:nvSpPr>
        <p:spPr>
          <a:xfrm>
            <a:off x="609575" y="1185829"/>
            <a:ext cx="8162596" cy="40765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000"/>
              <a:buFont typeface="Manrope"/>
              <a:buNone/>
            </a:pP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Maintaining </a:t>
            </a:r>
            <a:r>
              <a:rPr b="1" i="0" lang="en-GB" sz="30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100% of human accountability</a:t>
            </a: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2" name="Google Shape;1452;p58"/>
          <p:cNvSpPr/>
          <p:nvPr/>
        </p:nvSpPr>
        <p:spPr>
          <a:xfrm>
            <a:off x="609575" y="1803011"/>
            <a:ext cx="7924850" cy="1467156"/>
          </a:xfrm>
          <a:prstGeom prst="roundRect">
            <a:avLst>
              <a:gd fmla="val 7791" name="adj"/>
            </a:avLst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3" name="Google Shape;1453;p58"/>
          <p:cNvSpPr/>
          <p:nvPr/>
        </p:nvSpPr>
        <p:spPr>
          <a:xfrm>
            <a:off x="990575" y="2088762"/>
            <a:ext cx="7377736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THE GOLDEN RULE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4" name="Google Shape;1454;p58"/>
          <p:cNvSpPr/>
          <p:nvPr/>
        </p:nvSpPr>
        <p:spPr>
          <a:xfrm>
            <a:off x="990575" y="2264420"/>
            <a:ext cx="7377736" cy="33907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anrope"/>
              <a:buNone/>
            </a:pPr>
            <a:r>
              <a:rPr b="1" i="0" lang="en-GB" sz="24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AI drafts. Humans approve.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5" name="Google Shape;1455;p58"/>
          <p:cNvSpPr/>
          <p:nvPr/>
        </p:nvSpPr>
        <p:spPr>
          <a:xfrm>
            <a:off x="990575" y="2670142"/>
            <a:ext cx="5886450" cy="33332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nrope"/>
              <a:buNone/>
            </a:pPr>
            <a:r>
              <a:rPr b="0" i="0" lang="en-GB" sz="8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Captures 80% of efficiency gains while maintaining 100% of accountability. Over-relying on AI responses without human review is the most common — and the most expensive — mistake.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6" name="Google Shape;1456;p58"/>
          <p:cNvSpPr/>
          <p:nvPr/>
        </p:nvSpPr>
        <p:spPr>
          <a:xfrm>
            <a:off x="609575" y="4824967"/>
            <a:ext cx="1062244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L&amp;D · AI 104 · Module 04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7" name="Google Shape;1457;p58"/>
          <p:cNvSpPr/>
          <p:nvPr/>
        </p:nvSpPr>
        <p:spPr>
          <a:xfrm>
            <a:off x="8235694" y="4824967"/>
            <a:ext cx="336831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44 / 62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8" name="Google Shape;1458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242" y="251507"/>
            <a:ext cx="336900" cy="284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63" name="Shape 1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Google Shape;1464;p59"/>
          <p:cNvSpPr/>
          <p:nvPr/>
        </p:nvSpPr>
        <p:spPr>
          <a:xfrm>
            <a:off x="609575" y="328042"/>
            <a:ext cx="180950" cy="1809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5" name="Google Shape;1465;p59"/>
          <p:cNvSpPr/>
          <p:nvPr/>
        </p:nvSpPr>
        <p:spPr>
          <a:xfrm>
            <a:off x="857167" y="304767"/>
            <a:ext cx="77715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GlobalLogic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6" name="Google Shape;1466;p59"/>
          <p:cNvSpPr/>
          <p:nvPr/>
        </p:nvSpPr>
        <p:spPr>
          <a:xfrm>
            <a:off x="857167" y="447642"/>
            <a:ext cx="777156" cy="1037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Manrope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Manrope"/>
                <a:ea typeface="Manrope"/>
                <a:cs typeface="Manrope"/>
                <a:sym typeface="Manrope"/>
              </a:rPr>
              <a:t>A Hitachi Group Company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7" name="Google Shape;1467;p59"/>
          <p:cNvSpPr/>
          <p:nvPr/>
        </p:nvSpPr>
        <p:spPr>
          <a:xfrm>
            <a:off x="7984629" y="377527"/>
            <a:ext cx="587896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CONFIDENTIAL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8" name="Google Shape;1468;p59"/>
          <p:cNvSpPr/>
          <p:nvPr/>
        </p:nvSpPr>
        <p:spPr>
          <a:xfrm>
            <a:off x="609575" y="952500"/>
            <a:ext cx="8162596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HUMAN-IN-THE-LOOP ARCHITECTURE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9" name="Google Shape;1469;p59"/>
          <p:cNvSpPr/>
          <p:nvPr/>
        </p:nvSpPr>
        <p:spPr>
          <a:xfrm>
            <a:off x="609575" y="1185829"/>
            <a:ext cx="8162596" cy="40765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000"/>
              <a:buFont typeface="Manrope"/>
              <a:buNone/>
            </a:pP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Five gates between data &amp; </a:t>
            </a:r>
            <a:r>
              <a:rPr b="1" i="0" lang="en-GB" sz="30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final execution</a:t>
            </a: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0" name="Google Shape;1470;p59"/>
          <p:cNvSpPr/>
          <p:nvPr/>
        </p:nvSpPr>
        <p:spPr>
          <a:xfrm>
            <a:off x="609575" y="1745878"/>
            <a:ext cx="1554510" cy="456572"/>
          </a:xfrm>
          <a:prstGeom prst="roundRect">
            <a:avLst>
              <a:gd fmla="val 14603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1" name="Google Shape;1471;p59"/>
          <p:cNvSpPr/>
          <p:nvPr/>
        </p:nvSpPr>
        <p:spPr>
          <a:xfrm>
            <a:off x="609575" y="1745878"/>
            <a:ext cx="1554510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2" name="Google Shape;1472;p59"/>
          <p:cNvSpPr/>
          <p:nvPr/>
        </p:nvSpPr>
        <p:spPr>
          <a:xfrm>
            <a:off x="674529" y="1879989"/>
            <a:ext cx="1424603" cy="8784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400"/>
              <a:buFont typeface="JetBrains Mono"/>
              <a:buNone/>
            </a:pPr>
            <a:r>
              <a:rPr b="1" i="0" lang="en-GB" sz="4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3" name="Google Shape;1473;p59"/>
          <p:cNvSpPr/>
          <p:nvPr/>
        </p:nvSpPr>
        <p:spPr>
          <a:xfrm>
            <a:off x="674529" y="1986856"/>
            <a:ext cx="1424603" cy="11905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Data Input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4" name="Google Shape;1474;p59"/>
          <p:cNvSpPr/>
          <p:nvPr/>
        </p:nvSpPr>
        <p:spPr>
          <a:xfrm>
            <a:off x="2202160" y="1745878"/>
            <a:ext cx="1554510" cy="456572"/>
          </a:xfrm>
          <a:prstGeom prst="roundRect">
            <a:avLst>
              <a:gd fmla="val 14603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5" name="Google Shape;1475;p59"/>
          <p:cNvSpPr/>
          <p:nvPr/>
        </p:nvSpPr>
        <p:spPr>
          <a:xfrm>
            <a:off x="2202160" y="1745878"/>
            <a:ext cx="1554510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6" name="Google Shape;1476;p59"/>
          <p:cNvSpPr/>
          <p:nvPr/>
        </p:nvSpPr>
        <p:spPr>
          <a:xfrm>
            <a:off x="2267114" y="1879989"/>
            <a:ext cx="1424603" cy="8784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400"/>
              <a:buFont typeface="JetBrains Mono"/>
              <a:buNone/>
            </a:pPr>
            <a:r>
              <a:rPr b="1" i="0" lang="en-GB" sz="4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7" name="Google Shape;1477;p59"/>
          <p:cNvSpPr/>
          <p:nvPr/>
        </p:nvSpPr>
        <p:spPr>
          <a:xfrm>
            <a:off x="2267114" y="1986856"/>
            <a:ext cx="1424603" cy="11905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AI Processing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8" name="Google Shape;1478;p59"/>
          <p:cNvSpPr/>
          <p:nvPr/>
        </p:nvSpPr>
        <p:spPr>
          <a:xfrm>
            <a:off x="3794746" y="1745878"/>
            <a:ext cx="1554510" cy="456572"/>
          </a:xfrm>
          <a:prstGeom prst="roundRect">
            <a:avLst>
              <a:gd fmla="val 14603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9" name="Google Shape;1479;p59"/>
          <p:cNvSpPr/>
          <p:nvPr/>
        </p:nvSpPr>
        <p:spPr>
          <a:xfrm>
            <a:off x="3794746" y="1745878"/>
            <a:ext cx="1554510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0" name="Google Shape;1480;p59"/>
          <p:cNvSpPr/>
          <p:nvPr/>
        </p:nvSpPr>
        <p:spPr>
          <a:xfrm>
            <a:off x="3859699" y="1879989"/>
            <a:ext cx="1424603" cy="8784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400"/>
              <a:buFont typeface="JetBrains Mono"/>
              <a:buNone/>
            </a:pPr>
            <a:r>
              <a:rPr b="1" i="0" lang="en-GB" sz="4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1" name="Google Shape;1481;p59"/>
          <p:cNvSpPr/>
          <p:nvPr/>
        </p:nvSpPr>
        <p:spPr>
          <a:xfrm>
            <a:off x="3859699" y="1986856"/>
            <a:ext cx="1424603" cy="11905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Draft Output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2" name="Google Shape;1482;p59"/>
          <p:cNvSpPr/>
          <p:nvPr/>
        </p:nvSpPr>
        <p:spPr>
          <a:xfrm>
            <a:off x="5387331" y="1745878"/>
            <a:ext cx="1554510" cy="456572"/>
          </a:xfrm>
          <a:prstGeom prst="roundRect">
            <a:avLst>
              <a:gd fmla="val 14603" name="adj"/>
            </a:avLst>
          </a:prstGeom>
          <a:solidFill>
            <a:srgbClr val="FFF7F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3" name="Google Shape;1483;p59"/>
          <p:cNvSpPr/>
          <p:nvPr/>
        </p:nvSpPr>
        <p:spPr>
          <a:xfrm>
            <a:off x="5387331" y="2199804"/>
            <a:ext cx="1554510" cy="4763"/>
          </a:xfrm>
          <a:prstGeom prst="rect">
            <a:avLst/>
          </a:prstGeom>
          <a:solidFill>
            <a:srgbClr val="FFD7B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4" name="Google Shape;1484;p59"/>
          <p:cNvSpPr/>
          <p:nvPr/>
        </p:nvSpPr>
        <p:spPr>
          <a:xfrm>
            <a:off x="5387331" y="1745878"/>
            <a:ext cx="1554510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5" name="Google Shape;1485;p59"/>
          <p:cNvSpPr/>
          <p:nvPr/>
        </p:nvSpPr>
        <p:spPr>
          <a:xfrm>
            <a:off x="5387331" y="1745878"/>
            <a:ext cx="4763" cy="456572"/>
          </a:xfrm>
          <a:prstGeom prst="rect">
            <a:avLst/>
          </a:prstGeom>
          <a:solidFill>
            <a:srgbClr val="FFD7B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6" name="Google Shape;1486;p59"/>
          <p:cNvSpPr/>
          <p:nvPr/>
        </p:nvSpPr>
        <p:spPr>
          <a:xfrm>
            <a:off x="6939195" y="1745878"/>
            <a:ext cx="4763" cy="456572"/>
          </a:xfrm>
          <a:prstGeom prst="rect">
            <a:avLst/>
          </a:prstGeom>
          <a:solidFill>
            <a:srgbClr val="FFD7B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7" name="Google Shape;1487;p59"/>
          <p:cNvSpPr/>
          <p:nvPr/>
        </p:nvSpPr>
        <p:spPr>
          <a:xfrm>
            <a:off x="5455009" y="1878666"/>
            <a:ext cx="1419152" cy="8784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400"/>
              <a:buFont typeface="JetBrains Mono"/>
              <a:buNone/>
            </a:pPr>
            <a:r>
              <a:rPr b="1" i="0" lang="en-GB" sz="4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 · GATE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8" name="Google Shape;1488;p59"/>
          <p:cNvSpPr/>
          <p:nvPr/>
        </p:nvSpPr>
        <p:spPr>
          <a:xfrm>
            <a:off x="5455009" y="1985533"/>
            <a:ext cx="1419152" cy="11905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Human Review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9" name="Google Shape;1489;p59"/>
          <p:cNvSpPr/>
          <p:nvPr/>
        </p:nvSpPr>
        <p:spPr>
          <a:xfrm>
            <a:off x="6979915" y="1745878"/>
            <a:ext cx="1554510" cy="456572"/>
          </a:xfrm>
          <a:prstGeom prst="roundRect">
            <a:avLst>
              <a:gd fmla="val 14603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0" name="Google Shape;1490;p59"/>
          <p:cNvSpPr/>
          <p:nvPr/>
        </p:nvSpPr>
        <p:spPr>
          <a:xfrm>
            <a:off x="6979915" y="1745878"/>
            <a:ext cx="1554510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1" name="Google Shape;1491;p59"/>
          <p:cNvSpPr/>
          <p:nvPr/>
        </p:nvSpPr>
        <p:spPr>
          <a:xfrm>
            <a:off x="7044869" y="1879989"/>
            <a:ext cx="1424603" cy="8784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400"/>
              <a:buFont typeface="JetBrains Mono"/>
              <a:buNone/>
            </a:pPr>
            <a:r>
              <a:rPr b="1" i="0" lang="en-GB" sz="4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05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2" name="Google Shape;1492;p59"/>
          <p:cNvSpPr/>
          <p:nvPr/>
        </p:nvSpPr>
        <p:spPr>
          <a:xfrm>
            <a:off x="7044869" y="1986856"/>
            <a:ext cx="1424603" cy="11905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Final Execution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3" name="Google Shape;1493;p59"/>
          <p:cNvSpPr/>
          <p:nvPr/>
        </p:nvSpPr>
        <p:spPr>
          <a:xfrm>
            <a:off x="609575" y="2373892"/>
            <a:ext cx="3848117" cy="1417878"/>
          </a:xfrm>
          <a:prstGeom prst="roundRect">
            <a:avLst>
              <a:gd fmla="val 6046" name="adj"/>
            </a:avLst>
          </a:prstGeom>
          <a:solidFill>
            <a:srgbClr val="FFF7F1"/>
          </a:solidFill>
          <a:ln cap="flat" cmpd="sng" w="9525">
            <a:solidFill>
              <a:srgbClr val="FFD7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4" name="Google Shape;1494;p59"/>
          <p:cNvSpPr/>
          <p:nvPr/>
        </p:nvSpPr>
        <p:spPr>
          <a:xfrm>
            <a:off x="821738" y="2567037"/>
            <a:ext cx="3526505" cy="15907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100"/>
              <a:buFont typeface="Manrope"/>
              <a:buNone/>
            </a:pPr>
            <a:r>
              <a:rPr b="1" i="0" lang="en-GB" sz="11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Review checklist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5" name="Google Shape;1495;p59"/>
          <p:cNvSpPr/>
          <p:nvPr/>
        </p:nvSpPr>
        <p:spPr>
          <a:xfrm>
            <a:off x="926455" y="2783252"/>
            <a:ext cx="728415" cy="1364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1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Factual accuracy: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6" name="Google Shape;1496;p59"/>
          <p:cNvSpPr/>
          <p:nvPr/>
        </p:nvSpPr>
        <p:spPr>
          <a:xfrm>
            <a:off x="1699576" y="2785898"/>
            <a:ext cx="1273994" cy="130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right product name, price, policy?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7" name="Google Shape;1497;p59"/>
          <p:cNvSpPr/>
          <p:nvPr/>
        </p:nvSpPr>
        <p:spPr>
          <a:xfrm>
            <a:off x="926455" y="2957753"/>
            <a:ext cx="697492" cy="1364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1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Tone calibration: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8" name="Google Shape;1498;p59"/>
          <p:cNvSpPr/>
          <p:nvPr/>
        </p:nvSpPr>
        <p:spPr>
          <a:xfrm>
            <a:off x="1668653" y="2960399"/>
            <a:ext cx="1459860" cy="130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appropriate for this specific situation?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9" name="Google Shape;1499;p59"/>
          <p:cNvSpPr/>
          <p:nvPr/>
        </p:nvSpPr>
        <p:spPr>
          <a:xfrm>
            <a:off x="926455" y="3132254"/>
            <a:ext cx="636389" cy="1364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1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Completeness: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0" name="Google Shape;1500;p59"/>
          <p:cNvSpPr/>
          <p:nvPr/>
        </p:nvSpPr>
        <p:spPr>
          <a:xfrm>
            <a:off x="1607551" y="3134900"/>
            <a:ext cx="1483833" cy="130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did it address all parts of the question?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1" name="Google Shape;1501;p59"/>
          <p:cNvSpPr/>
          <p:nvPr/>
        </p:nvSpPr>
        <p:spPr>
          <a:xfrm>
            <a:off x="926455" y="3306755"/>
            <a:ext cx="634446" cy="13641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1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Hallucinations: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2" name="Google Shape;1502;p59"/>
          <p:cNvSpPr/>
          <p:nvPr/>
        </p:nvSpPr>
        <p:spPr>
          <a:xfrm>
            <a:off x="1605607" y="3309400"/>
            <a:ext cx="1477404" cy="130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did it invent features or commitments?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3" name="Google Shape;1503;p59"/>
          <p:cNvSpPr/>
          <p:nvPr/>
        </p:nvSpPr>
        <p:spPr>
          <a:xfrm>
            <a:off x="926455" y="3481255"/>
            <a:ext cx="678557" cy="13641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1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Personalization: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4" name="Google Shape;1504;p59"/>
          <p:cNvSpPr/>
          <p:nvPr/>
        </p:nvSpPr>
        <p:spPr>
          <a:xfrm>
            <a:off x="1649718" y="3483902"/>
            <a:ext cx="940123" cy="130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does it read like a robot?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5" name="Google Shape;1505;p59"/>
          <p:cNvSpPr/>
          <p:nvPr/>
        </p:nvSpPr>
        <p:spPr>
          <a:xfrm>
            <a:off x="4686267" y="2373892"/>
            <a:ext cx="3848158" cy="1417878"/>
          </a:xfrm>
          <a:prstGeom prst="roundRect">
            <a:avLst>
              <a:gd fmla="val 6046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6" name="Google Shape;1506;p59"/>
          <p:cNvSpPr/>
          <p:nvPr/>
        </p:nvSpPr>
        <p:spPr>
          <a:xfrm>
            <a:off x="4898430" y="2567037"/>
            <a:ext cx="3526547" cy="15907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100"/>
              <a:buFont typeface="Manrope"/>
              <a:buNone/>
            </a:pPr>
            <a:r>
              <a:rPr b="1" i="0" lang="en-GB" sz="11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When NOT to use AI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7" name="Google Shape;1507;p59"/>
          <p:cNvSpPr/>
          <p:nvPr/>
        </p:nvSpPr>
        <p:spPr>
          <a:xfrm>
            <a:off x="4841757" y="2783252"/>
            <a:ext cx="3518607" cy="65992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Legal / compliance issues.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High-stakes emotional escalations (loss, grief, anger).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Executive communications.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Anytime AI lacks the data it actually needs.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8" name="Google Shape;1508;p59"/>
          <p:cNvSpPr/>
          <p:nvPr/>
        </p:nvSpPr>
        <p:spPr>
          <a:xfrm>
            <a:off x="609575" y="4824967"/>
            <a:ext cx="1062244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L&amp;D · AI 104 · Module 04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9" name="Google Shape;1509;p59"/>
          <p:cNvSpPr/>
          <p:nvPr/>
        </p:nvSpPr>
        <p:spPr>
          <a:xfrm>
            <a:off x="8235694" y="4824967"/>
            <a:ext cx="336831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45 / 62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10" name="Google Shape;1510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242" y="251507"/>
            <a:ext cx="336900" cy="284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15" name="Shape 1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6" name="Google Shape;1516;p60"/>
          <p:cNvSpPr/>
          <p:nvPr/>
        </p:nvSpPr>
        <p:spPr>
          <a:xfrm>
            <a:off x="609575" y="328042"/>
            <a:ext cx="180950" cy="1809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7" name="Google Shape;1517;p60"/>
          <p:cNvSpPr/>
          <p:nvPr/>
        </p:nvSpPr>
        <p:spPr>
          <a:xfrm>
            <a:off x="857167" y="304767"/>
            <a:ext cx="77715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GlobalLogic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8" name="Google Shape;1518;p60"/>
          <p:cNvSpPr/>
          <p:nvPr/>
        </p:nvSpPr>
        <p:spPr>
          <a:xfrm>
            <a:off x="857167" y="447642"/>
            <a:ext cx="777156" cy="1037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Manrope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Manrope"/>
                <a:ea typeface="Manrope"/>
                <a:cs typeface="Manrope"/>
                <a:sym typeface="Manrope"/>
              </a:rPr>
              <a:t>A Hitachi Group Company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9" name="Google Shape;1519;p60"/>
          <p:cNvSpPr/>
          <p:nvPr/>
        </p:nvSpPr>
        <p:spPr>
          <a:xfrm>
            <a:off x="7984629" y="377527"/>
            <a:ext cx="587896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CONFIDENTIAL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0" name="Google Shape;1520;p60"/>
          <p:cNvSpPr/>
          <p:nvPr/>
        </p:nvSpPr>
        <p:spPr>
          <a:xfrm>
            <a:off x="609575" y="952500"/>
            <a:ext cx="8162596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THE ETHICAL IMPERATIVE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1" name="Google Shape;1521;p60"/>
          <p:cNvSpPr/>
          <p:nvPr/>
        </p:nvSpPr>
        <p:spPr>
          <a:xfrm>
            <a:off x="609575" y="1185829"/>
            <a:ext cx="8162596" cy="40765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000"/>
              <a:buFont typeface="Manrope"/>
              <a:buNone/>
            </a:pP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Tool vs. </a:t>
            </a:r>
            <a:r>
              <a:rPr b="1" i="0" lang="en-GB" sz="30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behavior</a:t>
            </a: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2" name="Google Shape;1522;p60"/>
          <p:cNvSpPr/>
          <p:nvPr/>
        </p:nvSpPr>
        <p:spPr>
          <a:xfrm>
            <a:off x="609575" y="1660137"/>
            <a:ext cx="7358063" cy="1709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800"/>
              <a:buFont typeface="Manrope"/>
              <a:buNone/>
            </a:pPr>
            <a:r>
              <a:rPr b="0" i="0" lang="en-GB" sz="8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The new stakes: creators cannot always explain the output, and generation runs at massive scale — text, images, deepfakes, instantly.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3" name="Google Shape;1523;p60"/>
          <p:cNvSpPr/>
          <p:nvPr/>
        </p:nvSpPr>
        <p:spPr>
          <a:xfrm>
            <a:off x="609575" y="1983466"/>
            <a:ext cx="3848117" cy="923933"/>
          </a:xfrm>
          <a:prstGeom prst="roundRect">
            <a:avLst>
              <a:gd fmla="val 9278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4" name="Google Shape;1524;p60"/>
          <p:cNvSpPr/>
          <p:nvPr/>
        </p:nvSpPr>
        <p:spPr>
          <a:xfrm>
            <a:off x="821738" y="2176612"/>
            <a:ext cx="3526505" cy="20905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400"/>
              <a:buFont typeface="Manrope"/>
              <a:buNone/>
            </a:pPr>
            <a:r>
              <a:rPr b="1" i="0" lang="en-GB" sz="14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The tool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5" name="Google Shape;1525;p60"/>
          <p:cNvSpPr/>
          <p:nvPr/>
        </p:nvSpPr>
        <p:spPr>
          <a:xfrm>
            <a:off x="821738" y="2442807"/>
            <a:ext cx="3526505" cy="2904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700"/>
              <a:buFont typeface="Manrope"/>
              <a:buNone/>
            </a:pPr>
            <a:r>
              <a:rPr b="0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Technology is entirely neutral until it is applied. We cannot simply blame the algorithm.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6" name="Google Shape;1526;p60"/>
          <p:cNvSpPr/>
          <p:nvPr/>
        </p:nvSpPr>
        <p:spPr>
          <a:xfrm>
            <a:off x="4686267" y="1983466"/>
            <a:ext cx="3848158" cy="923933"/>
          </a:xfrm>
          <a:prstGeom prst="roundRect">
            <a:avLst>
              <a:gd fmla="val 9278" name="adj"/>
            </a:avLst>
          </a:prstGeom>
          <a:solidFill>
            <a:srgbClr val="1B1F2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7" name="Google Shape;1527;p60"/>
          <p:cNvSpPr/>
          <p:nvPr/>
        </p:nvSpPr>
        <p:spPr>
          <a:xfrm>
            <a:off x="4898430" y="2176612"/>
            <a:ext cx="3526547" cy="20905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nrope"/>
              <a:buNone/>
            </a:pPr>
            <a:r>
              <a:rPr b="1" i="0" lang="en-GB" sz="14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The behavior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8" name="Google Shape;1528;p60"/>
          <p:cNvSpPr/>
          <p:nvPr/>
        </p:nvSpPr>
        <p:spPr>
          <a:xfrm>
            <a:off x="4898430" y="2442807"/>
            <a:ext cx="3526547" cy="2904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Manrope"/>
              <a:buNone/>
            </a:pPr>
            <a:r>
              <a:rPr b="0" i="0" lang="en-GB" sz="7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How we deploy it — the guardrails we remove and the data we feed it — defines the ethical outcome.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9" name="Google Shape;1529;p60"/>
          <p:cNvSpPr/>
          <p:nvPr/>
        </p:nvSpPr>
        <p:spPr>
          <a:xfrm>
            <a:off x="609575" y="3078840"/>
            <a:ext cx="7924850" cy="728514"/>
          </a:xfrm>
          <a:prstGeom prst="roundRect">
            <a:avLst>
              <a:gd fmla="val 15689" name="adj"/>
            </a:avLst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0" name="Google Shape;1530;p60"/>
          <p:cNvSpPr/>
          <p:nvPr/>
        </p:nvSpPr>
        <p:spPr>
          <a:xfrm>
            <a:off x="838150" y="3250282"/>
            <a:ext cx="7691731" cy="10900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THE MANDATE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1" name="Google Shape;1531;p60"/>
          <p:cNvSpPr/>
          <p:nvPr/>
        </p:nvSpPr>
        <p:spPr>
          <a:xfrm>
            <a:off x="838150" y="3425941"/>
            <a:ext cx="7691731" cy="22902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anrope"/>
              <a:buNone/>
            </a:pPr>
            <a:r>
              <a:rPr b="1" i="0" lang="en-GB" sz="16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Move from asking </a:t>
            </a:r>
            <a:r>
              <a:rPr b="1" i="1" lang="en-GB" sz="16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"can we build this?" </a:t>
            </a:r>
            <a:r>
              <a:rPr b="1" i="0" lang="en-GB" sz="16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to </a:t>
            </a:r>
            <a:r>
              <a:rPr b="1" i="1" lang="en-GB" sz="16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"should we build this?"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2" name="Google Shape;1532;p60"/>
          <p:cNvSpPr/>
          <p:nvPr/>
        </p:nvSpPr>
        <p:spPr>
          <a:xfrm>
            <a:off x="609575" y="4824967"/>
            <a:ext cx="1062244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L&amp;D · AI 104 · Module 04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3" name="Google Shape;1533;p60"/>
          <p:cNvSpPr/>
          <p:nvPr/>
        </p:nvSpPr>
        <p:spPr>
          <a:xfrm>
            <a:off x="8235694" y="4824967"/>
            <a:ext cx="336831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46 / 62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4" name="Google Shape;1534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242" y="251507"/>
            <a:ext cx="336900" cy="284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39" name="Shape 1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Google Shape;1540;p61"/>
          <p:cNvSpPr/>
          <p:nvPr/>
        </p:nvSpPr>
        <p:spPr>
          <a:xfrm>
            <a:off x="609575" y="328042"/>
            <a:ext cx="180950" cy="1809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1" name="Google Shape;1541;p61"/>
          <p:cNvSpPr/>
          <p:nvPr/>
        </p:nvSpPr>
        <p:spPr>
          <a:xfrm>
            <a:off x="857167" y="304767"/>
            <a:ext cx="77715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GlobalLogic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2" name="Google Shape;1542;p61"/>
          <p:cNvSpPr/>
          <p:nvPr/>
        </p:nvSpPr>
        <p:spPr>
          <a:xfrm>
            <a:off x="857167" y="447642"/>
            <a:ext cx="777156" cy="1037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Manrope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Manrope"/>
                <a:ea typeface="Manrope"/>
                <a:cs typeface="Manrope"/>
                <a:sym typeface="Manrope"/>
              </a:rPr>
              <a:t>A Hitachi Group Company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3" name="Google Shape;1543;p61"/>
          <p:cNvSpPr/>
          <p:nvPr/>
        </p:nvSpPr>
        <p:spPr>
          <a:xfrm>
            <a:off x="7984629" y="377527"/>
            <a:ext cx="587896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CONFIDENTIAL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4" name="Google Shape;1544;p61"/>
          <p:cNvSpPr/>
          <p:nvPr/>
        </p:nvSpPr>
        <p:spPr>
          <a:xfrm>
            <a:off x="609575" y="952500"/>
            <a:ext cx="8162596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THE ETHICAL AI FRAMEWORK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5" name="Google Shape;1545;p61"/>
          <p:cNvSpPr/>
          <p:nvPr/>
        </p:nvSpPr>
        <p:spPr>
          <a:xfrm>
            <a:off x="609575" y="1185829"/>
            <a:ext cx="8162596" cy="40765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000"/>
              <a:buFont typeface="Manrope"/>
              <a:buNone/>
            </a:pP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Three pillars to </a:t>
            </a:r>
            <a:r>
              <a:rPr b="1" i="0" lang="en-GB" sz="30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evaluate any AI initiative</a:t>
            </a: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6" name="Google Shape;1546;p61"/>
          <p:cNvSpPr/>
          <p:nvPr/>
        </p:nvSpPr>
        <p:spPr>
          <a:xfrm>
            <a:off x="609575" y="1803011"/>
            <a:ext cx="2540000" cy="1752038"/>
          </a:xfrm>
          <a:prstGeom prst="roundRect">
            <a:avLst>
              <a:gd fmla="val 4349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7" name="Google Shape;1547;p61"/>
          <p:cNvSpPr/>
          <p:nvPr/>
        </p:nvSpPr>
        <p:spPr>
          <a:xfrm>
            <a:off x="609575" y="1803012"/>
            <a:ext cx="2540000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8" name="Google Shape;1548;p61"/>
          <p:cNvSpPr/>
          <p:nvPr/>
        </p:nvSpPr>
        <p:spPr>
          <a:xfrm>
            <a:off x="761958" y="1973916"/>
            <a:ext cx="2302290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 · INTENT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9" name="Google Shape;1549;p61"/>
          <p:cNvSpPr/>
          <p:nvPr/>
        </p:nvSpPr>
        <p:spPr>
          <a:xfrm>
            <a:off x="761958" y="2114641"/>
            <a:ext cx="2302290" cy="16142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000"/>
              <a:buFont typeface="Manrope"/>
              <a:buNone/>
            </a:pPr>
            <a:r>
              <a:rPr b="1" i="0" lang="en-GB" sz="1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The why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0" name="Google Shape;1550;p61"/>
          <p:cNvSpPr/>
          <p:nvPr/>
        </p:nvSpPr>
        <p:spPr>
          <a:xfrm>
            <a:off x="761958" y="2323662"/>
            <a:ext cx="2302290" cy="24758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Is the primary goal to help the user, or is it to manipulate behavior?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1" name="Google Shape;1551;p61"/>
          <p:cNvSpPr/>
          <p:nvPr/>
        </p:nvSpPr>
        <p:spPr>
          <a:xfrm>
            <a:off x="3301959" y="1803011"/>
            <a:ext cx="2540042" cy="1752038"/>
          </a:xfrm>
          <a:prstGeom prst="roundRect">
            <a:avLst>
              <a:gd fmla="val 4349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2" name="Google Shape;1552;p61"/>
          <p:cNvSpPr/>
          <p:nvPr/>
        </p:nvSpPr>
        <p:spPr>
          <a:xfrm>
            <a:off x="3301959" y="1803012"/>
            <a:ext cx="2540042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3" name="Google Shape;1553;p61"/>
          <p:cNvSpPr/>
          <p:nvPr/>
        </p:nvSpPr>
        <p:spPr>
          <a:xfrm>
            <a:off x="3454343" y="1973916"/>
            <a:ext cx="2302332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 · PROCESS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4" name="Google Shape;1554;p61"/>
          <p:cNvSpPr/>
          <p:nvPr/>
        </p:nvSpPr>
        <p:spPr>
          <a:xfrm>
            <a:off x="3454343" y="2114641"/>
            <a:ext cx="2302332" cy="16142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000"/>
              <a:buFont typeface="Manrope"/>
              <a:buNone/>
            </a:pPr>
            <a:r>
              <a:rPr b="1" i="0" lang="en-GB" sz="1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The how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5" name="Google Shape;1555;p61"/>
          <p:cNvSpPr/>
          <p:nvPr/>
        </p:nvSpPr>
        <p:spPr>
          <a:xfrm>
            <a:off x="3454343" y="2323662"/>
            <a:ext cx="2302332" cy="24758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How was the model built? Does it have data hygiene (removing sensitive identifiers) and a paper trail for auditability?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6" name="Google Shape;1556;p61"/>
          <p:cNvSpPr/>
          <p:nvPr/>
        </p:nvSpPr>
        <p:spPr>
          <a:xfrm>
            <a:off x="5994383" y="1803011"/>
            <a:ext cx="2540042" cy="1752038"/>
          </a:xfrm>
          <a:prstGeom prst="roundRect">
            <a:avLst>
              <a:gd fmla="val 4349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7" name="Google Shape;1557;p61"/>
          <p:cNvSpPr/>
          <p:nvPr/>
        </p:nvSpPr>
        <p:spPr>
          <a:xfrm>
            <a:off x="5994383" y="1803012"/>
            <a:ext cx="2540042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8" name="Google Shape;1558;p61"/>
          <p:cNvSpPr/>
          <p:nvPr/>
        </p:nvSpPr>
        <p:spPr>
          <a:xfrm>
            <a:off x="6146768" y="1973916"/>
            <a:ext cx="2302332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 · OUTCOME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9" name="Google Shape;1559;p61"/>
          <p:cNvSpPr/>
          <p:nvPr/>
        </p:nvSpPr>
        <p:spPr>
          <a:xfrm>
            <a:off x="6146768" y="2114641"/>
            <a:ext cx="2302332" cy="16142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000"/>
              <a:buFont typeface="Manrope"/>
              <a:buNone/>
            </a:pPr>
            <a:r>
              <a:rPr b="1" i="0" lang="en-GB" sz="1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The what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0" name="Google Shape;1560;p61"/>
          <p:cNvSpPr/>
          <p:nvPr/>
        </p:nvSpPr>
        <p:spPr>
          <a:xfrm>
            <a:off x="6146768" y="2323662"/>
            <a:ext cx="2302332" cy="24758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Who wins, who loses? Does it create a digital divide? Are users notified they are interacting with AI (transparency)?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1" name="Google Shape;1561;p61"/>
          <p:cNvSpPr/>
          <p:nvPr/>
        </p:nvSpPr>
        <p:spPr>
          <a:xfrm>
            <a:off x="609575" y="4824967"/>
            <a:ext cx="1062244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L&amp;D · AI 104 · Module 04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2" name="Google Shape;1562;p61"/>
          <p:cNvSpPr/>
          <p:nvPr/>
        </p:nvSpPr>
        <p:spPr>
          <a:xfrm>
            <a:off x="8235694" y="4824967"/>
            <a:ext cx="336831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47 / 62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3" name="Google Shape;1563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242" y="251507"/>
            <a:ext cx="336900" cy="284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8" name="Shape 1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9" name="Google Shape;1569;p62"/>
          <p:cNvSpPr/>
          <p:nvPr/>
        </p:nvSpPr>
        <p:spPr>
          <a:xfrm>
            <a:off x="609575" y="328042"/>
            <a:ext cx="180950" cy="1809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0" name="Google Shape;1570;p62"/>
          <p:cNvSpPr/>
          <p:nvPr/>
        </p:nvSpPr>
        <p:spPr>
          <a:xfrm>
            <a:off x="857167" y="304767"/>
            <a:ext cx="77715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GlobalLogic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1" name="Google Shape;1571;p62"/>
          <p:cNvSpPr/>
          <p:nvPr/>
        </p:nvSpPr>
        <p:spPr>
          <a:xfrm>
            <a:off x="857167" y="447642"/>
            <a:ext cx="777156" cy="1037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Manrope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Manrope"/>
                <a:ea typeface="Manrope"/>
                <a:cs typeface="Manrope"/>
                <a:sym typeface="Manrope"/>
              </a:rPr>
              <a:t>A Hitachi Group Company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2" name="Google Shape;1572;p62"/>
          <p:cNvSpPr/>
          <p:nvPr/>
        </p:nvSpPr>
        <p:spPr>
          <a:xfrm>
            <a:off x="7984629" y="377527"/>
            <a:ext cx="587896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CONFIDENTIAL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3" name="Google Shape;1573;p62"/>
          <p:cNvSpPr/>
          <p:nvPr/>
        </p:nvSpPr>
        <p:spPr>
          <a:xfrm>
            <a:off x="609575" y="952500"/>
            <a:ext cx="8162596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THE REAL-WORLD TOOLS LANDSCAPE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4" name="Google Shape;1574;p62"/>
          <p:cNvSpPr/>
          <p:nvPr/>
        </p:nvSpPr>
        <p:spPr>
          <a:xfrm>
            <a:off x="609575" y="1185829"/>
            <a:ext cx="8162596" cy="40765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000"/>
              <a:buFont typeface="Manrope"/>
              <a:buNone/>
            </a:pP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Across </a:t>
            </a:r>
            <a:r>
              <a:rPr b="1" i="0" lang="en-GB" sz="30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support &amp; ops</a:t>
            </a: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5" name="Google Shape;1575;p62"/>
          <p:cNvSpPr/>
          <p:nvPr/>
        </p:nvSpPr>
        <p:spPr>
          <a:xfrm>
            <a:off x="609575" y="1745878"/>
            <a:ext cx="533301" cy="219274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6" name="Google Shape;1576;p62"/>
          <p:cNvSpPr/>
          <p:nvPr/>
        </p:nvSpPr>
        <p:spPr>
          <a:xfrm>
            <a:off x="609575" y="1957214"/>
            <a:ext cx="533301" cy="7938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7" name="Google Shape;1577;p62"/>
          <p:cNvSpPr/>
          <p:nvPr/>
        </p:nvSpPr>
        <p:spPr>
          <a:xfrm>
            <a:off x="723875" y="1812553"/>
            <a:ext cx="342801" cy="97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8" name="Google Shape;1578;p62"/>
          <p:cNvSpPr/>
          <p:nvPr/>
        </p:nvSpPr>
        <p:spPr>
          <a:xfrm>
            <a:off x="1142876" y="1745878"/>
            <a:ext cx="1562034" cy="219274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9" name="Google Shape;1579;p62"/>
          <p:cNvSpPr/>
          <p:nvPr/>
        </p:nvSpPr>
        <p:spPr>
          <a:xfrm>
            <a:off x="1142876" y="1957214"/>
            <a:ext cx="1562034" cy="7938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0" name="Google Shape;1580;p62"/>
          <p:cNvSpPr/>
          <p:nvPr/>
        </p:nvSpPr>
        <p:spPr>
          <a:xfrm>
            <a:off x="1257176" y="1812553"/>
            <a:ext cx="1380295" cy="97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CATEGORY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1" name="Google Shape;1581;p62"/>
          <p:cNvSpPr/>
          <p:nvPr/>
        </p:nvSpPr>
        <p:spPr>
          <a:xfrm>
            <a:off x="2704910" y="1745878"/>
            <a:ext cx="5829515" cy="219274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2" name="Google Shape;1582;p62"/>
          <p:cNvSpPr/>
          <p:nvPr/>
        </p:nvSpPr>
        <p:spPr>
          <a:xfrm>
            <a:off x="2704910" y="1957214"/>
            <a:ext cx="5829515" cy="7938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3" name="Google Shape;1583;p62"/>
          <p:cNvSpPr/>
          <p:nvPr/>
        </p:nvSpPr>
        <p:spPr>
          <a:xfrm>
            <a:off x="2819210" y="1812553"/>
            <a:ext cx="5775801" cy="97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PLATFORM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4" name="Google Shape;1584;p62"/>
          <p:cNvSpPr/>
          <p:nvPr/>
        </p:nvSpPr>
        <p:spPr>
          <a:xfrm>
            <a:off x="609575" y="2295302"/>
            <a:ext cx="533301" cy="4763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5" name="Google Shape;1585;p62"/>
          <p:cNvSpPr/>
          <p:nvPr/>
        </p:nvSpPr>
        <p:spPr>
          <a:xfrm>
            <a:off x="723875" y="2050877"/>
            <a:ext cx="342801" cy="177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700"/>
              <a:buFont typeface="JetBrains Mono"/>
              <a:buNone/>
            </a:pPr>
            <a:r>
              <a:rPr b="1" i="0" lang="en-GB" sz="7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6" name="Google Shape;1586;p62"/>
          <p:cNvSpPr/>
          <p:nvPr/>
        </p:nvSpPr>
        <p:spPr>
          <a:xfrm>
            <a:off x="1142876" y="2295302"/>
            <a:ext cx="1562034" cy="4763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7" name="Google Shape;1587;p62"/>
          <p:cNvSpPr/>
          <p:nvPr/>
        </p:nvSpPr>
        <p:spPr>
          <a:xfrm>
            <a:off x="1257176" y="2050877"/>
            <a:ext cx="1380295" cy="177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HELPDESK · SUPPORT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8" name="Google Shape;1588;p62"/>
          <p:cNvSpPr/>
          <p:nvPr/>
        </p:nvSpPr>
        <p:spPr>
          <a:xfrm>
            <a:off x="2704910" y="2295302"/>
            <a:ext cx="5829515" cy="4763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9" name="Google Shape;1589;p62"/>
          <p:cNvSpPr/>
          <p:nvPr/>
        </p:nvSpPr>
        <p:spPr>
          <a:xfrm>
            <a:off x="2819210" y="2050877"/>
            <a:ext cx="5775801" cy="177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900"/>
              <a:buFont typeface="Manrope"/>
              <a:buNone/>
            </a:pPr>
            <a:r>
              <a:rPr b="1" i="0" lang="en-GB" sz="9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Zendesk AI · Freshdesk Freddy 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0" name="Google Shape;1590;p62"/>
          <p:cNvSpPr/>
          <p:nvPr/>
        </p:nvSpPr>
        <p:spPr>
          <a:xfrm>
            <a:off x="609575" y="2625453"/>
            <a:ext cx="533301" cy="4763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1" name="Google Shape;1591;p62"/>
          <p:cNvSpPr/>
          <p:nvPr/>
        </p:nvSpPr>
        <p:spPr>
          <a:xfrm>
            <a:off x="723875" y="2383673"/>
            <a:ext cx="342801" cy="175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700"/>
              <a:buFont typeface="JetBrains Mono"/>
              <a:buNone/>
            </a:pPr>
            <a:r>
              <a:rPr b="1" i="0" lang="en-GB" sz="7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2" name="Google Shape;1592;p62"/>
          <p:cNvSpPr/>
          <p:nvPr/>
        </p:nvSpPr>
        <p:spPr>
          <a:xfrm>
            <a:off x="1142876" y="2625453"/>
            <a:ext cx="1562034" cy="4763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3" name="Google Shape;1593;p62"/>
          <p:cNvSpPr/>
          <p:nvPr/>
        </p:nvSpPr>
        <p:spPr>
          <a:xfrm>
            <a:off x="1257176" y="2383673"/>
            <a:ext cx="1380295" cy="175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CRM · BOTH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4" name="Google Shape;1594;p62"/>
          <p:cNvSpPr/>
          <p:nvPr/>
        </p:nvSpPr>
        <p:spPr>
          <a:xfrm>
            <a:off x="2704910" y="2625453"/>
            <a:ext cx="5829515" cy="4763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5" name="Google Shape;1595;p62"/>
          <p:cNvSpPr/>
          <p:nvPr/>
        </p:nvSpPr>
        <p:spPr>
          <a:xfrm>
            <a:off x="2819210" y="2383673"/>
            <a:ext cx="5775801" cy="175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900"/>
              <a:buFont typeface="Manrope"/>
              <a:buNone/>
            </a:pPr>
            <a:r>
              <a:rPr b="1" i="0" lang="en-GB" sz="9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Salesforce Einstein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6" name="Google Shape;1596;p62"/>
          <p:cNvSpPr/>
          <p:nvPr/>
        </p:nvSpPr>
        <p:spPr>
          <a:xfrm>
            <a:off x="609575" y="2955603"/>
            <a:ext cx="533301" cy="4763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7" name="Google Shape;1597;p62"/>
          <p:cNvSpPr/>
          <p:nvPr/>
        </p:nvSpPr>
        <p:spPr>
          <a:xfrm>
            <a:off x="723875" y="2713823"/>
            <a:ext cx="342801" cy="175105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700"/>
              <a:buFont typeface="JetBrains Mono"/>
              <a:buNone/>
            </a:pPr>
            <a:r>
              <a:rPr b="1" i="0" lang="en-GB" sz="7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8" name="Google Shape;1598;p62"/>
          <p:cNvSpPr/>
          <p:nvPr/>
        </p:nvSpPr>
        <p:spPr>
          <a:xfrm>
            <a:off x="1142876" y="2955603"/>
            <a:ext cx="1562034" cy="4763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9" name="Google Shape;1599;p62"/>
          <p:cNvSpPr/>
          <p:nvPr/>
        </p:nvSpPr>
        <p:spPr>
          <a:xfrm>
            <a:off x="1257176" y="2713823"/>
            <a:ext cx="1380295" cy="175105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INCIDENT MGMT · OPS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0" name="Google Shape;1600;p62"/>
          <p:cNvSpPr/>
          <p:nvPr/>
        </p:nvSpPr>
        <p:spPr>
          <a:xfrm>
            <a:off x="2704910" y="2955603"/>
            <a:ext cx="5829515" cy="4763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1" name="Google Shape;1601;p62"/>
          <p:cNvSpPr/>
          <p:nvPr/>
        </p:nvSpPr>
        <p:spPr>
          <a:xfrm>
            <a:off x="2819210" y="2713823"/>
            <a:ext cx="5775801" cy="175105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900"/>
              <a:buFont typeface="Manrope"/>
              <a:buNone/>
            </a:pPr>
            <a:r>
              <a:rPr b="1" i="0" lang="en-GB" sz="9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PagerDuty AIOps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2" name="Google Shape;1602;p62"/>
          <p:cNvSpPr/>
          <p:nvPr/>
        </p:nvSpPr>
        <p:spPr>
          <a:xfrm>
            <a:off x="609575" y="3285753"/>
            <a:ext cx="533301" cy="4763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3" name="Google Shape;1603;p62"/>
          <p:cNvSpPr/>
          <p:nvPr/>
        </p:nvSpPr>
        <p:spPr>
          <a:xfrm>
            <a:off x="723875" y="3043974"/>
            <a:ext cx="342801" cy="175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700"/>
              <a:buFont typeface="JetBrains Mono"/>
              <a:buNone/>
            </a:pPr>
            <a:r>
              <a:rPr b="1" i="0" lang="en-GB" sz="7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4" name="Google Shape;1604;p62"/>
          <p:cNvSpPr/>
          <p:nvPr/>
        </p:nvSpPr>
        <p:spPr>
          <a:xfrm>
            <a:off x="1142876" y="3285753"/>
            <a:ext cx="1562034" cy="4763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5" name="Google Shape;1605;p62"/>
          <p:cNvSpPr/>
          <p:nvPr/>
        </p:nvSpPr>
        <p:spPr>
          <a:xfrm>
            <a:off x="1257176" y="3043974"/>
            <a:ext cx="1380295" cy="175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OBSERVABILITY · OPS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6" name="Google Shape;1606;p62"/>
          <p:cNvSpPr/>
          <p:nvPr/>
        </p:nvSpPr>
        <p:spPr>
          <a:xfrm>
            <a:off x="2704910" y="3285753"/>
            <a:ext cx="5829515" cy="4763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7" name="Google Shape;1607;p62"/>
          <p:cNvSpPr/>
          <p:nvPr/>
        </p:nvSpPr>
        <p:spPr>
          <a:xfrm>
            <a:off x="2819210" y="3043974"/>
            <a:ext cx="5775801" cy="175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900"/>
              <a:buFont typeface="Manrope"/>
              <a:buNone/>
            </a:pPr>
            <a:r>
              <a:rPr b="1" i="0" lang="en-GB" sz="9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Datadog Watchdog · Dynatrace Davis 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8" name="Google Shape;1608;p62"/>
          <p:cNvSpPr/>
          <p:nvPr/>
        </p:nvSpPr>
        <p:spPr>
          <a:xfrm>
            <a:off x="609575" y="3615904"/>
            <a:ext cx="533301" cy="4763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9" name="Google Shape;1609;p62"/>
          <p:cNvSpPr/>
          <p:nvPr/>
        </p:nvSpPr>
        <p:spPr>
          <a:xfrm>
            <a:off x="723875" y="3374124"/>
            <a:ext cx="342801" cy="175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700"/>
              <a:buFont typeface="JetBrains Mono"/>
              <a:buNone/>
            </a:pPr>
            <a:r>
              <a:rPr b="1" i="0" lang="en-GB" sz="7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0" name="Google Shape;1610;p62"/>
          <p:cNvSpPr/>
          <p:nvPr/>
        </p:nvSpPr>
        <p:spPr>
          <a:xfrm>
            <a:off x="1142876" y="3615904"/>
            <a:ext cx="1562034" cy="4763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1" name="Google Shape;1611;p62"/>
          <p:cNvSpPr/>
          <p:nvPr/>
        </p:nvSpPr>
        <p:spPr>
          <a:xfrm>
            <a:off x="1257176" y="3374124"/>
            <a:ext cx="1380295" cy="175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CONVERSATIONAL AI · SUPPORT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2" name="Google Shape;1612;p62"/>
          <p:cNvSpPr/>
          <p:nvPr/>
        </p:nvSpPr>
        <p:spPr>
          <a:xfrm>
            <a:off x="2704910" y="3615904"/>
            <a:ext cx="5829515" cy="4763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3" name="Google Shape;1613;p62"/>
          <p:cNvSpPr/>
          <p:nvPr/>
        </p:nvSpPr>
        <p:spPr>
          <a:xfrm>
            <a:off x="2819210" y="3374124"/>
            <a:ext cx="5775801" cy="175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900"/>
              <a:buFont typeface="Manrope"/>
              <a:buNone/>
            </a:pPr>
            <a:r>
              <a:rPr b="1" i="0" lang="en-GB" sz="9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Intercom Fin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4" name="Google Shape;1614;p62"/>
          <p:cNvSpPr/>
          <p:nvPr/>
        </p:nvSpPr>
        <p:spPr>
          <a:xfrm>
            <a:off x="609575" y="3946054"/>
            <a:ext cx="533301" cy="4763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5" name="Google Shape;1615;p62"/>
          <p:cNvSpPr/>
          <p:nvPr/>
        </p:nvSpPr>
        <p:spPr>
          <a:xfrm>
            <a:off x="723875" y="3704274"/>
            <a:ext cx="342801" cy="175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700"/>
              <a:buFont typeface="JetBrains Mono"/>
              <a:buNone/>
            </a:pPr>
            <a:r>
              <a:rPr b="1" i="0" lang="en-GB" sz="7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6" name="Google Shape;1616;p62"/>
          <p:cNvSpPr/>
          <p:nvPr/>
        </p:nvSpPr>
        <p:spPr>
          <a:xfrm>
            <a:off x="1142876" y="3946054"/>
            <a:ext cx="1562034" cy="4763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7" name="Google Shape;1617;p62"/>
          <p:cNvSpPr/>
          <p:nvPr/>
        </p:nvSpPr>
        <p:spPr>
          <a:xfrm>
            <a:off x="1257176" y="3704274"/>
            <a:ext cx="1380295" cy="175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KNOWLEDGE MGMT · BOTH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8" name="Google Shape;1618;p62"/>
          <p:cNvSpPr/>
          <p:nvPr/>
        </p:nvSpPr>
        <p:spPr>
          <a:xfrm>
            <a:off x="2704910" y="3946054"/>
            <a:ext cx="5829515" cy="4763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9" name="Google Shape;1619;p62"/>
          <p:cNvSpPr/>
          <p:nvPr/>
        </p:nvSpPr>
        <p:spPr>
          <a:xfrm>
            <a:off x="2819210" y="3704274"/>
            <a:ext cx="5775801" cy="175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900"/>
              <a:buFont typeface="Manrope"/>
              <a:buNone/>
            </a:pPr>
            <a:r>
              <a:rPr b="1" i="0" lang="en-GB" sz="9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Notion AI · Confluence 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0" name="Google Shape;1620;p62"/>
          <p:cNvSpPr/>
          <p:nvPr/>
        </p:nvSpPr>
        <p:spPr>
          <a:xfrm>
            <a:off x="609575" y="4276205"/>
            <a:ext cx="533301" cy="4763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1" name="Google Shape;1621;p62"/>
          <p:cNvSpPr/>
          <p:nvPr/>
        </p:nvSpPr>
        <p:spPr>
          <a:xfrm>
            <a:off x="723875" y="4034425"/>
            <a:ext cx="342801" cy="175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700"/>
              <a:buFont typeface="JetBrains Mono"/>
              <a:buNone/>
            </a:pPr>
            <a:r>
              <a:rPr b="1" i="0" lang="en-GB" sz="7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07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2" name="Google Shape;1622;p62"/>
          <p:cNvSpPr/>
          <p:nvPr/>
        </p:nvSpPr>
        <p:spPr>
          <a:xfrm>
            <a:off x="1142876" y="4276205"/>
            <a:ext cx="1562034" cy="4763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3" name="Google Shape;1623;p62"/>
          <p:cNvSpPr/>
          <p:nvPr/>
        </p:nvSpPr>
        <p:spPr>
          <a:xfrm>
            <a:off x="1257176" y="4034425"/>
            <a:ext cx="1380295" cy="175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GENERAL AI · BOTH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4" name="Google Shape;1624;p62"/>
          <p:cNvSpPr/>
          <p:nvPr/>
        </p:nvSpPr>
        <p:spPr>
          <a:xfrm>
            <a:off x="2704910" y="4276205"/>
            <a:ext cx="5829515" cy="4763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5" name="Google Shape;1625;p62"/>
          <p:cNvSpPr/>
          <p:nvPr/>
        </p:nvSpPr>
        <p:spPr>
          <a:xfrm>
            <a:off x="2819210" y="4034425"/>
            <a:ext cx="5775801" cy="175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900"/>
              <a:buFont typeface="Manrope"/>
              <a:buNone/>
            </a:pPr>
            <a:r>
              <a:rPr b="1" i="0" lang="en-GB" sz="9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Microsoft Copilot · Claude · ChatGPT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6" name="Google Shape;1626;p62"/>
          <p:cNvSpPr/>
          <p:nvPr/>
        </p:nvSpPr>
        <p:spPr>
          <a:xfrm>
            <a:off x="609575" y="4824967"/>
            <a:ext cx="1062244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L&amp;D · AI 104 · Module 04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7" name="Google Shape;1627;p62"/>
          <p:cNvSpPr/>
          <p:nvPr/>
        </p:nvSpPr>
        <p:spPr>
          <a:xfrm>
            <a:off x="8235694" y="4824967"/>
            <a:ext cx="336831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48 / 62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8" name="Google Shape;1628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242" y="251507"/>
            <a:ext cx="336900" cy="284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33" name="Shape 1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p63"/>
          <p:cNvSpPr/>
          <p:nvPr/>
        </p:nvSpPr>
        <p:spPr>
          <a:xfrm>
            <a:off x="609575" y="328042"/>
            <a:ext cx="180950" cy="1809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5" name="Google Shape;1635;p63"/>
          <p:cNvSpPr/>
          <p:nvPr/>
        </p:nvSpPr>
        <p:spPr>
          <a:xfrm>
            <a:off x="857167" y="304767"/>
            <a:ext cx="77715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GlobalLogic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6" name="Google Shape;1636;p63"/>
          <p:cNvSpPr/>
          <p:nvPr/>
        </p:nvSpPr>
        <p:spPr>
          <a:xfrm>
            <a:off x="857167" y="447642"/>
            <a:ext cx="777156" cy="1037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Manrope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Manrope"/>
                <a:ea typeface="Manrope"/>
                <a:cs typeface="Manrope"/>
                <a:sym typeface="Manrope"/>
              </a:rPr>
              <a:t>A Hitachi Group Company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7" name="Google Shape;1637;p63"/>
          <p:cNvSpPr/>
          <p:nvPr/>
        </p:nvSpPr>
        <p:spPr>
          <a:xfrm>
            <a:off x="7984629" y="377527"/>
            <a:ext cx="587896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CONFIDENTIAL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8" name="Google Shape;1638;p63"/>
          <p:cNvSpPr/>
          <p:nvPr/>
        </p:nvSpPr>
        <p:spPr>
          <a:xfrm>
            <a:off x="609575" y="952500"/>
            <a:ext cx="8162596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APPROVED AI DIRECTORY — CORE MODELS &amp; CLOUD PLATFORMS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9" name="Google Shape;1639;p63"/>
          <p:cNvSpPr/>
          <p:nvPr/>
        </p:nvSpPr>
        <p:spPr>
          <a:xfrm>
            <a:off x="609575" y="1185829"/>
            <a:ext cx="8162596" cy="40765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000"/>
              <a:buFont typeface="Manrope"/>
              <a:buNone/>
            </a:pP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Authorized for </a:t>
            </a:r>
            <a:r>
              <a:rPr b="1" i="0" lang="en-GB" sz="30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general knowledge work</a:t>
            </a: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0" name="Google Shape;1640;p63"/>
          <p:cNvSpPr/>
          <p:nvPr/>
        </p:nvSpPr>
        <p:spPr>
          <a:xfrm>
            <a:off x="609575" y="1660137"/>
            <a:ext cx="7358063" cy="1709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800"/>
              <a:buFont typeface="Manrope"/>
              <a:buNone/>
            </a:pPr>
            <a:r>
              <a:rPr b="0" i="0" lang="en-GB" sz="8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Authorized foundational LLMs and enterprise infrastructure for secure deployment.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1" name="Google Shape;1641;p63"/>
          <p:cNvSpPr/>
          <p:nvPr/>
        </p:nvSpPr>
        <p:spPr>
          <a:xfrm>
            <a:off x="609575" y="1983466"/>
            <a:ext cx="3963561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CONVERSATIONAL AI &amp; WORKSPACES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2" name="Google Shape;1642;p63"/>
          <p:cNvSpPr/>
          <p:nvPr/>
        </p:nvSpPr>
        <p:spPr>
          <a:xfrm>
            <a:off x="609575" y="2151187"/>
            <a:ext cx="3963561" cy="21484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100"/>
              <a:buFont typeface="Manrope"/>
              <a:buNone/>
            </a:pPr>
            <a:r>
              <a:rPr b="1" i="0" lang="en-GB" sz="11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General chat &amp; reasoning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3" name="Google Shape;1643;p63"/>
          <p:cNvSpPr/>
          <p:nvPr/>
        </p:nvSpPr>
        <p:spPr>
          <a:xfrm>
            <a:off x="609575" y="2813555"/>
            <a:ext cx="3848117" cy="4763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4" name="Google Shape;1644;p63"/>
          <p:cNvSpPr/>
          <p:nvPr/>
        </p:nvSpPr>
        <p:spPr>
          <a:xfrm>
            <a:off x="609575" y="2451696"/>
            <a:ext cx="132317" cy="1238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✓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5" name="Google Shape;1645;p63"/>
          <p:cNvSpPr/>
          <p:nvPr/>
        </p:nvSpPr>
        <p:spPr>
          <a:xfrm>
            <a:off x="789492" y="2451696"/>
            <a:ext cx="1691162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Gemini for Google Workspace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6" name="Google Shape;1646;p63"/>
          <p:cNvSpPr/>
          <p:nvPr/>
        </p:nvSpPr>
        <p:spPr>
          <a:xfrm>
            <a:off x="789492" y="2616234"/>
            <a:ext cx="1691162" cy="12488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Company-wide license — everyone can access.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7" name="Google Shape;1647;p63"/>
          <p:cNvSpPr/>
          <p:nvPr/>
        </p:nvSpPr>
        <p:spPr>
          <a:xfrm>
            <a:off x="609575" y="3263760"/>
            <a:ext cx="3848117" cy="4763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8" name="Google Shape;1648;p63"/>
          <p:cNvSpPr/>
          <p:nvPr/>
        </p:nvSpPr>
        <p:spPr>
          <a:xfrm>
            <a:off x="609575" y="2901901"/>
            <a:ext cx="132317" cy="1238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✓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9" name="Google Shape;1649;p63"/>
          <p:cNvSpPr/>
          <p:nvPr/>
        </p:nvSpPr>
        <p:spPr>
          <a:xfrm>
            <a:off x="789492" y="2901901"/>
            <a:ext cx="164206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ChatGPT-5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0" name="Google Shape;1650;p63"/>
          <p:cNvSpPr/>
          <p:nvPr/>
        </p:nvSpPr>
        <p:spPr>
          <a:xfrm>
            <a:off x="789492" y="3066439"/>
            <a:ext cx="1642066" cy="12488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Advanced reasoning and drafting capabilities.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1" name="Google Shape;1651;p63"/>
          <p:cNvSpPr/>
          <p:nvPr/>
        </p:nvSpPr>
        <p:spPr>
          <a:xfrm>
            <a:off x="609575" y="3352106"/>
            <a:ext cx="132317" cy="1238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✓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2" name="Google Shape;1652;p63"/>
          <p:cNvSpPr/>
          <p:nvPr/>
        </p:nvSpPr>
        <p:spPr>
          <a:xfrm>
            <a:off x="789492" y="3352106"/>
            <a:ext cx="1940391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Claude AI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3" name="Google Shape;1653;p63"/>
          <p:cNvSpPr/>
          <p:nvPr/>
        </p:nvSpPr>
        <p:spPr>
          <a:xfrm>
            <a:off x="789492" y="3516643"/>
            <a:ext cx="1940391" cy="12488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Large-context analysis and document summarization.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4" name="Google Shape;1654;p63"/>
          <p:cNvSpPr/>
          <p:nvPr/>
        </p:nvSpPr>
        <p:spPr>
          <a:xfrm>
            <a:off x="4686267" y="1983466"/>
            <a:ext cx="3963603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ENTERPRISE CLOUD ECOSYSTEMS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5" name="Google Shape;1655;p63"/>
          <p:cNvSpPr/>
          <p:nvPr/>
        </p:nvSpPr>
        <p:spPr>
          <a:xfrm>
            <a:off x="4686267" y="2151187"/>
            <a:ext cx="3963603" cy="21484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100"/>
              <a:buFont typeface="Manrope"/>
              <a:buNone/>
            </a:pPr>
            <a:r>
              <a:rPr b="1" i="0" lang="en-GB" sz="11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Infrastructure &amp; API access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6" name="Google Shape;1656;p63"/>
          <p:cNvSpPr/>
          <p:nvPr/>
        </p:nvSpPr>
        <p:spPr>
          <a:xfrm>
            <a:off x="4686267" y="2813555"/>
            <a:ext cx="3848158" cy="4763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7" name="Google Shape;1657;p63"/>
          <p:cNvSpPr/>
          <p:nvPr/>
        </p:nvSpPr>
        <p:spPr>
          <a:xfrm>
            <a:off x="4686267" y="2451696"/>
            <a:ext cx="132317" cy="1238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✓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8" name="Google Shape;1658;p63"/>
          <p:cNvSpPr/>
          <p:nvPr/>
        </p:nvSpPr>
        <p:spPr>
          <a:xfrm>
            <a:off x="4866184" y="2451696"/>
            <a:ext cx="1684137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Azure OpenAI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9" name="Google Shape;1659;p63"/>
          <p:cNvSpPr/>
          <p:nvPr/>
        </p:nvSpPr>
        <p:spPr>
          <a:xfrm>
            <a:off x="4866184" y="2616234"/>
            <a:ext cx="1684137" cy="12488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Secure enterprise deployment and integration.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0" name="Google Shape;1660;p63"/>
          <p:cNvSpPr/>
          <p:nvPr/>
        </p:nvSpPr>
        <p:spPr>
          <a:xfrm>
            <a:off x="4686267" y="3263760"/>
            <a:ext cx="3848158" cy="4763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1" name="Google Shape;1661;p63"/>
          <p:cNvSpPr/>
          <p:nvPr/>
        </p:nvSpPr>
        <p:spPr>
          <a:xfrm>
            <a:off x="4686267" y="2901901"/>
            <a:ext cx="132317" cy="1238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✓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2" name="Google Shape;1662;p63"/>
          <p:cNvSpPr/>
          <p:nvPr/>
        </p:nvSpPr>
        <p:spPr>
          <a:xfrm>
            <a:off x="4866184" y="2901901"/>
            <a:ext cx="152799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Vertex AI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3" name="Google Shape;1663;p63"/>
          <p:cNvSpPr/>
          <p:nvPr/>
        </p:nvSpPr>
        <p:spPr>
          <a:xfrm>
            <a:off x="4866184" y="3066439"/>
            <a:ext cx="1527990" cy="12488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Custom model building and ML operations.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4" name="Google Shape;1664;p63"/>
          <p:cNvSpPr/>
          <p:nvPr/>
        </p:nvSpPr>
        <p:spPr>
          <a:xfrm>
            <a:off x="4686267" y="3352106"/>
            <a:ext cx="132317" cy="1238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✓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5" name="Google Shape;1665;p63"/>
          <p:cNvSpPr/>
          <p:nvPr/>
        </p:nvSpPr>
        <p:spPr>
          <a:xfrm>
            <a:off x="4866184" y="3352106"/>
            <a:ext cx="1401694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Amazon Bedrock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6" name="Google Shape;1666;p63"/>
          <p:cNvSpPr/>
          <p:nvPr/>
        </p:nvSpPr>
        <p:spPr>
          <a:xfrm>
            <a:off x="4866184" y="3516643"/>
            <a:ext cx="1401694" cy="12488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Scalable foundation-model API access.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7" name="Google Shape;1667;p63"/>
          <p:cNvSpPr/>
          <p:nvPr/>
        </p:nvSpPr>
        <p:spPr>
          <a:xfrm>
            <a:off x="609575" y="4824967"/>
            <a:ext cx="1062244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L&amp;D · AI 104 · Module 04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8" name="Google Shape;1668;p63"/>
          <p:cNvSpPr/>
          <p:nvPr/>
        </p:nvSpPr>
        <p:spPr>
          <a:xfrm>
            <a:off x="8235694" y="4824967"/>
            <a:ext cx="336831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49 / 62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69" name="Google Shape;1669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242" y="251507"/>
            <a:ext cx="336900" cy="284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74" name="Shape 1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5" name="Google Shape;1675;p64"/>
          <p:cNvSpPr/>
          <p:nvPr/>
        </p:nvSpPr>
        <p:spPr>
          <a:xfrm>
            <a:off x="609575" y="328042"/>
            <a:ext cx="180950" cy="1809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6" name="Google Shape;1676;p64"/>
          <p:cNvSpPr/>
          <p:nvPr/>
        </p:nvSpPr>
        <p:spPr>
          <a:xfrm>
            <a:off x="857167" y="304767"/>
            <a:ext cx="77715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GlobalLogic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7" name="Google Shape;1677;p64"/>
          <p:cNvSpPr/>
          <p:nvPr/>
        </p:nvSpPr>
        <p:spPr>
          <a:xfrm>
            <a:off x="857167" y="447642"/>
            <a:ext cx="777156" cy="1037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Manrope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Manrope"/>
                <a:ea typeface="Manrope"/>
                <a:cs typeface="Manrope"/>
                <a:sym typeface="Manrope"/>
              </a:rPr>
              <a:t>A Hitachi Group Company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8" name="Google Shape;1678;p64"/>
          <p:cNvSpPr/>
          <p:nvPr/>
        </p:nvSpPr>
        <p:spPr>
          <a:xfrm>
            <a:off x="7984629" y="377527"/>
            <a:ext cx="587896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CONFIDENTIAL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9" name="Google Shape;1679;p64"/>
          <p:cNvSpPr/>
          <p:nvPr/>
        </p:nvSpPr>
        <p:spPr>
          <a:xfrm>
            <a:off x="609575" y="952500"/>
            <a:ext cx="8162596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APPROVED AI DIRECTORY — SPECIALIZED &amp; COLLABORATIVE TOOLS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0" name="Google Shape;1680;p64"/>
          <p:cNvSpPr/>
          <p:nvPr/>
        </p:nvSpPr>
        <p:spPr>
          <a:xfrm>
            <a:off x="609575" y="1185829"/>
            <a:ext cx="8162596" cy="40765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000"/>
              <a:buFont typeface="Manrope"/>
              <a:buNone/>
            </a:pP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Authorized </a:t>
            </a:r>
            <a:r>
              <a:rPr b="1" i="0" lang="en-GB" sz="30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point solutions</a:t>
            </a: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1" name="Google Shape;1681;p64"/>
          <p:cNvSpPr/>
          <p:nvPr/>
        </p:nvSpPr>
        <p:spPr>
          <a:xfrm>
            <a:off x="609575" y="1745878"/>
            <a:ext cx="2616200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ENGINEERING &amp; DEV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2" name="Google Shape;1682;p64"/>
          <p:cNvSpPr/>
          <p:nvPr/>
        </p:nvSpPr>
        <p:spPr>
          <a:xfrm>
            <a:off x="609575" y="1913599"/>
            <a:ext cx="2616200" cy="21484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100"/>
              <a:buFont typeface="Manrope"/>
              <a:buNone/>
            </a:pPr>
            <a:r>
              <a:rPr b="1" i="0" lang="en-GB" sz="11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Code &amp; tech ops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3" name="Google Shape;1683;p64"/>
          <p:cNvSpPr/>
          <p:nvPr/>
        </p:nvSpPr>
        <p:spPr>
          <a:xfrm>
            <a:off x="609575" y="2575967"/>
            <a:ext cx="2540000" cy="4763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4" name="Google Shape;1684;p64"/>
          <p:cNvSpPr/>
          <p:nvPr/>
        </p:nvSpPr>
        <p:spPr>
          <a:xfrm>
            <a:off x="609575" y="2214108"/>
            <a:ext cx="132317" cy="1238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✓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5" name="Google Shape;1685;p64"/>
          <p:cNvSpPr/>
          <p:nvPr/>
        </p:nvSpPr>
        <p:spPr>
          <a:xfrm>
            <a:off x="789492" y="2214108"/>
            <a:ext cx="78426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GitHub Copilot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6" name="Google Shape;1686;p64"/>
          <p:cNvSpPr/>
          <p:nvPr/>
        </p:nvSpPr>
        <p:spPr>
          <a:xfrm>
            <a:off x="789492" y="2378646"/>
            <a:ext cx="711920" cy="12488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AI pair programmer.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7" name="Google Shape;1687;p64"/>
          <p:cNvSpPr/>
          <p:nvPr/>
        </p:nvSpPr>
        <p:spPr>
          <a:xfrm>
            <a:off x="609575" y="3026172"/>
            <a:ext cx="2540000" cy="4763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8" name="Google Shape;1688;p64"/>
          <p:cNvSpPr/>
          <p:nvPr/>
        </p:nvSpPr>
        <p:spPr>
          <a:xfrm>
            <a:off x="609575" y="2664313"/>
            <a:ext cx="132317" cy="1238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✓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9" name="Google Shape;1689;p64"/>
          <p:cNvSpPr/>
          <p:nvPr/>
        </p:nvSpPr>
        <p:spPr>
          <a:xfrm>
            <a:off x="789492" y="2664313"/>
            <a:ext cx="70716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Cursor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0" name="Google Shape;1690;p64"/>
          <p:cNvSpPr/>
          <p:nvPr/>
        </p:nvSpPr>
        <p:spPr>
          <a:xfrm>
            <a:off x="789492" y="2828851"/>
            <a:ext cx="707165" cy="12488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AI-first code editor.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1" name="Google Shape;1691;p64"/>
          <p:cNvSpPr/>
          <p:nvPr/>
        </p:nvSpPr>
        <p:spPr>
          <a:xfrm>
            <a:off x="609575" y="3114518"/>
            <a:ext cx="132317" cy="1238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✓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2" name="Google Shape;1692;p64"/>
          <p:cNvSpPr/>
          <p:nvPr/>
        </p:nvSpPr>
        <p:spPr>
          <a:xfrm>
            <a:off x="789492" y="3114518"/>
            <a:ext cx="1656118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Amazon Q &amp; Transform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3" name="Google Shape;1693;p64"/>
          <p:cNvSpPr/>
          <p:nvPr/>
        </p:nvSpPr>
        <p:spPr>
          <a:xfrm>
            <a:off x="789492" y="3279056"/>
            <a:ext cx="1656118" cy="12488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Business / dev assistant; code modernization.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4" name="Google Shape;1694;p64"/>
          <p:cNvSpPr/>
          <p:nvPr/>
        </p:nvSpPr>
        <p:spPr>
          <a:xfrm>
            <a:off x="3301959" y="1745878"/>
            <a:ext cx="2616243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DESIGN &amp; TEAM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5" name="Google Shape;1695;p64"/>
          <p:cNvSpPr/>
          <p:nvPr/>
        </p:nvSpPr>
        <p:spPr>
          <a:xfrm>
            <a:off x="3301959" y="1913599"/>
            <a:ext cx="2616243" cy="21484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100"/>
              <a:buFont typeface="Manrope"/>
              <a:buNone/>
            </a:pPr>
            <a:r>
              <a:rPr b="1" i="0" lang="en-GB" sz="11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Assets &amp; knowledge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6" name="Google Shape;1696;p64"/>
          <p:cNvSpPr/>
          <p:nvPr/>
        </p:nvSpPr>
        <p:spPr>
          <a:xfrm>
            <a:off x="3301959" y="2575967"/>
            <a:ext cx="2540042" cy="4763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7" name="Google Shape;1697;p64"/>
          <p:cNvSpPr/>
          <p:nvPr/>
        </p:nvSpPr>
        <p:spPr>
          <a:xfrm>
            <a:off x="3301959" y="2214108"/>
            <a:ext cx="132317" cy="1238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✓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8" name="Google Shape;1698;p64"/>
          <p:cNvSpPr/>
          <p:nvPr/>
        </p:nvSpPr>
        <p:spPr>
          <a:xfrm>
            <a:off x="3481876" y="2214108"/>
            <a:ext cx="1550942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Figma AI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9" name="Google Shape;1699;p64"/>
          <p:cNvSpPr/>
          <p:nvPr/>
        </p:nvSpPr>
        <p:spPr>
          <a:xfrm>
            <a:off x="3481876" y="2378646"/>
            <a:ext cx="1550942" cy="12488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Design generation and asset management.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0" name="Google Shape;1700;p64"/>
          <p:cNvSpPr/>
          <p:nvPr/>
        </p:nvSpPr>
        <p:spPr>
          <a:xfrm>
            <a:off x="3301959" y="3026172"/>
            <a:ext cx="2540042" cy="4763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1" name="Google Shape;1701;p64"/>
          <p:cNvSpPr/>
          <p:nvPr/>
        </p:nvSpPr>
        <p:spPr>
          <a:xfrm>
            <a:off x="3301959" y="2664313"/>
            <a:ext cx="132317" cy="1238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✓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2" name="Google Shape;1702;p64"/>
          <p:cNvSpPr/>
          <p:nvPr/>
        </p:nvSpPr>
        <p:spPr>
          <a:xfrm>
            <a:off x="3481875" y="2664313"/>
            <a:ext cx="1556989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Rovo · Atlassian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3" name="Google Shape;1703;p64"/>
          <p:cNvSpPr/>
          <p:nvPr/>
        </p:nvSpPr>
        <p:spPr>
          <a:xfrm>
            <a:off x="3481875" y="2828851"/>
            <a:ext cx="1556989" cy="12488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Enterprise search and knowledge graphing.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4" name="Google Shape;1704;p64"/>
          <p:cNvSpPr/>
          <p:nvPr/>
        </p:nvSpPr>
        <p:spPr>
          <a:xfrm>
            <a:off x="3301959" y="3114518"/>
            <a:ext cx="132317" cy="1238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✓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5" name="Google Shape;1705;p64"/>
          <p:cNvSpPr/>
          <p:nvPr/>
        </p:nvSpPr>
        <p:spPr>
          <a:xfrm>
            <a:off x="3481875" y="3114518"/>
            <a:ext cx="1672767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Slack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6" name="Google Shape;1706;p64"/>
          <p:cNvSpPr/>
          <p:nvPr/>
        </p:nvSpPr>
        <p:spPr>
          <a:xfrm>
            <a:off x="3481875" y="3279056"/>
            <a:ext cx="1672767" cy="12488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Thread summarization &amp; workflow automation.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7" name="Google Shape;1707;p64"/>
          <p:cNvSpPr/>
          <p:nvPr/>
        </p:nvSpPr>
        <p:spPr>
          <a:xfrm>
            <a:off x="5994384" y="1745878"/>
            <a:ext cx="2616242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PRODUCTIVITY &amp; UTILITY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8" name="Google Shape;1708;p64"/>
          <p:cNvSpPr/>
          <p:nvPr/>
        </p:nvSpPr>
        <p:spPr>
          <a:xfrm>
            <a:off x="5994384" y="1913599"/>
            <a:ext cx="2616242" cy="21484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100"/>
              <a:buFont typeface="Manrope"/>
              <a:buNone/>
            </a:pPr>
            <a:r>
              <a:rPr b="1" i="0" lang="en-GB" sz="11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Translation &amp; whiteboarding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9" name="Google Shape;1709;p64"/>
          <p:cNvSpPr/>
          <p:nvPr/>
        </p:nvSpPr>
        <p:spPr>
          <a:xfrm>
            <a:off x="5994383" y="2575967"/>
            <a:ext cx="2540042" cy="4763"/>
          </a:xfrm>
          <a:prstGeom prst="rect">
            <a:avLst/>
          </a:prstGeom>
          <a:solidFill>
            <a:srgbClr val="C9CFD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0" name="Google Shape;1710;p64"/>
          <p:cNvSpPr/>
          <p:nvPr/>
        </p:nvSpPr>
        <p:spPr>
          <a:xfrm>
            <a:off x="5994383" y="2214108"/>
            <a:ext cx="132317" cy="1238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✓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1" name="Google Shape;1711;p64"/>
          <p:cNvSpPr/>
          <p:nvPr/>
        </p:nvSpPr>
        <p:spPr>
          <a:xfrm>
            <a:off x="6174300" y="2214108"/>
            <a:ext cx="1527394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DeepL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2" name="Google Shape;1712;p64"/>
          <p:cNvSpPr/>
          <p:nvPr/>
        </p:nvSpPr>
        <p:spPr>
          <a:xfrm>
            <a:off x="6174300" y="2378646"/>
            <a:ext cx="1527394" cy="12488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High-accuracy neural machine translation.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3" name="Google Shape;1713;p64"/>
          <p:cNvSpPr/>
          <p:nvPr/>
        </p:nvSpPr>
        <p:spPr>
          <a:xfrm>
            <a:off x="5994384" y="2664313"/>
            <a:ext cx="139593" cy="1238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D97706"/>
                </a:solidFill>
                <a:latin typeface="Manrope"/>
                <a:ea typeface="Manrope"/>
                <a:cs typeface="Manrope"/>
                <a:sym typeface="Manrope"/>
              </a:rPr>
              <a:t>⚠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4" name="Google Shape;1714;p64"/>
          <p:cNvSpPr/>
          <p:nvPr/>
        </p:nvSpPr>
        <p:spPr>
          <a:xfrm>
            <a:off x="6181577" y="2664313"/>
            <a:ext cx="2423434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Miro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5" name="Google Shape;1715;p64"/>
          <p:cNvSpPr/>
          <p:nvPr/>
        </p:nvSpPr>
        <p:spPr>
          <a:xfrm>
            <a:off x="6181577" y="2828850"/>
            <a:ext cx="2291347" cy="23915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Approved with condition — users MUST configure settings using the 'opt-out' option.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6" name="Google Shape;1716;p64"/>
          <p:cNvSpPr/>
          <p:nvPr/>
        </p:nvSpPr>
        <p:spPr>
          <a:xfrm>
            <a:off x="609575" y="4824967"/>
            <a:ext cx="1062244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L&amp;D · AI 104 · Module 04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7" name="Google Shape;1717;p64"/>
          <p:cNvSpPr/>
          <p:nvPr/>
        </p:nvSpPr>
        <p:spPr>
          <a:xfrm>
            <a:off x="8235694" y="4824967"/>
            <a:ext cx="336831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50 / 62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18" name="Google Shape;1718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242" y="251507"/>
            <a:ext cx="336900" cy="284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23" name="Shape 1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4" name="Google Shape;1724;p65"/>
          <p:cNvSpPr/>
          <p:nvPr/>
        </p:nvSpPr>
        <p:spPr>
          <a:xfrm>
            <a:off x="609575" y="328042"/>
            <a:ext cx="180950" cy="1809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5" name="Google Shape;1725;p65"/>
          <p:cNvSpPr/>
          <p:nvPr/>
        </p:nvSpPr>
        <p:spPr>
          <a:xfrm>
            <a:off x="857167" y="304767"/>
            <a:ext cx="77715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GlobalLogic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6" name="Google Shape;1726;p65"/>
          <p:cNvSpPr/>
          <p:nvPr/>
        </p:nvSpPr>
        <p:spPr>
          <a:xfrm>
            <a:off x="857167" y="447642"/>
            <a:ext cx="777156" cy="1037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Manrope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Manrope"/>
                <a:ea typeface="Manrope"/>
                <a:cs typeface="Manrope"/>
                <a:sym typeface="Manrope"/>
              </a:rPr>
              <a:t>A Hitachi Group Company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7" name="Google Shape;1727;p65"/>
          <p:cNvSpPr/>
          <p:nvPr/>
        </p:nvSpPr>
        <p:spPr>
          <a:xfrm>
            <a:off x="7984629" y="377527"/>
            <a:ext cx="587896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CONFIDENTIAL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8" name="Google Shape;1728;p65"/>
          <p:cNvSpPr/>
          <p:nvPr/>
        </p:nvSpPr>
        <p:spPr>
          <a:xfrm>
            <a:off x="609575" y="952500"/>
            <a:ext cx="8162596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CHOOSING THE RIGHT TOOL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9" name="Google Shape;1729;p65"/>
          <p:cNvSpPr/>
          <p:nvPr/>
        </p:nvSpPr>
        <p:spPr>
          <a:xfrm>
            <a:off x="609575" y="1185829"/>
            <a:ext cx="8162596" cy="40765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000"/>
              <a:buFont typeface="Manrope"/>
              <a:buNone/>
            </a:pP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Four questions before you </a:t>
            </a:r>
            <a:r>
              <a:rPr b="1" i="0" lang="en-GB" sz="30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commit</a:t>
            </a: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0" name="Google Shape;1730;p65"/>
          <p:cNvSpPr/>
          <p:nvPr/>
        </p:nvSpPr>
        <p:spPr>
          <a:xfrm>
            <a:off x="609575" y="1803011"/>
            <a:ext cx="1895492" cy="1752038"/>
          </a:xfrm>
          <a:prstGeom prst="roundRect">
            <a:avLst>
              <a:gd fmla="val 4349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1" name="Google Shape;1731;p65"/>
          <p:cNvSpPr/>
          <p:nvPr/>
        </p:nvSpPr>
        <p:spPr>
          <a:xfrm>
            <a:off x="609575" y="1803012"/>
            <a:ext cx="1895492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2" name="Google Shape;1732;p65"/>
          <p:cNvSpPr/>
          <p:nvPr/>
        </p:nvSpPr>
        <p:spPr>
          <a:xfrm>
            <a:off x="761959" y="1973916"/>
            <a:ext cx="1638447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1100"/>
              <a:buFont typeface="Manrope"/>
              <a:buNone/>
            </a:pPr>
            <a:r>
              <a:rPr b="0" i="0" lang="en-GB" sz="11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3" name="Google Shape;1733;p65"/>
          <p:cNvSpPr/>
          <p:nvPr/>
        </p:nvSpPr>
        <p:spPr>
          <a:xfrm>
            <a:off x="761959" y="2183433"/>
            <a:ext cx="1638447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QUESTION 01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4" name="Google Shape;1734;p65"/>
          <p:cNvSpPr/>
          <p:nvPr/>
        </p:nvSpPr>
        <p:spPr>
          <a:xfrm>
            <a:off x="761959" y="2324158"/>
            <a:ext cx="1638447" cy="16142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000"/>
              <a:buFont typeface="Manrope"/>
              <a:buNone/>
            </a:pPr>
            <a:r>
              <a:rPr b="1" i="0" lang="en-GB" sz="1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Where does my data go?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5" name="Google Shape;1735;p65"/>
          <p:cNvSpPr/>
          <p:nvPr/>
        </p:nvSpPr>
        <p:spPr>
          <a:xfrm>
            <a:off x="761959" y="2533179"/>
            <a:ext cx="1638447" cy="24758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Does the vendor train models on your inputs? Read the data-residency &amp; retention terms.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6" name="Google Shape;1736;p65"/>
          <p:cNvSpPr/>
          <p:nvPr/>
        </p:nvSpPr>
        <p:spPr>
          <a:xfrm>
            <a:off x="2619334" y="1803011"/>
            <a:ext cx="1895533" cy="1752038"/>
          </a:xfrm>
          <a:prstGeom prst="roundRect">
            <a:avLst>
              <a:gd fmla="val 4349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7" name="Google Shape;1737;p65"/>
          <p:cNvSpPr/>
          <p:nvPr/>
        </p:nvSpPr>
        <p:spPr>
          <a:xfrm>
            <a:off x="2619334" y="1803012"/>
            <a:ext cx="1895533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8" name="Google Shape;1738;p65"/>
          <p:cNvSpPr/>
          <p:nvPr/>
        </p:nvSpPr>
        <p:spPr>
          <a:xfrm>
            <a:off x="2771717" y="1973916"/>
            <a:ext cx="1638489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1100"/>
              <a:buFont typeface="Manrope"/>
              <a:buNone/>
            </a:pPr>
            <a:r>
              <a:rPr b="0" i="0" lang="en-GB" sz="11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9" name="Google Shape;1739;p65"/>
          <p:cNvSpPr/>
          <p:nvPr/>
        </p:nvSpPr>
        <p:spPr>
          <a:xfrm>
            <a:off x="2771717" y="2183433"/>
            <a:ext cx="1638489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QUESTION 02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0" name="Google Shape;1740;p65"/>
          <p:cNvSpPr/>
          <p:nvPr/>
        </p:nvSpPr>
        <p:spPr>
          <a:xfrm>
            <a:off x="2771717" y="2324158"/>
            <a:ext cx="1638489" cy="16142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000"/>
              <a:buFont typeface="Manrope"/>
              <a:buNone/>
            </a:pPr>
            <a:r>
              <a:rPr b="1" i="0" lang="en-GB" sz="1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Can I see why?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1" name="Google Shape;1741;p65"/>
          <p:cNvSpPr/>
          <p:nvPr/>
        </p:nvSpPr>
        <p:spPr>
          <a:xfrm>
            <a:off x="2771717" y="2533179"/>
            <a:ext cx="1638489" cy="24758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Is there explainability — can you trace why the AI made a decision?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2" name="Google Shape;1742;p65"/>
          <p:cNvSpPr/>
          <p:nvPr/>
        </p:nvSpPr>
        <p:spPr>
          <a:xfrm>
            <a:off x="4629133" y="1803011"/>
            <a:ext cx="1895492" cy="1752038"/>
          </a:xfrm>
          <a:prstGeom prst="roundRect">
            <a:avLst>
              <a:gd fmla="val 4349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3" name="Google Shape;1743;p65"/>
          <p:cNvSpPr/>
          <p:nvPr/>
        </p:nvSpPr>
        <p:spPr>
          <a:xfrm>
            <a:off x="4629133" y="1803012"/>
            <a:ext cx="1895492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4" name="Google Shape;1744;p65"/>
          <p:cNvSpPr/>
          <p:nvPr/>
        </p:nvSpPr>
        <p:spPr>
          <a:xfrm>
            <a:off x="4781517" y="1973916"/>
            <a:ext cx="163844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1100"/>
              <a:buFont typeface="Manrope"/>
              <a:buNone/>
            </a:pPr>
            <a:r>
              <a:rPr b="0" i="0" lang="en-GB" sz="11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🔍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5" name="Google Shape;1745;p65"/>
          <p:cNvSpPr/>
          <p:nvPr/>
        </p:nvSpPr>
        <p:spPr>
          <a:xfrm>
            <a:off x="4781517" y="2183433"/>
            <a:ext cx="1638446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QUESTION 03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6" name="Google Shape;1746;p65"/>
          <p:cNvSpPr/>
          <p:nvPr/>
        </p:nvSpPr>
        <p:spPr>
          <a:xfrm>
            <a:off x="4781517" y="2324158"/>
            <a:ext cx="1638446" cy="16142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000"/>
              <a:buFont typeface="Manrope"/>
              <a:buNone/>
            </a:pPr>
            <a:r>
              <a:rPr b="1" i="0" lang="en-GB" sz="1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How do I correct it?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7" name="Google Shape;1747;p65"/>
          <p:cNvSpPr/>
          <p:nvPr/>
        </p:nvSpPr>
        <p:spPr>
          <a:xfrm>
            <a:off x="4781517" y="2533179"/>
            <a:ext cx="1638446" cy="24758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What's the feedback loop when the AI is wrong? Who owns the retraining?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8" name="Google Shape;1748;p65"/>
          <p:cNvSpPr/>
          <p:nvPr/>
        </p:nvSpPr>
        <p:spPr>
          <a:xfrm>
            <a:off x="6638892" y="1803011"/>
            <a:ext cx="1895533" cy="1752038"/>
          </a:xfrm>
          <a:prstGeom prst="roundRect">
            <a:avLst>
              <a:gd fmla="val 4349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9" name="Google Shape;1749;p65"/>
          <p:cNvSpPr/>
          <p:nvPr/>
        </p:nvSpPr>
        <p:spPr>
          <a:xfrm>
            <a:off x="6638892" y="1803012"/>
            <a:ext cx="1895533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0" name="Google Shape;1750;p65"/>
          <p:cNvSpPr/>
          <p:nvPr/>
        </p:nvSpPr>
        <p:spPr>
          <a:xfrm>
            <a:off x="6791276" y="1973916"/>
            <a:ext cx="1638489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1100"/>
              <a:buFont typeface="Manrope"/>
              <a:buNone/>
            </a:pPr>
            <a:r>
              <a:rPr b="0" i="0" lang="en-GB" sz="11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🔍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1" name="Google Shape;1751;p65"/>
          <p:cNvSpPr/>
          <p:nvPr/>
        </p:nvSpPr>
        <p:spPr>
          <a:xfrm>
            <a:off x="6791276" y="2183433"/>
            <a:ext cx="1638489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QUESTION 04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2" name="Google Shape;1752;p65"/>
          <p:cNvSpPr/>
          <p:nvPr/>
        </p:nvSpPr>
        <p:spPr>
          <a:xfrm>
            <a:off x="6791276" y="2324158"/>
            <a:ext cx="1638489" cy="16142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000"/>
              <a:buFont typeface="Manrope"/>
              <a:buNone/>
            </a:pPr>
            <a:r>
              <a:rPr b="1" i="0" lang="en-GB" sz="1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What's the override?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3" name="Google Shape;1753;p65"/>
          <p:cNvSpPr/>
          <p:nvPr/>
        </p:nvSpPr>
        <p:spPr>
          <a:xfrm>
            <a:off x="6791276" y="2533179"/>
            <a:ext cx="1638489" cy="24758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What does the human override look like in practice — and how fast?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4" name="Google Shape;1754;p65"/>
          <p:cNvSpPr/>
          <p:nvPr/>
        </p:nvSpPr>
        <p:spPr>
          <a:xfrm>
            <a:off x="609575" y="4824967"/>
            <a:ext cx="1062244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L&amp;D · AI 104 · Module 04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5" name="Google Shape;1755;p65"/>
          <p:cNvSpPr/>
          <p:nvPr/>
        </p:nvSpPr>
        <p:spPr>
          <a:xfrm>
            <a:off x="8235694" y="4824967"/>
            <a:ext cx="336831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51 / 62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56" name="Google Shape;1756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242" y="251507"/>
            <a:ext cx="336900" cy="284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61" name="Shape 1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p66"/>
          <p:cNvSpPr/>
          <p:nvPr/>
        </p:nvSpPr>
        <p:spPr>
          <a:xfrm>
            <a:off x="609575" y="328042"/>
            <a:ext cx="180950" cy="1809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3" name="Google Shape;1763;p66"/>
          <p:cNvSpPr/>
          <p:nvPr/>
        </p:nvSpPr>
        <p:spPr>
          <a:xfrm>
            <a:off x="857167" y="304767"/>
            <a:ext cx="77715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GlobalLogic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4" name="Google Shape;1764;p66"/>
          <p:cNvSpPr/>
          <p:nvPr/>
        </p:nvSpPr>
        <p:spPr>
          <a:xfrm>
            <a:off x="857167" y="447642"/>
            <a:ext cx="777156" cy="1037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Manrope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Manrope"/>
                <a:ea typeface="Manrope"/>
                <a:cs typeface="Manrope"/>
                <a:sym typeface="Manrope"/>
              </a:rPr>
              <a:t>A Hitachi Group Company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5" name="Google Shape;1765;p66"/>
          <p:cNvSpPr/>
          <p:nvPr/>
        </p:nvSpPr>
        <p:spPr>
          <a:xfrm>
            <a:off x="7984629" y="377527"/>
            <a:ext cx="587896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CONFIDENTIAL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6" name="Google Shape;1766;p66"/>
          <p:cNvSpPr/>
          <p:nvPr/>
        </p:nvSpPr>
        <p:spPr>
          <a:xfrm>
            <a:off x="609575" y="952500"/>
            <a:ext cx="8162596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GUARDRAILS, ETHICS, AND PROFESSIONAL RESPONSIBILITY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7" name="Google Shape;1767;p66"/>
          <p:cNvSpPr/>
          <p:nvPr/>
        </p:nvSpPr>
        <p:spPr>
          <a:xfrm>
            <a:off x="609575" y="1185829"/>
            <a:ext cx="8162596" cy="40765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000"/>
              <a:buFont typeface="Manrope"/>
              <a:buNone/>
            </a:pP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Six </a:t>
            </a:r>
            <a:r>
              <a:rPr b="1" i="0" lang="en-GB" sz="30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risk domains</a:t>
            </a: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8" name="Google Shape;1768;p66"/>
          <p:cNvSpPr/>
          <p:nvPr/>
        </p:nvSpPr>
        <p:spPr>
          <a:xfrm>
            <a:off x="609575" y="1688703"/>
            <a:ext cx="2597175" cy="990038"/>
          </a:xfrm>
          <a:prstGeom prst="roundRect">
            <a:avLst>
              <a:gd fmla="val 7697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9" name="Google Shape;1769;p66"/>
          <p:cNvSpPr/>
          <p:nvPr/>
        </p:nvSpPr>
        <p:spPr>
          <a:xfrm>
            <a:off x="609575" y="1688703"/>
            <a:ext cx="2597175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0" name="Google Shape;1770;p66"/>
          <p:cNvSpPr/>
          <p:nvPr/>
        </p:nvSpPr>
        <p:spPr>
          <a:xfrm>
            <a:off x="761958" y="1859608"/>
            <a:ext cx="2361181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RISK · HALLUCINATIONS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1" name="Google Shape;1771;p66"/>
          <p:cNvSpPr/>
          <p:nvPr/>
        </p:nvSpPr>
        <p:spPr>
          <a:xfrm>
            <a:off x="761958" y="2000333"/>
            <a:ext cx="2361181" cy="1285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Verify against authoritative sources.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2" name="Google Shape;1772;p66"/>
          <p:cNvSpPr/>
          <p:nvPr/>
        </p:nvSpPr>
        <p:spPr>
          <a:xfrm>
            <a:off x="761958" y="2176488"/>
            <a:ext cx="2361181" cy="1333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AI fabricates terms. Always verify before sending.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3" name="Google Shape;1773;p66"/>
          <p:cNvSpPr/>
          <p:nvPr/>
        </p:nvSpPr>
        <p:spPr>
          <a:xfrm>
            <a:off x="3273392" y="1688703"/>
            <a:ext cx="2597175" cy="990038"/>
          </a:xfrm>
          <a:prstGeom prst="roundRect">
            <a:avLst>
              <a:gd fmla="val 7697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4" name="Google Shape;1774;p66"/>
          <p:cNvSpPr/>
          <p:nvPr/>
        </p:nvSpPr>
        <p:spPr>
          <a:xfrm>
            <a:off x="3273392" y="1688703"/>
            <a:ext cx="2597175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5" name="Google Shape;1775;p66"/>
          <p:cNvSpPr/>
          <p:nvPr/>
        </p:nvSpPr>
        <p:spPr>
          <a:xfrm>
            <a:off x="3425776" y="1859608"/>
            <a:ext cx="2361181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RISK · HUMAN-IN-THE-LOOP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6" name="Google Shape;1776;p66"/>
          <p:cNvSpPr/>
          <p:nvPr/>
        </p:nvSpPr>
        <p:spPr>
          <a:xfrm>
            <a:off x="3425776" y="2000333"/>
            <a:ext cx="2361181" cy="1285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Refunds, terminations, legal.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7" name="Google Shape;1777;p66"/>
          <p:cNvSpPr/>
          <p:nvPr/>
        </p:nvSpPr>
        <p:spPr>
          <a:xfrm>
            <a:off x="3425776" y="2176488"/>
            <a:ext cx="2361181" cy="1333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These require human judgment, full stop.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8" name="Google Shape;1778;p66"/>
          <p:cNvSpPr/>
          <p:nvPr/>
        </p:nvSpPr>
        <p:spPr>
          <a:xfrm>
            <a:off x="5937209" y="1688703"/>
            <a:ext cx="2597175" cy="990038"/>
          </a:xfrm>
          <a:prstGeom prst="roundRect">
            <a:avLst>
              <a:gd fmla="val 7697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9" name="Google Shape;1779;p66"/>
          <p:cNvSpPr/>
          <p:nvPr/>
        </p:nvSpPr>
        <p:spPr>
          <a:xfrm>
            <a:off x="5937209" y="1688703"/>
            <a:ext cx="2597175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0" name="Google Shape;1780;p66"/>
          <p:cNvSpPr/>
          <p:nvPr/>
        </p:nvSpPr>
        <p:spPr>
          <a:xfrm>
            <a:off x="6089592" y="1859608"/>
            <a:ext cx="2361181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RISK · BIAS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1" name="Google Shape;1781;p66"/>
          <p:cNvSpPr/>
          <p:nvPr/>
        </p:nvSpPr>
        <p:spPr>
          <a:xfrm>
            <a:off x="6089592" y="2000333"/>
            <a:ext cx="2361181" cy="1285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Audit disparate impact.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2" name="Google Shape;1782;p66"/>
          <p:cNvSpPr/>
          <p:nvPr/>
        </p:nvSpPr>
        <p:spPr>
          <a:xfrm>
            <a:off x="6089592" y="2176488"/>
            <a:ext cx="2361181" cy="24758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Inherits historical biases (e.g., ticket routing favoring demographics).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3" name="Google Shape;1783;p66"/>
          <p:cNvSpPr/>
          <p:nvPr/>
        </p:nvSpPr>
        <p:spPr>
          <a:xfrm>
            <a:off x="609575" y="2745383"/>
            <a:ext cx="2597175" cy="990038"/>
          </a:xfrm>
          <a:prstGeom prst="roundRect">
            <a:avLst>
              <a:gd fmla="val 7697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4" name="Google Shape;1784;p66"/>
          <p:cNvSpPr/>
          <p:nvPr/>
        </p:nvSpPr>
        <p:spPr>
          <a:xfrm>
            <a:off x="609575" y="2745383"/>
            <a:ext cx="2597175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5" name="Google Shape;1785;p66"/>
          <p:cNvSpPr/>
          <p:nvPr/>
        </p:nvSpPr>
        <p:spPr>
          <a:xfrm>
            <a:off x="761958" y="2916287"/>
            <a:ext cx="2361181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RISK · COMPLIANCE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6" name="Google Shape;1786;p66"/>
          <p:cNvSpPr/>
          <p:nvPr/>
        </p:nvSpPr>
        <p:spPr>
          <a:xfrm>
            <a:off x="761958" y="3057013"/>
            <a:ext cx="2361181" cy="1285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GDPR · CCPA · HIPAA.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7" name="Google Shape;1787;p66"/>
          <p:cNvSpPr/>
          <p:nvPr/>
        </p:nvSpPr>
        <p:spPr>
          <a:xfrm>
            <a:off x="761958" y="3233167"/>
            <a:ext cx="2361181" cy="1333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All apply to AI-processed data.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8" name="Google Shape;1788;p66"/>
          <p:cNvSpPr/>
          <p:nvPr/>
        </p:nvSpPr>
        <p:spPr>
          <a:xfrm>
            <a:off x="3273392" y="2745383"/>
            <a:ext cx="2597175" cy="990038"/>
          </a:xfrm>
          <a:prstGeom prst="roundRect">
            <a:avLst>
              <a:gd fmla="val 7697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9" name="Google Shape;1789;p66"/>
          <p:cNvSpPr/>
          <p:nvPr/>
        </p:nvSpPr>
        <p:spPr>
          <a:xfrm>
            <a:off x="3273392" y="2745383"/>
            <a:ext cx="2597175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0" name="Google Shape;1790;p66"/>
          <p:cNvSpPr/>
          <p:nvPr/>
        </p:nvSpPr>
        <p:spPr>
          <a:xfrm>
            <a:off x="3425776" y="2916287"/>
            <a:ext cx="2361181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RISK · DATA PRIVACY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1" name="Google Shape;1791;p66"/>
          <p:cNvSpPr/>
          <p:nvPr/>
        </p:nvSpPr>
        <p:spPr>
          <a:xfrm>
            <a:off x="3425776" y="3057013"/>
            <a:ext cx="2361181" cy="1285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Never paste PII or credentials.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2" name="Google Shape;1792;p66"/>
          <p:cNvSpPr/>
          <p:nvPr/>
        </p:nvSpPr>
        <p:spPr>
          <a:xfrm>
            <a:off x="3425776" y="3233167"/>
            <a:ext cx="2361181" cy="1333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Especially into public tools.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3" name="Google Shape;1793;p66"/>
          <p:cNvSpPr/>
          <p:nvPr/>
        </p:nvSpPr>
        <p:spPr>
          <a:xfrm>
            <a:off x="5937209" y="2745383"/>
            <a:ext cx="2597175" cy="990038"/>
          </a:xfrm>
          <a:prstGeom prst="roundRect">
            <a:avLst>
              <a:gd fmla="val 7697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4" name="Google Shape;1794;p66"/>
          <p:cNvSpPr/>
          <p:nvPr/>
        </p:nvSpPr>
        <p:spPr>
          <a:xfrm>
            <a:off x="5937209" y="2745383"/>
            <a:ext cx="2597175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5" name="Google Shape;1795;p66"/>
          <p:cNvSpPr/>
          <p:nvPr/>
        </p:nvSpPr>
        <p:spPr>
          <a:xfrm>
            <a:off x="6089592" y="2916287"/>
            <a:ext cx="2361181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RISK · AUDITABILITY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6" name="Google Shape;1796;p66"/>
          <p:cNvSpPr/>
          <p:nvPr/>
        </p:nvSpPr>
        <p:spPr>
          <a:xfrm>
            <a:off x="6089592" y="3057013"/>
            <a:ext cx="2361181" cy="1285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Maintain decision audit trails.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7" name="Google Shape;1797;p66"/>
          <p:cNvSpPr/>
          <p:nvPr/>
        </p:nvSpPr>
        <p:spPr>
          <a:xfrm>
            <a:off x="6089592" y="3233167"/>
            <a:ext cx="2361181" cy="1333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If you can't explain it, you can't ship it.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8" name="Google Shape;1798;p66"/>
          <p:cNvSpPr/>
          <p:nvPr/>
        </p:nvSpPr>
        <p:spPr>
          <a:xfrm>
            <a:off x="609575" y="3821121"/>
            <a:ext cx="7924850" cy="733061"/>
          </a:xfrm>
          <a:prstGeom prst="roundRect">
            <a:avLst>
              <a:gd fmla="val 11694" name="adj"/>
            </a:avLst>
          </a:prstGeom>
          <a:solidFill>
            <a:srgbClr val="FFF7F1"/>
          </a:solidFill>
          <a:ln cap="flat" cmpd="sng" w="9525">
            <a:solidFill>
              <a:srgbClr val="FFD7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9" name="Google Shape;1799;p66"/>
          <p:cNvSpPr/>
          <p:nvPr/>
        </p:nvSpPr>
        <p:spPr>
          <a:xfrm>
            <a:off x="745547" y="3899959"/>
            <a:ext cx="7882495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THE PRACTICAL CHECKLIST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0" name="Google Shape;1800;p66"/>
          <p:cNvSpPr/>
          <p:nvPr/>
        </p:nvSpPr>
        <p:spPr>
          <a:xfrm>
            <a:off x="688872" y="4066109"/>
            <a:ext cx="3845036" cy="42828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Know your organization's approved AI tools.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Never input SSNs, card numbers, or full records without IT approval.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Treat every AI output as a draft until verified.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Report AI errors to improve the models.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Know your escalation path for scenarios bypassing AI entirely.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1" name="Google Shape;1801;p66"/>
          <p:cNvSpPr/>
          <p:nvPr/>
        </p:nvSpPr>
        <p:spPr>
          <a:xfrm>
            <a:off x="609575" y="4824967"/>
            <a:ext cx="1062244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L&amp;D · AI 104 · Module 04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2" name="Google Shape;1802;p66"/>
          <p:cNvSpPr/>
          <p:nvPr/>
        </p:nvSpPr>
        <p:spPr>
          <a:xfrm>
            <a:off x="8235694" y="4824967"/>
            <a:ext cx="336831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52 / 62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03" name="Google Shape;1803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242" y="251507"/>
            <a:ext cx="336900" cy="284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84358"/>
        </a:solidFill>
      </p:bgPr>
    </p:bg>
    <p:spTree>
      <p:nvGrpSpPr>
        <p:cNvPr id="1808" name="Shape 1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09" name="Google Shape;1809;p67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6096000" y="2095500"/>
            <a:ext cx="3048000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0" name="Google Shape;1810;p67"/>
          <p:cNvSpPr/>
          <p:nvPr/>
        </p:nvSpPr>
        <p:spPr>
          <a:xfrm>
            <a:off x="609575" y="328042"/>
            <a:ext cx="180950" cy="180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1" name="Google Shape;1811;p67"/>
          <p:cNvSpPr/>
          <p:nvPr/>
        </p:nvSpPr>
        <p:spPr>
          <a:xfrm>
            <a:off x="857167" y="304767"/>
            <a:ext cx="77715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GlobalLogic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2" name="Google Shape;1812;p67"/>
          <p:cNvSpPr/>
          <p:nvPr/>
        </p:nvSpPr>
        <p:spPr>
          <a:xfrm>
            <a:off x="857167" y="447642"/>
            <a:ext cx="777156" cy="1037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Manrope"/>
              <a:buNone/>
            </a:pPr>
            <a:r>
              <a:rPr b="0" i="0" lang="en-GB" sz="5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A Hitachi Group Company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3" name="Google Shape;1813;p67"/>
          <p:cNvSpPr/>
          <p:nvPr/>
        </p:nvSpPr>
        <p:spPr>
          <a:xfrm>
            <a:off x="7984629" y="377527"/>
            <a:ext cx="587896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CONFIDENTIAL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4" name="Google Shape;1814;p67"/>
          <p:cNvSpPr/>
          <p:nvPr/>
        </p:nvSpPr>
        <p:spPr>
          <a:xfrm>
            <a:off x="762000" y="1143000"/>
            <a:ext cx="6376988" cy="1460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800"/>
              <a:buFont typeface="JetBrains Mono"/>
              <a:buNone/>
            </a:pPr>
            <a:r>
              <a:rPr b="0" i="0" lang="en-GB" sz="8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PART 05 · MODULE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5" name="Google Shape;1815;p67"/>
          <p:cNvSpPr/>
          <p:nvPr/>
        </p:nvSpPr>
        <p:spPr>
          <a:xfrm>
            <a:off x="762000" y="1422384"/>
            <a:ext cx="6376988" cy="139438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700"/>
              <a:buFont typeface="Manrope"/>
              <a:buNone/>
            </a:pPr>
            <a:r>
              <a:rPr b="1" i="0" lang="en-GB" sz="57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What's next?</a:t>
            </a:r>
            <a:endParaRPr b="0" i="0" sz="5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6" name="Google Shape;1816;p67"/>
          <p:cNvSpPr/>
          <p:nvPr/>
        </p:nvSpPr>
        <p:spPr>
          <a:xfrm>
            <a:off x="762000" y="2931046"/>
            <a:ext cx="4905376" cy="37913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nrope"/>
              <a:buNone/>
            </a:pPr>
            <a:r>
              <a:rPr b="0" i="0" lang="en-GB" sz="11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From answering questions to doing complete tasks intelligently — the 2025–2026 trajectory.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7" name="Google Shape;1817;p67"/>
          <p:cNvSpPr/>
          <p:nvPr/>
        </p:nvSpPr>
        <p:spPr>
          <a:xfrm>
            <a:off x="609575" y="4824967"/>
            <a:ext cx="550193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L&amp;D · AI 104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8" name="Google Shape;1818;p67"/>
          <p:cNvSpPr/>
          <p:nvPr/>
        </p:nvSpPr>
        <p:spPr>
          <a:xfrm>
            <a:off x="8235694" y="4824967"/>
            <a:ext cx="336831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53 / 62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19" name="Google Shape;1819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1242" y="251507"/>
            <a:ext cx="336900" cy="284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24" name="Shape 1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5" name="Google Shape;1825;p68"/>
          <p:cNvSpPr/>
          <p:nvPr/>
        </p:nvSpPr>
        <p:spPr>
          <a:xfrm>
            <a:off x="609575" y="328042"/>
            <a:ext cx="180950" cy="1809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6" name="Google Shape;1826;p68"/>
          <p:cNvSpPr/>
          <p:nvPr/>
        </p:nvSpPr>
        <p:spPr>
          <a:xfrm>
            <a:off x="857167" y="304767"/>
            <a:ext cx="77715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GlobalLogic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7" name="Google Shape;1827;p68"/>
          <p:cNvSpPr/>
          <p:nvPr/>
        </p:nvSpPr>
        <p:spPr>
          <a:xfrm>
            <a:off x="857167" y="447642"/>
            <a:ext cx="777156" cy="1037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Manrope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Manrope"/>
                <a:ea typeface="Manrope"/>
                <a:cs typeface="Manrope"/>
                <a:sym typeface="Manrope"/>
              </a:rPr>
              <a:t>A Hitachi Group Company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8" name="Google Shape;1828;p68"/>
          <p:cNvSpPr/>
          <p:nvPr/>
        </p:nvSpPr>
        <p:spPr>
          <a:xfrm>
            <a:off x="7984629" y="377527"/>
            <a:ext cx="587896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CONFIDENTIAL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9" name="Google Shape;1829;p68"/>
          <p:cNvSpPr/>
          <p:nvPr/>
        </p:nvSpPr>
        <p:spPr>
          <a:xfrm>
            <a:off x="609575" y="952500"/>
            <a:ext cx="8162596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THE CAPABILITY BLUEPRINT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0" name="Google Shape;1830;p68"/>
          <p:cNvSpPr/>
          <p:nvPr/>
        </p:nvSpPr>
        <p:spPr>
          <a:xfrm>
            <a:off x="609575" y="1185829"/>
            <a:ext cx="8162596" cy="40765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000"/>
              <a:buFont typeface="Manrope"/>
              <a:buNone/>
            </a:pP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From reactive to </a:t>
            </a:r>
            <a:r>
              <a:rPr b="1" i="0" lang="en-GB" sz="30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autonomous</a:t>
            </a: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1" name="Google Shape;1831;p68"/>
          <p:cNvSpPr/>
          <p:nvPr/>
        </p:nvSpPr>
        <p:spPr>
          <a:xfrm>
            <a:off x="609575" y="1803011"/>
            <a:ext cx="2540000" cy="1752038"/>
          </a:xfrm>
          <a:prstGeom prst="roundRect">
            <a:avLst>
              <a:gd fmla="val 4349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2" name="Google Shape;1832;p68"/>
          <p:cNvSpPr/>
          <p:nvPr/>
        </p:nvSpPr>
        <p:spPr>
          <a:xfrm>
            <a:off x="609575" y="1803012"/>
            <a:ext cx="2540000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3" name="Google Shape;1833;p68"/>
          <p:cNvSpPr/>
          <p:nvPr/>
        </p:nvSpPr>
        <p:spPr>
          <a:xfrm>
            <a:off x="761958" y="1973916"/>
            <a:ext cx="230229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1100"/>
              <a:buFont typeface="Manrope"/>
              <a:buNone/>
            </a:pPr>
            <a:r>
              <a:rPr b="0" i="0" lang="en-GB" sz="11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🔍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4" name="Google Shape;1834;p68"/>
          <p:cNvSpPr/>
          <p:nvPr/>
        </p:nvSpPr>
        <p:spPr>
          <a:xfrm>
            <a:off x="761958" y="2183433"/>
            <a:ext cx="2302290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STAGE 01 · RAG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5" name="Google Shape;1835;p68"/>
          <p:cNvSpPr/>
          <p:nvPr/>
        </p:nvSpPr>
        <p:spPr>
          <a:xfrm>
            <a:off x="761958" y="2324158"/>
            <a:ext cx="2302290" cy="16142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000"/>
              <a:buFont typeface="Manrope"/>
              <a:buNone/>
            </a:pPr>
            <a:r>
              <a:rPr b="1" i="0" lang="en-GB" sz="1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Retrieval-Augmented Generation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6" name="Google Shape;1836;p68"/>
          <p:cNvSpPr/>
          <p:nvPr/>
        </p:nvSpPr>
        <p:spPr>
          <a:xfrm>
            <a:off x="761958" y="2533179"/>
            <a:ext cx="2302290" cy="1333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1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The shift: </a:t>
            </a: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from guessing to fetching real-time, external data.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7" name="Google Shape;1837;p68"/>
          <p:cNvSpPr/>
          <p:nvPr/>
        </p:nvSpPr>
        <p:spPr>
          <a:xfrm>
            <a:off x="761958" y="3304770"/>
            <a:ext cx="2302290" cy="11694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600"/>
              <a:buFont typeface="Manrope"/>
              <a:buNone/>
            </a:pPr>
            <a:r>
              <a:rPr b="0" i="1" lang="en-GB" sz="600" u="none" cap="none" strike="noStrike">
                <a:solidFill>
                  <a:srgbClr val="8B95A6"/>
                </a:solidFill>
                <a:latin typeface="Manrope"/>
                <a:ea typeface="Manrope"/>
                <a:cs typeface="Manrope"/>
                <a:sym typeface="Manrope"/>
              </a:rPr>
              <a:t>Searching company leave policies accurately.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8" name="Google Shape;1838;p68"/>
          <p:cNvSpPr/>
          <p:nvPr/>
        </p:nvSpPr>
        <p:spPr>
          <a:xfrm>
            <a:off x="3301959" y="1803011"/>
            <a:ext cx="2540042" cy="1752038"/>
          </a:xfrm>
          <a:prstGeom prst="roundRect">
            <a:avLst>
              <a:gd fmla="val 4349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9" name="Google Shape;1839;p68"/>
          <p:cNvSpPr/>
          <p:nvPr/>
        </p:nvSpPr>
        <p:spPr>
          <a:xfrm>
            <a:off x="3301959" y="1803012"/>
            <a:ext cx="2540042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0" name="Google Shape;1840;p68"/>
          <p:cNvSpPr/>
          <p:nvPr/>
        </p:nvSpPr>
        <p:spPr>
          <a:xfrm>
            <a:off x="3454343" y="1973916"/>
            <a:ext cx="2302332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1100"/>
              <a:buFont typeface="Manrope"/>
              <a:buNone/>
            </a:pPr>
            <a:r>
              <a:rPr b="0" i="0" lang="en-GB" sz="11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🤖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1" name="Google Shape;1841;p68"/>
          <p:cNvSpPr/>
          <p:nvPr/>
        </p:nvSpPr>
        <p:spPr>
          <a:xfrm>
            <a:off x="3454343" y="2183433"/>
            <a:ext cx="2302332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STAGE 02 · AGENTIC AI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2" name="Google Shape;1842;p68"/>
          <p:cNvSpPr/>
          <p:nvPr/>
        </p:nvSpPr>
        <p:spPr>
          <a:xfrm>
            <a:off x="3454343" y="2324158"/>
            <a:ext cx="2302332" cy="16142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000"/>
              <a:buFont typeface="Manrope"/>
              <a:buNone/>
            </a:pPr>
            <a:r>
              <a:rPr b="1" i="0" lang="en-GB" sz="1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Autonomous task execution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3" name="Google Shape;1843;p68"/>
          <p:cNvSpPr/>
          <p:nvPr/>
        </p:nvSpPr>
        <p:spPr>
          <a:xfrm>
            <a:off x="3454343" y="2533179"/>
            <a:ext cx="2302332" cy="1333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1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The shift: </a:t>
            </a: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from AI that talks to AI that does work.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4" name="Google Shape;1844;p68"/>
          <p:cNvSpPr/>
          <p:nvPr/>
        </p:nvSpPr>
        <p:spPr>
          <a:xfrm>
            <a:off x="3454343" y="3304770"/>
            <a:ext cx="2302332" cy="11694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600"/>
              <a:buFont typeface="Manrope"/>
              <a:buNone/>
            </a:pPr>
            <a:r>
              <a:rPr b="0" i="1" lang="en-GB" sz="600" u="none" cap="none" strike="noStrike">
                <a:solidFill>
                  <a:srgbClr val="8B95A6"/>
                </a:solidFill>
                <a:latin typeface="Manrope"/>
                <a:ea typeface="Manrope"/>
                <a:cs typeface="Manrope"/>
                <a:sym typeface="Manrope"/>
              </a:rPr>
              <a:t>Reading emails and booking meetings automatically.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5" name="Google Shape;1845;p68"/>
          <p:cNvSpPr/>
          <p:nvPr/>
        </p:nvSpPr>
        <p:spPr>
          <a:xfrm>
            <a:off x="5994383" y="1803011"/>
            <a:ext cx="2540042" cy="1752038"/>
          </a:xfrm>
          <a:prstGeom prst="roundRect">
            <a:avLst>
              <a:gd fmla="val 4349" name="adj"/>
            </a:avLst>
          </a:prstGeom>
          <a:solidFill>
            <a:srgbClr val="FFF7F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6" name="Google Shape;1846;p68"/>
          <p:cNvSpPr/>
          <p:nvPr/>
        </p:nvSpPr>
        <p:spPr>
          <a:xfrm>
            <a:off x="5994383" y="1803012"/>
            <a:ext cx="2540042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7" name="Google Shape;1847;p68"/>
          <p:cNvSpPr/>
          <p:nvPr/>
        </p:nvSpPr>
        <p:spPr>
          <a:xfrm>
            <a:off x="6146768" y="1973916"/>
            <a:ext cx="2302332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1100"/>
              <a:buFont typeface="Manrope"/>
              <a:buNone/>
            </a:pPr>
            <a:r>
              <a:rPr b="0" i="0" lang="en-GB" sz="11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◈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8" name="Google Shape;1848;p68"/>
          <p:cNvSpPr/>
          <p:nvPr/>
        </p:nvSpPr>
        <p:spPr>
          <a:xfrm>
            <a:off x="6146768" y="2183433"/>
            <a:ext cx="2302332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STAGE 03 · AGENTIC RAG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9" name="Google Shape;1849;p68"/>
          <p:cNvSpPr/>
          <p:nvPr/>
        </p:nvSpPr>
        <p:spPr>
          <a:xfrm>
            <a:off x="6146768" y="2324158"/>
            <a:ext cx="2302332" cy="16142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000"/>
              <a:buFont typeface="Manrope"/>
              <a:buNone/>
            </a:pPr>
            <a:r>
              <a:rPr b="1" i="0" lang="en-GB" sz="1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Reasoning + retrieval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0" name="Google Shape;1850;p68"/>
          <p:cNvSpPr/>
          <p:nvPr/>
        </p:nvSpPr>
        <p:spPr>
          <a:xfrm>
            <a:off x="6146768" y="2533179"/>
            <a:ext cx="2302332" cy="24758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1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The shift: </a:t>
            </a: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multi-step reasoning combining iterative searches with decision-making.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1" name="Google Shape;1851;p68"/>
          <p:cNvSpPr/>
          <p:nvPr/>
        </p:nvSpPr>
        <p:spPr>
          <a:xfrm>
            <a:off x="6146768" y="3304770"/>
            <a:ext cx="2302332" cy="11694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600"/>
              <a:buFont typeface="Manrope"/>
              <a:buNone/>
            </a:pPr>
            <a:r>
              <a:rPr b="0" i="1" lang="en-GB" sz="600" u="none" cap="none" strike="noStrike">
                <a:solidFill>
                  <a:srgbClr val="8B95A6"/>
                </a:solidFill>
                <a:latin typeface="Manrope"/>
                <a:ea typeface="Manrope"/>
                <a:cs typeface="Manrope"/>
                <a:sym typeface="Manrope"/>
              </a:rPr>
              <a:t>An AI research assistant combining insights from multiple sources.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2" name="Google Shape;1852;p68"/>
          <p:cNvSpPr/>
          <p:nvPr/>
        </p:nvSpPr>
        <p:spPr>
          <a:xfrm>
            <a:off x="609575" y="4824967"/>
            <a:ext cx="1062244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L&amp;D · AI 104 · Module 05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3" name="Google Shape;1853;p68"/>
          <p:cNvSpPr/>
          <p:nvPr/>
        </p:nvSpPr>
        <p:spPr>
          <a:xfrm>
            <a:off x="8235694" y="4824967"/>
            <a:ext cx="336831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54 / 62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54" name="Google Shape;1854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242" y="251507"/>
            <a:ext cx="336900" cy="284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59" name="Shape 1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0" name="Google Shape;1860;p69"/>
          <p:cNvSpPr/>
          <p:nvPr/>
        </p:nvSpPr>
        <p:spPr>
          <a:xfrm>
            <a:off x="609575" y="328042"/>
            <a:ext cx="180950" cy="1809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1" name="Google Shape;1861;p69"/>
          <p:cNvSpPr/>
          <p:nvPr/>
        </p:nvSpPr>
        <p:spPr>
          <a:xfrm>
            <a:off x="857167" y="304767"/>
            <a:ext cx="77715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GlobalLogic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2" name="Google Shape;1862;p69"/>
          <p:cNvSpPr/>
          <p:nvPr/>
        </p:nvSpPr>
        <p:spPr>
          <a:xfrm>
            <a:off x="857167" y="447642"/>
            <a:ext cx="777156" cy="1037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Manrope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Manrope"/>
                <a:ea typeface="Manrope"/>
                <a:cs typeface="Manrope"/>
                <a:sym typeface="Manrope"/>
              </a:rPr>
              <a:t>A Hitachi Group Company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3" name="Google Shape;1863;p69"/>
          <p:cNvSpPr/>
          <p:nvPr/>
        </p:nvSpPr>
        <p:spPr>
          <a:xfrm>
            <a:off x="7984629" y="377527"/>
            <a:ext cx="587896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CONFIDENTIAL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4" name="Google Shape;1864;p69"/>
          <p:cNvSpPr/>
          <p:nvPr/>
        </p:nvSpPr>
        <p:spPr>
          <a:xfrm>
            <a:off x="609575" y="952500"/>
            <a:ext cx="8162596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SHAPING THE 2025–2026 ENTERPRISE LANDSCAPE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5" name="Google Shape;1865;p69"/>
          <p:cNvSpPr/>
          <p:nvPr/>
        </p:nvSpPr>
        <p:spPr>
          <a:xfrm>
            <a:off x="609575" y="1185829"/>
            <a:ext cx="8162596" cy="40765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000"/>
              <a:buFont typeface="Manrope"/>
              <a:buNone/>
            </a:pP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Seven </a:t>
            </a:r>
            <a:r>
              <a:rPr b="1" i="0" lang="en-GB" sz="30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forces</a:t>
            </a: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6" name="Google Shape;1866;p69"/>
          <p:cNvSpPr/>
          <p:nvPr/>
        </p:nvSpPr>
        <p:spPr>
          <a:xfrm>
            <a:off x="609575" y="1726820"/>
            <a:ext cx="1916907" cy="1275788"/>
          </a:xfrm>
          <a:prstGeom prst="roundRect">
            <a:avLst>
              <a:gd fmla="val 5973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7" name="Google Shape;1867;p69"/>
          <p:cNvSpPr/>
          <p:nvPr/>
        </p:nvSpPr>
        <p:spPr>
          <a:xfrm>
            <a:off x="609575" y="1726820"/>
            <a:ext cx="1916907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8" name="Google Shape;1868;p69"/>
          <p:cNvSpPr/>
          <p:nvPr/>
        </p:nvSpPr>
        <p:spPr>
          <a:xfrm>
            <a:off x="761959" y="1897724"/>
            <a:ext cx="1660504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1100"/>
              <a:buFont typeface="Manrope"/>
              <a:buNone/>
            </a:pPr>
            <a:r>
              <a:rPr b="0" i="0" lang="en-GB" sz="11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∞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9" name="Google Shape;1869;p69"/>
          <p:cNvSpPr/>
          <p:nvPr/>
        </p:nvSpPr>
        <p:spPr>
          <a:xfrm>
            <a:off x="761959" y="2107241"/>
            <a:ext cx="1660504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0" name="Google Shape;1870;p69"/>
          <p:cNvSpPr/>
          <p:nvPr/>
        </p:nvSpPr>
        <p:spPr>
          <a:xfrm>
            <a:off x="761959" y="2247967"/>
            <a:ext cx="1660504" cy="13951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Agentic Workflows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1" name="Google Shape;1871;p69"/>
          <p:cNvSpPr/>
          <p:nvPr/>
        </p:nvSpPr>
        <p:spPr>
          <a:xfrm>
            <a:off x="761959" y="2435076"/>
            <a:ext cx="1660504" cy="24758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End-to-end autonomous execution. Expected in 40% of enterprise apps by 2026.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2" name="Google Shape;1872;p69"/>
          <p:cNvSpPr/>
          <p:nvPr/>
        </p:nvSpPr>
        <p:spPr>
          <a:xfrm>
            <a:off x="2612182" y="1726820"/>
            <a:ext cx="1916948" cy="1275788"/>
          </a:xfrm>
          <a:prstGeom prst="roundRect">
            <a:avLst>
              <a:gd fmla="val 5973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3" name="Google Shape;1873;p69"/>
          <p:cNvSpPr/>
          <p:nvPr/>
        </p:nvSpPr>
        <p:spPr>
          <a:xfrm>
            <a:off x="2612182" y="1726820"/>
            <a:ext cx="1916948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4" name="Google Shape;1874;p69"/>
          <p:cNvSpPr/>
          <p:nvPr/>
        </p:nvSpPr>
        <p:spPr>
          <a:xfrm>
            <a:off x="2764565" y="1897724"/>
            <a:ext cx="166054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1100"/>
              <a:buFont typeface="Manrope"/>
              <a:buNone/>
            </a:pPr>
            <a:r>
              <a:rPr b="0" i="0" lang="en-GB" sz="11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📦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5" name="Google Shape;1875;p69"/>
          <p:cNvSpPr/>
          <p:nvPr/>
        </p:nvSpPr>
        <p:spPr>
          <a:xfrm>
            <a:off x="2764565" y="2107241"/>
            <a:ext cx="1660546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6" name="Google Shape;1876;p69"/>
          <p:cNvSpPr/>
          <p:nvPr/>
        </p:nvSpPr>
        <p:spPr>
          <a:xfrm>
            <a:off x="2764565" y="2247967"/>
            <a:ext cx="1660546" cy="13951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Small Language Models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7" name="Google Shape;1877;p69"/>
          <p:cNvSpPr/>
          <p:nvPr/>
        </p:nvSpPr>
        <p:spPr>
          <a:xfrm>
            <a:off x="2764565" y="2435076"/>
            <a:ext cx="1660546" cy="24758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Domain-specific, faster, and highly cost-efficient.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8" name="Google Shape;1878;p69"/>
          <p:cNvSpPr/>
          <p:nvPr/>
        </p:nvSpPr>
        <p:spPr>
          <a:xfrm>
            <a:off x="4614830" y="1726820"/>
            <a:ext cx="1916948" cy="1275788"/>
          </a:xfrm>
          <a:prstGeom prst="roundRect">
            <a:avLst>
              <a:gd fmla="val 5973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9" name="Google Shape;1879;p69"/>
          <p:cNvSpPr/>
          <p:nvPr/>
        </p:nvSpPr>
        <p:spPr>
          <a:xfrm>
            <a:off x="4614830" y="1726820"/>
            <a:ext cx="1916948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0" name="Google Shape;1880;p69"/>
          <p:cNvSpPr/>
          <p:nvPr/>
        </p:nvSpPr>
        <p:spPr>
          <a:xfrm>
            <a:off x="4767213" y="1897724"/>
            <a:ext cx="166054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1100"/>
              <a:buFont typeface="Manrope"/>
              <a:buNone/>
            </a:pPr>
            <a:r>
              <a:rPr b="0" i="0" lang="en-GB" sz="11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🖼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1" name="Google Shape;1881;p69"/>
          <p:cNvSpPr/>
          <p:nvPr/>
        </p:nvSpPr>
        <p:spPr>
          <a:xfrm>
            <a:off x="4767213" y="2107241"/>
            <a:ext cx="1660546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2" name="Google Shape;1882;p69"/>
          <p:cNvSpPr/>
          <p:nvPr/>
        </p:nvSpPr>
        <p:spPr>
          <a:xfrm>
            <a:off x="4767213" y="2247967"/>
            <a:ext cx="1660546" cy="13951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Multimodal AI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3" name="Google Shape;1883;p69"/>
          <p:cNvSpPr/>
          <p:nvPr/>
        </p:nvSpPr>
        <p:spPr>
          <a:xfrm>
            <a:off x="4767213" y="2435076"/>
            <a:ext cx="1660546" cy="24758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Seamlessly processing text, image, audio, and video together.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4" name="Google Shape;1884;p69"/>
          <p:cNvSpPr/>
          <p:nvPr/>
        </p:nvSpPr>
        <p:spPr>
          <a:xfrm>
            <a:off x="6617477" y="1726820"/>
            <a:ext cx="1916948" cy="1275788"/>
          </a:xfrm>
          <a:prstGeom prst="roundRect">
            <a:avLst>
              <a:gd fmla="val 5973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5" name="Google Shape;1885;p69"/>
          <p:cNvSpPr/>
          <p:nvPr/>
        </p:nvSpPr>
        <p:spPr>
          <a:xfrm>
            <a:off x="6617477" y="1726820"/>
            <a:ext cx="1916948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6" name="Google Shape;1886;p69"/>
          <p:cNvSpPr/>
          <p:nvPr/>
        </p:nvSpPr>
        <p:spPr>
          <a:xfrm>
            <a:off x="6769861" y="1897724"/>
            <a:ext cx="166054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1100"/>
              <a:buFont typeface="Manrope"/>
              <a:buNone/>
            </a:pPr>
            <a:r>
              <a:rPr b="0" i="0" lang="en-GB" sz="11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🤝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7" name="Google Shape;1887;p69"/>
          <p:cNvSpPr/>
          <p:nvPr/>
        </p:nvSpPr>
        <p:spPr>
          <a:xfrm>
            <a:off x="6769861" y="2107241"/>
            <a:ext cx="1660546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8" name="Google Shape;1888;p69"/>
          <p:cNvSpPr/>
          <p:nvPr/>
        </p:nvSpPr>
        <p:spPr>
          <a:xfrm>
            <a:off x="6769861" y="2247967"/>
            <a:ext cx="1660546" cy="13951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Human + AI Collab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9" name="Google Shape;1889;p69"/>
          <p:cNvSpPr/>
          <p:nvPr/>
        </p:nvSpPr>
        <p:spPr>
          <a:xfrm>
            <a:off x="6769861" y="2435076"/>
            <a:ext cx="1660546" cy="24758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Evolving from a simple tool into an active digital co-worker.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0" name="Google Shape;1890;p69"/>
          <p:cNvSpPr/>
          <p:nvPr/>
        </p:nvSpPr>
        <p:spPr>
          <a:xfrm>
            <a:off x="609575" y="3088307"/>
            <a:ext cx="1916907" cy="1275788"/>
          </a:xfrm>
          <a:prstGeom prst="roundRect">
            <a:avLst>
              <a:gd fmla="val 5973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1" name="Google Shape;1891;p69"/>
          <p:cNvSpPr/>
          <p:nvPr/>
        </p:nvSpPr>
        <p:spPr>
          <a:xfrm>
            <a:off x="609575" y="3088308"/>
            <a:ext cx="1916907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2" name="Google Shape;1892;p69"/>
          <p:cNvSpPr/>
          <p:nvPr/>
        </p:nvSpPr>
        <p:spPr>
          <a:xfrm>
            <a:off x="761959" y="3259212"/>
            <a:ext cx="1660504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1100"/>
              <a:buFont typeface="Manrope"/>
              <a:buNone/>
            </a:pPr>
            <a:r>
              <a:rPr b="0" i="0" lang="en-GB" sz="11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⚙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3" name="Google Shape;1893;p69"/>
          <p:cNvSpPr/>
          <p:nvPr/>
        </p:nvSpPr>
        <p:spPr>
          <a:xfrm>
            <a:off x="761959" y="3468729"/>
            <a:ext cx="1660504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05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4" name="Google Shape;1894;p69"/>
          <p:cNvSpPr/>
          <p:nvPr/>
        </p:nvSpPr>
        <p:spPr>
          <a:xfrm>
            <a:off x="761959" y="3609455"/>
            <a:ext cx="1660504" cy="13951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Hyperautomation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5" name="Google Shape;1895;p69"/>
          <p:cNvSpPr/>
          <p:nvPr/>
        </p:nvSpPr>
        <p:spPr>
          <a:xfrm>
            <a:off x="761959" y="3796564"/>
            <a:ext cx="1660504" cy="24758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Autonomous execution of entire business processes — supply chain decisions, etc.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6" name="Google Shape;1896;p69"/>
          <p:cNvSpPr/>
          <p:nvPr/>
        </p:nvSpPr>
        <p:spPr>
          <a:xfrm>
            <a:off x="2612182" y="3088307"/>
            <a:ext cx="1916948" cy="1275788"/>
          </a:xfrm>
          <a:prstGeom prst="roundRect">
            <a:avLst>
              <a:gd fmla="val 5973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7" name="Google Shape;1897;p69"/>
          <p:cNvSpPr/>
          <p:nvPr/>
        </p:nvSpPr>
        <p:spPr>
          <a:xfrm>
            <a:off x="2612182" y="3088308"/>
            <a:ext cx="1916948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8" name="Google Shape;1898;p69"/>
          <p:cNvSpPr/>
          <p:nvPr/>
        </p:nvSpPr>
        <p:spPr>
          <a:xfrm>
            <a:off x="2764565" y="3259212"/>
            <a:ext cx="166054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1100"/>
              <a:buFont typeface="Manrope"/>
              <a:buNone/>
            </a:pPr>
            <a:r>
              <a:rPr b="0" i="0" lang="en-GB" sz="11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🛡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9" name="Google Shape;1899;p69"/>
          <p:cNvSpPr/>
          <p:nvPr/>
        </p:nvSpPr>
        <p:spPr>
          <a:xfrm>
            <a:off x="2764565" y="3468729"/>
            <a:ext cx="1660546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06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0" name="Google Shape;1900;p69"/>
          <p:cNvSpPr/>
          <p:nvPr/>
        </p:nvSpPr>
        <p:spPr>
          <a:xfrm>
            <a:off x="2764565" y="3609455"/>
            <a:ext cx="1660546" cy="13951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Governance &amp; Safety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1" name="Google Shape;1901;p69"/>
          <p:cNvSpPr/>
          <p:nvPr/>
        </p:nvSpPr>
        <p:spPr>
          <a:xfrm>
            <a:off x="2764565" y="3796564"/>
            <a:ext cx="1660546" cy="24758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Expanding focus on risk management, compliance, and ethics.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2" name="Google Shape;1902;p69"/>
          <p:cNvSpPr/>
          <p:nvPr/>
        </p:nvSpPr>
        <p:spPr>
          <a:xfrm>
            <a:off x="4614830" y="3088307"/>
            <a:ext cx="1916948" cy="1275788"/>
          </a:xfrm>
          <a:prstGeom prst="roundRect">
            <a:avLst>
              <a:gd fmla="val 5973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3" name="Google Shape;1903;p69"/>
          <p:cNvSpPr/>
          <p:nvPr/>
        </p:nvSpPr>
        <p:spPr>
          <a:xfrm>
            <a:off x="4614830" y="3088308"/>
            <a:ext cx="1916948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4" name="Google Shape;1904;p69"/>
          <p:cNvSpPr/>
          <p:nvPr/>
        </p:nvSpPr>
        <p:spPr>
          <a:xfrm>
            <a:off x="4767213" y="3259212"/>
            <a:ext cx="166054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1100"/>
              <a:buFont typeface="Manrope"/>
              <a:buNone/>
            </a:pPr>
            <a:r>
              <a:rPr b="0" i="0" lang="en-GB" sz="11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💻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5" name="Google Shape;1905;p69"/>
          <p:cNvSpPr/>
          <p:nvPr/>
        </p:nvSpPr>
        <p:spPr>
          <a:xfrm>
            <a:off x="4767213" y="3468729"/>
            <a:ext cx="1660546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07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6" name="Google Shape;1906;p69"/>
          <p:cNvSpPr/>
          <p:nvPr/>
        </p:nvSpPr>
        <p:spPr>
          <a:xfrm>
            <a:off x="4767213" y="3609455"/>
            <a:ext cx="1660546" cy="13951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AI-native Systems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7" name="Google Shape;1907;p69"/>
          <p:cNvSpPr/>
          <p:nvPr/>
        </p:nvSpPr>
        <p:spPr>
          <a:xfrm>
            <a:off x="4767213" y="3796564"/>
            <a:ext cx="1660546" cy="24758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Software architected with AI at its core from the design stage.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8" name="Google Shape;1908;p69"/>
          <p:cNvSpPr/>
          <p:nvPr/>
        </p:nvSpPr>
        <p:spPr>
          <a:xfrm>
            <a:off x="6617477" y="3088307"/>
            <a:ext cx="1916948" cy="1275788"/>
          </a:xfrm>
          <a:prstGeom prst="roundRect">
            <a:avLst>
              <a:gd fmla="val 5973" name="adj"/>
            </a:avLst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9" name="Google Shape;1909;p69"/>
          <p:cNvSpPr/>
          <p:nvPr/>
        </p:nvSpPr>
        <p:spPr>
          <a:xfrm>
            <a:off x="6617477" y="3088308"/>
            <a:ext cx="1916948" cy="185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0" name="Google Shape;1910;p69"/>
          <p:cNvSpPr/>
          <p:nvPr/>
        </p:nvSpPr>
        <p:spPr>
          <a:xfrm>
            <a:off x="6769861" y="3259212"/>
            <a:ext cx="1660546" cy="9313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BOTTOM LINE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1" name="Google Shape;1911;p69"/>
          <p:cNvSpPr/>
          <p:nvPr/>
        </p:nvSpPr>
        <p:spPr>
          <a:xfrm>
            <a:off x="6769861" y="3399937"/>
            <a:ext cx="1660546" cy="13951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From answering to </a:t>
            </a:r>
            <a:r>
              <a:rPr b="1" i="1" lang="en-GB" sz="8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doing</a:t>
            </a:r>
            <a:r>
              <a:rPr b="1" i="0" lang="en-GB" sz="8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2" name="Google Shape;1912;p69"/>
          <p:cNvSpPr/>
          <p:nvPr/>
        </p:nvSpPr>
        <p:spPr>
          <a:xfrm>
            <a:off x="6769861" y="3587047"/>
            <a:ext cx="1660546" cy="24758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"AI is evolving from answering questions to doing complete tasks intelligently."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3" name="Google Shape;1913;p69"/>
          <p:cNvSpPr/>
          <p:nvPr/>
        </p:nvSpPr>
        <p:spPr>
          <a:xfrm>
            <a:off x="609575" y="4824967"/>
            <a:ext cx="1062244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L&amp;D · AI 104 · Module 05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4" name="Google Shape;1914;p69"/>
          <p:cNvSpPr/>
          <p:nvPr/>
        </p:nvSpPr>
        <p:spPr>
          <a:xfrm>
            <a:off x="8235694" y="4824967"/>
            <a:ext cx="336831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55 / 62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5" name="Google Shape;1915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242" y="251507"/>
            <a:ext cx="336900" cy="284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84358"/>
        </a:solidFill>
      </p:bgPr>
    </p:bg>
    <p:spTree>
      <p:nvGrpSpPr>
        <p:cNvPr id="1920" name="Shape 1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21" name="Google Shape;1921;p70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6096000" y="2095500"/>
            <a:ext cx="3048000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2" name="Google Shape;1922;p70"/>
          <p:cNvSpPr/>
          <p:nvPr/>
        </p:nvSpPr>
        <p:spPr>
          <a:xfrm>
            <a:off x="609575" y="328042"/>
            <a:ext cx="180950" cy="180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3" name="Google Shape;1923;p70"/>
          <p:cNvSpPr/>
          <p:nvPr/>
        </p:nvSpPr>
        <p:spPr>
          <a:xfrm>
            <a:off x="857167" y="304767"/>
            <a:ext cx="77715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GlobalLogic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4" name="Google Shape;1924;p70"/>
          <p:cNvSpPr/>
          <p:nvPr/>
        </p:nvSpPr>
        <p:spPr>
          <a:xfrm>
            <a:off x="857167" y="447642"/>
            <a:ext cx="777156" cy="1037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Manrope"/>
              <a:buNone/>
            </a:pPr>
            <a:r>
              <a:rPr b="0" i="0" lang="en-GB" sz="5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A Hitachi Group Company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5" name="Google Shape;1925;p70"/>
          <p:cNvSpPr/>
          <p:nvPr/>
        </p:nvSpPr>
        <p:spPr>
          <a:xfrm>
            <a:off x="7984629" y="377527"/>
            <a:ext cx="587896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CONFIDENTIAL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6" name="Google Shape;1926;p70"/>
          <p:cNvSpPr/>
          <p:nvPr/>
        </p:nvSpPr>
        <p:spPr>
          <a:xfrm>
            <a:off x="762000" y="1143000"/>
            <a:ext cx="6376988" cy="1460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800"/>
              <a:buFont typeface="JetBrains Mono"/>
              <a:buNone/>
            </a:pPr>
            <a:r>
              <a:rPr b="0" i="0" lang="en-GB" sz="8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PART 06 · MODULE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7" name="Google Shape;1927;p70"/>
          <p:cNvSpPr/>
          <p:nvPr/>
        </p:nvSpPr>
        <p:spPr>
          <a:xfrm>
            <a:off x="762000" y="1422384"/>
            <a:ext cx="6376988" cy="139438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700"/>
              <a:buFont typeface="Manrope"/>
              <a:buNone/>
            </a:pPr>
            <a:r>
              <a:rPr b="1" i="0" lang="en-GB" sz="52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Mastering daily integration.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8" name="Google Shape;1928;p70"/>
          <p:cNvSpPr/>
          <p:nvPr/>
        </p:nvSpPr>
        <p:spPr>
          <a:xfrm>
            <a:off x="762000" y="2931046"/>
            <a:ext cx="4905376" cy="19909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nrope"/>
              <a:buNone/>
            </a:pPr>
            <a:r>
              <a:rPr b="0" i="0" lang="en-GB" sz="11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Becoming an AI-augmented professional, not an AI-dependent one.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9" name="Google Shape;1929;p70"/>
          <p:cNvSpPr/>
          <p:nvPr/>
        </p:nvSpPr>
        <p:spPr>
          <a:xfrm>
            <a:off x="609575" y="4824967"/>
            <a:ext cx="550193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L&amp;D · AI 104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0" name="Google Shape;1930;p70"/>
          <p:cNvSpPr/>
          <p:nvPr/>
        </p:nvSpPr>
        <p:spPr>
          <a:xfrm>
            <a:off x="8235694" y="4824967"/>
            <a:ext cx="336831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56 / 62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31" name="Google Shape;1931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407" y="251507"/>
            <a:ext cx="336900" cy="284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F2A"/>
        </a:solidFill>
      </p:bgPr>
    </p:bg>
    <p:spTree>
      <p:nvGrpSpPr>
        <p:cNvPr id="1936" name="Shape 1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7" name="Google Shape;1937;p71"/>
          <p:cNvSpPr/>
          <p:nvPr/>
        </p:nvSpPr>
        <p:spPr>
          <a:xfrm>
            <a:off x="609575" y="328042"/>
            <a:ext cx="180950" cy="180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8" name="Google Shape;1938;p71"/>
          <p:cNvSpPr/>
          <p:nvPr/>
        </p:nvSpPr>
        <p:spPr>
          <a:xfrm>
            <a:off x="857167" y="304767"/>
            <a:ext cx="77715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GlobalLogic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9" name="Google Shape;1939;p71"/>
          <p:cNvSpPr/>
          <p:nvPr/>
        </p:nvSpPr>
        <p:spPr>
          <a:xfrm>
            <a:off x="857167" y="447642"/>
            <a:ext cx="777156" cy="1037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Manrope"/>
              <a:buNone/>
            </a:pPr>
            <a:r>
              <a:rPr b="0" i="0" lang="en-GB" sz="5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A Hitachi Group Company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0" name="Google Shape;1940;p71"/>
          <p:cNvSpPr/>
          <p:nvPr/>
        </p:nvSpPr>
        <p:spPr>
          <a:xfrm>
            <a:off x="7984629" y="377527"/>
            <a:ext cx="587896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CONFIDENTIAL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1" name="Google Shape;1941;p71"/>
          <p:cNvSpPr/>
          <p:nvPr/>
        </p:nvSpPr>
        <p:spPr>
          <a:xfrm>
            <a:off x="952500" y="1878625"/>
            <a:ext cx="7456171" cy="13282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700"/>
              <a:buFont typeface="JetBrains Mono"/>
              <a:buNone/>
            </a:pPr>
            <a:r>
              <a:rPr b="1" i="0" lang="en-GB" sz="7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DRIVING ADOPTION · FROM EXECUTION TO OVERSIGHT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2" name="Google Shape;1942;p71"/>
          <p:cNvSpPr/>
          <p:nvPr/>
        </p:nvSpPr>
        <p:spPr>
          <a:xfrm>
            <a:off x="952500" y="1992395"/>
            <a:ext cx="7358063" cy="177919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Manrope"/>
              <a:buNone/>
            </a:pPr>
            <a:r>
              <a:rPr b="1" i="0" lang="en-GB" sz="28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"Will AI take my job?" The role isn't going away — it's </a:t>
            </a:r>
            <a:r>
              <a:rPr b="1" i="0" lang="en-GB" sz="28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shifting </a:t>
            </a:r>
            <a:r>
              <a:rPr b="1" i="0" lang="en-GB" sz="28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from answering tickets to managing the AI that answers tickets.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3" name="Google Shape;1943;p71"/>
          <p:cNvSpPr/>
          <p:nvPr/>
        </p:nvSpPr>
        <p:spPr>
          <a:xfrm>
            <a:off x="952500" y="3904920"/>
            <a:ext cx="5395913" cy="17908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nrope"/>
              <a:buNone/>
            </a:pPr>
            <a:r>
              <a:rPr b="0" i="0" lang="en-GB" sz="9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The goal is AI-augmented professionals, not AI-dependent ones.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4" name="Google Shape;1944;p71"/>
          <p:cNvSpPr/>
          <p:nvPr/>
        </p:nvSpPr>
        <p:spPr>
          <a:xfrm>
            <a:off x="609575" y="4824967"/>
            <a:ext cx="1062244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L&amp;D · AI 104 · Module 06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5" name="Google Shape;1945;p71"/>
          <p:cNvSpPr/>
          <p:nvPr/>
        </p:nvSpPr>
        <p:spPr>
          <a:xfrm>
            <a:off x="8235694" y="4824967"/>
            <a:ext cx="336831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57 / 62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46" name="Google Shape;1946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407" y="251507"/>
            <a:ext cx="336900" cy="284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51" name="Shape 1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2" name="Google Shape;1952;p72"/>
          <p:cNvSpPr/>
          <p:nvPr/>
        </p:nvSpPr>
        <p:spPr>
          <a:xfrm>
            <a:off x="609575" y="328042"/>
            <a:ext cx="180950" cy="1809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3" name="Google Shape;1953;p72"/>
          <p:cNvSpPr/>
          <p:nvPr/>
        </p:nvSpPr>
        <p:spPr>
          <a:xfrm>
            <a:off x="857167" y="304767"/>
            <a:ext cx="77715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GlobalLogic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4" name="Google Shape;1954;p72"/>
          <p:cNvSpPr/>
          <p:nvPr/>
        </p:nvSpPr>
        <p:spPr>
          <a:xfrm>
            <a:off x="857167" y="447642"/>
            <a:ext cx="777156" cy="1037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Manrope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Manrope"/>
                <a:ea typeface="Manrope"/>
                <a:cs typeface="Manrope"/>
                <a:sym typeface="Manrope"/>
              </a:rPr>
              <a:t>A Hitachi Group Company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5" name="Google Shape;1955;p72"/>
          <p:cNvSpPr/>
          <p:nvPr/>
        </p:nvSpPr>
        <p:spPr>
          <a:xfrm>
            <a:off x="7984629" y="377527"/>
            <a:ext cx="587896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CONFIDENTIAL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6" name="Google Shape;1956;p72"/>
          <p:cNvSpPr/>
          <p:nvPr/>
        </p:nvSpPr>
        <p:spPr>
          <a:xfrm>
            <a:off x="609575" y="952500"/>
            <a:ext cx="8162596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5-STEP TRUST LADDER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7" name="Google Shape;1957;p72"/>
          <p:cNvSpPr/>
          <p:nvPr/>
        </p:nvSpPr>
        <p:spPr>
          <a:xfrm>
            <a:off x="609575" y="1185829"/>
            <a:ext cx="8162596" cy="40765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000"/>
              <a:buFont typeface="Manrope"/>
              <a:buNone/>
            </a:pP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Build </a:t>
            </a:r>
            <a:r>
              <a:rPr b="1" i="0" lang="en-GB" sz="30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organizational trust </a:t>
            </a: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in AI.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8" name="Google Shape;1958;p72"/>
          <p:cNvSpPr/>
          <p:nvPr/>
        </p:nvSpPr>
        <p:spPr>
          <a:xfrm>
            <a:off x="609575" y="1726820"/>
            <a:ext cx="1531648" cy="1275788"/>
          </a:xfrm>
          <a:prstGeom prst="roundRect">
            <a:avLst>
              <a:gd fmla="val 5973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9" name="Google Shape;1959;p72"/>
          <p:cNvSpPr/>
          <p:nvPr/>
        </p:nvSpPr>
        <p:spPr>
          <a:xfrm>
            <a:off x="609575" y="1726820"/>
            <a:ext cx="1531648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0" name="Google Shape;1960;p72"/>
          <p:cNvSpPr/>
          <p:nvPr/>
        </p:nvSpPr>
        <p:spPr>
          <a:xfrm>
            <a:off x="761958" y="1897724"/>
            <a:ext cx="1264981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STEP 01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1" name="Google Shape;1961;p72"/>
          <p:cNvSpPr/>
          <p:nvPr/>
        </p:nvSpPr>
        <p:spPr>
          <a:xfrm>
            <a:off x="761958" y="2038450"/>
            <a:ext cx="1264981" cy="1285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Start low-stakes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2" name="Google Shape;1962;p72"/>
          <p:cNvSpPr/>
          <p:nvPr/>
        </p:nvSpPr>
        <p:spPr>
          <a:xfrm>
            <a:off x="761958" y="2214604"/>
            <a:ext cx="1264981" cy="24758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Summaries, notes, drafts — places where mistakes are cheap.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3" name="Google Shape;1963;p72"/>
          <p:cNvSpPr/>
          <p:nvPr/>
        </p:nvSpPr>
        <p:spPr>
          <a:xfrm>
            <a:off x="2207866" y="1726820"/>
            <a:ext cx="1531648" cy="1275788"/>
          </a:xfrm>
          <a:prstGeom prst="roundRect">
            <a:avLst>
              <a:gd fmla="val 5973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4" name="Google Shape;1964;p72"/>
          <p:cNvSpPr/>
          <p:nvPr/>
        </p:nvSpPr>
        <p:spPr>
          <a:xfrm>
            <a:off x="2207866" y="1726820"/>
            <a:ext cx="1531648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5" name="Google Shape;1965;p72"/>
          <p:cNvSpPr/>
          <p:nvPr/>
        </p:nvSpPr>
        <p:spPr>
          <a:xfrm>
            <a:off x="2360249" y="1897724"/>
            <a:ext cx="1264981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STEP 02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6" name="Google Shape;1966;p72"/>
          <p:cNvSpPr/>
          <p:nvPr/>
        </p:nvSpPr>
        <p:spPr>
          <a:xfrm>
            <a:off x="2360249" y="2038450"/>
            <a:ext cx="1264981" cy="1285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Track accuracy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7" name="Google Shape;1967;p72"/>
          <p:cNvSpPr/>
          <p:nvPr/>
        </p:nvSpPr>
        <p:spPr>
          <a:xfrm>
            <a:off x="2360249" y="2214604"/>
            <a:ext cx="1264981" cy="24758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As-is vs. edited. Quantify what AI gets right out of the box.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8" name="Google Shape;1968;p72"/>
          <p:cNvSpPr/>
          <p:nvPr/>
        </p:nvSpPr>
        <p:spPr>
          <a:xfrm>
            <a:off x="3806155" y="1726820"/>
            <a:ext cx="1531648" cy="1275788"/>
          </a:xfrm>
          <a:prstGeom prst="roundRect">
            <a:avLst>
              <a:gd fmla="val 5973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9" name="Google Shape;1969;p72"/>
          <p:cNvSpPr/>
          <p:nvPr/>
        </p:nvSpPr>
        <p:spPr>
          <a:xfrm>
            <a:off x="3806155" y="1726820"/>
            <a:ext cx="1531648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0" name="Google Shape;1970;p72"/>
          <p:cNvSpPr/>
          <p:nvPr/>
        </p:nvSpPr>
        <p:spPr>
          <a:xfrm>
            <a:off x="3958539" y="1897724"/>
            <a:ext cx="1264981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STEP 03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1" name="Google Shape;1971;p72"/>
          <p:cNvSpPr/>
          <p:nvPr/>
        </p:nvSpPr>
        <p:spPr>
          <a:xfrm>
            <a:off x="3958539" y="2038450"/>
            <a:ext cx="1264981" cy="1285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Celebrate wins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2" name="Google Shape;1972;p72"/>
          <p:cNvSpPr/>
          <p:nvPr/>
        </p:nvSpPr>
        <p:spPr>
          <a:xfrm>
            <a:off x="3958539" y="2214604"/>
            <a:ext cx="1264981" cy="24758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Time saved, tickets deflected. Make the upside visible.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3" name="Google Shape;1973;p72"/>
          <p:cNvSpPr/>
          <p:nvPr/>
        </p:nvSpPr>
        <p:spPr>
          <a:xfrm>
            <a:off x="5404446" y="1726820"/>
            <a:ext cx="1531648" cy="1275788"/>
          </a:xfrm>
          <a:prstGeom prst="roundRect">
            <a:avLst>
              <a:gd fmla="val 5973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4" name="Google Shape;1974;p72"/>
          <p:cNvSpPr/>
          <p:nvPr/>
        </p:nvSpPr>
        <p:spPr>
          <a:xfrm>
            <a:off x="5404446" y="1726820"/>
            <a:ext cx="1531648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5" name="Google Shape;1975;p72"/>
          <p:cNvSpPr/>
          <p:nvPr/>
        </p:nvSpPr>
        <p:spPr>
          <a:xfrm>
            <a:off x="5556829" y="1897724"/>
            <a:ext cx="1264981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STEP 04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6" name="Google Shape;1976;p72"/>
          <p:cNvSpPr/>
          <p:nvPr/>
        </p:nvSpPr>
        <p:spPr>
          <a:xfrm>
            <a:off x="5556829" y="2038450"/>
            <a:ext cx="1264981" cy="1285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Be transparent on failures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7" name="Google Shape;1977;p72"/>
          <p:cNvSpPr/>
          <p:nvPr/>
        </p:nvSpPr>
        <p:spPr>
          <a:xfrm>
            <a:off x="5556829" y="2214604"/>
            <a:ext cx="1264981" cy="24758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Treat them as learning data, not blame.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8" name="Google Shape;1978;p72"/>
          <p:cNvSpPr/>
          <p:nvPr/>
        </p:nvSpPr>
        <p:spPr>
          <a:xfrm>
            <a:off x="7002736" y="1726820"/>
            <a:ext cx="1531648" cy="1275788"/>
          </a:xfrm>
          <a:prstGeom prst="roundRect">
            <a:avLst>
              <a:gd fmla="val 5973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9" name="Google Shape;1979;p72"/>
          <p:cNvSpPr/>
          <p:nvPr/>
        </p:nvSpPr>
        <p:spPr>
          <a:xfrm>
            <a:off x="7002736" y="1726820"/>
            <a:ext cx="1531648" cy="18521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0" name="Google Shape;1980;p72"/>
          <p:cNvSpPr/>
          <p:nvPr/>
        </p:nvSpPr>
        <p:spPr>
          <a:xfrm>
            <a:off x="7155119" y="1897724"/>
            <a:ext cx="1264981" cy="931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STEP 05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1" name="Google Shape;1981;p72"/>
          <p:cNvSpPr/>
          <p:nvPr/>
        </p:nvSpPr>
        <p:spPr>
          <a:xfrm>
            <a:off x="7155119" y="2038450"/>
            <a:ext cx="1264981" cy="1285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Give AI feedback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2" name="Google Shape;1982;p72"/>
          <p:cNvSpPr/>
          <p:nvPr/>
        </p:nvSpPr>
        <p:spPr>
          <a:xfrm>
            <a:off x="7155119" y="2214604"/>
            <a:ext cx="1264981" cy="24758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Thumbs up / down — close the loop.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3" name="Google Shape;1983;p72"/>
          <p:cNvSpPr/>
          <p:nvPr/>
        </p:nvSpPr>
        <p:spPr>
          <a:xfrm>
            <a:off x="609575" y="3154991"/>
            <a:ext cx="3848117" cy="680227"/>
          </a:xfrm>
          <a:prstGeom prst="roundRect">
            <a:avLst>
              <a:gd fmla="val 12602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4" name="Google Shape;1984;p72"/>
          <p:cNvSpPr/>
          <p:nvPr/>
        </p:nvSpPr>
        <p:spPr>
          <a:xfrm>
            <a:off x="821738" y="3348137"/>
            <a:ext cx="3526505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SUPPORT METRICS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5" name="Google Shape;1985;p72"/>
          <p:cNvSpPr/>
          <p:nvPr/>
        </p:nvSpPr>
        <p:spPr>
          <a:xfrm>
            <a:off x="821738" y="3506349"/>
            <a:ext cx="3526505" cy="15477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AHT </a:t>
            </a:r>
            <a:r>
              <a:rPr b="0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· </a:t>
            </a:r>
            <a:r>
              <a:rPr b="1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FCR </a:t>
            </a:r>
            <a:r>
              <a:rPr b="0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· </a:t>
            </a:r>
            <a:r>
              <a:rPr b="1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CSAT/NPS </a:t>
            </a:r>
            <a:r>
              <a:rPr b="0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· </a:t>
            </a:r>
            <a:r>
              <a:rPr b="1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Ticket Deflection Rate </a:t>
            </a:r>
            <a:r>
              <a:rPr b="0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· </a:t>
            </a:r>
            <a:r>
              <a:rPr b="1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Agent Response Time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6" name="Google Shape;1986;p72"/>
          <p:cNvSpPr/>
          <p:nvPr/>
        </p:nvSpPr>
        <p:spPr>
          <a:xfrm>
            <a:off x="4686267" y="3154991"/>
            <a:ext cx="3848158" cy="680227"/>
          </a:xfrm>
          <a:prstGeom prst="roundRect">
            <a:avLst>
              <a:gd fmla="val 12602" name="adj"/>
            </a:avLst>
          </a:prstGeom>
          <a:solidFill>
            <a:srgbClr val="1B1F2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7" name="Google Shape;1987;p72"/>
          <p:cNvSpPr/>
          <p:nvPr/>
        </p:nvSpPr>
        <p:spPr>
          <a:xfrm>
            <a:off x="4898430" y="3348137"/>
            <a:ext cx="3526547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OPS METRICS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8" name="Google Shape;1988;p72"/>
          <p:cNvSpPr/>
          <p:nvPr/>
        </p:nvSpPr>
        <p:spPr>
          <a:xfrm>
            <a:off x="4898430" y="3506349"/>
            <a:ext cx="3526547" cy="15477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MTTD </a:t>
            </a:r>
            <a:r>
              <a:rPr b="0" i="0" lang="en-GB" sz="7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· </a:t>
            </a:r>
            <a:r>
              <a:rPr b="1" i="0" lang="en-GB" sz="7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MTTR </a:t>
            </a:r>
            <a:r>
              <a:rPr b="0" i="0" lang="en-GB" sz="7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· </a:t>
            </a:r>
            <a:r>
              <a:rPr b="1" i="0" lang="en-GB" sz="7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Alert-to-noise ratio </a:t>
            </a:r>
            <a:r>
              <a:rPr b="0" i="0" lang="en-GB" sz="7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· </a:t>
            </a:r>
            <a:r>
              <a:rPr b="1" i="0" lang="en-GB" sz="7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SLA breach rate </a:t>
            </a:r>
            <a:r>
              <a:rPr b="0" i="0" lang="en-GB" sz="7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· </a:t>
            </a:r>
            <a:r>
              <a:rPr b="1" i="0" lang="en-GB" sz="7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Incident recurrence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9" name="Google Shape;1989;p72"/>
          <p:cNvSpPr/>
          <p:nvPr/>
        </p:nvSpPr>
        <p:spPr>
          <a:xfrm>
            <a:off x="609575" y="4824967"/>
            <a:ext cx="1062244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L&amp;D · AI 104 · Module 06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0" name="Google Shape;1990;p72"/>
          <p:cNvSpPr/>
          <p:nvPr/>
        </p:nvSpPr>
        <p:spPr>
          <a:xfrm>
            <a:off x="8235694" y="4824967"/>
            <a:ext cx="336831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58 / 62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91" name="Google Shape;1991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407" y="251507"/>
            <a:ext cx="336900" cy="284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96" name="Shape 1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7" name="Google Shape;1997;p73"/>
          <p:cNvSpPr/>
          <p:nvPr/>
        </p:nvSpPr>
        <p:spPr>
          <a:xfrm>
            <a:off x="609575" y="328042"/>
            <a:ext cx="180900" cy="180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8" name="Google Shape;1998;p73"/>
          <p:cNvSpPr/>
          <p:nvPr/>
        </p:nvSpPr>
        <p:spPr>
          <a:xfrm>
            <a:off x="857167" y="304767"/>
            <a:ext cx="7773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GlobalLogic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9" name="Google Shape;1999;p73"/>
          <p:cNvSpPr/>
          <p:nvPr/>
        </p:nvSpPr>
        <p:spPr>
          <a:xfrm>
            <a:off x="857167" y="447642"/>
            <a:ext cx="777300" cy="1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Manrope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Manrope"/>
                <a:ea typeface="Manrope"/>
                <a:cs typeface="Manrope"/>
                <a:sym typeface="Manrope"/>
              </a:rPr>
              <a:t>A Hitachi Group Company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0" name="Google Shape;2000;p73"/>
          <p:cNvSpPr/>
          <p:nvPr/>
        </p:nvSpPr>
        <p:spPr>
          <a:xfrm>
            <a:off x="7984630" y="377527"/>
            <a:ext cx="588000" cy="1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CONFIDENTIAL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1" name="Google Shape;2001;p73"/>
          <p:cNvSpPr/>
          <p:nvPr/>
        </p:nvSpPr>
        <p:spPr>
          <a:xfrm>
            <a:off x="609575" y="952500"/>
            <a:ext cx="8162700" cy="1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5-STEP TRUST LADDER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2" name="Google Shape;2002;p73"/>
          <p:cNvSpPr/>
          <p:nvPr/>
        </p:nvSpPr>
        <p:spPr>
          <a:xfrm>
            <a:off x="609575" y="1185830"/>
            <a:ext cx="8162700" cy="4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000"/>
              <a:buFont typeface="Manrope"/>
              <a:buNone/>
            </a:pP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Build </a:t>
            </a:r>
            <a:r>
              <a:rPr b="1" i="0" lang="en-GB" sz="30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organizational trust </a:t>
            </a: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in AI.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3" name="Google Shape;2003;p73"/>
          <p:cNvSpPr/>
          <p:nvPr/>
        </p:nvSpPr>
        <p:spPr>
          <a:xfrm>
            <a:off x="609575" y="1726820"/>
            <a:ext cx="1531500" cy="1275900"/>
          </a:xfrm>
          <a:prstGeom prst="roundRect">
            <a:avLst>
              <a:gd fmla="val 5973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4" name="Google Shape;2004;p73"/>
          <p:cNvSpPr/>
          <p:nvPr/>
        </p:nvSpPr>
        <p:spPr>
          <a:xfrm>
            <a:off x="609575" y="1726820"/>
            <a:ext cx="1531500" cy="18600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5" name="Google Shape;2005;p73"/>
          <p:cNvSpPr/>
          <p:nvPr/>
        </p:nvSpPr>
        <p:spPr>
          <a:xfrm>
            <a:off x="761958" y="1897724"/>
            <a:ext cx="1265100" cy="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STEP 01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6" name="Google Shape;2006;p73"/>
          <p:cNvSpPr/>
          <p:nvPr/>
        </p:nvSpPr>
        <p:spPr>
          <a:xfrm>
            <a:off x="761958" y="2038450"/>
            <a:ext cx="12651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Start low-stakes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7" name="Google Shape;2007;p73"/>
          <p:cNvSpPr/>
          <p:nvPr/>
        </p:nvSpPr>
        <p:spPr>
          <a:xfrm>
            <a:off x="761958" y="2214604"/>
            <a:ext cx="12651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Summaries, notes, drafts — places where mistakes are cheap.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8" name="Google Shape;2008;p73"/>
          <p:cNvSpPr/>
          <p:nvPr/>
        </p:nvSpPr>
        <p:spPr>
          <a:xfrm>
            <a:off x="2207866" y="1726820"/>
            <a:ext cx="1531500" cy="1275900"/>
          </a:xfrm>
          <a:prstGeom prst="roundRect">
            <a:avLst>
              <a:gd fmla="val 5973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9" name="Google Shape;2009;p73"/>
          <p:cNvSpPr/>
          <p:nvPr/>
        </p:nvSpPr>
        <p:spPr>
          <a:xfrm>
            <a:off x="2207866" y="1726820"/>
            <a:ext cx="1531500" cy="18600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0" name="Google Shape;2010;p73"/>
          <p:cNvSpPr/>
          <p:nvPr/>
        </p:nvSpPr>
        <p:spPr>
          <a:xfrm>
            <a:off x="2360249" y="1897724"/>
            <a:ext cx="1265100" cy="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STEP 02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1" name="Google Shape;2011;p73"/>
          <p:cNvSpPr/>
          <p:nvPr/>
        </p:nvSpPr>
        <p:spPr>
          <a:xfrm>
            <a:off x="2360249" y="2038450"/>
            <a:ext cx="12651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Track accuracy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2" name="Google Shape;2012;p73"/>
          <p:cNvSpPr/>
          <p:nvPr/>
        </p:nvSpPr>
        <p:spPr>
          <a:xfrm>
            <a:off x="2360249" y="2214604"/>
            <a:ext cx="12651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As-is vs. edited. Quantify what AI gets right out of the box.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3" name="Google Shape;2013;p73"/>
          <p:cNvSpPr/>
          <p:nvPr/>
        </p:nvSpPr>
        <p:spPr>
          <a:xfrm>
            <a:off x="3806156" y="1726820"/>
            <a:ext cx="1531500" cy="1275900"/>
          </a:xfrm>
          <a:prstGeom prst="roundRect">
            <a:avLst>
              <a:gd fmla="val 5973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4" name="Google Shape;2014;p73"/>
          <p:cNvSpPr/>
          <p:nvPr/>
        </p:nvSpPr>
        <p:spPr>
          <a:xfrm>
            <a:off x="3806156" y="1726820"/>
            <a:ext cx="1531500" cy="18600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5" name="Google Shape;2015;p73"/>
          <p:cNvSpPr/>
          <p:nvPr/>
        </p:nvSpPr>
        <p:spPr>
          <a:xfrm>
            <a:off x="3958539" y="1897724"/>
            <a:ext cx="1265100" cy="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STEP 03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6" name="Google Shape;2016;p73"/>
          <p:cNvSpPr/>
          <p:nvPr/>
        </p:nvSpPr>
        <p:spPr>
          <a:xfrm>
            <a:off x="3958539" y="2038450"/>
            <a:ext cx="12651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Celebrate wins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7" name="Google Shape;2017;p73"/>
          <p:cNvSpPr/>
          <p:nvPr/>
        </p:nvSpPr>
        <p:spPr>
          <a:xfrm>
            <a:off x="3958539" y="2214604"/>
            <a:ext cx="12651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Time saved, tickets deflected. Make the upside visible.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8" name="Google Shape;2018;p73"/>
          <p:cNvSpPr/>
          <p:nvPr/>
        </p:nvSpPr>
        <p:spPr>
          <a:xfrm>
            <a:off x="5404446" y="1726820"/>
            <a:ext cx="1531500" cy="1275900"/>
          </a:xfrm>
          <a:prstGeom prst="roundRect">
            <a:avLst>
              <a:gd fmla="val 5973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9" name="Google Shape;2019;p73"/>
          <p:cNvSpPr/>
          <p:nvPr/>
        </p:nvSpPr>
        <p:spPr>
          <a:xfrm>
            <a:off x="5404446" y="1726820"/>
            <a:ext cx="1531500" cy="18600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0" name="Google Shape;2020;p73"/>
          <p:cNvSpPr/>
          <p:nvPr/>
        </p:nvSpPr>
        <p:spPr>
          <a:xfrm>
            <a:off x="5556829" y="1897724"/>
            <a:ext cx="1265100" cy="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STEP 04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1" name="Google Shape;2021;p73"/>
          <p:cNvSpPr/>
          <p:nvPr/>
        </p:nvSpPr>
        <p:spPr>
          <a:xfrm>
            <a:off x="5556829" y="2038450"/>
            <a:ext cx="12651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Be transparent on failures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2" name="Google Shape;2022;p73"/>
          <p:cNvSpPr/>
          <p:nvPr/>
        </p:nvSpPr>
        <p:spPr>
          <a:xfrm>
            <a:off x="5556829" y="2214604"/>
            <a:ext cx="12651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Treat them as learning data, not blame.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3" name="Google Shape;2023;p73"/>
          <p:cNvSpPr/>
          <p:nvPr/>
        </p:nvSpPr>
        <p:spPr>
          <a:xfrm>
            <a:off x="7002736" y="1726820"/>
            <a:ext cx="1531500" cy="1275900"/>
          </a:xfrm>
          <a:prstGeom prst="roundRect">
            <a:avLst>
              <a:gd fmla="val 5973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4" name="Google Shape;2024;p73"/>
          <p:cNvSpPr/>
          <p:nvPr/>
        </p:nvSpPr>
        <p:spPr>
          <a:xfrm>
            <a:off x="7002736" y="1726820"/>
            <a:ext cx="1531500" cy="18600"/>
          </a:xfrm>
          <a:prstGeom prst="rect">
            <a:avLst/>
          </a:prstGeom>
          <a:solidFill>
            <a:srgbClr val="FF671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5" name="Google Shape;2025;p73"/>
          <p:cNvSpPr/>
          <p:nvPr/>
        </p:nvSpPr>
        <p:spPr>
          <a:xfrm>
            <a:off x="7155119" y="1897724"/>
            <a:ext cx="1265100" cy="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STEP 05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6" name="Google Shape;2026;p73"/>
          <p:cNvSpPr/>
          <p:nvPr/>
        </p:nvSpPr>
        <p:spPr>
          <a:xfrm>
            <a:off x="7155119" y="2038450"/>
            <a:ext cx="12651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Give AI feedback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7" name="Google Shape;2027;p73"/>
          <p:cNvSpPr/>
          <p:nvPr/>
        </p:nvSpPr>
        <p:spPr>
          <a:xfrm>
            <a:off x="7155119" y="2214604"/>
            <a:ext cx="12651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Thumbs up / down — close the loop.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8" name="Google Shape;2028;p73"/>
          <p:cNvSpPr/>
          <p:nvPr/>
        </p:nvSpPr>
        <p:spPr>
          <a:xfrm>
            <a:off x="609575" y="3154991"/>
            <a:ext cx="3848100" cy="680100"/>
          </a:xfrm>
          <a:prstGeom prst="roundRect">
            <a:avLst>
              <a:gd fmla="val 12602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9" name="Google Shape;2029;p73"/>
          <p:cNvSpPr/>
          <p:nvPr/>
        </p:nvSpPr>
        <p:spPr>
          <a:xfrm>
            <a:off x="821738" y="3348137"/>
            <a:ext cx="3526500" cy="1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SUPPORT METRICS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0" name="Google Shape;2030;p73"/>
          <p:cNvSpPr/>
          <p:nvPr/>
        </p:nvSpPr>
        <p:spPr>
          <a:xfrm>
            <a:off x="821738" y="3506350"/>
            <a:ext cx="35265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AHT </a:t>
            </a:r>
            <a:r>
              <a:rPr b="0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· </a:t>
            </a:r>
            <a:r>
              <a:rPr b="1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FCR </a:t>
            </a:r>
            <a:r>
              <a:rPr b="0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· </a:t>
            </a:r>
            <a:r>
              <a:rPr b="1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CSAT/NPS </a:t>
            </a:r>
            <a:r>
              <a:rPr b="0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· </a:t>
            </a:r>
            <a:r>
              <a:rPr b="1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Ticket Deflection Rate </a:t>
            </a:r>
            <a:r>
              <a:rPr b="0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· </a:t>
            </a:r>
            <a:r>
              <a:rPr b="1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Agent Response Time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1" name="Google Shape;2031;p73"/>
          <p:cNvSpPr/>
          <p:nvPr/>
        </p:nvSpPr>
        <p:spPr>
          <a:xfrm>
            <a:off x="4686267" y="3154991"/>
            <a:ext cx="3848100" cy="680100"/>
          </a:xfrm>
          <a:prstGeom prst="roundRect">
            <a:avLst>
              <a:gd fmla="val 12602" name="adj"/>
            </a:avLst>
          </a:prstGeom>
          <a:solidFill>
            <a:srgbClr val="1B1F2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2" name="Google Shape;2032;p73"/>
          <p:cNvSpPr/>
          <p:nvPr/>
        </p:nvSpPr>
        <p:spPr>
          <a:xfrm>
            <a:off x="4898430" y="3348137"/>
            <a:ext cx="3526500" cy="1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OPS METRICS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3" name="Google Shape;2033;p73"/>
          <p:cNvSpPr/>
          <p:nvPr/>
        </p:nvSpPr>
        <p:spPr>
          <a:xfrm>
            <a:off x="4898430" y="3506350"/>
            <a:ext cx="35265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MTTD </a:t>
            </a:r>
            <a:r>
              <a:rPr b="0" i="0" lang="en-GB" sz="7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· </a:t>
            </a:r>
            <a:r>
              <a:rPr b="1" i="0" lang="en-GB" sz="7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MTTR </a:t>
            </a:r>
            <a:r>
              <a:rPr b="0" i="0" lang="en-GB" sz="7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· </a:t>
            </a:r>
            <a:r>
              <a:rPr b="1" i="0" lang="en-GB" sz="7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Alert-to-noise ratio </a:t>
            </a:r>
            <a:r>
              <a:rPr b="0" i="0" lang="en-GB" sz="7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· </a:t>
            </a:r>
            <a:r>
              <a:rPr b="1" i="0" lang="en-GB" sz="7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SLA breach rate </a:t>
            </a:r>
            <a:r>
              <a:rPr b="0" i="0" lang="en-GB" sz="7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· </a:t>
            </a:r>
            <a:r>
              <a:rPr b="1" i="0" lang="en-GB" sz="7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Incident recurrence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4" name="Google Shape;2034;p73"/>
          <p:cNvSpPr/>
          <p:nvPr/>
        </p:nvSpPr>
        <p:spPr>
          <a:xfrm>
            <a:off x="609575" y="4824967"/>
            <a:ext cx="1062300" cy="1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L&amp;D · AI 104 · Module 06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5" name="Google Shape;2035;p73"/>
          <p:cNvSpPr/>
          <p:nvPr/>
        </p:nvSpPr>
        <p:spPr>
          <a:xfrm>
            <a:off x="8235694" y="4824967"/>
            <a:ext cx="336900" cy="1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58 / 62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36" name="Google Shape;2036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407" y="251507"/>
            <a:ext cx="336900" cy="284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41" name="Shape 2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2" name="Google Shape;2042;p74"/>
          <p:cNvSpPr/>
          <p:nvPr/>
        </p:nvSpPr>
        <p:spPr>
          <a:xfrm>
            <a:off x="609575" y="328042"/>
            <a:ext cx="180950" cy="1809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3" name="Google Shape;2043;p74"/>
          <p:cNvSpPr/>
          <p:nvPr/>
        </p:nvSpPr>
        <p:spPr>
          <a:xfrm>
            <a:off x="857167" y="304767"/>
            <a:ext cx="77715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GlobalLogic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4" name="Google Shape;2044;p74"/>
          <p:cNvSpPr/>
          <p:nvPr/>
        </p:nvSpPr>
        <p:spPr>
          <a:xfrm>
            <a:off x="857167" y="447642"/>
            <a:ext cx="777156" cy="1037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Manrope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Manrope"/>
                <a:ea typeface="Manrope"/>
                <a:cs typeface="Manrope"/>
                <a:sym typeface="Manrope"/>
              </a:rPr>
              <a:t>A Hitachi Group Company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5" name="Google Shape;2045;p74"/>
          <p:cNvSpPr/>
          <p:nvPr/>
        </p:nvSpPr>
        <p:spPr>
          <a:xfrm>
            <a:off x="7984629" y="377527"/>
            <a:ext cx="587896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CONFIDENTIAL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6" name="Google Shape;2046;p74"/>
          <p:cNvSpPr/>
          <p:nvPr/>
        </p:nvSpPr>
        <p:spPr>
          <a:xfrm>
            <a:off x="609575" y="952500"/>
            <a:ext cx="8162596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THE SKILL-VALUE SHIFT MATRIX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7" name="Google Shape;2047;p74"/>
          <p:cNvSpPr/>
          <p:nvPr/>
        </p:nvSpPr>
        <p:spPr>
          <a:xfrm>
            <a:off x="609575" y="1185829"/>
            <a:ext cx="8162596" cy="40765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000"/>
              <a:buFont typeface="Manrope"/>
              <a:buNone/>
            </a:pP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Where </a:t>
            </a:r>
            <a:r>
              <a:rPr b="1" i="0" lang="en-GB" sz="30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your hours </a:t>
            </a: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compound.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8" name="Google Shape;2048;p74"/>
          <p:cNvSpPr/>
          <p:nvPr/>
        </p:nvSpPr>
        <p:spPr>
          <a:xfrm>
            <a:off x="609575" y="1803011"/>
            <a:ext cx="3848117" cy="1633885"/>
          </a:xfrm>
          <a:prstGeom prst="roundRect">
            <a:avLst>
              <a:gd fmla="val 5247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9" name="Google Shape;2049;p74"/>
          <p:cNvSpPr/>
          <p:nvPr/>
        </p:nvSpPr>
        <p:spPr>
          <a:xfrm>
            <a:off x="800075" y="1974453"/>
            <a:ext cx="1237448" cy="2148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100"/>
              <a:buFont typeface="Manrope"/>
              <a:buNone/>
            </a:pPr>
            <a:r>
              <a:rPr b="1" i="0" lang="en-GB" sz="11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Declining in value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0" name="Google Shape;2050;p74"/>
          <p:cNvSpPr/>
          <p:nvPr/>
        </p:nvSpPr>
        <p:spPr>
          <a:xfrm>
            <a:off x="2066065" y="1998803"/>
            <a:ext cx="158296" cy="1470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1" name="Google Shape;2051;p74"/>
          <p:cNvSpPr/>
          <p:nvPr/>
        </p:nvSpPr>
        <p:spPr>
          <a:xfrm>
            <a:off x="2123215" y="2027378"/>
            <a:ext cx="82096" cy="10899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↓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2" name="Google Shape;2052;p74"/>
          <p:cNvSpPr/>
          <p:nvPr/>
        </p:nvSpPr>
        <p:spPr>
          <a:xfrm>
            <a:off x="740067" y="2284512"/>
            <a:ext cx="3565224" cy="99999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700"/>
              <a:buFont typeface="Manrope"/>
              <a:buNone/>
            </a:pPr>
            <a:r>
              <a:rPr b="0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Manual ticket sorting / copy-paste triage.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700"/>
              <a:buFont typeface="Manrope"/>
              <a:buNone/>
            </a:pPr>
            <a:r>
              <a:rPr b="0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Basic knowledge-article retrieval.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700"/>
              <a:buFont typeface="Manrope"/>
              <a:buNone/>
            </a:pPr>
            <a:r>
              <a:rPr b="0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Template-based first responses.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700"/>
              <a:buFont typeface="Manrope"/>
              <a:buNone/>
            </a:pPr>
            <a:r>
              <a:rPr b="0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Manual log parsing / grep debugging.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700"/>
              <a:buFont typeface="Manrope"/>
              <a:buNone/>
            </a:pPr>
            <a:r>
              <a:rPr b="0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Static threshold-based alerts.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3" name="Google Shape;2053;p74"/>
          <p:cNvSpPr/>
          <p:nvPr/>
        </p:nvSpPr>
        <p:spPr>
          <a:xfrm>
            <a:off x="4686267" y="1803011"/>
            <a:ext cx="3848158" cy="1633885"/>
          </a:xfrm>
          <a:prstGeom prst="roundRect">
            <a:avLst>
              <a:gd fmla="val 5247" name="adj"/>
            </a:avLst>
          </a:prstGeom>
          <a:solidFill>
            <a:srgbClr val="FFF7F1"/>
          </a:solidFill>
          <a:ln cap="flat" cmpd="sng" w="9525">
            <a:solidFill>
              <a:srgbClr val="FFD7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4" name="Google Shape;2054;p74"/>
          <p:cNvSpPr/>
          <p:nvPr/>
        </p:nvSpPr>
        <p:spPr>
          <a:xfrm>
            <a:off x="4879413" y="1977099"/>
            <a:ext cx="1015653" cy="21484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1100"/>
              <a:buFont typeface="Manrope"/>
              <a:buNone/>
            </a:pPr>
            <a:r>
              <a:rPr b="1" i="0" lang="en-GB" sz="11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Rising in value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5" name="Google Shape;2055;p74"/>
          <p:cNvSpPr/>
          <p:nvPr/>
        </p:nvSpPr>
        <p:spPr>
          <a:xfrm>
            <a:off x="5923608" y="2001449"/>
            <a:ext cx="158296" cy="1470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6" name="Google Shape;2056;p74"/>
          <p:cNvSpPr/>
          <p:nvPr/>
        </p:nvSpPr>
        <p:spPr>
          <a:xfrm>
            <a:off x="5980758" y="2030024"/>
            <a:ext cx="82096" cy="10899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↑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7" name="Google Shape;2057;p74"/>
          <p:cNvSpPr/>
          <p:nvPr/>
        </p:nvSpPr>
        <p:spPr>
          <a:xfrm>
            <a:off x="4819406" y="2287157"/>
            <a:ext cx="3559974" cy="92868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700"/>
              <a:buFont typeface="Manrope"/>
              <a:buNone/>
            </a:pPr>
            <a:r>
              <a:rPr b="0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Prompt engineering &amp; AI workflow design.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700"/>
              <a:buFont typeface="Manrope"/>
              <a:buNone/>
            </a:pPr>
            <a:r>
              <a:rPr b="0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AI output quality assurance.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700"/>
              <a:buFont typeface="Manrope"/>
              <a:buNone/>
            </a:pPr>
            <a:r>
              <a:rPr b="0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Process design for human-AI collaboration.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700"/>
              <a:buFont typeface="Manrope"/>
              <a:buNone/>
            </a:pPr>
            <a:r>
              <a:rPr b="0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AI governance and ethics judgment.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700"/>
              <a:buFont typeface="Manrope"/>
              <a:buNone/>
            </a:pPr>
            <a:r>
              <a:rPr b="0" i="0" lang="en-GB" sz="7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Interpreting AI-generated analytics.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8" name="Google Shape;2058;p74"/>
          <p:cNvSpPr/>
          <p:nvPr/>
        </p:nvSpPr>
        <p:spPr>
          <a:xfrm>
            <a:off x="609575" y="4824967"/>
            <a:ext cx="1062244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L&amp;D · AI 104 · Module 06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9" name="Google Shape;2059;p74"/>
          <p:cNvSpPr/>
          <p:nvPr/>
        </p:nvSpPr>
        <p:spPr>
          <a:xfrm>
            <a:off x="8235694" y="4824967"/>
            <a:ext cx="336831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59 / 62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60" name="Google Shape;2060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407" y="251507"/>
            <a:ext cx="336900" cy="284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65" name="Shape 2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6" name="Google Shape;2066;p75"/>
          <p:cNvSpPr/>
          <p:nvPr/>
        </p:nvSpPr>
        <p:spPr>
          <a:xfrm>
            <a:off x="609575" y="328042"/>
            <a:ext cx="180950" cy="1809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7" name="Google Shape;2067;p75"/>
          <p:cNvSpPr/>
          <p:nvPr/>
        </p:nvSpPr>
        <p:spPr>
          <a:xfrm>
            <a:off x="857167" y="304767"/>
            <a:ext cx="77715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GlobalLogic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8" name="Google Shape;2068;p75"/>
          <p:cNvSpPr/>
          <p:nvPr/>
        </p:nvSpPr>
        <p:spPr>
          <a:xfrm>
            <a:off x="857167" y="447642"/>
            <a:ext cx="777156" cy="1037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Manrope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Manrope"/>
                <a:ea typeface="Manrope"/>
                <a:cs typeface="Manrope"/>
                <a:sym typeface="Manrope"/>
              </a:rPr>
              <a:t>A Hitachi Group Company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9" name="Google Shape;2069;p75"/>
          <p:cNvSpPr/>
          <p:nvPr/>
        </p:nvSpPr>
        <p:spPr>
          <a:xfrm>
            <a:off x="7984629" y="377527"/>
            <a:ext cx="587896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CONFIDENTIAL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0" name="Google Shape;2070;p75"/>
          <p:cNvSpPr/>
          <p:nvPr/>
        </p:nvSpPr>
        <p:spPr>
          <a:xfrm>
            <a:off x="609575" y="952500"/>
            <a:ext cx="8162596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THE STRATEGIC MINDSET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1" name="Google Shape;2071;p75"/>
          <p:cNvSpPr/>
          <p:nvPr/>
        </p:nvSpPr>
        <p:spPr>
          <a:xfrm>
            <a:off x="609575" y="1185829"/>
            <a:ext cx="8162596" cy="40765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000"/>
              <a:buFont typeface="Manrope"/>
              <a:buNone/>
            </a:pP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Three </a:t>
            </a:r>
            <a:r>
              <a:rPr b="1" i="0" lang="en-GB" sz="30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axioms </a:t>
            </a: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to operate by.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2" name="Google Shape;2072;p75"/>
          <p:cNvSpPr/>
          <p:nvPr/>
        </p:nvSpPr>
        <p:spPr>
          <a:xfrm>
            <a:off x="609575" y="1803012"/>
            <a:ext cx="2540000" cy="1455787"/>
          </a:xfrm>
          <a:prstGeom prst="roundRect">
            <a:avLst>
              <a:gd fmla="val 5889" name="adj"/>
            </a:avLst>
          </a:prstGeom>
          <a:solidFill>
            <a:srgbClr val="FFFFFF"/>
          </a:solidFill>
          <a:ln cap="flat" cmpd="sng" w="9525">
            <a:solidFill>
              <a:srgbClr val="C9CF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3" name="Google Shape;2073;p75"/>
          <p:cNvSpPr/>
          <p:nvPr/>
        </p:nvSpPr>
        <p:spPr>
          <a:xfrm>
            <a:off x="802721" y="1977099"/>
            <a:ext cx="2218320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AXIOM 01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4" name="Google Shape;2074;p75"/>
          <p:cNvSpPr/>
          <p:nvPr/>
        </p:nvSpPr>
        <p:spPr>
          <a:xfrm>
            <a:off x="802721" y="2125762"/>
            <a:ext cx="2218320" cy="3590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300"/>
              <a:buFont typeface="Manrope"/>
              <a:buNone/>
            </a:pPr>
            <a:r>
              <a:rPr b="1" i="0" lang="en-GB" sz="13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AI is a tool, not a replacement.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5" name="Google Shape;2075;p75"/>
          <p:cNvSpPr/>
          <p:nvPr/>
        </p:nvSpPr>
        <p:spPr>
          <a:xfrm>
            <a:off x="802721" y="2532393"/>
            <a:ext cx="2218320" cy="26188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1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AI's domain </a:t>
            </a: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— handles volume. Drafting, pattern matching, baseline generation.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6" name="Google Shape;2076;p75"/>
          <p:cNvSpPr/>
          <p:nvPr/>
        </p:nvSpPr>
        <p:spPr>
          <a:xfrm>
            <a:off x="802721" y="2841873"/>
            <a:ext cx="2218320" cy="26188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1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Human's domain </a:t>
            </a: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— handles nuance. Judgment, empathy, contextual understanding.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7" name="Google Shape;2077;p75"/>
          <p:cNvSpPr/>
          <p:nvPr/>
        </p:nvSpPr>
        <p:spPr>
          <a:xfrm>
            <a:off x="3301959" y="1803012"/>
            <a:ext cx="2540042" cy="1455787"/>
          </a:xfrm>
          <a:prstGeom prst="roundRect">
            <a:avLst>
              <a:gd fmla="val 5889" name="adj"/>
            </a:avLst>
          </a:prstGeom>
          <a:solidFill>
            <a:srgbClr val="1B1F2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8" name="Google Shape;2078;p75"/>
          <p:cNvSpPr/>
          <p:nvPr/>
        </p:nvSpPr>
        <p:spPr>
          <a:xfrm>
            <a:off x="3495105" y="1977099"/>
            <a:ext cx="2218363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AXIOM 02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9" name="Google Shape;2079;p75"/>
          <p:cNvSpPr/>
          <p:nvPr/>
        </p:nvSpPr>
        <p:spPr>
          <a:xfrm>
            <a:off x="3495105" y="2125762"/>
            <a:ext cx="2218363" cy="18904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anrope"/>
              <a:buNone/>
            </a:pPr>
            <a:r>
              <a:rPr b="1" i="0" lang="en-GB" sz="13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Garbage in, garbage out.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0" name="Google Shape;2080;p75"/>
          <p:cNvSpPr/>
          <p:nvPr/>
        </p:nvSpPr>
        <p:spPr>
          <a:xfrm>
            <a:off x="3495105" y="2362399"/>
            <a:ext cx="2218363" cy="26188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The quality of your prompt determines the quality of your output.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1" name="Google Shape;2081;p75"/>
          <p:cNvSpPr/>
          <p:nvPr/>
        </p:nvSpPr>
        <p:spPr>
          <a:xfrm>
            <a:off x="3495105" y="2759894"/>
            <a:ext cx="1073134" cy="158171"/>
          </a:xfrm>
          <a:prstGeom prst="roundRect">
            <a:avLst>
              <a:gd fmla="val 50000" name="adj"/>
            </a:avLst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2" name="Google Shape;2082;p75"/>
          <p:cNvSpPr/>
          <p:nvPr/>
        </p:nvSpPr>
        <p:spPr>
          <a:xfrm>
            <a:off x="3561780" y="2797994"/>
            <a:ext cx="977884" cy="10102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60 SECONDS = 10 MINUTES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3" name="Google Shape;2083;p75"/>
          <p:cNvSpPr/>
          <p:nvPr/>
        </p:nvSpPr>
        <p:spPr>
          <a:xfrm>
            <a:off x="3495105" y="2984707"/>
            <a:ext cx="2218363" cy="11905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Manrope"/>
              <a:buNone/>
            </a:pPr>
            <a:r>
              <a:rPr b="0" i="0" lang="en-GB" sz="5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Invested in a better prompt. Saved in editing.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4" name="Google Shape;2084;p75"/>
          <p:cNvSpPr/>
          <p:nvPr/>
        </p:nvSpPr>
        <p:spPr>
          <a:xfrm>
            <a:off x="5994383" y="1803012"/>
            <a:ext cx="2540042" cy="1455787"/>
          </a:xfrm>
          <a:prstGeom prst="roundRect">
            <a:avLst>
              <a:gd fmla="val 5889" name="adj"/>
            </a:avLst>
          </a:prstGeom>
          <a:solidFill>
            <a:srgbClr val="FFFFFF"/>
          </a:solidFill>
          <a:ln cap="flat" cmpd="sng" w="9525">
            <a:solidFill>
              <a:srgbClr val="C9CF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5" name="Google Shape;2085;p75"/>
          <p:cNvSpPr/>
          <p:nvPr/>
        </p:nvSpPr>
        <p:spPr>
          <a:xfrm>
            <a:off x="6187530" y="1977099"/>
            <a:ext cx="2218363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AXIOM 03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6" name="Google Shape;2086;p75"/>
          <p:cNvSpPr/>
          <p:nvPr/>
        </p:nvSpPr>
        <p:spPr>
          <a:xfrm>
            <a:off x="6187530" y="2125762"/>
            <a:ext cx="2218363" cy="3590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300"/>
              <a:buFont typeface="Manrope"/>
              <a:buNone/>
            </a:pPr>
            <a:r>
              <a:rPr b="1" i="0" lang="en-GB" sz="13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Always verify before sending.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7" name="Google Shape;2087;p75"/>
          <p:cNvSpPr/>
          <p:nvPr/>
        </p:nvSpPr>
        <p:spPr>
          <a:xfrm>
            <a:off x="6187530" y="2532394"/>
            <a:ext cx="2218363" cy="14046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1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AI drafts → humans approve.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8" name="Google Shape;2088;p75"/>
          <p:cNvSpPr/>
          <p:nvPr/>
        </p:nvSpPr>
        <p:spPr>
          <a:xfrm>
            <a:off x="6187530" y="2720455"/>
            <a:ext cx="2218363" cy="14046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Capturing efficiency. Maintaining accountability.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9" name="Google Shape;2089;p75"/>
          <p:cNvSpPr/>
          <p:nvPr/>
        </p:nvSpPr>
        <p:spPr>
          <a:xfrm>
            <a:off x="609575" y="4824967"/>
            <a:ext cx="1062244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L&amp;D · AI 104 · Module 06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0" name="Google Shape;2090;p75"/>
          <p:cNvSpPr/>
          <p:nvPr/>
        </p:nvSpPr>
        <p:spPr>
          <a:xfrm>
            <a:off x="8235694" y="4824967"/>
            <a:ext cx="336831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60 / 62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1" name="Google Shape;2091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407" y="251507"/>
            <a:ext cx="336900" cy="284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96" name="Shape 2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7" name="Google Shape;2097;p76"/>
          <p:cNvSpPr/>
          <p:nvPr/>
        </p:nvSpPr>
        <p:spPr>
          <a:xfrm>
            <a:off x="609575" y="328042"/>
            <a:ext cx="180950" cy="1809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8" name="Google Shape;2098;p76"/>
          <p:cNvSpPr/>
          <p:nvPr/>
        </p:nvSpPr>
        <p:spPr>
          <a:xfrm>
            <a:off x="857167" y="304767"/>
            <a:ext cx="77715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GlobalLogic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9" name="Google Shape;2099;p76"/>
          <p:cNvSpPr/>
          <p:nvPr/>
        </p:nvSpPr>
        <p:spPr>
          <a:xfrm>
            <a:off x="857167" y="447642"/>
            <a:ext cx="777156" cy="1037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Manrope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Manrope"/>
                <a:ea typeface="Manrope"/>
                <a:cs typeface="Manrope"/>
                <a:sym typeface="Manrope"/>
              </a:rPr>
              <a:t>A Hitachi Group Company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0" name="Google Shape;2100;p76"/>
          <p:cNvSpPr/>
          <p:nvPr/>
        </p:nvSpPr>
        <p:spPr>
          <a:xfrm>
            <a:off x="7984629" y="377527"/>
            <a:ext cx="587896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CONFIDENTIAL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1" name="Google Shape;2101;p76"/>
          <p:cNvSpPr/>
          <p:nvPr/>
        </p:nvSpPr>
        <p:spPr>
          <a:xfrm>
            <a:off x="609575" y="952500"/>
            <a:ext cx="8162596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700"/>
              <a:buFont typeface="Manrope"/>
              <a:buNone/>
            </a:pPr>
            <a:r>
              <a:rPr b="1" i="0" lang="en-GB" sz="7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THE STRATEGIC MINDSET · LONG-TERM IMPACT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2" name="Google Shape;2102;p76"/>
          <p:cNvSpPr/>
          <p:nvPr/>
        </p:nvSpPr>
        <p:spPr>
          <a:xfrm>
            <a:off x="609575" y="1185829"/>
            <a:ext cx="8162596" cy="40765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000"/>
              <a:buFont typeface="Manrope"/>
              <a:buNone/>
            </a:pP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Two more </a:t>
            </a:r>
            <a:r>
              <a:rPr b="1" i="0" lang="en-GB" sz="30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non-negotiables</a:t>
            </a:r>
            <a:r>
              <a:rPr b="1" i="0" lang="en-GB" sz="30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3" name="Google Shape;2103;p76"/>
          <p:cNvSpPr/>
          <p:nvPr/>
        </p:nvSpPr>
        <p:spPr>
          <a:xfrm>
            <a:off x="609575" y="1803011"/>
            <a:ext cx="3848117" cy="1204351"/>
          </a:xfrm>
          <a:prstGeom prst="roundRect">
            <a:avLst>
              <a:gd fmla="val 7118" name="adj"/>
            </a:avLst>
          </a:prstGeom>
          <a:solidFill>
            <a:srgbClr val="FFFFFF"/>
          </a:solidFill>
          <a:ln cap="flat" cmpd="sng" w="9525">
            <a:solidFill>
              <a:srgbClr val="C9CF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4" name="Google Shape;2104;p76"/>
          <p:cNvSpPr/>
          <p:nvPr/>
        </p:nvSpPr>
        <p:spPr>
          <a:xfrm>
            <a:off x="802721" y="1977099"/>
            <a:ext cx="3565680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AXIOM 04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5" name="Google Shape;2105;p76"/>
          <p:cNvSpPr/>
          <p:nvPr/>
        </p:nvSpPr>
        <p:spPr>
          <a:xfrm>
            <a:off x="802721" y="2125762"/>
            <a:ext cx="3565680" cy="22902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600"/>
              <a:buFont typeface="Manrope"/>
              <a:buNone/>
            </a:pPr>
            <a:r>
              <a:rPr b="1" i="0" lang="en-GB" sz="1600" u="none" cap="none" strike="noStrike">
                <a:solidFill>
                  <a:srgbClr val="1B1F2A"/>
                </a:solidFill>
                <a:latin typeface="Manrope"/>
                <a:ea typeface="Manrope"/>
                <a:cs typeface="Manrope"/>
                <a:sym typeface="Manrope"/>
              </a:rPr>
              <a:t>Understand AI's failure modes.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6" name="Google Shape;2106;p76"/>
          <p:cNvSpPr/>
          <p:nvPr/>
        </p:nvSpPr>
        <p:spPr>
          <a:xfrm>
            <a:off x="802721" y="2440451"/>
            <a:ext cx="705362" cy="158171"/>
          </a:xfrm>
          <a:prstGeom prst="roundRect">
            <a:avLst>
              <a:gd fmla="val 50000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7" name="Google Shape;2107;p76"/>
          <p:cNvSpPr/>
          <p:nvPr/>
        </p:nvSpPr>
        <p:spPr>
          <a:xfrm>
            <a:off x="869396" y="2478551"/>
            <a:ext cx="610113" cy="10102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1B1F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Hallucinations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8" name="Google Shape;2108;p76"/>
          <p:cNvSpPr/>
          <p:nvPr/>
        </p:nvSpPr>
        <p:spPr>
          <a:xfrm>
            <a:off x="1565217" y="2440451"/>
            <a:ext cx="623631" cy="158171"/>
          </a:xfrm>
          <a:prstGeom prst="roundRect">
            <a:avLst>
              <a:gd fmla="val 50000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9" name="Google Shape;2109;p76"/>
          <p:cNvSpPr/>
          <p:nvPr/>
        </p:nvSpPr>
        <p:spPr>
          <a:xfrm>
            <a:off x="1631892" y="2478551"/>
            <a:ext cx="528381" cy="10102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1B1F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Data Privacy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0" name="Google Shape;2110;p76"/>
          <p:cNvSpPr/>
          <p:nvPr/>
        </p:nvSpPr>
        <p:spPr>
          <a:xfrm>
            <a:off x="2245982" y="2440451"/>
            <a:ext cx="296747" cy="158171"/>
          </a:xfrm>
          <a:prstGeom prst="roundRect">
            <a:avLst>
              <a:gd fmla="val 50000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1" name="Google Shape;2111;p76"/>
          <p:cNvSpPr/>
          <p:nvPr/>
        </p:nvSpPr>
        <p:spPr>
          <a:xfrm>
            <a:off x="2312657" y="2478551"/>
            <a:ext cx="201497" cy="10102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1B1F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Bias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2" name="Google Shape;2112;p76"/>
          <p:cNvSpPr/>
          <p:nvPr/>
        </p:nvSpPr>
        <p:spPr>
          <a:xfrm>
            <a:off x="802721" y="2703339"/>
            <a:ext cx="3565680" cy="14046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358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384358"/>
                </a:solidFill>
                <a:latin typeface="Manrope"/>
                <a:ea typeface="Manrope"/>
                <a:cs typeface="Manrope"/>
                <a:sym typeface="Manrope"/>
              </a:rPr>
              <a:t>Knowing these risks makes you a safer and more effective AI user — not a paranoid one.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3" name="Google Shape;2113;p76"/>
          <p:cNvSpPr/>
          <p:nvPr/>
        </p:nvSpPr>
        <p:spPr>
          <a:xfrm>
            <a:off x="4686267" y="1803011"/>
            <a:ext cx="3848158" cy="1204351"/>
          </a:xfrm>
          <a:prstGeom prst="roundRect">
            <a:avLst>
              <a:gd fmla="val 7118" name="adj"/>
            </a:avLst>
          </a:prstGeom>
          <a:solidFill>
            <a:srgbClr val="1B1F2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4" name="Google Shape;2114;p76"/>
          <p:cNvSpPr/>
          <p:nvPr/>
        </p:nvSpPr>
        <p:spPr>
          <a:xfrm>
            <a:off x="4879413" y="1977099"/>
            <a:ext cx="3565723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JetBrains Mono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AXIOM 05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5" name="Google Shape;2115;p76"/>
          <p:cNvSpPr/>
          <p:nvPr/>
        </p:nvSpPr>
        <p:spPr>
          <a:xfrm>
            <a:off x="4879413" y="2125762"/>
            <a:ext cx="3565723" cy="22902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anrope"/>
              <a:buNone/>
            </a:pPr>
            <a:r>
              <a:rPr b="1" i="0" lang="en-GB" sz="16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Learn AI to outperform.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6" name="Google Shape;2116;p76"/>
          <p:cNvSpPr/>
          <p:nvPr/>
        </p:nvSpPr>
        <p:spPr>
          <a:xfrm>
            <a:off x="4879413" y="2402375"/>
            <a:ext cx="3565723" cy="26188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Manrope"/>
              <a:buNone/>
            </a:pPr>
            <a:r>
              <a:rPr b="0" i="0" lang="en-GB" sz="6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A widening competitive gap separates AI-fluent professionals from AI-avoidant ones — quarter by quarter.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7" name="Google Shape;2117;p76"/>
          <p:cNvSpPr/>
          <p:nvPr/>
        </p:nvSpPr>
        <p:spPr>
          <a:xfrm>
            <a:off x="4879413" y="2711856"/>
            <a:ext cx="3565723" cy="14046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Manrope"/>
              <a:buNone/>
            </a:pPr>
            <a:r>
              <a:rPr b="1" i="0" lang="en-GB" sz="6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Start building the skill now. Today, not next quarter.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8" name="Google Shape;2118;p76"/>
          <p:cNvSpPr/>
          <p:nvPr/>
        </p:nvSpPr>
        <p:spPr>
          <a:xfrm>
            <a:off x="609575" y="4824967"/>
            <a:ext cx="1062244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L&amp;D · AI 104 · Module 06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9" name="Google Shape;2119;p76"/>
          <p:cNvSpPr/>
          <p:nvPr/>
        </p:nvSpPr>
        <p:spPr>
          <a:xfrm>
            <a:off x="8235694" y="4824967"/>
            <a:ext cx="336831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5A6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8B95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61 / 62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20" name="Google Shape;2120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407" y="251507"/>
            <a:ext cx="336900" cy="284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F2A"/>
        </a:solidFill>
      </p:bgPr>
    </p:bg>
    <p:spTree>
      <p:nvGrpSpPr>
        <p:cNvPr id="2125" name="Shape 2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126" name="Google Shape;2126;p77"/>
          <p:cNvPicPr preferRelativeResize="0"/>
          <p:nvPr/>
        </p:nvPicPr>
        <p:blipFill rotWithShape="1">
          <a:blip r:embed="rId3">
            <a:alphaModFix amt="55000"/>
          </a:blip>
          <a:srcRect b="0" l="0" r="0" t="0"/>
          <a:stretch/>
        </p:blipFill>
        <p:spPr>
          <a:xfrm>
            <a:off x="4937787" y="0"/>
            <a:ext cx="420621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7" name="Google Shape;2127;p77"/>
          <p:cNvSpPr/>
          <p:nvPr/>
        </p:nvSpPr>
        <p:spPr>
          <a:xfrm>
            <a:off x="609575" y="328042"/>
            <a:ext cx="180950" cy="180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8" name="Google Shape;2128;p77"/>
          <p:cNvSpPr/>
          <p:nvPr/>
        </p:nvSpPr>
        <p:spPr>
          <a:xfrm>
            <a:off x="857167" y="304767"/>
            <a:ext cx="77715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nrope"/>
              <a:buNone/>
            </a:pPr>
            <a:r>
              <a:rPr b="1" i="0" lang="en-GB" sz="8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GlobalLogic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9" name="Google Shape;2129;p77"/>
          <p:cNvSpPr/>
          <p:nvPr/>
        </p:nvSpPr>
        <p:spPr>
          <a:xfrm>
            <a:off x="857167" y="447642"/>
            <a:ext cx="777156" cy="1037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Manrope"/>
              <a:buNone/>
            </a:pPr>
            <a:r>
              <a:rPr b="0" i="0" lang="en-GB" sz="5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A Hitachi Group Company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0" name="Google Shape;2130;p77"/>
          <p:cNvSpPr/>
          <p:nvPr/>
        </p:nvSpPr>
        <p:spPr>
          <a:xfrm>
            <a:off x="7984629" y="377527"/>
            <a:ext cx="587896" cy="10107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CONFIDENTIAL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1" name="Google Shape;2131;p77"/>
          <p:cNvSpPr/>
          <p:nvPr/>
        </p:nvSpPr>
        <p:spPr>
          <a:xfrm>
            <a:off x="609575" y="1452025"/>
            <a:ext cx="8162596" cy="157537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0"/>
              <a:buFont typeface="Manrope"/>
              <a:buNone/>
            </a:pPr>
            <a:r>
              <a:rPr b="1" i="0" lang="en-GB" sz="65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Thank you.</a:t>
            </a:r>
            <a:endParaRPr b="0" i="0" sz="6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2" name="Google Shape;2132;p77"/>
          <p:cNvSpPr/>
          <p:nvPr/>
        </p:nvSpPr>
        <p:spPr>
          <a:xfrm>
            <a:off x="609575" y="3275046"/>
            <a:ext cx="1714113" cy="11165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Manrope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L&amp;D CATALOG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3" name="Google Shape;2133;p77">
            <a:hlinkClick r:id="rId4"/>
          </p:cNvPr>
          <p:cNvSpPr/>
          <p:nvPr/>
        </p:nvSpPr>
        <p:spPr>
          <a:xfrm>
            <a:off x="609575" y="3405725"/>
            <a:ext cx="171411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nrope"/>
              <a:buNone/>
            </a:pPr>
            <a:r>
              <a:rPr b="0" i="0" lang="en-GB" sz="800" u="sng" cap="none" strike="noStrike">
                <a:solidFill>
                  <a:schemeClr val="hlink"/>
                </a:solidFill>
                <a:latin typeface="Manrope"/>
                <a:ea typeface="Manrope"/>
                <a:cs typeface="Manrope"/>
                <a:sym typeface="Manrope"/>
                <a:hlinkClick r:id="rId5"/>
              </a:rPr>
              <a:t>sites.google.com/globallogic.com/ ld-global-offering/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4" name="Google Shape;2134;p77"/>
          <p:cNvSpPr/>
          <p:nvPr/>
        </p:nvSpPr>
        <p:spPr>
          <a:xfrm>
            <a:off x="2502338" y="3275046"/>
            <a:ext cx="2228156" cy="11165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Manrope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COURSE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5" name="Google Shape;2135;p77"/>
          <p:cNvSpPr/>
          <p:nvPr/>
        </p:nvSpPr>
        <p:spPr>
          <a:xfrm>
            <a:off x="2502338" y="3405725"/>
            <a:ext cx="222815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nrope"/>
              <a:buNone/>
            </a:pPr>
            <a:r>
              <a:rPr b="0" i="0" lang="en-GB" sz="8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AI · 104 — Support &amp; Operations Professionals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6" name="Google Shape;2136;p77"/>
          <p:cNvSpPr/>
          <p:nvPr/>
        </p:nvSpPr>
        <p:spPr>
          <a:xfrm>
            <a:off x="4894172" y="3275046"/>
            <a:ext cx="1532589" cy="11165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71F"/>
              </a:buClr>
              <a:buSzPts val="500"/>
              <a:buFont typeface="Manrope"/>
              <a:buNone/>
            </a:pPr>
            <a:r>
              <a:rPr b="1" i="0" lang="en-GB" sz="500" u="none" cap="none" strike="noStrike">
                <a:solidFill>
                  <a:srgbClr val="FF671F"/>
                </a:solidFill>
                <a:latin typeface="Manrope"/>
                <a:ea typeface="Manrope"/>
                <a:cs typeface="Manrope"/>
                <a:sym typeface="Manrope"/>
              </a:rPr>
              <a:t>AUDIENCE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7" name="Google Shape;2137;p77"/>
          <p:cNvSpPr/>
          <p:nvPr/>
        </p:nvSpPr>
        <p:spPr>
          <a:xfrm>
            <a:off x="4894172" y="3405725"/>
            <a:ext cx="1532589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nrope"/>
              <a:buNone/>
            </a:pPr>
            <a:r>
              <a:rPr b="0" i="0" lang="en-GB" sz="8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GlobalLogic engineering teams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8" name="Google Shape;2138;p77"/>
          <p:cNvSpPr/>
          <p:nvPr/>
        </p:nvSpPr>
        <p:spPr>
          <a:xfrm>
            <a:off x="609575" y="4824967"/>
            <a:ext cx="550193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L&amp;D · AI 104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9" name="Google Shape;2139;p77"/>
          <p:cNvSpPr/>
          <p:nvPr/>
        </p:nvSpPr>
        <p:spPr>
          <a:xfrm>
            <a:off x="8235694" y="4824967"/>
            <a:ext cx="336831" cy="10900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JetBrains Mono"/>
              <a:buNone/>
            </a:pPr>
            <a:r>
              <a:rPr b="0" i="0" lang="en-GB" sz="5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62 / 62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40" name="Google Shape;2140;p7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6407" y="251507"/>
            <a:ext cx="336900" cy="284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