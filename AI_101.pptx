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10600" y="0"/>
            <a:ext cx="100584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19200" y="657225"/>
            <a:ext cx="361950" cy="3619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1"/>
          <p:cNvSpPr/>
          <p:nvPr/>
        </p:nvSpPr>
        <p:spPr>
          <a:xfrm>
            <a:off x="1714500" y="609600"/>
            <a:ext cx="15542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GlobalLogic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1714500" y="895350"/>
            <a:ext cx="155428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B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Hitachi Group Company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15073536" y="764381"/>
            <a:ext cx="207146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8B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Weekly Recap · 7 pages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524000" y="2286000"/>
            <a:ext cx="98107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89" kern="0" dirty="0">
                <a:solidFill>
                  <a:srgbClr val="FF6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EDUCATION · WEEKLY RECAP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24000" y="2747963"/>
            <a:ext cx="9810750" cy="24276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600" b="1" spc="-240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AI, </a:t>
            </a:r>
            <a:pPr algn="l" indent="0" marL="0">
              <a:lnSpc>
                <a:spcPct val="98000"/>
              </a:lnSpc>
              <a:buNone/>
            </a:pPr>
            <a:r>
              <a:rPr lang="en-US" sz="9600" b="1" spc="-240" kern="0" dirty="0">
                <a:solidFill>
                  <a:srgbClr val="FF6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pPr algn="l" indent="0" marL="0">
              <a:lnSpc>
                <a:spcPct val="98000"/>
              </a:lnSpc>
              <a:buNone/>
            </a:pPr>
            <a:r>
              <a:rPr lang="en-US" sz="9600" b="1" spc="-240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600" dirty="0"/>
          </a:p>
        </p:txBody>
      </p:sp>
      <p:sp>
        <p:nvSpPr>
          <p:cNvPr id="9" name="Text 6"/>
          <p:cNvSpPr/>
          <p:nvPr/>
        </p:nvSpPr>
        <p:spPr>
          <a:xfrm>
            <a:off x="1524000" y="5442347"/>
            <a:ext cx="686752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Foundations, the nine core concepts of LLMs, and why they hallucinate — a one-sitting recap for engineers.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219200" y="9605963"/>
            <a:ext cx="135656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8B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globallogic.com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6471255" y="9605963"/>
            <a:ext cx="6737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8B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07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" y="657225"/>
            <a:ext cx="361950" cy="3619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714500" y="609600"/>
            <a:ext cx="15542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GlobalLogic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714500" y="895350"/>
            <a:ext cx="155428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B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Hitachi Group Company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1219200" y="1333500"/>
            <a:ext cx="16325088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89" kern="0" dirty="0">
                <a:solidFill>
                  <a:srgbClr val="FF6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INSIDE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219200" y="1795463"/>
            <a:ext cx="16325088" cy="1670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300" b="1" spc="-126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modules, one </a:t>
            </a:r>
            <a:pPr algn="l" indent="0" marL="0">
              <a:lnSpc>
                <a:spcPct val="102000"/>
              </a:lnSpc>
              <a:buNone/>
            </a:pPr>
            <a:r>
              <a:rPr lang="en-US" sz="6300" b="1" spc="-126" kern="0" dirty="0">
                <a:solidFill>
                  <a:srgbClr val="FF6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</a:t>
            </a:r>
            <a:pPr algn="l" indent="0" marL="0">
              <a:lnSpc>
                <a:spcPct val="102000"/>
              </a:lnSpc>
              <a:buNone/>
            </a:pPr>
            <a:r>
              <a:rPr lang="en-US" sz="6300" b="1" spc="-126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model.</a:t>
            </a:r>
            <a:endParaRPr lang="en-US" sz="6300" dirty="0"/>
          </a:p>
        </p:txBody>
      </p:sp>
      <p:sp>
        <p:nvSpPr>
          <p:cNvPr id="7" name="Text 5"/>
          <p:cNvSpPr/>
          <p:nvPr/>
        </p:nvSpPr>
        <p:spPr>
          <a:xfrm>
            <a:off x="1219200" y="3580061"/>
            <a:ext cx="1177290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650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you'll have a vocabulary for Generative AI, a step-by-step view of how an LLM produces text, and a clear understanding of why these systems get things wrong — and how to fix that.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219200" y="4568726"/>
            <a:ext cx="5079950" cy="4819650"/>
          </a:xfrm>
          <a:prstGeom prst="roundRect">
            <a:avLst>
              <a:gd name="adj" fmla="val 3162"/>
            </a:avLst>
          </a:prstGeom>
          <a:solidFill>
            <a:srgbClr val="F1F2F4"/>
          </a:solidFill>
          <a:ln/>
        </p:spPr>
      </p:sp>
      <p:sp>
        <p:nvSpPr>
          <p:cNvPr id="9" name="Shape 7"/>
          <p:cNvSpPr/>
          <p:nvPr/>
        </p:nvSpPr>
        <p:spPr>
          <a:xfrm>
            <a:off x="1219200" y="4568726"/>
            <a:ext cx="5079950" cy="57150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10" name="Text 8"/>
          <p:cNvSpPr/>
          <p:nvPr/>
        </p:nvSpPr>
        <p:spPr>
          <a:xfrm>
            <a:off x="1562100" y="5006876"/>
            <a:ext cx="4525975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400" b="1" spc="-162" kern="0" dirty="0">
                <a:solidFill>
                  <a:srgbClr val="FF6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562100" y="5761211"/>
            <a:ext cx="4525975" cy="651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spc="-21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— foundations to real-world use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62100" y="6545982"/>
            <a:ext cx="45259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GenAI is, why it's possible now, how it learns, how you use it, where it helps, and where it breaks.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62100" y="8878788"/>
            <a:ext cx="452597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8B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CONCEPTS · PAGE 03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03950" y="4568726"/>
            <a:ext cx="5080025" cy="4819650"/>
          </a:xfrm>
          <a:prstGeom prst="roundRect">
            <a:avLst>
              <a:gd name="adj" fmla="val 3162"/>
            </a:avLst>
          </a:prstGeom>
          <a:solidFill>
            <a:srgbClr val="F1F2F4"/>
          </a:solidFill>
          <a:ln/>
        </p:spPr>
      </p:sp>
      <p:sp>
        <p:nvSpPr>
          <p:cNvPr id="15" name="Shape 13"/>
          <p:cNvSpPr/>
          <p:nvPr/>
        </p:nvSpPr>
        <p:spPr>
          <a:xfrm>
            <a:off x="6603950" y="4568726"/>
            <a:ext cx="5080025" cy="57150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16" name="Text 14"/>
          <p:cNvSpPr/>
          <p:nvPr/>
        </p:nvSpPr>
        <p:spPr>
          <a:xfrm>
            <a:off x="6946850" y="5006876"/>
            <a:ext cx="4526052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400" b="1" spc="-162" kern="0" dirty="0">
                <a:solidFill>
                  <a:srgbClr val="FF6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6946850" y="5761211"/>
            <a:ext cx="4526052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spc="-21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 core concepts of LLMs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946850" y="6239321"/>
            <a:ext cx="452605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definition of a language model to the decoding strategy that picks each next word — step by step.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6850" y="8878788"/>
            <a:ext cx="4526052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8B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CONCEPTS · PAGE 04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988775" y="4568726"/>
            <a:ext cx="5079950" cy="4819650"/>
          </a:xfrm>
          <a:prstGeom prst="roundRect">
            <a:avLst>
              <a:gd name="adj" fmla="val 3162"/>
            </a:avLst>
          </a:prstGeom>
          <a:solidFill>
            <a:srgbClr val="F1F2F4"/>
          </a:solidFill>
          <a:ln/>
        </p:spPr>
      </p:sp>
      <p:sp>
        <p:nvSpPr>
          <p:cNvPr id="21" name="Shape 19"/>
          <p:cNvSpPr/>
          <p:nvPr/>
        </p:nvSpPr>
        <p:spPr>
          <a:xfrm>
            <a:off x="11988775" y="4568726"/>
            <a:ext cx="5079950" cy="57150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22" name="Text 20"/>
          <p:cNvSpPr/>
          <p:nvPr/>
        </p:nvSpPr>
        <p:spPr>
          <a:xfrm>
            <a:off x="12331675" y="5006876"/>
            <a:ext cx="4525975" cy="6209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400" b="1" spc="-162" kern="0" dirty="0">
                <a:solidFill>
                  <a:srgbClr val="FF6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23" name="Text 21"/>
          <p:cNvSpPr/>
          <p:nvPr/>
        </p:nvSpPr>
        <p:spPr>
          <a:xfrm>
            <a:off x="12331675" y="5761211"/>
            <a:ext cx="4525975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spc="-21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hallucinate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331675" y="6239321"/>
            <a:ext cx="452597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knowledge gap, RAG, CAG, fine-tuning, and how to choose the right technique for the problem.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331675" y="8878788"/>
            <a:ext cx="452597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08" kern="0" dirty="0">
                <a:solidFill>
                  <a:srgbClr val="8B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CONCEPTS · PAGES 05–06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19200" y="9605963"/>
            <a:ext cx="135656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8B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globallogic.com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6471255" y="9605963"/>
            <a:ext cx="6737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8B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07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" y="657225"/>
            <a:ext cx="361950" cy="3619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714500" y="609600"/>
            <a:ext cx="15542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GlobalLogic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714500" y="895350"/>
            <a:ext cx="155428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B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Hitachi Group Company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1219200" y="914400"/>
            <a:ext cx="1632508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01 · 9 CONCEPTS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19200" y="1185863"/>
            <a:ext cx="14716125" cy="562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50" b="1" spc="-81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— </a:t>
            </a:r>
            <a:pPr algn="l" indent="0" marL="0">
              <a:lnSpc>
                <a:spcPct val="102000"/>
              </a:lnSpc>
              <a:buNone/>
            </a:pPr>
            <a:r>
              <a:rPr lang="en-US" sz="4050" b="1" spc="-81" kern="0" dirty="0">
                <a:solidFill>
                  <a:srgbClr val="FF6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foundations </a:t>
            </a:r>
            <a:pPr algn="l" indent="0" marL="0">
              <a:lnSpc>
                <a:spcPct val="102000"/>
              </a:lnSpc>
              <a:buNone/>
            </a:pPr>
            <a:r>
              <a:rPr lang="en-US" sz="4050" b="1" spc="-81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real-world use.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1219200" y="1805732"/>
            <a:ext cx="1373505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tour of what GenAI is, why it works now, how it learns and runs, and where it helps — and where it breaks.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1219200" y="2325737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9" name="Shape 7"/>
          <p:cNvSpPr/>
          <p:nvPr/>
        </p:nvSpPr>
        <p:spPr>
          <a:xfrm>
            <a:off x="1219200" y="2325737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10" name="Text 8"/>
          <p:cNvSpPr/>
          <p:nvPr/>
        </p:nvSpPr>
        <p:spPr>
          <a:xfrm>
            <a:off x="1447800" y="2478137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71700" y="2459087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Generative AI?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71805" y="2478137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90905" y="2459087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systems that create new content instead of only analyzing data.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1219200" y="2968675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19200" y="2968675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16" name="Text 14"/>
          <p:cNvSpPr/>
          <p:nvPr/>
        </p:nvSpPr>
        <p:spPr>
          <a:xfrm>
            <a:off x="1447800" y="3121075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71700" y="3102025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AI vs Generative AI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71805" y="3121075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90905" y="3102025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AI predicts and classifies, while Generative AI creates and generates.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1219200" y="3611612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21" name="Shape 19"/>
          <p:cNvSpPr/>
          <p:nvPr/>
        </p:nvSpPr>
        <p:spPr>
          <a:xfrm>
            <a:off x="1219200" y="3611612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22" name="Text 20"/>
          <p:cNvSpPr/>
          <p:nvPr/>
        </p:nvSpPr>
        <p:spPr>
          <a:xfrm>
            <a:off x="1447800" y="3764012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71700" y="3744962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Generative AI Became Possible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71805" y="3764012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790905" y="3744962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Transformers, massive data, and GPU-scale computing changed AI scalability.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1219200" y="4254550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27" name="Shape 25"/>
          <p:cNvSpPr/>
          <p:nvPr/>
        </p:nvSpPr>
        <p:spPr>
          <a:xfrm>
            <a:off x="1219200" y="4254550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28" name="Text 26"/>
          <p:cNvSpPr/>
          <p:nvPr/>
        </p:nvSpPr>
        <p:spPr>
          <a:xfrm>
            <a:off x="1447800" y="4406950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71700" y="4387900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Generative AI Works (Training)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71805" y="4406950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790905" y="4387900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learn statistical patterns from massive datasets during training.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1219200" y="4897487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33" name="Shape 31"/>
          <p:cNvSpPr/>
          <p:nvPr/>
        </p:nvSpPr>
        <p:spPr>
          <a:xfrm>
            <a:off x="1219200" y="4897487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34" name="Text 32"/>
          <p:cNvSpPr/>
          <p:nvPr/>
        </p:nvSpPr>
        <p:spPr>
          <a:xfrm>
            <a:off x="1447800" y="5049887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171700" y="5030837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(When You Use It)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371805" y="5049887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790905" y="5030837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prompt becomes context that guides next-token generation.</a:t>
            </a:r>
            <a:endParaRPr lang="en-US" sz="1275" dirty="0"/>
          </a:p>
        </p:txBody>
      </p:sp>
      <p:sp>
        <p:nvSpPr>
          <p:cNvPr id="38" name="Shape 36"/>
          <p:cNvSpPr/>
          <p:nvPr/>
        </p:nvSpPr>
        <p:spPr>
          <a:xfrm>
            <a:off x="1219200" y="5540425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39" name="Shape 37"/>
          <p:cNvSpPr/>
          <p:nvPr/>
        </p:nvSpPr>
        <p:spPr>
          <a:xfrm>
            <a:off x="1219200" y="5540425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40" name="Text 38"/>
          <p:cNvSpPr/>
          <p:nvPr/>
        </p:nvSpPr>
        <p:spPr>
          <a:xfrm>
            <a:off x="1447800" y="5692825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171700" y="5673775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Generative AI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371805" y="5692825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790905" y="5673775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scalable content creation, automation, and natural interaction.</a:t>
            </a:r>
            <a:endParaRPr lang="en-US" sz="1275" dirty="0"/>
          </a:p>
        </p:txBody>
      </p:sp>
      <p:sp>
        <p:nvSpPr>
          <p:cNvPr id="44" name="Shape 42"/>
          <p:cNvSpPr/>
          <p:nvPr/>
        </p:nvSpPr>
        <p:spPr>
          <a:xfrm>
            <a:off x="1219200" y="6183362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45" name="Shape 43"/>
          <p:cNvSpPr/>
          <p:nvPr/>
        </p:nvSpPr>
        <p:spPr>
          <a:xfrm>
            <a:off x="1219200" y="6183362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46" name="Text 44"/>
          <p:cNvSpPr/>
          <p:nvPr/>
        </p:nvSpPr>
        <p:spPr>
          <a:xfrm>
            <a:off x="1447800" y="6335762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171700" y="6316712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371805" y="6335762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790905" y="6316712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can hallucinate, forget context, and generate inconsistent outputs.</a:t>
            </a:r>
            <a:endParaRPr lang="en-US" sz="1275" dirty="0"/>
          </a:p>
        </p:txBody>
      </p:sp>
      <p:sp>
        <p:nvSpPr>
          <p:cNvPr id="50" name="Shape 48"/>
          <p:cNvSpPr/>
          <p:nvPr/>
        </p:nvSpPr>
        <p:spPr>
          <a:xfrm>
            <a:off x="1219200" y="6826300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51" name="Shape 49"/>
          <p:cNvSpPr/>
          <p:nvPr/>
        </p:nvSpPr>
        <p:spPr>
          <a:xfrm>
            <a:off x="1219200" y="6826300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52" name="Text 50"/>
          <p:cNvSpPr/>
          <p:nvPr/>
        </p:nvSpPr>
        <p:spPr>
          <a:xfrm>
            <a:off x="1447800" y="6978700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171700" y="6959650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Use Cases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8371805" y="6978700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8790905" y="6959650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for coding, summarization, search, creativity, and productivity.</a:t>
            </a:r>
            <a:endParaRPr lang="en-US" sz="1275" dirty="0"/>
          </a:p>
        </p:txBody>
      </p:sp>
      <p:sp>
        <p:nvSpPr>
          <p:cNvPr id="56" name="Shape 54"/>
          <p:cNvSpPr/>
          <p:nvPr/>
        </p:nvSpPr>
        <p:spPr>
          <a:xfrm>
            <a:off x="1219200" y="7469237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57" name="Shape 55"/>
          <p:cNvSpPr/>
          <p:nvPr/>
        </p:nvSpPr>
        <p:spPr>
          <a:xfrm>
            <a:off x="1219200" y="7469237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58" name="Text 56"/>
          <p:cNvSpPr/>
          <p:nvPr/>
        </p:nvSpPr>
        <p:spPr>
          <a:xfrm>
            <a:off x="1447800" y="7621637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171700" y="7602587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Know Before Starting This Course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8371805" y="7621637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8790905" y="7602587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not magic — reliable systems depend on data, context, and validation.</a:t>
            </a:r>
            <a:endParaRPr lang="en-US" sz="1275" dirty="0"/>
          </a:p>
        </p:txBody>
      </p:sp>
      <p:sp>
        <p:nvSpPr>
          <p:cNvPr id="62" name="Text 60"/>
          <p:cNvSpPr/>
          <p:nvPr/>
        </p:nvSpPr>
        <p:spPr>
          <a:xfrm>
            <a:off x="1219200" y="9605963"/>
            <a:ext cx="135656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8B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globallogic.com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16471255" y="9605963"/>
            <a:ext cx="6737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8B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07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" y="657225"/>
            <a:ext cx="361950" cy="3619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714500" y="609600"/>
            <a:ext cx="15542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GlobalLogic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714500" y="895350"/>
            <a:ext cx="155428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B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Hitachi Group Company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1219200" y="914400"/>
            <a:ext cx="1632508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02 · 9 CONCEPTS · STEP BY STEP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19200" y="1185863"/>
            <a:ext cx="14716125" cy="562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50" b="1" spc="-81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9 core concepts of </a:t>
            </a:r>
            <a:pPr algn="l" indent="0" marL="0">
              <a:lnSpc>
                <a:spcPct val="102000"/>
              </a:lnSpc>
              <a:buNone/>
            </a:pPr>
            <a:r>
              <a:rPr lang="en-US" sz="4050" b="1" spc="-81" kern="0" dirty="0">
                <a:solidFill>
                  <a:srgbClr val="FF6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</a:t>
            </a:r>
            <a:pPr algn="l" indent="0" marL="0">
              <a:lnSpc>
                <a:spcPct val="102000"/>
              </a:lnSpc>
              <a:buNone/>
            </a:pPr>
            <a:r>
              <a:rPr lang="en-US" sz="4050" b="1" spc="-81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from input to response.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1219200" y="1805732"/>
            <a:ext cx="1373505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 is one beat in the pipeline that turns your text into the model's reply. Read top-to-bottom and you have the whole pipeline.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1219200" y="2325737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9" name="Shape 7"/>
          <p:cNvSpPr/>
          <p:nvPr/>
        </p:nvSpPr>
        <p:spPr>
          <a:xfrm>
            <a:off x="1219200" y="2325737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10" name="Text 8"/>
          <p:cNvSpPr/>
          <p:nvPr/>
        </p:nvSpPr>
        <p:spPr>
          <a:xfrm>
            <a:off x="1447800" y="2478137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71700" y="2459087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Language Model?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71805" y="2478137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90905" y="2459087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that predicts the most likely next token.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1219200" y="2968675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19200" y="2968675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16" name="Text 14"/>
          <p:cNvSpPr/>
          <p:nvPr/>
        </p:nvSpPr>
        <p:spPr>
          <a:xfrm>
            <a:off x="1447800" y="3121075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71700" y="3102025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LLM?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71805" y="3121075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90905" y="3102025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large-scale neural network trained on massive text datasets.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1219200" y="3611612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21" name="Shape 19"/>
          <p:cNvSpPr/>
          <p:nvPr/>
        </p:nvSpPr>
        <p:spPr>
          <a:xfrm>
            <a:off x="1219200" y="3611612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22" name="Text 20"/>
          <p:cNvSpPr/>
          <p:nvPr/>
        </p:nvSpPr>
        <p:spPr>
          <a:xfrm>
            <a:off x="1447800" y="3764012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71700" y="3744962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LLMs Work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71805" y="3764012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790905" y="3744962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flows through tokens, embeddings, transformers, and decoding.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1219200" y="4254550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27" name="Shape 25"/>
          <p:cNvSpPr/>
          <p:nvPr/>
        </p:nvSpPr>
        <p:spPr>
          <a:xfrm>
            <a:off x="1219200" y="4254550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28" name="Text 26"/>
          <p:cNvSpPr/>
          <p:nvPr/>
        </p:nvSpPr>
        <p:spPr>
          <a:xfrm>
            <a:off x="1447800" y="4406950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71700" y="4387900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71805" y="4406950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790905" y="4387900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is broken into smaller machine-readable units called tokens.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1219200" y="4897487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33" name="Shape 31"/>
          <p:cNvSpPr/>
          <p:nvPr/>
        </p:nvSpPr>
        <p:spPr>
          <a:xfrm>
            <a:off x="1219200" y="4897487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34" name="Text 32"/>
          <p:cNvSpPr/>
          <p:nvPr/>
        </p:nvSpPr>
        <p:spPr>
          <a:xfrm>
            <a:off x="1447800" y="5049887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171700" y="5030837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371805" y="5049887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790905" y="5030837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become vectors that capture semantic meaning and relationships.</a:t>
            </a:r>
            <a:endParaRPr lang="en-US" sz="1275" dirty="0"/>
          </a:p>
        </p:txBody>
      </p:sp>
      <p:sp>
        <p:nvSpPr>
          <p:cNvPr id="38" name="Shape 36"/>
          <p:cNvSpPr/>
          <p:nvPr/>
        </p:nvSpPr>
        <p:spPr>
          <a:xfrm>
            <a:off x="1219200" y="5540425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39" name="Shape 37"/>
          <p:cNvSpPr/>
          <p:nvPr/>
        </p:nvSpPr>
        <p:spPr>
          <a:xfrm>
            <a:off x="1219200" y="5540425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40" name="Text 38"/>
          <p:cNvSpPr/>
          <p:nvPr/>
        </p:nvSpPr>
        <p:spPr>
          <a:xfrm>
            <a:off x="1447800" y="5692825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171700" y="5673775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371805" y="5692825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790905" y="5673775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 architectures enabled modern AI scalability.</a:t>
            </a:r>
            <a:endParaRPr lang="en-US" sz="1275" dirty="0"/>
          </a:p>
        </p:txBody>
      </p:sp>
      <p:sp>
        <p:nvSpPr>
          <p:cNvPr id="44" name="Shape 42"/>
          <p:cNvSpPr/>
          <p:nvPr/>
        </p:nvSpPr>
        <p:spPr>
          <a:xfrm>
            <a:off x="1219200" y="6183362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45" name="Shape 43"/>
          <p:cNvSpPr/>
          <p:nvPr/>
        </p:nvSpPr>
        <p:spPr>
          <a:xfrm>
            <a:off x="1219200" y="6183362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46" name="Text 44"/>
          <p:cNvSpPr/>
          <p:nvPr/>
        </p:nvSpPr>
        <p:spPr>
          <a:xfrm>
            <a:off x="1447800" y="6335762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171700" y="6316712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Mechanism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371805" y="6335762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790905" y="6316712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helps models focus on the most relevant context.</a:t>
            </a:r>
            <a:endParaRPr lang="en-US" sz="1275" dirty="0"/>
          </a:p>
        </p:txBody>
      </p:sp>
      <p:sp>
        <p:nvSpPr>
          <p:cNvPr id="50" name="Shape 48"/>
          <p:cNvSpPr/>
          <p:nvPr/>
        </p:nvSpPr>
        <p:spPr>
          <a:xfrm>
            <a:off x="1219200" y="6826300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51" name="Shape 49"/>
          <p:cNvSpPr/>
          <p:nvPr/>
        </p:nvSpPr>
        <p:spPr>
          <a:xfrm>
            <a:off x="1219200" y="6826300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52" name="Text 50"/>
          <p:cNvSpPr/>
          <p:nvPr/>
        </p:nvSpPr>
        <p:spPr>
          <a:xfrm>
            <a:off x="1447800" y="6978700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2171700" y="6959650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Token Prediction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8371805" y="6978700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8790905" y="6959650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generate responses by predicting one token at a time.</a:t>
            </a:r>
            <a:endParaRPr lang="en-US" sz="1275" dirty="0"/>
          </a:p>
        </p:txBody>
      </p:sp>
      <p:sp>
        <p:nvSpPr>
          <p:cNvPr id="56" name="Shape 54"/>
          <p:cNvSpPr/>
          <p:nvPr/>
        </p:nvSpPr>
        <p:spPr>
          <a:xfrm>
            <a:off x="1219200" y="7469237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57" name="Shape 55"/>
          <p:cNvSpPr/>
          <p:nvPr/>
        </p:nvSpPr>
        <p:spPr>
          <a:xfrm>
            <a:off x="1219200" y="7469237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58" name="Text 56"/>
          <p:cNvSpPr/>
          <p:nvPr/>
        </p:nvSpPr>
        <p:spPr>
          <a:xfrm>
            <a:off x="1447800" y="7621637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171700" y="7602587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Generation &amp; Decoding → Response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8371805" y="7621637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8790905" y="7602587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Decoding strategies shape creativity, randomness, and response quality.</a:t>
            </a:r>
            <a:endParaRPr lang="en-US" sz="1275" dirty="0"/>
          </a:p>
        </p:txBody>
      </p:sp>
      <p:sp>
        <p:nvSpPr>
          <p:cNvPr id="62" name="Text 60"/>
          <p:cNvSpPr/>
          <p:nvPr/>
        </p:nvSpPr>
        <p:spPr>
          <a:xfrm>
            <a:off x="1219200" y="9605963"/>
            <a:ext cx="135656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8B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globallogic.com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16471255" y="9605963"/>
            <a:ext cx="6737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8B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07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" y="657225"/>
            <a:ext cx="361950" cy="3619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714500" y="609600"/>
            <a:ext cx="15542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GlobalLogic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714500" y="895350"/>
            <a:ext cx="155428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B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Hitachi Group Company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1219200" y="914400"/>
            <a:ext cx="1632508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03 · 6 CONCEPTS · STEP BY STEP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19200" y="1185863"/>
            <a:ext cx="14716125" cy="1087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50" b="1" spc="-81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LLMs </a:t>
            </a:r>
            <a:pPr algn="l" indent="0" marL="0">
              <a:lnSpc>
                <a:spcPct val="102000"/>
              </a:lnSpc>
              <a:buNone/>
            </a:pPr>
            <a:r>
              <a:rPr lang="en-US" sz="4050" b="1" spc="-81" kern="0" dirty="0">
                <a:solidFill>
                  <a:srgbClr val="FF6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hallucinate </a:t>
            </a:r>
            <a:pPr algn="l" indent="0" marL="0">
              <a:lnSpc>
                <a:spcPct val="102000"/>
              </a:lnSpc>
              <a:buNone/>
            </a:pPr>
            <a:r>
              <a:rPr lang="en-US" sz="4050" b="1" spc="-81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from knowledge gap to smart responses.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1219200" y="2330351"/>
            <a:ext cx="13735050" cy="291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2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in plain terms, the architectural techniques that fix it, and how to choose between them.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1219200" y="2850356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9" name="Shape 7"/>
          <p:cNvSpPr/>
          <p:nvPr/>
        </p:nvSpPr>
        <p:spPr>
          <a:xfrm>
            <a:off x="1219200" y="2850356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10" name="Text 8"/>
          <p:cNvSpPr/>
          <p:nvPr/>
        </p:nvSpPr>
        <p:spPr>
          <a:xfrm>
            <a:off x="1447800" y="3002756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71700" y="2983706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Knowledge Gap / Hallucination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71805" y="3002756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90905" y="2983706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Hallucinations happen when models lack reliable or updated knowledge.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1219200" y="3493294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15" name="Shape 13"/>
          <p:cNvSpPr/>
          <p:nvPr/>
        </p:nvSpPr>
        <p:spPr>
          <a:xfrm>
            <a:off x="1219200" y="3493294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16" name="Text 14"/>
          <p:cNvSpPr/>
          <p:nvPr/>
        </p:nvSpPr>
        <p:spPr>
          <a:xfrm>
            <a:off x="1447800" y="3645694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71700" y="3626644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— Retrieval Augmented Generation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71805" y="3645694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90905" y="3626644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retrieves external knowledge before generating a response.</a:t>
            </a:r>
            <a:endParaRPr lang="en-US" sz="1275" dirty="0"/>
          </a:p>
        </p:txBody>
      </p:sp>
      <p:sp>
        <p:nvSpPr>
          <p:cNvPr id="20" name="Shape 18"/>
          <p:cNvSpPr/>
          <p:nvPr/>
        </p:nvSpPr>
        <p:spPr>
          <a:xfrm>
            <a:off x="1219200" y="4136231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21" name="Shape 19"/>
          <p:cNvSpPr/>
          <p:nvPr/>
        </p:nvSpPr>
        <p:spPr>
          <a:xfrm>
            <a:off x="1219200" y="4136231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22" name="Text 20"/>
          <p:cNvSpPr/>
          <p:nvPr/>
        </p:nvSpPr>
        <p:spPr>
          <a:xfrm>
            <a:off x="1447800" y="4288631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71700" y="4269581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 — Cache Augmented Generation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71805" y="4288631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790905" y="4269581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 uses reusable cached knowledge for faster responses.</a:t>
            </a:r>
            <a:endParaRPr lang="en-US" sz="1275" dirty="0"/>
          </a:p>
        </p:txBody>
      </p:sp>
      <p:sp>
        <p:nvSpPr>
          <p:cNvPr id="26" name="Shape 24"/>
          <p:cNvSpPr/>
          <p:nvPr/>
        </p:nvSpPr>
        <p:spPr>
          <a:xfrm>
            <a:off x="1219200" y="4779169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27" name="Shape 25"/>
          <p:cNvSpPr/>
          <p:nvPr/>
        </p:nvSpPr>
        <p:spPr>
          <a:xfrm>
            <a:off x="1219200" y="4779169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28" name="Text 26"/>
          <p:cNvSpPr/>
          <p:nvPr/>
        </p:nvSpPr>
        <p:spPr>
          <a:xfrm>
            <a:off x="1447800" y="4931569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171700" y="4912519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vs CAG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71805" y="4931569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790905" y="4912519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prioritizes freshness while CAG prioritizes speed and reuse.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1219200" y="5422106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33" name="Shape 31"/>
          <p:cNvSpPr/>
          <p:nvPr/>
        </p:nvSpPr>
        <p:spPr>
          <a:xfrm>
            <a:off x="1219200" y="5422106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34" name="Text 32"/>
          <p:cNvSpPr/>
          <p:nvPr/>
        </p:nvSpPr>
        <p:spPr>
          <a:xfrm>
            <a:off x="1447800" y="5574506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171700" y="5555456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LLMs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371805" y="5574506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790905" y="5555456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retrains models for specialized behavior and domain tasks.</a:t>
            </a:r>
            <a:endParaRPr lang="en-US" sz="1275" dirty="0"/>
          </a:p>
        </p:txBody>
      </p:sp>
      <p:sp>
        <p:nvSpPr>
          <p:cNvPr id="38" name="Shape 36"/>
          <p:cNvSpPr/>
          <p:nvPr/>
        </p:nvSpPr>
        <p:spPr>
          <a:xfrm>
            <a:off x="1219200" y="6065044"/>
            <a:ext cx="15849600" cy="538163"/>
          </a:xfrm>
          <a:prstGeom prst="roundRect">
            <a:avLst>
              <a:gd name="adj" fmla="val 17699"/>
            </a:avLst>
          </a:prstGeom>
          <a:solidFill>
            <a:srgbClr val="F1F2F4"/>
          </a:solidFill>
          <a:ln/>
        </p:spPr>
      </p:sp>
      <p:sp>
        <p:nvSpPr>
          <p:cNvPr id="39" name="Shape 37"/>
          <p:cNvSpPr/>
          <p:nvPr/>
        </p:nvSpPr>
        <p:spPr>
          <a:xfrm>
            <a:off x="1219200" y="6065044"/>
            <a:ext cx="38100" cy="538163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40" name="Text 38"/>
          <p:cNvSpPr/>
          <p:nvPr/>
        </p:nvSpPr>
        <p:spPr>
          <a:xfrm>
            <a:off x="1447800" y="6217444"/>
            <a:ext cx="5905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4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171700" y="6198394"/>
            <a:ext cx="6170272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spc="-15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Each Technique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371805" y="6217444"/>
            <a:ext cx="2857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790905" y="6198394"/>
            <a:ext cx="8330017" cy="264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AI problems require different architectures and trade-offs.</a:t>
            </a:r>
            <a:endParaRPr lang="en-US" sz="1275" dirty="0"/>
          </a:p>
        </p:txBody>
      </p:sp>
      <p:sp>
        <p:nvSpPr>
          <p:cNvPr id="44" name="Text 42"/>
          <p:cNvSpPr/>
          <p:nvPr/>
        </p:nvSpPr>
        <p:spPr>
          <a:xfrm>
            <a:off x="1219200" y="9605963"/>
            <a:ext cx="135656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8B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globallogic.com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6471255" y="9605963"/>
            <a:ext cx="6737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8B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07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19200" y="657225"/>
            <a:ext cx="361950" cy="3619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714500" y="609600"/>
            <a:ext cx="15542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GlobalLogic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714500" y="895350"/>
            <a:ext cx="155428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B9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Hitachi Group Company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1219200" y="1333500"/>
            <a:ext cx="16325088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03 · THE VERDICT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19200" y="1643063"/>
            <a:ext cx="14716125" cy="659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vs CAG vs </a:t>
            </a:r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FF6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</a:t>
            </a:r>
            <a:pPr algn="l" indent="0" marL="0">
              <a:lnSpc>
                <a:spcPct val="102000"/>
              </a:lnSpc>
              <a:buNone/>
            </a:pPr>
            <a:r>
              <a:rPr lang="en-US" sz="4800" b="1" spc="-96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which one, when?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219200" y="2398142"/>
            <a:ext cx="127539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techniques for closing the knowledge gap. Each is a different trade-off; production systems usually combine two or three on purpose.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19200" y="3131567"/>
            <a:ext cx="5130775" cy="5248275"/>
          </a:xfrm>
          <a:prstGeom prst="roundRect">
            <a:avLst>
              <a:gd name="adj" fmla="val 2599"/>
            </a:avLst>
          </a:prstGeom>
          <a:ln w="9525">
            <a:solidFill>
              <a:srgbClr val="C9CF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3525" y="3445892"/>
            <a:ext cx="463718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 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33525" y="3684017"/>
            <a:ext cx="680368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24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33525" y="4100215"/>
            <a:ext cx="4637189" cy="1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84" kern="0" dirty="0">
                <a:solidFill>
                  <a:srgbClr val="8B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Retrieval Augmented Generation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33525" y="4380235"/>
            <a:ext cx="4637189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Retrieves external knowledge from your source-of-truth before the model generates a response.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431925" y="5040288"/>
            <a:ext cx="4679925" cy="812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reads the latest documents</a:t>
            </a:r>
            <a:endParaRPr lang="en-US" sz="1125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— you see what was retrieved</a:t>
            </a:r>
            <a:endParaRPr lang="en-US" sz="1125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infra: index, embedder, refresh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1533525" y="7775004"/>
            <a:ext cx="4502125" cy="9525"/>
          </a:xfrm>
          <a:prstGeom prst="rect">
            <a:avLst/>
          </a:prstGeom>
          <a:solidFill>
            <a:srgbClr val="C9CFD8"/>
          </a:solidFill>
          <a:ln/>
        </p:spPr>
      </p:sp>
      <p:sp>
        <p:nvSpPr>
          <p:cNvPr id="15" name="Text 13"/>
          <p:cNvSpPr/>
          <p:nvPr/>
        </p:nvSpPr>
        <p:spPr>
          <a:xfrm>
            <a:off x="1533525" y="7917879"/>
            <a:ext cx="4637189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WHEN KNOWLEDGE CHANGES OFTEN.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78575" y="3131567"/>
            <a:ext cx="5130775" cy="5248275"/>
          </a:xfrm>
          <a:prstGeom prst="rect">
            <a:avLst/>
          </a:prstGeom>
          <a:solidFill>
            <a:srgbClr val="1B1F2A"/>
          </a:solidFill>
          <a:ln/>
        </p:spPr>
      </p:sp>
      <p:sp>
        <p:nvSpPr>
          <p:cNvPr id="17" name="Shape 15"/>
          <p:cNvSpPr/>
          <p:nvPr/>
        </p:nvSpPr>
        <p:spPr>
          <a:xfrm>
            <a:off x="6578575" y="3131567"/>
            <a:ext cx="5130775" cy="57150"/>
          </a:xfrm>
          <a:prstGeom prst="rect">
            <a:avLst/>
          </a:prstGeom>
          <a:solidFill>
            <a:srgbClr val="FF671F"/>
          </a:solidFill>
          <a:ln/>
        </p:spPr>
      </p:sp>
      <p:sp>
        <p:nvSpPr>
          <p:cNvPr id="18" name="Text 16"/>
          <p:cNvSpPr/>
          <p:nvPr/>
        </p:nvSpPr>
        <p:spPr>
          <a:xfrm>
            <a:off x="6892900" y="3493517"/>
            <a:ext cx="4637189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 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92900" y="3731642"/>
            <a:ext cx="698674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2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92900" y="4147840"/>
            <a:ext cx="4637189" cy="1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84" kern="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 Augmented Generation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92900" y="4427860"/>
            <a:ext cx="4637189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reusable cached knowledge that's pre-computed, so the model skips retrieval on common queries.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6791300" y="5087913"/>
            <a:ext cx="4679925" cy="812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latency, lower cost per call</a:t>
            </a:r>
            <a:endParaRPr lang="en-US" sz="1125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stable, frequently-asked content</a:t>
            </a:r>
            <a:endParaRPr lang="en-US" sz="1125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if the cache isn't refreshed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6892900" y="7775004"/>
            <a:ext cx="4502125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892900" y="7917879"/>
            <a:ext cx="4637189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WHEN KNOWLEDGE IS STABLE AND HOT.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1937950" y="3131567"/>
            <a:ext cx="5130850" cy="5248275"/>
          </a:xfrm>
          <a:prstGeom prst="roundRect">
            <a:avLst>
              <a:gd name="adj" fmla="val 2599"/>
            </a:avLst>
          </a:prstGeom>
          <a:ln w="9525">
            <a:solidFill>
              <a:srgbClr val="C9CF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252275" y="3445892"/>
            <a:ext cx="4637266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26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 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252275" y="3684017"/>
            <a:ext cx="174865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spc="-24" kern="0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2252275" y="4100215"/>
            <a:ext cx="4637266" cy="1847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spc="84" kern="0" dirty="0">
                <a:solidFill>
                  <a:srgbClr val="8B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Trained behaviour, not new facts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2252275" y="4380235"/>
            <a:ext cx="4637266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275" dirty="0">
                <a:solidFill>
                  <a:srgbClr val="1B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Retrains the model on curated examples to teach a specific tone, format, or domain skill.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12150675" y="5040288"/>
            <a:ext cx="4680000" cy="812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Locks in a consistent style and structure</a:t>
            </a:r>
            <a:endParaRPr lang="en-US" sz="1125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upfront cost; ongoing as base model evolves</a:t>
            </a:r>
            <a:endParaRPr lang="en-US" sz="1125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384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right tool for "give it new facts"</a:t>
            </a:r>
            <a:endParaRPr lang="en-US" sz="1125" dirty="0"/>
          </a:p>
        </p:txBody>
      </p:sp>
      <p:sp>
        <p:nvSpPr>
          <p:cNvPr id="31" name="Shape 29"/>
          <p:cNvSpPr/>
          <p:nvPr/>
        </p:nvSpPr>
        <p:spPr>
          <a:xfrm>
            <a:off x="12252275" y="7775004"/>
            <a:ext cx="4502200" cy="9525"/>
          </a:xfrm>
          <a:prstGeom prst="rect">
            <a:avLst/>
          </a:prstGeom>
          <a:solidFill>
            <a:srgbClr val="C9CFD8"/>
          </a:solidFill>
          <a:ln/>
        </p:spPr>
      </p:sp>
      <p:sp>
        <p:nvSpPr>
          <p:cNvPr id="32" name="Text 30"/>
          <p:cNvSpPr/>
          <p:nvPr/>
        </p:nvSpPr>
        <p:spPr>
          <a:xfrm>
            <a:off x="12252275" y="7917879"/>
            <a:ext cx="4637266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08" kern="0" dirty="0">
                <a:solidFill>
                  <a:srgbClr val="FF67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WHEN YOU NEED NEW BEHAVIOUR, NOT NEW KNOWLEDGE.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19200" y="9605963"/>
            <a:ext cx="135656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8B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globallogic.com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6471255" y="9605963"/>
            <a:ext cx="6737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8B95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07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67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00" y="657225"/>
            <a:ext cx="361950" cy="3619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2019300" y="609600"/>
            <a:ext cx="155428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GlobalLogic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019300" y="895350"/>
            <a:ext cx="155428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Hitachi Group Company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14224620" y="764381"/>
            <a:ext cx="2615580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summary · Weekly Recap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24000" y="2089993"/>
            <a:ext cx="1569720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89" kern="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SUMMARY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24000" y="2590056"/>
            <a:ext cx="14716125" cy="37686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AI systems depend on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FFFFFF"/>
                </a:solidFill>
                <a:highlight>
                  <a:srgbClr val="00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FFFFFF"/>
                </a:solidFill>
                <a:highlight>
                  <a:srgbClr val="00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FFFFFF"/>
                </a:solidFill>
                <a:highlight>
                  <a:srgbClr val="00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FFFFFF"/>
                </a:solidFill>
                <a:highlight>
                  <a:srgbClr val="0000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validation </a:t>
            </a:r>
            <a:pPr algn="l" indent="0" marL="0">
              <a:lnSpc>
                <a:spcPct val="102000"/>
              </a:lnSpc>
              <a:buNone/>
            </a:pPr>
            <a:r>
              <a:rPr lang="en-US" sz="7200" b="1" spc="-1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not just the model.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1524000" y="6930182"/>
            <a:ext cx="3371850" cy="1266825"/>
          </a:xfrm>
          <a:prstGeom prst="roundRect">
            <a:avLst>
              <a:gd name="adj" fmla="val 9023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771650" y="7139732"/>
            <a:ext cx="296284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771650" y="7587407"/>
            <a:ext cx="296284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the right facts in before the model speaks.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5162550" y="6930182"/>
            <a:ext cx="3371850" cy="1266825"/>
          </a:xfrm>
          <a:prstGeom prst="roundRect">
            <a:avLst>
              <a:gd name="adj" fmla="val 9023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10200" y="7139732"/>
            <a:ext cx="296284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5410200" y="7587407"/>
            <a:ext cx="296284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what the model sees so the answer can be specific.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8801100" y="6930182"/>
            <a:ext cx="3371850" cy="1266825"/>
          </a:xfrm>
          <a:prstGeom prst="roundRect">
            <a:avLst>
              <a:gd name="adj" fmla="val 9023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048750" y="7139732"/>
            <a:ext cx="296284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048750" y="7587407"/>
            <a:ext cx="296284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Carry useful state between turns — short, long, episodic.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12439650" y="6930182"/>
            <a:ext cx="3371850" cy="1266825"/>
          </a:xfrm>
          <a:prstGeom prst="roundRect">
            <a:avLst>
              <a:gd name="adj" fmla="val 9023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2687300" y="7139732"/>
            <a:ext cx="296284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687300" y="7587407"/>
            <a:ext cx="296284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Evaluate, gate, and keep humans accountable for what ships.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1524000" y="9608344"/>
            <a:ext cx="114300" cy="1143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809750" y="9577388"/>
            <a:ext cx="5928222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48" kern="0" dirty="0">
                <a:solidFill>
                  <a:srgbClr val="FFFFFF">
                    <a:alpha val="9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Prabhata · AI System Engineer · linkedin.com/in/prabhata-ai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19200" y="9605963"/>
            <a:ext cx="929804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471255" y="9605963"/>
            <a:ext cx="673745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42" kern="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07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2026-05-24T16:10:04Z</dcterms:created>
  <dcterms:modified xsi:type="dcterms:W3CDTF">2026-05-24T16:10:04Z</dcterms:modified>
</cp:coreProperties>
</file>