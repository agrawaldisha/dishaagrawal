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98.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Lst>
  <p:sldSz cy="5143500" cx="9144000"/>
  <p:notesSz cx="6858000" cy="9144000"/>
  <p:embeddedFontLst>
    <p:embeddedFont>
      <p:font typeface="Manrope"/>
      <p:regular r:id="rId113"/>
      <p:bold r:id="rId1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7" Type="http://schemas.openxmlformats.org/officeDocument/2006/relationships/slide" Target="slides/slide101.xml"/><Relationship Id="rId106" Type="http://schemas.openxmlformats.org/officeDocument/2006/relationships/slide" Target="slides/slide100.xml"/><Relationship Id="rId105" Type="http://schemas.openxmlformats.org/officeDocument/2006/relationships/slide" Target="slides/slide99.xml"/><Relationship Id="rId104" Type="http://schemas.openxmlformats.org/officeDocument/2006/relationships/slide" Target="slides/slide98.xml"/><Relationship Id="rId109" Type="http://schemas.openxmlformats.org/officeDocument/2006/relationships/slide" Target="slides/slide103.xml"/><Relationship Id="rId108" Type="http://schemas.openxmlformats.org/officeDocument/2006/relationships/slide" Target="slides/slide102.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slide" Target="slides/slide97.xml"/><Relationship Id="rId102" Type="http://schemas.openxmlformats.org/officeDocument/2006/relationships/slide" Target="slides/slide96.xml"/><Relationship Id="rId101" Type="http://schemas.openxmlformats.org/officeDocument/2006/relationships/slide" Target="slides/slide95.xml"/><Relationship Id="rId100" Type="http://schemas.openxmlformats.org/officeDocument/2006/relationships/slide" Target="slides/slide94.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slide" Target="slides/slide89.xml"/><Relationship Id="rId94" Type="http://schemas.openxmlformats.org/officeDocument/2006/relationships/slide" Target="slides/slide88.xml"/><Relationship Id="rId97" Type="http://schemas.openxmlformats.org/officeDocument/2006/relationships/slide" Target="slides/slide91.xml"/><Relationship Id="rId96" Type="http://schemas.openxmlformats.org/officeDocument/2006/relationships/slide" Target="slides/slide90.xml"/><Relationship Id="rId11" Type="http://schemas.openxmlformats.org/officeDocument/2006/relationships/slide" Target="slides/slide5.xml"/><Relationship Id="rId99" Type="http://schemas.openxmlformats.org/officeDocument/2006/relationships/slide" Target="slides/slide93.xml"/><Relationship Id="rId10" Type="http://schemas.openxmlformats.org/officeDocument/2006/relationships/slide" Target="slides/slide4.xml"/><Relationship Id="rId98" Type="http://schemas.openxmlformats.org/officeDocument/2006/relationships/slide" Target="slides/slide92.xml"/><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5" Type="http://schemas.openxmlformats.org/officeDocument/2006/relationships/slide" Target="slides/slide9.xml"/><Relationship Id="rId110" Type="http://schemas.openxmlformats.org/officeDocument/2006/relationships/slide" Target="slides/slide104.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14" Type="http://schemas.openxmlformats.org/officeDocument/2006/relationships/font" Target="fonts/Manrope-bold.fntdata"/><Relationship Id="rId18" Type="http://schemas.openxmlformats.org/officeDocument/2006/relationships/slide" Target="slides/slide12.xml"/><Relationship Id="rId113" Type="http://schemas.openxmlformats.org/officeDocument/2006/relationships/font" Target="fonts/Manrope-regular.fntdata"/><Relationship Id="rId112" Type="http://schemas.openxmlformats.org/officeDocument/2006/relationships/slide" Target="slides/slide106.xml"/><Relationship Id="rId111" Type="http://schemas.openxmlformats.org/officeDocument/2006/relationships/slide" Target="slides/slide105.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e7e3f2fb80_2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g3e7e3f2fb80_2_75: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e7e3f2fb80_2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g3e7e3f2fb80_2_90: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e7e3f2fb80_2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g3e7e3f2fb80_2_101: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e7e3f2fb80_2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g3e7e3f2fb80_2_123: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e7e3f2fb80_2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g3e7e3f2fb80_2_136: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e7e3f2fb80_2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g3e7e3f2fb80_2_158: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e7e3f2fb80_2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g3e7e3f2fb80_2_183: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e7e3f2fb80_2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g3e7e3f2fb80_2_195: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e7e3f2fb80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g3e7e3f2fb80_0_37: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e7e3f2fb80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g3e7e3f2fb80_0_48: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e7e3f2fb80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g3e7e3f2fb80_0_68: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e7e3f2fb80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g3e7e3f2fb80_0_114: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e7e3f2fb80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g3e7e3f2fb80_0_140: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e7e3f2fb80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g3e7e3f2fb80_0_165: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e7e3f2fb80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g3e7e3f2fb80_0_188: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6" name="Shape 436"/>
        <p:cNvGrpSpPr/>
        <p:nvPr/>
      </p:nvGrpSpPr>
      <p:grpSpPr>
        <a:xfrm>
          <a:off x="0" y="0"/>
          <a:ext cx="0" cy="0"/>
          <a:chOff x="0" y="0"/>
          <a:chExt cx="0" cy="0"/>
        </a:xfrm>
      </p:grpSpPr>
      <p:sp>
        <p:nvSpPr>
          <p:cNvPr id="437" name="Google Shape;437;g3e7e3f2fb80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g3e7e3f2fb80_0_210: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e7e3f2fb80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g3e7e3f2fb80_0_236: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e7e3f2fb80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g3e7e3f2fb80_0_262: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e7e3f2fb80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g3e7e3f2fb80_0_288: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3e7e3f2fb80_0_3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g3e7e3f2fb80_0_315: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e7e3f2fb80_0_3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g3e7e3f2fb80_0_372: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e7e3f2fb80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g3e7e3f2fb80_0_399: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e7e3f2fb80_0_4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g3e7e3f2fb80_0_411: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e7e3f2fb80_0_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g3e7e3f2fb80_0_436: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e7e3f2fb80_0_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g3e7e3f2fb80_0_458: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e7e3f2fb80_0_4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g3e7e3f2fb80_0_480: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g3e7e3f2fb80_0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g3e7e3f2fb80_0_502: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3e7e3f2fb80_0_5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g3e7e3f2fb80_0_524: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g3e7e3f2fb80_0_5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g3e7e3f2fb80_0_552: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g3e7e3f2fb80_2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g3e7e3f2fb80_2_228: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3e7e3f2fb80_2_2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g3e7e3f2fb80_2_239: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g3e7e3f2fb80_2_2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g3e7e3f2fb80_2_261: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e7e3f2fb80_2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g3e7e3f2fb80_2_294: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3e7e3f2fb80_2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g3e7e3f2fb80_2_320: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3e7e3f2fb80_2_3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g3e7e3f2fb80_2_345: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9" name="Shape 919"/>
        <p:cNvGrpSpPr/>
        <p:nvPr/>
      </p:nvGrpSpPr>
      <p:grpSpPr>
        <a:xfrm>
          <a:off x="0" y="0"/>
          <a:ext cx="0" cy="0"/>
          <a:chOff x="0" y="0"/>
          <a:chExt cx="0" cy="0"/>
        </a:xfrm>
      </p:grpSpPr>
      <p:sp>
        <p:nvSpPr>
          <p:cNvPr id="920" name="Google Shape;920;g3e7e3f2fb80_2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g3e7e3f2fb80_2_367: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3e7e3f2fb80_2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g3e7e3f2fb80_2_380: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3e107b664ee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g3e107b664ee_4_0: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g3e107b664ee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2" name="Google Shape;1012;g3e107b664ee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2" name="Shape 1052"/>
        <p:cNvGrpSpPr/>
        <p:nvPr/>
      </p:nvGrpSpPr>
      <p:grpSpPr>
        <a:xfrm>
          <a:off x="0" y="0"/>
          <a:ext cx="0" cy="0"/>
          <a:chOff x="0" y="0"/>
          <a:chExt cx="0" cy="0"/>
        </a:xfrm>
      </p:grpSpPr>
      <p:sp>
        <p:nvSpPr>
          <p:cNvPr id="1053" name="Google Shape;1053;g3e107b664ee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g3e107b664ee_2_0: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g3e107b664ee_2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g3e107b664ee_2_68: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6" name="Shape 1226"/>
        <p:cNvGrpSpPr/>
        <p:nvPr/>
      </p:nvGrpSpPr>
      <p:grpSpPr>
        <a:xfrm>
          <a:off x="0" y="0"/>
          <a:ext cx="0" cy="0"/>
          <a:chOff x="0" y="0"/>
          <a:chExt cx="0" cy="0"/>
        </a:xfrm>
      </p:grpSpPr>
      <p:sp>
        <p:nvSpPr>
          <p:cNvPr id="1227" name="Google Shape;1227;g3e107b664ee_2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g3e107b664ee_2_291: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7" name="Shape 1317"/>
        <p:cNvGrpSpPr/>
        <p:nvPr/>
      </p:nvGrpSpPr>
      <p:grpSpPr>
        <a:xfrm>
          <a:off x="0" y="0"/>
          <a:ext cx="0" cy="0"/>
          <a:chOff x="0" y="0"/>
          <a:chExt cx="0" cy="0"/>
        </a:xfrm>
      </p:grpSpPr>
      <p:sp>
        <p:nvSpPr>
          <p:cNvPr id="1318" name="Google Shape;1318;g3e7e3f2fb80_2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g3e7e3f2fb80_2_437: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7" name="Shape 1327"/>
        <p:cNvGrpSpPr/>
        <p:nvPr/>
      </p:nvGrpSpPr>
      <p:grpSpPr>
        <a:xfrm>
          <a:off x="0" y="0"/>
          <a:ext cx="0" cy="0"/>
          <a:chOff x="0" y="0"/>
          <a:chExt cx="0" cy="0"/>
        </a:xfrm>
      </p:grpSpPr>
      <p:sp>
        <p:nvSpPr>
          <p:cNvPr id="1328" name="Google Shape;1328;g3e7e3f2fb80_2_4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g3e7e3f2fb80_2_448: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2" name="Shape 1352"/>
        <p:cNvGrpSpPr/>
        <p:nvPr/>
      </p:nvGrpSpPr>
      <p:grpSpPr>
        <a:xfrm>
          <a:off x="0" y="0"/>
          <a:ext cx="0" cy="0"/>
          <a:chOff x="0" y="0"/>
          <a:chExt cx="0" cy="0"/>
        </a:xfrm>
      </p:grpSpPr>
      <p:sp>
        <p:nvSpPr>
          <p:cNvPr id="1353" name="Google Shape;1353;g3e7e3f2fb80_2_4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g3e7e3f2fb80_2_474: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8" name="Shape 1368"/>
        <p:cNvGrpSpPr/>
        <p:nvPr/>
      </p:nvGrpSpPr>
      <p:grpSpPr>
        <a:xfrm>
          <a:off x="0" y="0"/>
          <a:ext cx="0" cy="0"/>
          <a:chOff x="0" y="0"/>
          <a:chExt cx="0" cy="0"/>
        </a:xfrm>
      </p:grpSpPr>
      <p:sp>
        <p:nvSpPr>
          <p:cNvPr id="1369" name="Google Shape;1369;g3e7e3f2fb80_2_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g3e7e3f2fb80_2_490: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g3e7e3f2fb80_2_5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g3e7e3f2fb80_2_506: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8" name="Shape 1408"/>
        <p:cNvGrpSpPr/>
        <p:nvPr/>
      </p:nvGrpSpPr>
      <p:grpSpPr>
        <a:xfrm>
          <a:off x="0" y="0"/>
          <a:ext cx="0" cy="0"/>
          <a:chOff x="0" y="0"/>
          <a:chExt cx="0" cy="0"/>
        </a:xfrm>
      </p:grpSpPr>
      <p:sp>
        <p:nvSpPr>
          <p:cNvPr id="1409" name="Google Shape;1409;g3e7e3f2fb80_2_5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g3e7e3f2fb80_2_531: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9" name="Shape 1429"/>
        <p:cNvGrpSpPr/>
        <p:nvPr/>
      </p:nvGrpSpPr>
      <p:grpSpPr>
        <a:xfrm>
          <a:off x="0" y="0"/>
          <a:ext cx="0" cy="0"/>
          <a:chOff x="0" y="0"/>
          <a:chExt cx="0" cy="0"/>
        </a:xfrm>
      </p:grpSpPr>
      <p:sp>
        <p:nvSpPr>
          <p:cNvPr id="1430" name="Google Shape;1430;g3e7e3f2fb80_2_5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g3e7e3f2fb80_2_566: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0" name="Shape 1470"/>
        <p:cNvGrpSpPr/>
        <p:nvPr/>
      </p:nvGrpSpPr>
      <p:grpSpPr>
        <a:xfrm>
          <a:off x="0" y="0"/>
          <a:ext cx="0" cy="0"/>
          <a:chOff x="0" y="0"/>
          <a:chExt cx="0" cy="0"/>
        </a:xfrm>
      </p:grpSpPr>
      <p:sp>
        <p:nvSpPr>
          <p:cNvPr id="1471" name="Google Shape;1471;g3e7e3f2fb80_2_6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g3e7e3f2fb80_2_635: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0" name="Shape 1480"/>
        <p:cNvGrpSpPr/>
        <p:nvPr/>
      </p:nvGrpSpPr>
      <p:grpSpPr>
        <a:xfrm>
          <a:off x="0" y="0"/>
          <a:ext cx="0" cy="0"/>
          <a:chOff x="0" y="0"/>
          <a:chExt cx="0" cy="0"/>
        </a:xfrm>
      </p:grpSpPr>
      <p:sp>
        <p:nvSpPr>
          <p:cNvPr id="1481" name="Google Shape;1481;g3e7e3f2fb80_2_6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g3e7e3f2fb80_2_646: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1" name="Shape 1501"/>
        <p:cNvGrpSpPr/>
        <p:nvPr/>
      </p:nvGrpSpPr>
      <p:grpSpPr>
        <a:xfrm>
          <a:off x="0" y="0"/>
          <a:ext cx="0" cy="0"/>
          <a:chOff x="0" y="0"/>
          <a:chExt cx="0" cy="0"/>
        </a:xfrm>
      </p:grpSpPr>
      <p:sp>
        <p:nvSpPr>
          <p:cNvPr id="1502" name="Google Shape;1502;g3e7e3f2fb80_2_6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g3e7e3f2fb80_2_668: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2" name="Shape 1542"/>
        <p:cNvGrpSpPr/>
        <p:nvPr/>
      </p:nvGrpSpPr>
      <p:grpSpPr>
        <a:xfrm>
          <a:off x="0" y="0"/>
          <a:ext cx="0" cy="0"/>
          <a:chOff x="0" y="0"/>
          <a:chExt cx="0" cy="0"/>
        </a:xfrm>
      </p:grpSpPr>
      <p:sp>
        <p:nvSpPr>
          <p:cNvPr id="1543" name="Google Shape;1543;g3e7e3f2fb80_2_7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g3e7e3f2fb80_2_710: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3" name="Shape 1563"/>
        <p:cNvGrpSpPr/>
        <p:nvPr/>
      </p:nvGrpSpPr>
      <p:grpSpPr>
        <a:xfrm>
          <a:off x="0" y="0"/>
          <a:ext cx="0" cy="0"/>
          <a:chOff x="0" y="0"/>
          <a:chExt cx="0" cy="0"/>
        </a:xfrm>
      </p:grpSpPr>
      <p:sp>
        <p:nvSpPr>
          <p:cNvPr id="1564" name="Google Shape;1564;g3e7e3f2fb80_2_7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g3e7e3f2fb80_2_732: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7" name="Shape 1587"/>
        <p:cNvGrpSpPr/>
        <p:nvPr/>
      </p:nvGrpSpPr>
      <p:grpSpPr>
        <a:xfrm>
          <a:off x="0" y="0"/>
          <a:ext cx="0" cy="0"/>
          <a:chOff x="0" y="0"/>
          <a:chExt cx="0" cy="0"/>
        </a:xfrm>
      </p:grpSpPr>
      <p:sp>
        <p:nvSpPr>
          <p:cNvPr id="1588" name="Google Shape;1588;g3e7e3f2fb80_2_7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g3e7e3f2fb80_2_757: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8" name="Shape 1598"/>
        <p:cNvGrpSpPr/>
        <p:nvPr/>
      </p:nvGrpSpPr>
      <p:grpSpPr>
        <a:xfrm>
          <a:off x="0" y="0"/>
          <a:ext cx="0" cy="0"/>
          <a:chOff x="0" y="0"/>
          <a:chExt cx="0" cy="0"/>
        </a:xfrm>
      </p:grpSpPr>
      <p:sp>
        <p:nvSpPr>
          <p:cNvPr id="1599" name="Google Shape;1599;g3e7e3f2fb80_2_7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g3e7e3f2fb80_2_769: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9" name="Shape 1619"/>
        <p:cNvGrpSpPr/>
        <p:nvPr/>
      </p:nvGrpSpPr>
      <p:grpSpPr>
        <a:xfrm>
          <a:off x="0" y="0"/>
          <a:ext cx="0" cy="0"/>
          <a:chOff x="0" y="0"/>
          <a:chExt cx="0" cy="0"/>
        </a:xfrm>
      </p:grpSpPr>
      <p:sp>
        <p:nvSpPr>
          <p:cNvPr id="1620" name="Google Shape;1620;g3e7e3f2fb80_2_7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g3e7e3f2fb80_2_791: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0" name="Shape 1660"/>
        <p:cNvGrpSpPr/>
        <p:nvPr/>
      </p:nvGrpSpPr>
      <p:grpSpPr>
        <a:xfrm>
          <a:off x="0" y="0"/>
          <a:ext cx="0" cy="0"/>
          <a:chOff x="0" y="0"/>
          <a:chExt cx="0" cy="0"/>
        </a:xfrm>
      </p:grpSpPr>
      <p:sp>
        <p:nvSpPr>
          <p:cNvPr id="1661" name="Google Shape;1661;g3e7e3f2fb80_2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g3e7e3f2fb80_2_833: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4" name="Shape 1674"/>
        <p:cNvGrpSpPr/>
        <p:nvPr/>
      </p:nvGrpSpPr>
      <p:grpSpPr>
        <a:xfrm>
          <a:off x="0" y="0"/>
          <a:ext cx="0" cy="0"/>
          <a:chOff x="0" y="0"/>
          <a:chExt cx="0" cy="0"/>
        </a:xfrm>
      </p:grpSpPr>
      <p:sp>
        <p:nvSpPr>
          <p:cNvPr id="1675" name="Google Shape;1675;g3e7e3f2fb80_0_10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g3e7e3f2fb80_0_1006: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3" name="Shape 1693"/>
        <p:cNvGrpSpPr/>
        <p:nvPr/>
      </p:nvGrpSpPr>
      <p:grpSpPr>
        <a:xfrm>
          <a:off x="0" y="0"/>
          <a:ext cx="0" cy="0"/>
          <a:chOff x="0" y="0"/>
          <a:chExt cx="0" cy="0"/>
        </a:xfrm>
      </p:grpSpPr>
      <p:sp>
        <p:nvSpPr>
          <p:cNvPr id="1694" name="Google Shape;1694;g3e7e3f2fb80_0_10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g3e7e3f2fb80_0_1026: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3" name="Shape 1713"/>
        <p:cNvGrpSpPr/>
        <p:nvPr/>
      </p:nvGrpSpPr>
      <p:grpSpPr>
        <a:xfrm>
          <a:off x="0" y="0"/>
          <a:ext cx="0" cy="0"/>
          <a:chOff x="0" y="0"/>
          <a:chExt cx="0" cy="0"/>
        </a:xfrm>
      </p:grpSpPr>
      <p:sp>
        <p:nvSpPr>
          <p:cNvPr id="1714" name="Google Shape;1714;g3e7e3f2fb80_0_10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g3e7e3f2fb80_0_1046: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3" name="Shape 1733"/>
        <p:cNvGrpSpPr/>
        <p:nvPr/>
      </p:nvGrpSpPr>
      <p:grpSpPr>
        <a:xfrm>
          <a:off x="0" y="0"/>
          <a:ext cx="0" cy="0"/>
          <a:chOff x="0" y="0"/>
          <a:chExt cx="0" cy="0"/>
        </a:xfrm>
      </p:grpSpPr>
      <p:sp>
        <p:nvSpPr>
          <p:cNvPr id="1734" name="Google Shape;1734;g3e7e3f2fb80_0_10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g3e7e3f2fb80_0_1066: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3" name="Shape 1753"/>
        <p:cNvGrpSpPr/>
        <p:nvPr/>
      </p:nvGrpSpPr>
      <p:grpSpPr>
        <a:xfrm>
          <a:off x="0" y="0"/>
          <a:ext cx="0" cy="0"/>
          <a:chOff x="0" y="0"/>
          <a:chExt cx="0" cy="0"/>
        </a:xfrm>
      </p:grpSpPr>
      <p:sp>
        <p:nvSpPr>
          <p:cNvPr id="1754" name="Google Shape;1754;g3e7e3f2fb80_0_10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g3e7e3f2fb80_0_1086: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3" name="Shape 1773"/>
        <p:cNvGrpSpPr/>
        <p:nvPr/>
      </p:nvGrpSpPr>
      <p:grpSpPr>
        <a:xfrm>
          <a:off x="0" y="0"/>
          <a:ext cx="0" cy="0"/>
          <a:chOff x="0" y="0"/>
          <a:chExt cx="0" cy="0"/>
        </a:xfrm>
      </p:grpSpPr>
      <p:sp>
        <p:nvSpPr>
          <p:cNvPr id="1774" name="Google Shape;1774;g3e7e3f2fb80_0_1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g3e7e3f2fb80_0_1224: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3" name="Shape 1783"/>
        <p:cNvGrpSpPr/>
        <p:nvPr/>
      </p:nvGrpSpPr>
      <p:grpSpPr>
        <a:xfrm>
          <a:off x="0" y="0"/>
          <a:ext cx="0" cy="0"/>
          <a:chOff x="0" y="0"/>
          <a:chExt cx="0" cy="0"/>
        </a:xfrm>
      </p:grpSpPr>
      <p:sp>
        <p:nvSpPr>
          <p:cNvPr id="1784" name="Google Shape;1784;g3e7e3f2fb80_0_1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g3e7e3f2fb80_0_1235: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4" name="Shape 1804"/>
        <p:cNvGrpSpPr/>
        <p:nvPr/>
      </p:nvGrpSpPr>
      <p:grpSpPr>
        <a:xfrm>
          <a:off x="0" y="0"/>
          <a:ext cx="0" cy="0"/>
          <a:chOff x="0" y="0"/>
          <a:chExt cx="0" cy="0"/>
        </a:xfrm>
      </p:grpSpPr>
      <p:sp>
        <p:nvSpPr>
          <p:cNvPr id="1805" name="Google Shape;1805;g3e7e3f2fb80_0_1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g3e7e3f2fb80_0_1257: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9" name="Shape 1829"/>
        <p:cNvGrpSpPr/>
        <p:nvPr/>
      </p:nvGrpSpPr>
      <p:grpSpPr>
        <a:xfrm>
          <a:off x="0" y="0"/>
          <a:ext cx="0" cy="0"/>
          <a:chOff x="0" y="0"/>
          <a:chExt cx="0" cy="0"/>
        </a:xfrm>
      </p:grpSpPr>
      <p:sp>
        <p:nvSpPr>
          <p:cNvPr id="1830" name="Google Shape;1830;g3e7e3f2fb80_0_1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g3e7e3f2fb80_0_1283: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3" name="Shape 1843"/>
        <p:cNvGrpSpPr/>
        <p:nvPr/>
      </p:nvGrpSpPr>
      <p:grpSpPr>
        <a:xfrm>
          <a:off x="0" y="0"/>
          <a:ext cx="0" cy="0"/>
          <a:chOff x="0" y="0"/>
          <a:chExt cx="0" cy="0"/>
        </a:xfrm>
      </p:grpSpPr>
      <p:sp>
        <p:nvSpPr>
          <p:cNvPr id="1844" name="Google Shape;1844;g3e7e3f2fb80_0_12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g3e7e3f2fb80_0_1298: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4" name="Shape 1864"/>
        <p:cNvGrpSpPr/>
        <p:nvPr/>
      </p:nvGrpSpPr>
      <p:grpSpPr>
        <a:xfrm>
          <a:off x="0" y="0"/>
          <a:ext cx="0" cy="0"/>
          <a:chOff x="0" y="0"/>
          <a:chExt cx="0" cy="0"/>
        </a:xfrm>
      </p:grpSpPr>
      <p:sp>
        <p:nvSpPr>
          <p:cNvPr id="1865" name="Google Shape;1865;g3e7e3f2fb80_2_8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g3e7e3f2fb80_2_848: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4" name="Shape 1874"/>
        <p:cNvGrpSpPr/>
        <p:nvPr/>
      </p:nvGrpSpPr>
      <p:grpSpPr>
        <a:xfrm>
          <a:off x="0" y="0"/>
          <a:ext cx="0" cy="0"/>
          <a:chOff x="0" y="0"/>
          <a:chExt cx="0" cy="0"/>
        </a:xfrm>
      </p:grpSpPr>
      <p:sp>
        <p:nvSpPr>
          <p:cNvPr id="1875" name="Google Shape;1875;g3e7e3f2fb80_2_8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g3e7e3f2fb80_2_859: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8" name="Shape 1888"/>
        <p:cNvGrpSpPr/>
        <p:nvPr/>
      </p:nvGrpSpPr>
      <p:grpSpPr>
        <a:xfrm>
          <a:off x="0" y="0"/>
          <a:ext cx="0" cy="0"/>
          <a:chOff x="0" y="0"/>
          <a:chExt cx="0" cy="0"/>
        </a:xfrm>
      </p:grpSpPr>
      <p:sp>
        <p:nvSpPr>
          <p:cNvPr id="1889" name="Google Shape;1889;g3e7e3f2fb80_2_8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g3e7e3f2fb80_2_874: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9" name="Shape 1929"/>
        <p:cNvGrpSpPr/>
        <p:nvPr/>
      </p:nvGrpSpPr>
      <p:grpSpPr>
        <a:xfrm>
          <a:off x="0" y="0"/>
          <a:ext cx="0" cy="0"/>
          <a:chOff x="0" y="0"/>
          <a:chExt cx="0" cy="0"/>
        </a:xfrm>
      </p:grpSpPr>
      <p:sp>
        <p:nvSpPr>
          <p:cNvPr id="1930" name="Google Shape;1930;g3e7e3f2fb80_2_9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g3e7e3f2fb80_2_916: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0" name="Shape 1950"/>
        <p:cNvGrpSpPr/>
        <p:nvPr/>
      </p:nvGrpSpPr>
      <p:grpSpPr>
        <a:xfrm>
          <a:off x="0" y="0"/>
          <a:ext cx="0" cy="0"/>
          <a:chOff x="0" y="0"/>
          <a:chExt cx="0" cy="0"/>
        </a:xfrm>
      </p:grpSpPr>
      <p:sp>
        <p:nvSpPr>
          <p:cNvPr id="1951" name="Google Shape;1951;g3e7e3f2fb80_2_9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g3e7e3f2fb80_2_938: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4" name="Shape 1974"/>
        <p:cNvGrpSpPr/>
        <p:nvPr/>
      </p:nvGrpSpPr>
      <p:grpSpPr>
        <a:xfrm>
          <a:off x="0" y="0"/>
          <a:ext cx="0" cy="0"/>
          <a:chOff x="0" y="0"/>
          <a:chExt cx="0" cy="0"/>
        </a:xfrm>
      </p:grpSpPr>
      <p:sp>
        <p:nvSpPr>
          <p:cNvPr id="1975" name="Google Shape;1975;g3e7e3f2fb80_2_9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g3e7e3f2fb80_2_963: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7" name="Shape 1987"/>
        <p:cNvGrpSpPr/>
        <p:nvPr/>
      </p:nvGrpSpPr>
      <p:grpSpPr>
        <a:xfrm>
          <a:off x="0" y="0"/>
          <a:ext cx="0" cy="0"/>
          <a:chOff x="0" y="0"/>
          <a:chExt cx="0" cy="0"/>
        </a:xfrm>
      </p:grpSpPr>
      <p:sp>
        <p:nvSpPr>
          <p:cNvPr id="1988" name="Google Shape;1988;g3e7e3f2fb80_2_10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g3e7e3f2fb80_2_1017: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8" name="Shape 1998"/>
        <p:cNvGrpSpPr/>
        <p:nvPr/>
      </p:nvGrpSpPr>
      <p:grpSpPr>
        <a:xfrm>
          <a:off x="0" y="0"/>
          <a:ext cx="0" cy="0"/>
          <a:chOff x="0" y="0"/>
          <a:chExt cx="0" cy="0"/>
        </a:xfrm>
      </p:grpSpPr>
      <p:sp>
        <p:nvSpPr>
          <p:cNvPr id="1999" name="Google Shape;1999;g3e7e3f2fb80_2_10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g3e7e3f2fb80_2_1028: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0" name="Shape 2020"/>
        <p:cNvGrpSpPr/>
        <p:nvPr/>
      </p:nvGrpSpPr>
      <p:grpSpPr>
        <a:xfrm>
          <a:off x="0" y="0"/>
          <a:ext cx="0" cy="0"/>
          <a:chOff x="0" y="0"/>
          <a:chExt cx="0" cy="0"/>
        </a:xfrm>
      </p:grpSpPr>
      <p:sp>
        <p:nvSpPr>
          <p:cNvPr id="2021" name="Google Shape;2021;g3e7e3f2fb80_2_10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g3e7e3f2fb80_2_1050: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9" name="Shape 2039"/>
        <p:cNvGrpSpPr/>
        <p:nvPr/>
      </p:nvGrpSpPr>
      <p:grpSpPr>
        <a:xfrm>
          <a:off x="0" y="0"/>
          <a:ext cx="0" cy="0"/>
          <a:chOff x="0" y="0"/>
          <a:chExt cx="0" cy="0"/>
        </a:xfrm>
      </p:grpSpPr>
      <p:sp>
        <p:nvSpPr>
          <p:cNvPr id="2040" name="Google Shape;2040;g3e7e3f2fb80_2_10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g3e7e3f2fb80_2_1068: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4" name="Shape 2064"/>
        <p:cNvGrpSpPr/>
        <p:nvPr/>
      </p:nvGrpSpPr>
      <p:grpSpPr>
        <a:xfrm>
          <a:off x="0" y="0"/>
          <a:ext cx="0" cy="0"/>
          <a:chOff x="0" y="0"/>
          <a:chExt cx="0" cy="0"/>
        </a:xfrm>
      </p:grpSpPr>
      <p:sp>
        <p:nvSpPr>
          <p:cNvPr id="2065" name="Google Shape;2065;g3e7e3f2fb80_2_1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g3e7e3f2fb80_2_1127: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9" name="Shape 2089"/>
        <p:cNvGrpSpPr/>
        <p:nvPr/>
      </p:nvGrpSpPr>
      <p:grpSpPr>
        <a:xfrm>
          <a:off x="0" y="0"/>
          <a:ext cx="0" cy="0"/>
          <a:chOff x="0" y="0"/>
          <a:chExt cx="0" cy="0"/>
        </a:xfrm>
      </p:grpSpPr>
      <p:sp>
        <p:nvSpPr>
          <p:cNvPr id="2090" name="Google Shape;2090;g3e7e3f2fb80_2_1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g3e7e3f2fb80_2_1168: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9" name="Shape 2099"/>
        <p:cNvGrpSpPr/>
        <p:nvPr/>
      </p:nvGrpSpPr>
      <p:grpSpPr>
        <a:xfrm>
          <a:off x="0" y="0"/>
          <a:ext cx="0" cy="0"/>
          <a:chOff x="0" y="0"/>
          <a:chExt cx="0" cy="0"/>
        </a:xfrm>
      </p:grpSpPr>
      <p:sp>
        <p:nvSpPr>
          <p:cNvPr id="2100" name="Google Shape;2100;g3e7e3f2fb80_2_1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g3e7e3f2fb80_2_1179: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0" name="Shape 2120"/>
        <p:cNvGrpSpPr/>
        <p:nvPr/>
      </p:nvGrpSpPr>
      <p:grpSpPr>
        <a:xfrm>
          <a:off x="0" y="0"/>
          <a:ext cx="0" cy="0"/>
          <a:chOff x="0" y="0"/>
          <a:chExt cx="0" cy="0"/>
        </a:xfrm>
      </p:grpSpPr>
      <p:sp>
        <p:nvSpPr>
          <p:cNvPr id="2121" name="Google Shape;2121;g3e7e3f2fb80_2_1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g3e7e3f2fb80_2_1201: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4" name="Shape 2144"/>
        <p:cNvGrpSpPr/>
        <p:nvPr/>
      </p:nvGrpSpPr>
      <p:grpSpPr>
        <a:xfrm>
          <a:off x="0" y="0"/>
          <a:ext cx="0" cy="0"/>
          <a:chOff x="0" y="0"/>
          <a:chExt cx="0" cy="0"/>
        </a:xfrm>
      </p:grpSpPr>
      <p:sp>
        <p:nvSpPr>
          <p:cNvPr id="2145" name="Google Shape;2145;g3e7e3f2fb80_2_1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g3e7e3f2fb80_2_1229: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9" name="Shape 2169"/>
        <p:cNvGrpSpPr/>
        <p:nvPr/>
      </p:nvGrpSpPr>
      <p:grpSpPr>
        <a:xfrm>
          <a:off x="0" y="0"/>
          <a:ext cx="0" cy="0"/>
          <a:chOff x="0" y="0"/>
          <a:chExt cx="0" cy="0"/>
        </a:xfrm>
      </p:grpSpPr>
      <p:sp>
        <p:nvSpPr>
          <p:cNvPr id="2170" name="Google Shape;2170;g3e7e3f2fb80_2_1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g3e7e3f2fb80_2_1295: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0" name="Shape 2190"/>
        <p:cNvGrpSpPr/>
        <p:nvPr/>
      </p:nvGrpSpPr>
      <p:grpSpPr>
        <a:xfrm>
          <a:off x="0" y="0"/>
          <a:ext cx="0" cy="0"/>
          <a:chOff x="0" y="0"/>
          <a:chExt cx="0" cy="0"/>
        </a:xfrm>
      </p:grpSpPr>
      <p:sp>
        <p:nvSpPr>
          <p:cNvPr id="2191" name="Google Shape;2191;g3e7e3f2fb80_2_1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g3e7e3f2fb80_2_1317: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1" name="Shape 2231"/>
        <p:cNvGrpSpPr/>
        <p:nvPr/>
      </p:nvGrpSpPr>
      <p:grpSpPr>
        <a:xfrm>
          <a:off x="0" y="0"/>
          <a:ext cx="0" cy="0"/>
          <a:chOff x="0" y="0"/>
          <a:chExt cx="0" cy="0"/>
        </a:xfrm>
      </p:grpSpPr>
      <p:sp>
        <p:nvSpPr>
          <p:cNvPr id="2232" name="Google Shape;2232;g3e7e3f2fb80_0_6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g3e7e3f2fb80_0_651: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6" name="Shape 2256"/>
        <p:cNvGrpSpPr/>
        <p:nvPr/>
      </p:nvGrpSpPr>
      <p:grpSpPr>
        <a:xfrm>
          <a:off x="0" y="0"/>
          <a:ext cx="0" cy="0"/>
          <a:chOff x="0" y="0"/>
          <a:chExt cx="0" cy="0"/>
        </a:xfrm>
      </p:grpSpPr>
      <p:sp>
        <p:nvSpPr>
          <p:cNvPr id="2257" name="Google Shape;2257;g3e7e3f2fb80_0_6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g3e7e3f2fb80_0_676:notes"/>
          <p:cNvSpPr/>
          <p:nvPr>
            <p:ph idx="2" type="sldImg"/>
          </p:nvPr>
        </p:nvSpPr>
        <p:spPr>
          <a:xfrm>
            <a:off x="1143164"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2" name="Shape 2312"/>
        <p:cNvGrpSpPr/>
        <p:nvPr/>
      </p:nvGrpSpPr>
      <p:grpSpPr>
        <a:xfrm>
          <a:off x="0" y="0"/>
          <a:ext cx="0" cy="0"/>
          <a:chOff x="0" y="0"/>
          <a:chExt cx="0" cy="0"/>
        </a:xfrm>
      </p:grpSpPr>
      <p:sp>
        <p:nvSpPr>
          <p:cNvPr id="2313" name="Google Shape;2313;g3e7e3f2fb80_2_1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g3e7e3f2fb80_2_1527: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2" name="Shape 2322"/>
        <p:cNvGrpSpPr/>
        <p:nvPr/>
      </p:nvGrpSpPr>
      <p:grpSpPr>
        <a:xfrm>
          <a:off x="0" y="0"/>
          <a:ext cx="0" cy="0"/>
          <a:chOff x="0" y="0"/>
          <a:chExt cx="0" cy="0"/>
        </a:xfrm>
      </p:grpSpPr>
      <p:sp>
        <p:nvSpPr>
          <p:cNvPr id="2323" name="Google Shape;2323;g3e7e3f2fb80_2_15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g3e7e3f2fb80_2_1538: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6" name="Shape 2336"/>
        <p:cNvGrpSpPr/>
        <p:nvPr/>
      </p:nvGrpSpPr>
      <p:grpSpPr>
        <a:xfrm>
          <a:off x="0" y="0"/>
          <a:ext cx="0" cy="0"/>
          <a:chOff x="0" y="0"/>
          <a:chExt cx="0" cy="0"/>
        </a:xfrm>
      </p:grpSpPr>
      <p:sp>
        <p:nvSpPr>
          <p:cNvPr id="2337" name="Google Shape;2337;g3e7e3f2fb80_2_15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g3e7e3f2fb80_2_1553: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8" name="Shape 2368"/>
        <p:cNvGrpSpPr/>
        <p:nvPr/>
      </p:nvGrpSpPr>
      <p:grpSpPr>
        <a:xfrm>
          <a:off x="0" y="0"/>
          <a:ext cx="0" cy="0"/>
          <a:chOff x="0" y="0"/>
          <a:chExt cx="0" cy="0"/>
        </a:xfrm>
      </p:grpSpPr>
      <p:sp>
        <p:nvSpPr>
          <p:cNvPr id="2369" name="Google Shape;2369;g3e7e3f2fb80_2_15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g3e7e3f2fb80_2_1586: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3" name="Shape 2393"/>
        <p:cNvGrpSpPr/>
        <p:nvPr/>
      </p:nvGrpSpPr>
      <p:grpSpPr>
        <a:xfrm>
          <a:off x="0" y="0"/>
          <a:ext cx="0" cy="0"/>
          <a:chOff x="0" y="0"/>
          <a:chExt cx="0" cy="0"/>
        </a:xfrm>
      </p:grpSpPr>
      <p:sp>
        <p:nvSpPr>
          <p:cNvPr id="2394" name="Google Shape;2394;g3e7e3f2fb80_2_16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g3e7e3f2fb80_2_1612: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7" name="Shape 2417"/>
        <p:cNvGrpSpPr/>
        <p:nvPr/>
      </p:nvGrpSpPr>
      <p:grpSpPr>
        <a:xfrm>
          <a:off x="0" y="0"/>
          <a:ext cx="0" cy="0"/>
          <a:chOff x="0" y="0"/>
          <a:chExt cx="0" cy="0"/>
        </a:xfrm>
      </p:grpSpPr>
      <p:sp>
        <p:nvSpPr>
          <p:cNvPr id="2418" name="Google Shape;2418;g3e7e3f2fb80_2_16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g3e7e3f2fb80_2_1637: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5" name="Shape 2435"/>
        <p:cNvGrpSpPr/>
        <p:nvPr/>
      </p:nvGrpSpPr>
      <p:grpSpPr>
        <a:xfrm>
          <a:off x="0" y="0"/>
          <a:ext cx="0" cy="0"/>
          <a:chOff x="0" y="0"/>
          <a:chExt cx="0" cy="0"/>
        </a:xfrm>
      </p:grpSpPr>
      <p:sp>
        <p:nvSpPr>
          <p:cNvPr id="2436" name="Google Shape;2436;g3e7e3f2fb80_2_16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g3e7e3f2fb80_2_1667: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9" name="Shape 2449"/>
        <p:cNvGrpSpPr/>
        <p:nvPr/>
      </p:nvGrpSpPr>
      <p:grpSpPr>
        <a:xfrm>
          <a:off x="0" y="0"/>
          <a:ext cx="0" cy="0"/>
          <a:chOff x="0" y="0"/>
          <a:chExt cx="0" cy="0"/>
        </a:xfrm>
      </p:grpSpPr>
      <p:sp>
        <p:nvSpPr>
          <p:cNvPr id="2450" name="Google Shape;2450;g3e7e6c0cf8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g3e7e6c0cf85_1_0: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9" name="Shape 2459"/>
        <p:cNvGrpSpPr/>
        <p:nvPr/>
      </p:nvGrpSpPr>
      <p:grpSpPr>
        <a:xfrm>
          <a:off x="0" y="0"/>
          <a:ext cx="0" cy="0"/>
          <a:chOff x="0" y="0"/>
          <a:chExt cx="0" cy="0"/>
        </a:xfrm>
      </p:grpSpPr>
      <p:sp>
        <p:nvSpPr>
          <p:cNvPr id="2460" name="Google Shape;2460;g3e7e6c0cf85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g3e7e6c0cf85_1_12: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2" name="Shape 2482"/>
        <p:cNvGrpSpPr/>
        <p:nvPr/>
      </p:nvGrpSpPr>
      <p:grpSpPr>
        <a:xfrm>
          <a:off x="0" y="0"/>
          <a:ext cx="0" cy="0"/>
          <a:chOff x="0" y="0"/>
          <a:chExt cx="0" cy="0"/>
        </a:xfrm>
      </p:grpSpPr>
      <p:sp>
        <p:nvSpPr>
          <p:cNvPr id="2483" name="Google Shape;2483;g3e7e6c0cf85_1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g3e7e6c0cf85_1_35: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5" name="Shape 2535"/>
        <p:cNvGrpSpPr/>
        <p:nvPr/>
      </p:nvGrpSpPr>
      <p:grpSpPr>
        <a:xfrm>
          <a:off x="0" y="0"/>
          <a:ext cx="0" cy="0"/>
          <a:chOff x="0" y="0"/>
          <a:chExt cx="0" cy="0"/>
        </a:xfrm>
      </p:grpSpPr>
      <p:sp>
        <p:nvSpPr>
          <p:cNvPr id="2536" name="Google Shape;2536;g3e7e6c0cf85_1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g3e7e6c0cf85_1_88: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0" name="Shape 2560"/>
        <p:cNvGrpSpPr/>
        <p:nvPr/>
      </p:nvGrpSpPr>
      <p:grpSpPr>
        <a:xfrm>
          <a:off x="0" y="0"/>
          <a:ext cx="0" cy="0"/>
          <a:chOff x="0" y="0"/>
          <a:chExt cx="0" cy="0"/>
        </a:xfrm>
      </p:grpSpPr>
      <p:sp>
        <p:nvSpPr>
          <p:cNvPr id="2561" name="Google Shape;2561;g3e7e6c0cf85_1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g3e7e6c0cf85_1_113: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2" name="Shape 2582"/>
        <p:cNvGrpSpPr/>
        <p:nvPr/>
      </p:nvGrpSpPr>
      <p:grpSpPr>
        <a:xfrm>
          <a:off x="0" y="0"/>
          <a:ext cx="0" cy="0"/>
          <a:chOff x="0" y="0"/>
          <a:chExt cx="0" cy="0"/>
        </a:xfrm>
      </p:grpSpPr>
      <p:sp>
        <p:nvSpPr>
          <p:cNvPr id="2583" name="Google Shape;2583;g3e7e6c0cf85_1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g3e7e6c0cf85_1_192: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8" name="Shape 2608"/>
        <p:cNvGrpSpPr/>
        <p:nvPr/>
      </p:nvGrpSpPr>
      <p:grpSpPr>
        <a:xfrm>
          <a:off x="0" y="0"/>
          <a:ext cx="0" cy="0"/>
          <a:chOff x="0" y="0"/>
          <a:chExt cx="0" cy="0"/>
        </a:xfrm>
      </p:grpSpPr>
      <p:sp>
        <p:nvSpPr>
          <p:cNvPr id="2609" name="Google Shape;2609;g3e7e6c0cf85_1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g3e7e6c0cf85_1_218: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0" name="Shape 2650"/>
        <p:cNvGrpSpPr/>
        <p:nvPr/>
      </p:nvGrpSpPr>
      <p:grpSpPr>
        <a:xfrm>
          <a:off x="0" y="0"/>
          <a:ext cx="0" cy="0"/>
          <a:chOff x="0" y="0"/>
          <a:chExt cx="0" cy="0"/>
        </a:xfrm>
      </p:grpSpPr>
      <p:sp>
        <p:nvSpPr>
          <p:cNvPr id="2651" name="Google Shape;2651;g3e7e6c0cf85_1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g3e7e6c0cf85_1_328: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7" name="Shape 2697"/>
        <p:cNvGrpSpPr/>
        <p:nvPr/>
      </p:nvGrpSpPr>
      <p:grpSpPr>
        <a:xfrm>
          <a:off x="0" y="0"/>
          <a:ext cx="0" cy="0"/>
          <a:chOff x="0" y="0"/>
          <a:chExt cx="0" cy="0"/>
        </a:xfrm>
      </p:grpSpPr>
      <p:sp>
        <p:nvSpPr>
          <p:cNvPr id="2698" name="Google Shape;2698;g3e7e3f2fb80_2_19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g3e7e3f2fb80_2_1981: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7" name="Shape 2707"/>
        <p:cNvGrpSpPr/>
        <p:nvPr/>
      </p:nvGrpSpPr>
      <p:grpSpPr>
        <a:xfrm>
          <a:off x="0" y="0"/>
          <a:ext cx="0" cy="0"/>
          <a:chOff x="0" y="0"/>
          <a:chExt cx="0" cy="0"/>
        </a:xfrm>
      </p:grpSpPr>
      <p:sp>
        <p:nvSpPr>
          <p:cNvPr id="2708" name="Google Shape;2708;g3e7e3f2fb80_2_19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g3e7e3f2fb80_2_1992: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9" name="Shape 2809"/>
        <p:cNvGrpSpPr/>
        <p:nvPr/>
      </p:nvGrpSpPr>
      <p:grpSpPr>
        <a:xfrm>
          <a:off x="0" y="0"/>
          <a:ext cx="0" cy="0"/>
          <a:chOff x="0" y="0"/>
          <a:chExt cx="0" cy="0"/>
        </a:xfrm>
      </p:grpSpPr>
      <p:sp>
        <p:nvSpPr>
          <p:cNvPr id="2810" name="Google Shape;2810;g3e7e3f2fb80_2_20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g3e7e3f2fb80_2_2030: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3" name="Shape 2833"/>
        <p:cNvGrpSpPr/>
        <p:nvPr/>
      </p:nvGrpSpPr>
      <p:grpSpPr>
        <a:xfrm>
          <a:off x="0" y="0"/>
          <a:ext cx="0" cy="0"/>
          <a:chOff x="0" y="0"/>
          <a:chExt cx="0" cy="0"/>
        </a:xfrm>
      </p:grpSpPr>
      <p:sp>
        <p:nvSpPr>
          <p:cNvPr id="2834" name="Google Shape;2834;g3e7e3f2fb80_2_2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g3e7e3f2fb80_2_2105:notes"/>
          <p:cNvSpPr/>
          <p:nvPr>
            <p:ph idx="2" type="sldImg"/>
          </p:nvPr>
        </p:nvSpPr>
        <p:spPr>
          <a:xfrm>
            <a:off x="1143164" y="685800"/>
            <a:ext cx="4572347"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8" name="Google Shape;58;p1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Google Shape;59;p1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514364" y="1597819"/>
            <a:ext cx="5829455" cy="1102519"/>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2" name="Google Shape;62;p15"/>
          <p:cNvSpPr txBox="1"/>
          <p:nvPr>
            <p:ph idx="1" type="subTitle"/>
          </p:nvPr>
        </p:nvSpPr>
        <p:spPr>
          <a:xfrm>
            <a:off x="1028727" y="2914650"/>
            <a:ext cx="4800728" cy="1314450"/>
          </a:xfrm>
          <a:prstGeom prst="rect">
            <a:avLst/>
          </a:prstGeom>
          <a:noFill/>
          <a:ln>
            <a:noFill/>
          </a:ln>
        </p:spPr>
        <p:txBody>
          <a:bodyPr anchorCtr="0" anchor="t" bIns="34275" lIns="68575" spcFirstLastPara="1" rIns="68575" wrap="square" tIns="34275">
            <a:norm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63" name="Google Shape;63;p15"/>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4" name="Google Shape;64;p15"/>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15"/>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8" name="Google Shape;68;p16"/>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69" name="Google Shape;69;p16"/>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16"/>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1" name="Google Shape;71;p16"/>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541749" y="3305175"/>
            <a:ext cx="5829455" cy="1021556"/>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3000"/>
              <a:buFont typeface="Calibri"/>
              <a:buNone/>
              <a:defRPr b="1" sz="30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4" name="Google Shape;74;p17"/>
          <p:cNvSpPr txBox="1"/>
          <p:nvPr>
            <p:ph idx="1" type="body"/>
          </p:nvPr>
        </p:nvSpPr>
        <p:spPr>
          <a:xfrm>
            <a:off x="541749" y="2180035"/>
            <a:ext cx="5829455" cy="1125140"/>
          </a:xfrm>
          <a:prstGeom prst="rect">
            <a:avLst/>
          </a:prstGeom>
          <a:noFill/>
          <a:ln>
            <a:noFill/>
          </a:ln>
        </p:spPr>
        <p:txBody>
          <a:bodyPr anchorCtr="0" anchor="b" bIns="34275" lIns="68575" spcFirstLastPara="1" rIns="68575" wrap="square" tIns="34275">
            <a:normAutofit/>
          </a:bodyPr>
          <a:lstStyle>
            <a:lvl1pPr indent="-228600" lvl="0" marL="457200" algn="l">
              <a:spcBef>
                <a:spcPts val="300"/>
              </a:spcBef>
              <a:spcAft>
                <a:spcPts val="0"/>
              </a:spcAft>
              <a:buClr>
                <a:srgbClr val="888888"/>
              </a:buClr>
              <a:buSzPts val="1500"/>
              <a:buNone/>
              <a:defRPr sz="1500">
                <a:solidFill>
                  <a:srgbClr val="888888"/>
                </a:solidFill>
              </a:defRPr>
            </a:lvl1pPr>
            <a:lvl2pPr indent="-228600" lvl="1" marL="914400" algn="l">
              <a:spcBef>
                <a:spcPts val="300"/>
              </a:spcBef>
              <a:spcAft>
                <a:spcPts val="0"/>
              </a:spcAft>
              <a:buClr>
                <a:srgbClr val="888888"/>
              </a:buClr>
              <a:buSzPts val="1400"/>
              <a:buNone/>
              <a:defRPr sz="1400">
                <a:solidFill>
                  <a:srgbClr val="888888"/>
                </a:solidFill>
              </a:defRPr>
            </a:lvl2pPr>
            <a:lvl3pPr indent="-228600" lvl="2" marL="1371600" algn="l">
              <a:spcBef>
                <a:spcPts val="200"/>
              </a:spcBef>
              <a:spcAft>
                <a:spcPts val="0"/>
              </a:spcAft>
              <a:buClr>
                <a:srgbClr val="888888"/>
              </a:buClr>
              <a:buSzPts val="1200"/>
              <a:buNone/>
              <a:defRPr sz="1200">
                <a:solidFill>
                  <a:srgbClr val="888888"/>
                </a:solidFill>
              </a:defRPr>
            </a:lvl3pPr>
            <a:lvl4pPr indent="-228600" lvl="3" marL="1828800" algn="l">
              <a:spcBef>
                <a:spcPts val="200"/>
              </a:spcBef>
              <a:spcAft>
                <a:spcPts val="0"/>
              </a:spcAft>
              <a:buClr>
                <a:srgbClr val="888888"/>
              </a:buClr>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75" name="Google Shape;75;p17"/>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17"/>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17"/>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0" name="Google Shape;80;p18"/>
          <p:cNvSpPr txBox="1"/>
          <p:nvPr>
            <p:ph idx="1" type="body"/>
          </p:nvPr>
        </p:nvSpPr>
        <p:spPr>
          <a:xfrm>
            <a:off x="342909"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1" name="Google Shape;81;p18"/>
          <p:cNvSpPr txBox="1"/>
          <p:nvPr>
            <p:ph idx="2" type="body"/>
          </p:nvPr>
        </p:nvSpPr>
        <p:spPr>
          <a:xfrm>
            <a:off x="3486243"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2" name="Google Shape;82;p18"/>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3" name="Google Shape;83;p18"/>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8"/>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7" name="Google Shape;87;p19"/>
          <p:cNvSpPr txBox="1"/>
          <p:nvPr>
            <p:ph idx="1" type="body"/>
          </p:nvPr>
        </p:nvSpPr>
        <p:spPr>
          <a:xfrm>
            <a:off x="342909" y="1151335"/>
            <a:ext cx="3030222"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88" name="Google Shape;88;p19"/>
          <p:cNvSpPr txBox="1"/>
          <p:nvPr>
            <p:ph idx="2" type="body"/>
          </p:nvPr>
        </p:nvSpPr>
        <p:spPr>
          <a:xfrm>
            <a:off x="342909" y="1631156"/>
            <a:ext cx="3030222"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89" name="Google Shape;89;p19"/>
          <p:cNvSpPr txBox="1"/>
          <p:nvPr>
            <p:ph idx="3" type="body"/>
          </p:nvPr>
        </p:nvSpPr>
        <p:spPr>
          <a:xfrm>
            <a:off x="3483862" y="1151335"/>
            <a:ext cx="3031412"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90" name="Google Shape;90;p19"/>
          <p:cNvSpPr txBox="1"/>
          <p:nvPr>
            <p:ph idx="4" type="body"/>
          </p:nvPr>
        </p:nvSpPr>
        <p:spPr>
          <a:xfrm>
            <a:off x="3483862" y="1631156"/>
            <a:ext cx="3031412"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91" name="Google Shape;91;p19"/>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2" name="Google Shape;92;p19"/>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6" name="Google Shape;96;p20"/>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342909" y="204788"/>
            <a:ext cx="2256295" cy="871538"/>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txBox="1"/>
          <p:nvPr>
            <p:ph idx="1" type="body"/>
          </p:nvPr>
        </p:nvSpPr>
        <p:spPr>
          <a:xfrm>
            <a:off x="2681359" y="204788"/>
            <a:ext cx="3833915" cy="4389835"/>
          </a:xfrm>
          <a:prstGeom prst="rect">
            <a:avLst/>
          </a:prstGeom>
          <a:noFill/>
          <a:ln>
            <a:noFill/>
          </a:ln>
        </p:spPr>
        <p:txBody>
          <a:bodyPr anchorCtr="0" anchor="t" bIns="34275" lIns="68575" spcFirstLastPara="1" rIns="68575" wrap="square" tIns="34275">
            <a:normAutofit/>
          </a:bodyPr>
          <a:lstStyle>
            <a:lvl1pPr indent="-381000" lvl="0" marL="457200" algn="l">
              <a:spcBef>
                <a:spcPts val="500"/>
              </a:spcBef>
              <a:spcAft>
                <a:spcPts val="0"/>
              </a:spcAft>
              <a:buClr>
                <a:schemeClr val="dk1"/>
              </a:buClr>
              <a:buSzPts val="2400"/>
              <a:buChar char="•"/>
              <a:defRPr sz="2400"/>
            </a:lvl1pPr>
            <a:lvl2pPr indent="-361950" lvl="1" marL="914400" algn="l">
              <a:spcBef>
                <a:spcPts val="400"/>
              </a:spcBef>
              <a:spcAft>
                <a:spcPts val="0"/>
              </a:spcAft>
              <a:buClr>
                <a:schemeClr val="dk1"/>
              </a:buClr>
              <a:buSzPts val="2100"/>
              <a:buChar char="–"/>
              <a:defRPr sz="2100"/>
            </a:lvl2pPr>
            <a:lvl3pPr indent="-342900" lvl="2" marL="1371600" algn="l">
              <a:spcBef>
                <a:spcPts val="40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102" name="Google Shape;102;p21"/>
          <p:cNvSpPr txBox="1"/>
          <p:nvPr>
            <p:ph idx="2" type="body"/>
          </p:nvPr>
        </p:nvSpPr>
        <p:spPr>
          <a:xfrm>
            <a:off x="342909" y="1076325"/>
            <a:ext cx="2256295" cy="351829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03" name="Google Shape;103;p21"/>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344252" y="3600450"/>
            <a:ext cx="4114910" cy="425054"/>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p:nvPr>
            <p:ph idx="2" type="pic"/>
          </p:nvPr>
        </p:nvSpPr>
        <p:spPr>
          <a:xfrm>
            <a:off x="1344252" y="459581"/>
            <a:ext cx="4114910" cy="3086100"/>
          </a:xfrm>
          <a:prstGeom prst="rect">
            <a:avLst/>
          </a:prstGeom>
          <a:noFill/>
          <a:ln>
            <a:noFill/>
          </a:ln>
        </p:spPr>
      </p:sp>
      <p:sp>
        <p:nvSpPr>
          <p:cNvPr id="109" name="Google Shape;109;p22"/>
          <p:cNvSpPr txBox="1"/>
          <p:nvPr>
            <p:ph idx="1" type="body"/>
          </p:nvPr>
        </p:nvSpPr>
        <p:spPr>
          <a:xfrm>
            <a:off x="1344252" y="4025503"/>
            <a:ext cx="4114910" cy="60364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10" name="Google Shape;110;p22"/>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3"/>
          <p:cNvSpPr txBox="1"/>
          <p:nvPr>
            <p:ph idx="1" type="body"/>
          </p:nvPr>
        </p:nvSpPr>
        <p:spPr>
          <a:xfrm rot="5400000">
            <a:off x="1731855" y="-188796"/>
            <a:ext cx="3394472" cy="6172365"/>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16" name="Google Shape;116;p2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3549406" y="1628755"/>
            <a:ext cx="4388644" cy="1543091"/>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406072" y="142815"/>
            <a:ext cx="4388644" cy="451497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22" name="Google Shape;122;p2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marR="0" rtl="0" algn="ctr">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81000" lvl="0" marL="457200" marR="0" rtl="0" algn="l">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p:nvPr/>
        </p:nvSpPr>
        <p:spPr>
          <a:xfrm>
            <a:off x="4663564" y="0"/>
            <a:ext cx="4480451" cy="51435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0" name="Google Shape;130;p25"/>
          <p:cNvSpPr/>
          <p:nvPr/>
        </p:nvSpPr>
        <p:spPr>
          <a:xfrm>
            <a:off x="4800728" y="0"/>
            <a:ext cx="4343400" cy="5143500"/>
          </a:xfrm>
          <a:prstGeom prst="rect">
            <a:avLst/>
          </a:prstGeom>
          <a:solidFill>
            <a:srgbClr val="FCF2EC"/>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1" name="Google Shape;131;p25"/>
          <p:cNvSpPr/>
          <p:nvPr/>
        </p:nvSpPr>
        <p:spPr>
          <a:xfrm>
            <a:off x="4594982" y="0"/>
            <a:ext cx="123447" cy="51435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2" name="Google Shape;132;p25"/>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133" name="Google Shape;133;p25"/>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134" name="Google Shape;134;p25"/>
          <p:cNvSpPr txBox="1"/>
          <p:nvPr/>
        </p:nvSpPr>
        <p:spPr>
          <a:xfrm>
            <a:off x="822982" y="1234440"/>
            <a:ext cx="41148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100"/>
          </a:p>
        </p:txBody>
      </p:sp>
      <p:sp>
        <p:nvSpPr>
          <p:cNvPr id="135" name="Google Shape;135;p25"/>
          <p:cNvSpPr txBox="1"/>
          <p:nvPr/>
        </p:nvSpPr>
        <p:spPr>
          <a:xfrm>
            <a:off x="822982" y="1508760"/>
            <a:ext cx="3703419" cy="7543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4800" u="none" cap="none" strike="noStrike">
                <a:solidFill>
                  <a:srgbClr val="1B1F2A"/>
                </a:solidFill>
                <a:latin typeface="Manrope"/>
                <a:ea typeface="Manrope"/>
                <a:cs typeface="Manrope"/>
                <a:sym typeface="Manrope"/>
              </a:rPr>
              <a:t>AI for</a:t>
            </a:r>
            <a:endParaRPr sz="1100"/>
          </a:p>
        </p:txBody>
      </p:sp>
      <p:sp>
        <p:nvSpPr>
          <p:cNvPr id="136" name="Google Shape;136;p25"/>
          <p:cNvSpPr txBox="1"/>
          <p:nvPr/>
        </p:nvSpPr>
        <p:spPr>
          <a:xfrm>
            <a:off x="822982" y="2125980"/>
            <a:ext cx="3703419" cy="6172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4800" u="none" cap="none" strike="noStrike">
                <a:solidFill>
                  <a:srgbClr val="FF671F"/>
                </a:solidFill>
                <a:latin typeface="Manrope"/>
                <a:ea typeface="Manrope"/>
                <a:cs typeface="Manrope"/>
                <a:sym typeface="Manrope"/>
              </a:rPr>
              <a:t>Developers</a:t>
            </a:r>
            <a:endParaRPr sz="1100"/>
          </a:p>
        </p:txBody>
      </p:sp>
      <p:sp>
        <p:nvSpPr>
          <p:cNvPr id="137" name="Google Shape;137;p25"/>
          <p:cNvSpPr txBox="1"/>
          <p:nvPr/>
        </p:nvSpPr>
        <p:spPr>
          <a:xfrm>
            <a:off x="822982" y="2811779"/>
            <a:ext cx="3703500" cy="1028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500" u="none" cap="none" strike="noStrike">
                <a:solidFill>
                  <a:srgbClr val="8B95A6"/>
                </a:solidFill>
                <a:latin typeface="Manrope"/>
                <a:ea typeface="Manrope"/>
                <a:cs typeface="Manrope"/>
                <a:sym typeface="Manrope"/>
              </a:rPr>
              <a:t>From autocomplete to autonomous agents — a comprehensive, working guide for engineers building software in the age of foundation models.</a:t>
            </a:r>
            <a:endParaRPr sz="1100"/>
          </a:p>
        </p:txBody>
      </p:sp>
      <p:sp>
        <p:nvSpPr>
          <p:cNvPr id="138" name="Google Shape;138;p25"/>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
        <p:nvSpPr>
          <p:cNvPr id="139" name="Google Shape;139;p25"/>
          <p:cNvSpPr txBox="1"/>
          <p:nvPr/>
        </p:nvSpPr>
        <p:spPr>
          <a:xfrm>
            <a:off x="7201092" y="4732020"/>
            <a:ext cx="1371637" cy="13335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0" i="0" lang="en-GB" sz="800" u="none" cap="none" strike="noStrike">
                <a:solidFill>
                  <a:srgbClr val="8B95A6"/>
                </a:solidFill>
                <a:latin typeface="Courier New"/>
                <a:ea typeface="Courier New"/>
                <a:cs typeface="Courier New"/>
                <a:sym typeface="Courier New"/>
              </a:rPr>
              <a:t>01 / 100</a:t>
            </a:r>
            <a:endParaRPr sz="1100"/>
          </a:p>
        </p:txBody>
      </p:sp>
      <p:pic>
        <p:nvPicPr>
          <p:cNvPr id="140" name="Google Shape;140;p25"/>
          <p:cNvPicPr preferRelativeResize="0"/>
          <p:nvPr/>
        </p:nvPicPr>
        <p:blipFill rotWithShape="1">
          <a:blip r:embed="rId3">
            <a:alphaModFix/>
          </a:blip>
          <a:srcRect b="0" l="0" r="0" t="10120"/>
          <a:stretch/>
        </p:blipFill>
        <p:spPr>
          <a:xfrm>
            <a:off x="4572000" y="-21897"/>
            <a:ext cx="4572124" cy="5203198"/>
          </a:xfrm>
          <a:prstGeom prst="rect">
            <a:avLst/>
          </a:prstGeom>
          <a:solidFill>
            <a:srgbClr val="FCF2EC"/>
          </a:solidFill>
          <a:ln>
            <a:noFill/>
          </a:ln>
          <a:effectLst>
            <a:outerShdw blurRad="40000" rotWithShape="0" dir="5400000" dist="23000">
              <a:srgbClr val="000000">
                <a:alpha val="349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6"/>
          <p:cNvSpPr/>
          <p:nvPr/>
        </p:nvSpPr>
        <p:spPr>
          <a:xfrm>
            <a:off x="0" y="0"/>
            <a:ext cx="9144015" cy="5143500"/>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46" name="Google Shape;146;p26"/>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FFFFFF"/>
                </a:solidFill>
                <a:latin typeface="Manrope"/>
                <a:ea typeface="Manrope"/>
                <a:cs typeface="Manrope"/>
                <a:sym typeface="Manrope"/>
              </a:rPr>
              <a:t>GlobalLogic</a:t>
            </a:r>
            <a:endParaRPr sz="1100"/>
          </a:p>
        </p:txBody>
      </p:sp>
      <p:sp>
        <p:nvSpPr>
          <p:cNvPr id="147" name="Google Shape;147;p26"/>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C9CFD8"/>
                </a:solidFill>
                <a:latin typeface="Manrope"/>
                <a:ea typeface="Manrope"/>
                <a:cs typeface="Manrope"/>
                <a:sym typeface="Manrope"/>
              </a:rPr>
              <a:t>A Hitachi Group Company</a:t>
            </a:r>
            <a:endParaRPr sz="1100"/>
          </a:p>
        </p:txBody>
      </p:sp>
      <p:sp>
        <p:nvSpPr>
          <p:cNvPr id="148" name="Google Shape;148;p26"/>
          <p:cNvSpPr txBox="1"/>
          <p:nvPr/>
        </p:nvSpPr>
        <p:spPr>
          <a:xfrm>
            <a:off x="822919" y="1662050"/>
            <a:ext cx="6172500" cy="160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5000" u="none" cap="none" strike="noStrike">
                <a:solidFill>
                  <a:srgbClr val="FFFFFF"/>
                </a:solidFill>
                <a:latin typeface="Manrope"/>
                <a:ea typeface="Manrope"/>
                <a:cs typeface="Manrope"/>
                <a:sym typeface="Manrope"/>
              </a:rPr>
              <a:t>Why AI</a:t>
            </a:r>
            <a:br>
              <a:rPr b="1" i="0" lang="en-GB" sz="5000" u="none" cap="none" strike="noStrike">
                <a:solidFill>
                  <a:srgbClr val="FFFFFF"/>
                </a:solidFill>
                <a:latin typeface="Manrope"/>
                <a:ea typeface="Manrope"/>
                <a:cs typeface="Manrope"/>
                <a:sym typeface="Manrope"/>
              </a:rPr>
            </a:br>
            <a:r>
              <a:rPr b="1" i="0" lang="en-GB" sz="5000" u="none" cap="none" strike="noStrike">
                <a:solidFill>
                  <a:srgbClr val="FFFFFF"/>
                </a:solidFill>
                <a:latin typeface="Manrope"/>
                <a:ea typeface="Manrope"/>
                <a:cs typeface="Manrope"/>
                <a:sym typeface="Manrope"/>
              </a:rPr>
              <a:t>Matters Now.</a:t>
            </a:r>
            <a:endParaRPr sz="100"/>
          </a:p>
        </p:txBody>
      </p:sp>
      <p:sp>
        <p:nvSpPr>
          <p:cNvPr id="149" name="Google Shape;149;p26"/>
          <p:cNvSpPr txBox="1"/>
          <p:nvPr/>
        </p:nvSpPr>
        <p:spPr>
          <a:xfrm>
            <a:off x="822994" y="3370600"/>
            <a:ext cx="6172500" cy="854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700" u="none" cap="none" strike="noStrike">
                <a:solidFill>
                  <a:srgbClr val="C9CFD8"/>
                </a:solidFill>
                <a:latin typeface="Manrope"/>
                <a:ea typeface="Manrope"/>
                <a:cs typeface="Manrope"/>
                <a:sym typeface="Manrope"/>
              </a:rPr>
              <a:t>The moment AI crossed from research curiosity to everyday engineering tool — and why understanding the shift changes how you work.</a:t>
            </a:r>
            <a:endParaRPr sz="1100"/>
          </a:p>
        </p:txBody>
      </p:sp>
      <p:sp>
        <p:nvSpPr>
          <p:cNvPr id="150" name="Google Shape;150;p26"/>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FFFFFF"/>
                </a:solidFill>
                <a:latin typeface="Courier New"/>
                <a:ea typeface="Courier New"/>
                <a:cs typeface="Courier New"/>
                <a:sym typeface="Courier New"/>
              </a:rPr>
              <a:t>globallogic.com</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7"/>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156" name="Google Shape;156;p27"/>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157" name="Google Shape;157;p27"/>
          <p:cNvSpPr txBox="1"/>
          <p:nvPr/>
        </p:nvSpPr>
        <p:spPr>
          <a:xfrm>
            <a:off x="822982" y="946404"/>
            <a:ext cx="7406837" cy="49377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700" u="none" cap="none" strike="noStrike">
                <a:solidFill>
                  <a:srgbClr val="1B1F2A"/>
                </a:solidFill>
                <a:latin typeface="Manrope"/>
                <a:ea typeface="Manrope"/>
                <a:cs typeface="Manrope"/>
                <a:sym typeface="Manrope"/>
              </a:rPr>
              <a:t>Software has a new raw material.</a:t>
            </a:r>
            <a:endParaRPr sz="1100"/>
          </a:p>
        </p:txBody>
      </p:sp>
      <p:sp>
        <p:nvSpPr>
          <p:cNvPr id="158" name="Google Shape;158;p27"/>
          <p:cNvSpPr txBox="1"/>
          <p:nvPr/>
        </p:nvSpPr>
        <p:spPr>
          <a:xfrm>
            <a:off x="822982" y="1522476"/>
            <a:ext cx="7406837"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For fifty years, the fundamental unit of programming was a typed character. The unit is now a plain-English instruction …</a:t>
            </a:r>
            <a:endParaRPr sz="1100"/>
          </a:p>
        </p:txBody>
      </p:sp>
      <p:sp>
        <p:nvSpPr>
          <p:cNvPr id="159" name="Google Shape;159;p27"/>
          <p:cNvSpPr/>
          <p:nvPr/>
        </p:nvSpPr>
        <p:spPr>
          <a:xfrm>
            <a:off x="822982"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60" name="Google Shape;160;p27"/>
          <p:cNvSpPr txBox="1"/>
          <p:nvPr/>
        </p:nvSpPr>
        <p:spPr>
          <a:xfrm>
            <a:off x="822982"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8B95A6"/>
                </a:solidFill>
                <a:latin typeface="Courier New"/>
                <a:ea typeface="Courier New"/>
                <a:cs typeface="Courier New"/>
                <a:sym typeface="Courier New"/>
              </a:rPr>
              <a:t>BEFORE</a:t>
            </a:r>
            <a:endParaRPr sz="1100"/>
          </a:p>
        </p:txBody>
      </p:sp>
      <p:sp>
        <p:nvSpPr>
          <p:cNvPr id="161" name="Google Shape;161;p27"/>
          <p:cNvSpPr txBox="1"/>
          <p:nvPr/>
        </p:nvSpPr>
        <p:spPr>
          <a:xfrm>
            <a:off x="822982" y="2242566"/>
            <a:ext cx="2468946" cy="30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u="none" cap="none" strike="noStrike">
                <a:solidFill>
                  <a:srgbClr val="1B1F2A"/>
                </a:solidFill>
                <a:latin typeface="Manrope"/>
                <a:ea typeface="Manrope"/>
                <a:cs typeface="Manrope"/>
                <a:sym typeface="Manrope"/>
              </a:rPr>
              <a:t>Characters &amp; Keystrokes</a:t>
            </a:r>
            <a:endParaRPr sz="1100"/>
          </a:p>
        </p:txBody>
      </p:sp>
      <p:sp>
        <p:nvSpPr>
          <p:cNvPr id="162" name="Google Shape;162;p27"/>
          <p:cNvSpPr txBox="1"/>
          <p:nvPr/>
        </p:nvSpPr>
        <p:spPr>
          <a:xfrm>
            <a:off x="822982" y="2558034"/>
            <a:ext cx="2468946" cy="19202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Every function, every variable, every bracket — authored character by character. The friction was in the typing, the searching, the copy-pasting.</a:t>
            </a:r>
            <a:endParaRPr sz="1100"/>
          </a:p>
        </p:txBody>
      </p:sp>
      <p:sp>
        <p:nvSpPr>
          <p:cNvPr id="163" name="Google Shape;163;p27"/>
          <p:cNvSpPr/>
          <p:nvPr/>
        </p:nvSpPr>
        <p:spPr>
          <a:xfrm>
            <a:off x="3429091"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64" name="Google Shape;164;p27"/>
          <p:cNvSpPr txBox="1"/>
          <p:nvPr/>
        </p:nvSpPr>
        <p:spPr>
          <a:xfrm>
            <a:off x="3429091"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8B95A6"/>
                </a:solidFill>
                <a:latin typeface="Courier New"/>
                <a:ea typeface="Courier New"/>
                <a:cs typeface="Courier New"/>
                <a:sym typeface="Courier New"/>
              </a:rPr>
              <a:t>NOW</a:t>
            </a:r>
            <a:endParaRPr sz="1100"/>
          </a:p>
        </p:txBody>
      </p:sp>
      <p:sp>
        <p:nvSpPr>
          <p:cNvPr id="165" name="Google Shape;165;p27"/>
          <p:cNvSpPr txBox="1"/>
          <p:nvPr/>
        </p:nvSpPr>
        <p:spPr>
          <a:xfrm>
            <a:off x="3429091" y="2242566"/>
            <a:ext cx="2468946" cy="30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u="none" cap="none" strike="noStrike">
                <a:solidFill>
                  <a:srgbClr val="1B1F2A"/>
                </a:solidFill>
                <a:latin typeface="Manrope"/>
                <a:ea typeface="Manrope"/>
                <a:cs typeface="Manrope"/>
                <a:sym typeface="Manrope"/>
              </a:rPr>
              <a:t>Instructions &amp; Intent</a:t>
            </a:r>
            <a:endParaRPr sz="1100"/>
          </a:p>
        </p:txBody>
      </p:sp>
      <p:sp>
        <p:nvSpPr>
          <p:cNvPr id="166" name="Google Shape;166;p27"/>
          <p:cNvSpPr txBox="1"/>
          <p:nvPr/>
        </p:nvSpPr>
        <p:spPr>
          <a:xfrm>
            <a:off x="3429091" y="2558034"/>
            <a:ext cx="2468946" cy="19202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Describe what you need in natural language. The model drafts the implementation. You review, refine, and ship.</a:t>
            </a:r>
            <a:endParaRPr sz="1100"/>
          </a:p>
        </p:txBody>
      </p:sp>
      <p:sp>
        <p:nvSpPr>
          <p:cNvPr id="167" name="Google Shape;167;p27"/>
          <p:cNvSpPr/>
          <p:nvPr/>
        </p:nvSpPr>
        <p:spPr>
          <a:xfrm>
            <a:off x="6035201"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68" name="Google Shape;168;p27"/>
          <p:cNvSpPr txBox="1"/>
          <p:nvPr/>
        </p:nvSpPr>
        <p:spPr>
          <a:xfrm>
            <a:off x="6035201"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8B95A6"/>
                </a:solidFill>
                <a:latin typeface="Courier New"/>
                <a:ea typeface="Courier New"/>
                <a:cs typeface="Courier New"/>
                <a:sym typeface="Courier New"/>
              </a:rPr>
              <a:t>IMPACT</a:t>
            </a:r>
            <a:endParaRPr sz="1100"/>
          </a:p>
        </p:txBody>
      </p:sp>
      <p:sp>
        <p:nvSpPr>
          <p:cNvPr id="169" name="Google Shape;169;p27"/>
          <p:cNvSpPr txBox="1"/>
          <p:nvPr/>
        </p:nvSpPr>
        <p:spPr>
          <a:xfrm>
            <a:off x="6035201" y="2242566"/>
            <a:ext cx="24690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Speed × Scope × Judgement</a:t>
            </a:r>
            <a:endParaRPr sz="800"/>
          </a:p>
        </p:txBody>
      </p:sp>
      <p:sp>
        <p:nvSpPr>
          <p:cNvPr id="170" name="Google Shape;170;p27"/>
          <p:cNvSpPr txBox="1"/>
          <p:nvPr/>
        </p:nvSpPr>
        <p:spPr>
          <a:xfrm>
            <a:off x="6035201" y="2558034"/>
            <a:ext cx="2468946" cy="19202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Routine tasks compress. Context switches shrink. The remaining work — deciding what to build and whether it's correct — grows in importance.</a:t>
            </a:r>
            <a:endParaRPr sz="1100"/>
          </a:p>
        </p:txBody>
      </p:sp>
      <p:sp>
        <p:nvSpPr>
          <p:cNvPr id="171" name="Google Shape;171;p27"/>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8"/>
          <p:cNvSpPr/>
          <p:nvPr/>
        </p:nvSpPr>
        <p:spPr>
          <a:xfrm>
            <a:off x="26216" y="0"/>
            <a:ext cx="9144000" cy="51435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77" name="Google Shape;177;p28"/>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178" name="Google Shape;178;p28"/>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179" name="Google Shape;179;p28"/>
          <p:cNvSpPr txBox="1"/>
          <p:nvPr/>
        </p:nvSpPr>
        <p:spPr>
          <a:xfrm>
            <a:off x="822982" y="1097280"/>
            <a:ext cx="3086182" cy="19202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0" u="none" cap="none" strike="noStrike">
                <a:solidFill>
                  <a:srgbClr val="FF671F"/>
                </a:solidFill>
                <a:latin typeface="Manrope"/>
                <a:ea typeface="Manrope"/>
                <a:cs typeface="Manrope"/>
                <a:sym typeface="Manrope"/>
              </a:rPr>
              <a:t>76</a:t>
            </a:r>
            <a:endParaRPr sz="1100"/>
          </a:p>
        </p:txBody>
      </p:sp>
      <p:sp>
        <p:nvSpPr>
          <p:cNvPr id="180" name="Google Shape;180;p28"/>
          <p:cNvSpPr txBox="1"/>
          <p:nvPr/>
        </p:nvSpPr>
        <p:spPr>
          <a:xfrm>
            <a:off x="2148809" y="1448905"/>
            <a:ext cx="1371600" cy="623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3600" u="none" cap="none" strike="noStrike">
                <a:solidFill>
                  <a:srgbClr val="1B1F2A"/>
                </a:solidFill>
                <a:latin typeface="Manrope"/>
                <a:ea typeface="Manrope"/>
                <a:cs typeface="Manrope"/>
                <a:sym typeface="Manrope"/>
              </a:rPr>
              <a:t>%</a:t>
            </a:r>
            <a:endParaRPr sz="1100"/>
          </a:p>
        </p:txBody>
      </p:sp>
      <p:sp>
        <p:nvSpPr>
          <p:cNvPr id="181" name="Google Shape;181;p28"/>
          <p:cNvSpPr txBox="1"/>
          <p:nvPr/>
        </p:nvSpPr>
        <p:spPr>
          <a:xfrm>
            <a:off x="4457819" y="1234440"/>
            <a:ext cx="4114910" cy="1371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600" u="none" cap="none" strike="noStrike">
                <a:solidFill>
                  <a:srgbClr val="1B1F2A"/>
                </a:solidFill>
                <a:latin typeface="Manrope"/>
                <a:ea typeface="Manrope"/>
                <a:cs typeface="Manrope"/>
                <a:sym typeface="Manrope"/>
              </a:rPr>
              <a:t>Of developers now use or plan to use AI tools in their workflow.</a:t>
            </a:r>
            <a:endParaRPr sz="1100"/>
          </a:p>
        </p:txBody>
      </p:sp>
      <p:sp>
        <p:nvSpPr>
          <p:cNvPr id="182" name="Google Shape;182;p28"/>
          <p:cNvSpPr/>
          <p:nvPr/>
        </p:nvSpPr>
        <p:spPr>
          <a:xfrm>
            <a:off x="4457819" y="2743200"/>
            <a:ext cx="34291" cy="13716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83" name="Google Shape;183;p28"/>
          <p:cNvSpPr txBox="1"/>
          <p:nvPr/>
        </p:nvSpPr>
        <p:spPr>
          <a:xfrm>
            <a:off x="4594982" y="2743200"/>
            <a:ext cx="3977746" cy="1714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400" u="none" cap="none" strike="noStrike">
                <a:solidFill>
                  <a:srgbClr val="8B95A6"/>
                </a:solidFill>
                <a:latin typeface="Manrope"/>
                <a:ea typeface="Manrope"/>
                <a:cs typeface="Manrope"/>
                <a:sym typeface="Manrope"/>
              </a:rPr>
              <a:t>Up from 44% just two years prior. The fastest tool-adoption curve the software discipline has ever recorded — outpacing cloud, mobile, and open-source by a significant margin. Adoption is highest among mid-career engineers working in compiled languages.</a:t>
            </a:r>
            <a:endParaRPr sz="1100"/>
          </a:p>
        </p:txBody>
      </p:sp>
      <p:sp>
        <p:nvSpPr>
          <p:cNvPr id="184" name="Google Shape;184;p28"/>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
        <p:nvSpPr>
          <p:cNvPr id="185" name="Google Shape;185;p28"/>
          <p:cNvSpPr txBox="1"/>
          <p:nvPr/>
        </p:nvSpPr>
        <p:spPr>
          <a:xfrm>
            <a:off x="377257" y="2892550"/>
            <a:ext cx="3977700" cy="1423800"/>
          </a:xfrm>
          <a:prstGeom prst="rect">
            <a:avLst/>
          </a:prstGeom>
          <a:noFill/>
          <a:ln>
            <a:noFill/>
          </a:ln>
        </p:spPr>
        <p:txBody>
          <a:bodyPr anchorCtr="0" anchor="t" bIns="34275" lIns="68575" spcFirstLastPara="1" rIns="68575" wrap="square" tIns="34275">
            <a:spAutoFit/>
          </a:bodyPr>
          <a:lstStyle/>
          <a:p>
            <a:pPr indent="0" lvl="0" marL="0" marR="0" rtl="0" algn="l">
              <a:lnSpc>
                <a:spcPct val="100000"/>
              </a:lnSpc>
              <a:spcBef>
                <a:spcPts val="0"/>
              </a:spcBef>
              <a:spcAft>
                <a:spcPts val="0"/>
              </a:spcAft>
              <a:buNone/>
            </a:pPr>
            <a:r>
              <a:rPr b="1" lang="en-GB" sz="1100">
                <a:solidFill>
                  <a:schemeClr val="dk1"/>
                </a:solidFill>
                <a:highlight>
                  <a:schemeClr val="lt2"/>
                </a:highlight>
                <a:latin typeface="Manrope"/>
                <a:ea typeface="Manrope"/>
                <a:cs typeface="Manrope"/>
                <a:sym typeface="Manrope"/>
              </a:rPr>
              <a:t>Google</a:t>
            </a:r>
            <a:r>
              <a:rPr lang="en-GB" sz="1100">
                <a:solidFill>
                  <a:srgbClr val="8B95A6"/>
                </a:solidFill>
                <a:highlight>
                  <a:schemeClr val="lt2"/>
                </a:highlight>
                <a:latin typeface="Manrope"/>
                <a:ea typeface="Manrope"/>
                <a:cs typeface="Manrope"/>
                <a:sym typeface="Manrope"/>
              </a:rPr>
              <a:t>: "Google CEO Sundar Pichai recently confirmed that over 25% of all new code at the company is now generated by AI, then reviewed and accepted by engineers."</a:t>
            </a:r>
            <a:endParaRPr b="1" sz="1100">
              <a:solidFill>
                <a:schemeClr val="dk1"/>
              </a:solidFill>
              <a:highlight>
                <a:schemeClr val="lt2"/>
              </a:highlight>
              <a:latin typeface="Manrope"/>
              <a:ea typeface="Manrope"/>
              <a:cs typeface="Manrope"/>
              <a:sym typeface="Manrope"/>
            </a:endParaRPr>
          </a:p>
          <a:p>
            <a:pPr indent="0" lvl="0" marL="0" marR="0" rtl="0" algn="l">
              <a:lnSpc>
                <a:spcPct val="100000"/>
              </a:lnSpc>
              <a:spcBef>
                <a:spcPts val="0"/>
              </a:spcBef>
              <a:spcAft>
                <a:spcPts val="0"/>
              </a:spcAft>
              <a:buClr>
                <a:srgbClr val="000000"/>
              </a:buClr>
              <a:buFont typeface="Arial"/>
              <a:buNone/>
            </a:pPr>
            <a:r>
              <a:rPr b="1" lang="en-GB" sz="1100">
                <a:solidFill>
                  <a:schemeClr val="dk1"/>
                </a:solidFill>
                <a:highlight>
                  <a:schemeClr val="lt2"/>
                </a:highlight>
                <a:latin typeface="Manrope"/>
                <a:ea typeface="Manrope"/>
                <a:cs typeface="Manrope"/>
                <a:sym typeface="Manrope"/>
              </a:rPr>
              <a:t>Anthropic</a:t>
            </a:r>
            <a:r>
              <a:rPr lang="en-GB" sz="1100">
                <a:solidFill>
                  <a:srgbClr val="8B95A6"/>
                </a:solidFill>
                <a:highlight>
                  <a:schemeClr val="lt2"/>
                </a:highlight>
                <a:latin typeface="Manrope"/>
                <a:ea typeface="Manrope"/>
                <a:cs typeface="Manrope"/>
                <a:sym typeface="Manrope"/>
              </a:rPr>
              <a:t>: "Anthropic utilizes recursive development cycles, where current Claude models are instrumental in writing the code and generating the synthetic data used to train subsequent generations."</a:t>
            </a:r>
            <a:endParaRPr sz="1100">
              <a:solidFill>
                <a:srgbClr val="8B95A6"/>
              </a:solidFill>
              <a:highlight>
                <a:schemeClr val="lt2"/>
              </a:highlight>
              <a:latin typeface="Manrope"/>
              <a:ea typeface="Manrope"/>
              <a:cs typeface="Manrope"/>
              <a:sym typeface="Manrope"/>
            </a:endParaRPr>
          </a:p>
          <a:p>
            <a:pPr indent="0" lvl="0" marL="0" marR="0" rtl="0" algn="l">
              <a:lnSpc>
                <a:spcPct val="100000"/>
              </a:lnSpc>
              <a:spcBef>
                <a:spcPts val="0"/>
              </a:spcBef>
              <a:spcAft>
                <a:spcPts val="0"/>
              </a:spcAft>
              <a:buNone/>
            </a:pPr>
            <a:r>
              <a:t/>
            </a:r>
            <a:endParaRPr sz="1100">
              <a:solidFill>
                <a:srgbClr val="8B95A6"/>
              </a:solidFill>
              <a:highlight>
                <a:schemeClr val="lt2"/>
              </a:highlight>
              <a:latin typeface="Manrope"/>
              <a:ea typeface="Manrope"/>
              <a:cs typeface="Manrope"/>
              <a:sym typeface="Manrope"/>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9"/>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191" name="Google Shape;191;p29"/>
          <p:cNvSpPr txBox="1"/>
          <p:nvPr/>
        </p:nvSpPr>
        <p:spPr>
          <a:xfrm>
            <a:off x="822982" y="551389"/>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192" name="Google Shape;192;p29"/>
          <p:cNvSpPr txBox="1"/>
          <p:nvPr/>
        </p:nvSpPr>
        <p:spPr>
          <a:xfrm>
            <a:off x="822982" y="946404"/>
            <a:ext cx="7406837" cy="49377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700" u="none" cap="none" strike="noStrike">
                <a:solidFill>
                  <a:srgbClr val="1B1F2A"/>
                </a:solidFill>
                <a:latin typeface="Manrope"/>
                <a:ea typeface="Manrope"/>
                <a:cs typeface="Manrope"/>
                <a:sym typeface="Manrope"/>
              </a:rPr>
              <a:t>Three forces changing your daily work.</a:t>
            </a:r>
            <a:endParaRPr sz="1100"/>
          </a:p>
        </p:txBody>
      </p:sp>
      <p:sp>
        <p:nvSpPr>
          <p:cNvPr id="193" name="Google Shape;193;p29"/>
          <p:cNvSpPr txBox="1"/>
          <p:nvPr/>
        </p:nvSpPr>
        <p:spPr>
          <a:xfrm>
            <a:off x="822982" y="1522476"/>
            <a:ext cx="7406837"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AI doesn't replace engineering. It redistributes the time budget of every day — and the engineers who notice ship faster…</a:t>
            </a:r>
            <a:endParaRPr sz="1100"/>
          </a:p>
        </p:txBody>
      </p:sp>
      <p:sp>
        <p:nvSpPr>
          <p:cNvPr id="194" name="Google Shape;194;p29"/>
          <p:cNvSpPr/>
          <p:nvPr/>
        </p:nvSpPr>
        <p:spPr>
          <a:xfrm>
            <a:off x="822982"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95" name="Google Shape;195;p29"/>
          <p:cNvSpPr txBox="1"/>
          <p:nvPr/>
        </p:nvSpPr>
        <p:spPr>
          <a:xfrm>
            <a:off x="822982"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8B95A6"/>
                </a:solidFill>
                <a:latin typeface="Courier New"/>
                <a:ea typeface="Courier New"/>
                <a:cs typeface="Courier New"/>
                <a:sym typeface="Courier New"/>
              </a:rPr>
              <a:t>01 · SPEED</a:t>
            </a:r>
            <a:endParaRPr sz="1100"/>
          </a:p>
        </p:txBody>
      </p:sp>
      <p:sp>
        <p:nvSpPr>
          <p:cNvPr id="196" name="Google Shape;196;p29"/>
          <p:cNvSpPr txBox="1"/>
          <p:nvPr/>
        </p:nvSpPr>
        <p:spPr>
          <a:xfrm>
            <a:off x="822982" y="2242566"/>
            <a:ext cx="2469000" cy="469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300" u="none" cap="none" strike="noStrike">
                <a:solidFill>
                  <a:srgbClr val="1B1F2A"/>
                </a:solidFill>
                <a:latin typeface="Manrope"/>
                <a:ea typeface="Manrope"/>
                <a:cs typeface="Manrope"/>
                <a:sym typeface="Manrope"/>
              </a:rPr>
              <a:t>Boilerplate at the speed of thought</a:t>
            </a:r>
            <a:endParaRPr sz="900"/>
          </a:p>
        </p:txBody>
      </p:sp>
      <p:sp>
        <p:nvSpPr>
          <p:cNvPr id="197" name="Google Shape;197;p29"/>
          <p:cNvSpPr txBox="1"/>
          <p:nvPr/>
        </p:nvSpPr>
        <p:spPr>
          <a:xfrm>
            <a:off x="822975" y="2729599"/>
            <a:ext cx="2469000" cy="1254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Scaffolds, glue code, regex patterns, fixtures, throwaway scripts — tasks that once took 20 minutes now take 20 seconds. The compression is most dramatic in languages and frameworks you know less well.</a:t>
            </a:r>
            <a:endParaRPr sz="1100"/>
          </a:p>
        </p:txBody>
      </p:sp>
      <p:sp>
        <p:nvSpPr>
          <p:cNvPr id="198" name="Google Shape;198;p29"/>
          <p:cNvSpPr/>
          <p:nvPr/>
        </p:nvSpPr>
        <p:spPr>
          <a:xfrm>
            <a:off x="3429091"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99" name="Google Shape;199;p29"/>
          <p:cNvSpPr txBox="1"/>
          <p:nvPr/>
        </p:nvSpPr>
        <p:spPr>
          <a:xfrm>
            <a:off x="3429091"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8B95A6"/>
                </a:solidFill>
                <a:latin typeface="Courier New"/>
                <a:ea typeface="Courier New"/>
                <a:cs typeface="Courier New"/>
                <a:sym typeface="Courier New"/>
              </a:rPr>
              <a:t>02 · SURFACE AREA</a:t>
            </a:r>
            <a:endParaRPr sz="1100"/>
          </a:p>
        </p:txBody>
      </p:sp>
      <p:sp>
        <p:nvSpPr>
          <p:cNvPr id="200" name="Google Shape;200;p29"/>
          <p:cNvSpPr txBox="1"/>
          <p:nvPr/>
        </p:nvSpPr>
        <p:spPr>
          <a:xfrm>
            <a:off x="3429091" y="2242566"/>
            <a:ext cx="2469000" cy="269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300" u="none" cap="none" strike="noStrike">
                <a:solidFill>
                  <a:srgbClr val="1B1F2A"/>
                </a:solidFill>
                <a:latin typeface="Manrope"/>
                <a:ea typeface="Manrope"/>
                <a:cs typeface="Manrope"/>
                <a:sym typeface="Manrope"/>
              </a:rPr>
              <a:t>Range further per day</a:t>
            </a:r>
            <a:endParaRPr sz="900"/>
          </a:p>
        </p:txBody>
      </p:sp>
      <p:sp>
        <p:nvSpPr>
          <p:cNvPr id="201" name="Google Shape;201;p29"/>
          <p:cNvSpPr txBox="1"/>
          <p:nvPr/>
        </p:nvSpPr>
        <p:spPr>
          <a:xfrm>
            <a:off x="3429091" y="2633484"/>
            <a:ext cx="2469000" cy="1085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You can confidently touch unfamiliar languages, frameworks, and legacy codebases with far less ramp-up cost. An engineer who once stayed in one stack now spans three in the same sprint.</a:t>
            </a:r>
            <a:endParaRPr sz="1100"/>
          </a:p>
        </p:txBody>
      </p:sp>
      <p:sp>
        <p:nvSpPr>
          <p:cNvPr id="202" name="Google Shape;202;p29"/>
          <p:cNvSpPr/>
          <p:nvPr/>
        </p:nvSpPr>
        <p:spPr>
          <a:xfrm>
            <a:off x="6035201"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03" name="Google Shape;203;p29"/>
          <p:cNvSpPr txBox="1"/>
          <p:nvPr/>
        </p:nvSpPr>
        <p:spPr>
          <a:xfrm>
            <a:off x="6035201"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8B95A6"/>
                </a:solidFill>
                <a:latin typeface="Courier New"/>
                <a:ea typeface="Courier New"/>
                <a:cs typeface="Courier New"/>
                <a:sym typeface="Courier New"/>
              </a:rPr>
              <a:t>03 · JUDGEMENT</a:t>
            </a:r>
            <a:endParaRPr sz="1100"/>
          </a:p>
        </p:txBody>
      </p:sp>
      <p:sp>
        <p:nvSpPr>
          <p:cNvPr id="204" name="Google Shape;204;p29"/>
          <p:cNvSpPr txBox="1"/>
          <p:nvPr/>
        </p:nvSpPr>
        <p:spPr>
          <a:xfrm>
            <a:off x="6035201" y="2242566"/>
            <a:ext cx="2469000" cy="269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300" u="none" cap="none" strike="noStrike">
                <a:solidFill>
                  <a:srgbClr val="1B1F2A"/>
                </a:solidFill>
                <a:latin typeface="Manrope"/>
                <a:ea typeface="Manrope"/>
                <a:cs typeface="Manrope"/>
                <a:sym typeface="Manrope"/>
              </a:rPr>
              <a:t>Reading is the new writing</a:t>
            </a:r>
            <a:endParaRPr sz="900"/>
          </a:p>
        </p:txBody>
      </p:sp>
      <p:sp>
        <p:nvSpPr>
          <p:cNvPr id="205" name="Google Shape;205;p29"/>
          <p:cNvSpPr txBox="1"/>
          <p:nvPr/>
        </p:nvSpPr>
        <p:spPr>
          <a:xfrm>
            <a:off x="6035226" y="2633484"/>
            <a:ext cx="2469000" cy="1085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Reviewing AI-generated code, naming things correctly, deciding what to keep and what to discard — this work doesn't compress. It grows and now dominates the valuable portion of the day.</a:t>
            </a:r>
            <a:endParaRPr sz="1100"/>
          </a:p>
        </p:txBody>
      </p:sp>
      <p:sp>
        <p:nvSpPr>
          <p:cNvPr id="206" name="Google Shape;206;p29"/>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0"/>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212" name="Google Shape;212;p30"/>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213" name="Google Shape;213;p30"/>
          <p:cNvSpPr txBox="1"/>
          <p:nvPr/>
        </p:nvSpPr>
        <p:spPr>
          <a:xfrm>
            <a:off x="822982" y="946404"/>
            <a:ext cx="7406837"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u="none" cap="none" strike="noStrike">
                <a:solidFill>
                  <a:srgbClr val="1B1F2A"/>
                </a:solidFill>
                <a:latin typeface="Manrope"/>
                <a:ea typeface="Manrope"/>
                <a:cs typeface="Manrope"/>
                <a:sym typeface="Manrope"/>
              </a:rPr>
              <a:t>A typical engineering day — then and now.</a:t>
            </a:r>
            <a:endParaRPr sz="1100"/>
          </a:p>
        </p:txBody>
      </p:sp>
      <p:sp>
        <p:nvSpPr>
          <p:cNvPr id="214" name="Google Shape;214;p30"/>
          <p:cNvSpPr/>
          <p:nvPr/>
        </p:nvSpPr>
        <p:spPr>
          <a:xfrm>
            <a:off x="822982" y="1474470"/>
            <a:ext cx="3497673" cy="30861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5" name="Google Shape;215;p30"/>
          <p:cNvSpPr/>
          <p:nvPr/>
        </p:nvSpPr>
        <p:spPr>
          <a:xfrm>
            <a:off x="4800728" y="1474470"/>
            <a:ext cx="3497673" cy="3086100"/>
          </a:xfrm>
          <a:prstGeom prst="rect">
            <a:avLst/>
          </a:prstGeom>
          <a:solidFill>
            <a:srgbClr val="FFE3D2"/>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6" name="Google Shape;216;p30"/>
          <p:cNvSpPr/>
          <p:nvPr/>
        </p:nvSpPr>
        <p:spPr>
          <a:xfrm>
            <a:off x="822982" y="1474470"/>
            <a:ext cx="3497673" cy="329184"/>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7" name="Google Shape;217;p30"/>
          <p:cNvSpPr txBox="1"/>
          <p:nvPr/>
        </p:nvSpPr>
        <p:spPr>
          <a:xfrm>
            <a:off x="960146" y="1501902"/>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300" u="none" cap="none" strike="noStrike">
                <a:solidFill>
                  <a:srgbClr val="FFFFFF"/>
                </a:solidFill>
                <a:latin typeface="Manrope"/>
                <a:ea typeface="Manrope"/>
                <a:cs typeface="Manrope"/>
                <a:sym typeface="Manrope"/>
              </a:rPr>
              <a:t>Without AI</a:t>
            </a:r>
            <a:endParaRPr sz="1100"/>
          </a:p>
        </p:txBody>
      </p:sp>
      <p:sp>
        <p:nvSpPr>
          <p:cNvPr id="218" name="Google Shape;218;p30"/>
          <p:cNvSpPr/>
          <p:nvPr/>
        </p:nvSpPr>
        <p:spPr>
          <a:xfrm>
            <a:off x="4800728" y="1474470"/>
            <a:ext cx="3497673" cy="329184"/>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19" name="Google Shape;219;p30"/>
          <p:cNvSpPr txBox="1"/>
          <p:nvPr/>
        </p:nvSpPr>
        <p:spPr>
          <a:xfrm>
            <a:off x="4937892" y="1501902"/>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300" u="none" cap="none" strike="noStrike">
                <a:solidFill>
                  <a:srgbClr val="FFFFFF"/>
                </a:solidFill>
                <a:latin typeface="Manrope"/>
                <a:ea typeface="Manrope"/>
                <a:cs typeface="Manrope"/>
                <a:sym typeface="Manrope"/>
              </a:rPr>
              <a:t>With AI</a:t>
            </a:r>
            <a:endParaRPr sz="1100"/>
          </a:p>
        </p:txBody>
      </p:sp>
      <p:sp>
        <p:nvSpPr>
          <p:cNvPr id="220" name="Google Shape;220;p30"/>
          <p:cNvSpPr txBox="1"/>
          <p:nvPr/>
        </p:nvSpPr>
        <p:spPr>
          <a:xfrm>
            <a:off x="925855" y="19339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Search, paste, adapt — Stack Overflow tabs multiply</a:t>
            </a:r>
            <a:endParaRPr sz="1100"/>
          </a:p>
        </p:txBody>
      </p:sp>
      <p:sp>
        <p:nvSpPr>
          <p:cNvPr id="221" name="Google Shape;221;p30"/>
          <p:cNvSpPr txBox="1"/>
          <p:nvPr/>
        </p:nvSpPr>
        <p:spPr>
          <a:xfrm>
            <a:off x="925855" y="22768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Half a day to ramp on an unfamiliar SDK</a:t>
            </a:r>
            <a:endParaRPr sz="1100"/>
          </a:p>
        </p:txBody>
      </p:sp>
      <p:sp>
        <p:nvSpPr>
          <p:cNvPr id="222" name="Google Shape;222;p30"/>
          <p:cNvSpPr txBox="1"/>
          <p:nvPr/>
        </p:nvSpPr>
        <p:spPr>
          <a:xfrm>
            <a:off x="925855" y="26197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Tests written last, briefly, or never</a:t>
            </a:r>
            <a:endParaRPr sz="1100"/>
          </a:p>
        </p:txBody>
      </p:sp>
      <p:sp>
        <p:nvSpPr>
          <p:cNvPr id="223" name="Google Shape;223;p30"/>
          <p:cNvSpPr txBox="1"/>
          <p:nvPr/>
        </p:nvSpPr>
        <p:spPr>
          <a:xfrm>
            <a:off x="925855" y="29626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Refactors deferred because the labour cost is too high</a:t>
            </a:r>
            <a:endParaRPr sz="1100"/>
          </a:p>
        </p:txBody>
      </p:sp>
      <p:sp>
        <p:nvSpPr>
          <p:cNvPr id="224" name="Google Shape;224;p30"/>
          <p:cNvSpPr txBox="1"/>
          <p:nvPr/>
        </p:nvSpPr>
        <p:spPr>
          <a:xfrm>
            <a:off x="925855" y="33055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Documentation drafted only at release time</a:t>
            </a:r>
            <a:endParaRPr sz="1100"/>
          </a:p>
        </p:txBody>
      </p:sp>
      <p:sp>
        <p:nvSpPr>
          <p:cNvPr id="225" name="Google Shape;225;p30"/>
          <p:cNvSpPr txBox="1"/>
          <p:nvPr/>
        </p:nvSpPr>
        <p:spPr>
          <a:xfrm>
            <a:off x="4903601" y="19339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Specify, review, iterate — draft from a sentence</a:t>
            </a:r>
            <a:endParaRPr sz="1100"/>
          </a:p>
        </p:txBody>
      </p:sp>
      <p:sp>
        <p:nvSpPr>
          <p:cNvPr id="226" name="Google Shape;226;p30"/>
          <p:cNvSpPr txBox="1"/>
          <p:nvPr/>
        </p:nvSpPr>
        <p:spPr>
          <a:xfrm>
            <a:off x="4903601" y="22768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New SDK: a 20-minute conversation, not a half-day</a:t>
            </a:r>
            <a:endParaRPr sz="1100"/>
          </a:p>
        </p:txBody>
      </p:sp>
      <p:sp>
        <p:nvSpPr>
          <p:cNvPr id="227" name="Google Shape;227;p30"/>
          <p:cNvSpPr txBox="1"/>
          <p:nvPr/>
        </p:nvSpPr>
        <p:spPr>
          <a:xfrm>
            <a:off x="4903601" y="26197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Tests generated alongside each change, then audited</a:t>
            </a:r>
            <a:endParaRPr sz="1100"/>
          </a:p>
        </p:txBody>
      </p:sp>
      <p:sp>
        <p:nvSpPr>
          <p:cNvPr id="228" name="Google Shape;228;p30"/>
          <p:cNvSpPr txBox="1"/>
          <p:nvPr/>
        </p:nvSpPr>
        <p:spPr>
          <a:xfrm>
            <a:off x="4903601" y="29626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Tedious refactors become routine — labour cost near zero</a:t>
            </a:r>
            <a:endParaRPr sz="1100"/>
          </a:p>
        </p:txBody>
      </p:sp>
      <p:sp>
        <p:nvSpPr>
          <p:cNvPr id="229" name="Google Shape;229;p30"/>
          <p:cNvSpPr txBox="1"/>
          <p:nvPr/>
        </p:nvSpPr>
        <p:spPr>
          <a:xfrm>
            <a:off x="4903601" y="33055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READMEs, changelogs, ADRs drafted as you go</a:t>
            </a:r>
            <a:endParaRPr sz="1100"/>
          </a:p>
        </p:txBody>
      </p:sp>
      <p:sp>
        <p:nvSpPr>
          <p:cNvPr id="230" name="Google Shape;230;p30"/>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1"/>
          <p:cNvSpPr/>
          <p:nvPr/>
        </p:nvSpPr>
        <p:spPr>
          <a:xfrm>
            <a:off x="0" y="0"/>
            <a:ext cx="9144015" cy="51435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36" name="Google Shape;236;p31"/>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237" name="Google Shape;237;p31"/>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238" name="Google Shape;238;p31"/>
          <p:cNvSpPr txBox="1"/>
          <p:nvPr/>
        </p:nvSpPr>
        <p:spPr>
          <a:xfrm>
            <a:off x="822982" y="617220"/>
            <a:ext cx="1371637" cy="1028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300" u="none" cap="none" strike="noStrike">
                <a:solidFill>
                  <a:srgbClr val="FF671F"/>
                </a:solidFill>
                <a:latin typeface="Manrope"/>
                <a:ea typeface="Manrope"/>
                <a:cs typeface="Manrope"/>
                <a:sym typeface="Manrope"/>
              </a:rPr>
              <a:t>“</a:t>
            </a:r>
            <a:endParaRPr sz="1100"/>
          </a:p>
        </p:txBody>
      </p:sp>
      <p:sp>
        <p:nvSpPr>
          <p:cNvPr id="239" name="Google Shape;239;p31"/>
          <p:cNvSpPr txBox="1"/>
          <p:nvPr/>
        </p:nvSpPr>
        <p:spPr>
          <a:xfrm>
            <a:off x="822982" y="1234440"/>
            <a:ext cx="7406837" cy="2400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2600" u="none" cap="none" strike="noStrike">
                <a:solidFill>
                  <a:srgbClr val="1B1F2A"/>
                </a:solidFill>
                <a:latin typeface="Manrope"/>
                <a:ea typeface="Manrope"/>
                <a:cs typeface="Manrope"/>
                <a:sym typeface="Manrope"/>
              </a:rPr>
              <a:t>The senior engineers on the team didn't get faster at typing. They got faster at deciding. The model writes a draft, they read it like a junior's PR, and the conversation moves to whether the design is right — not whether the syntax is right.</a:t>
            </a:r>
            <a:endParaRPr sz="1100"/>
          </a:p>
        </p:txBody>
      </p:sp>
      <p:sp>
        <p:nvSpPr>
          <p:cNvPr id="240" name="Google Shape;240;p31"/>
          <p:cNvSpPr txBox="1"/>
          <p:nvPr/>
        </p:nvSpPr>
        <p:spPr>
          <a:xfrm>
            <a:off x="822982" y="3771900"/>
            <a:ext cx="5486546" cy="22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u="none" cap="none" strike="noStrike">
                <a:solidFill>
                  <a:srgbClr val="1B1F2A"/>
                </a:solidFill>
                <a:latin typeface="Manrope"/>
                <a:ea typeface="Manrope"/>
                <a:cs typeface="Manrope"/>
                <a:sym typeface="Manrope"/>
              </a:rPr>
              <a:t>Engineering Lead, Automotive Client</a:t>
            </a:r>
            <a:endParaRPr sz="1100"/>
          </a:p>
        </p:txBody>
      </p:sp>
      <p:sp>
        <p:nvSpPr>
          <p:cNvPr id="241" name="Google Shape;241;p31"/>
          <p:cNvSpPr txBox="1"/>
          <p:nvPr/>
        </p:nvSpPr>
        <p:spPr>
          <a:xfrm>
            <a:off x="822982" y="4046220"/>
            <a:ext cx="5486546" cy="22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200" u="none" cap="none" strike="noStrike">
                <a:solidFill>
                  <a:srgbClr val="8B95A6"/>
                </a:solidFill>
                <a:latin typeface="Courier New"/>
                <a:ea typeface="Courier New"/>
                <a:cs typeface="Courier New"/>
                <a:sym typeface="Courier New"/>
              </a:rPr>
              <a:t>Internal Interview · 2025</a:t>
            </a:r>
            <a:endParaRPr sz="1100"/>
          </a:p>
        </p:txBody>
      </p:sp>
      <p:sp>
        <p:nvSpPr>
          <p:cNvPr id="242" name="Google Shape;242;p31"/>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2"/>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248" name="Google Shape;248;p32"/>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249" name="Google Shape;249;p32"/>
          <p:cNvSpPr txBox="1"/>
          <p:nvPr/>
        </p:nvSpPr>
        <p:spPr>
          <a:xfrm>
            <a:off x="822982" y="720090"/>
            <a:ext cx="54865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SECTION 01</a:t>
            </a:r>
            <a:endParaRPr sz="1100"/>
          </a:p>
        </p:txBody>
      </p:sp>
      <p:sp>
        <p:nvSpPr>
          <p:cNvPr id="250" name="Google Shape;250;p32"/>
          <p:cNvSpPr txBox="1"/>
          <p:nvPr/>
        </p:nvSpPr>
        <p:spPr>
          <a:xfrm>
            <a:off x="822982" y="946404"/>
            <a:ext cx="7406837" cy="4114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u="none" cap="none" strike="noStrike">
                <a:solidFill>
                  <a:srgbClr val="1B1F2A"/>
                </a:solidFill>
                <a:latin typeface="Manrope"/>
                <a:ea typeface="Manrope"/>
                <a:cs typeface="Manrope"/>
                <a:sym typeface="Manrope"/>
              </a:rPr>
              <a:t>Ten places AI already lives in your workflow.</a:t>
            </a:r>
            <a:endParaRPr sz="1100"/>
          </a:p>
        </p:txBody>
      </p:sp>
      <p:sp>
        <p:nvSpPr>
          <p:cNvPr id="251" name="Google Shape;251;p32"/>
          <p:cNvSpPr txBox="1"/>
          <p:nvPr/>
        </p:nvSpPr>
        <p:spPr>
          <a:xfrm>
            <a:off x="700725" y="1440175"/>
            <a:ext cx="75618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If you've coded this week you've used at least four of these without thinking of them as 'AI.' That is the point.</a:t>
            </a:r>
            <a:endParaRPr sz="1100"/>
          </a:p>
        </p:txBody>
      </p:sp>
      <p:sp>
        <p:nvSpPr>
          <p:cNvPr id="252" name="Google Shape;252;p32"/>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
        <p:nvSpPr>
          <p:cNvPr id="253" name="Google Shape;253;p32"/>
          <p:cNvSpPr/>
          <p:nvPr/>
        </p:nvSpPr>
        <p:spPr>
          <a:xfrm>
            <a:off x="732368" y="1817421"/>
            <a:ext cx="7477800" cy="2605800"/>
          </a:xfrm>
          <a:prstGeom prst="rect">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highlight>
                <a:srgbClr val="EFEFEF"/>
              </a:highlight>
              <a:latin typeface="Calibri"/>
              <a:ea typeface="Calibri"/>
              <a:cs typeface="Calibri"/>
              <a:sym typeface="Calibri"/>
            </a:endParaRPr>
          </a:p>
        </p:txBody>
      </p:sp>
      <p:sp>
        <p:nvSpPr>
          <p:cNvPr id="254" name="Google Shape;254;p32"/>
          <p:cNvSpPr txBox="1"/>
          <p:nvPr/>
        </p:nvSpPr>
        <p:spPr>
          <a:xfrm>
            <a:off x="700725" y="1865372"/>
            <a:ext cx="37110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FF671F"/>
                </a:solidFill>
                <a:latin typeface="Courier New"/>
                <a:ea typeface="Courier New"/>
                <a:cs typeface="Courier New"/>
                <a:sym typeface="Courier New"/>
              </a:rPr>
              <a:t>01  </a:t>
            </a:r>
            <a:r>
              <a:rPr b="1" i="0" lang="en-GB" sz="1200" u="none" cap="none" strike="noStrike">
                <a:solidFill>
                  <a:srgbClr val="1B1F2A"/>
                </a:solidFill>
                <a:latin typeface="Manrope"/>
                <a:ea typeface="Manrope"/>
                <a:cs typeface="Manrope"/>
                <a:sym typeface="Manrope"/>
              </a:rPr>
              <a:t>Inline code completion</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Ghost-text you tab to accept — the lowest-friction AI surface</a:t>
            </a:r>
            <a:endParaRPr sz="1100"/>
          </a:p>
        </p:txBody>
      </p:sp>
      <p:sp>
        <p:nvSpPr>
          <p:cNvPr id="255" name="Google Shape;255;p32"/>
          <p:cNvSpPr txBox="1"/>
          <p:nvPr/>
        </p:nvSpPr>
        <p:spPr>
          <a:xfrm>
            <a:off x="700700" y="2458130"/>
            <a:ext cx="37110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02  </a:t>
            </a:r>
            <a:r>
              <a:rPr b="1" lang="en-GB" sz="1200">
                <a:solidFill>
                  <a:srgbClr val="1B1F2A"/>
                </a:solidFill>
                <a:latin typeface="Manrope"/>
                <a:ea typeface="Manrope"/>
                <a:cs typeface="Manrope"/>
                <a:sym typeface="Manrope"/>
              </a:rPr>
              <a:t>Chat assistant in the editor</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Ask why something is failing with the open file as context</a:t>
            </a:r>
            <a:endParaRPr sz="1100"/>
          </a:p>
        </p:txBody>
      </p:sp>
      <p:sp>
        <p:nvSpPr>
          <p:cNvPr id="256" name="Google Shape;256;p32"/>
          <p:cNvSpPr txBox="1"/>
          <p:nvPr/>
        </p:nvSpPr>
        <p:spPr>
          <a:xfrm>
            <a:off x="700725" y="2934764"/>
            <a:ext cx="37110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03  </a:t>
            </a:r>
            <a:r>
              <a:rPr b="1" lang="en-GB" sz="1200">
                <a:solidFill>
                  <a:srgbClr val="1B1F2A"/>
                </a:solidFill>
                <a:latin typeface="Manrope"/>
                <a:ea typeface="Manrope"/>
                <a:cs typeface="Manrope"/>
                <a:sym typeface="Manrope"/>
              </a:rPr>
              <a:t>Commit-message drafting</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Diff goes in, a clean, descriptive message comes out</a:t>
            </a:r>
            <a:endParaRPr sz="1100"/>
          </a:p>
        </p:txBody>
      </p:sp>
      <p:sp>
        <p:nvSpPr>
          <p:cNvPr id="257" name="Google Shape;257;p32"/>
          <p:cNvSpPr txBox="1"/>
          <p:nvPr/>
        </p:nvSpPr>
        <p:spPr>
          <a:xfrm>
            <a:off x="700725" y="3356772"/>
            <a:ext cx="37110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04  </a:t>
            </a:r>
            <a:r>
              <a:rPr b="1" lang="en-GB" sz="1200">
                <a:solidFill>
                  <a:srgbClr val="1B1F2A"/>
                </a:solidFill>
                <a:latin typeface="Manrope"/>
                <a:ea typeface="Manrope"/>
                <a:cs typeface="Manrope"/>
                <a:sym typeface="Manrope"/>
              </a:rPr>
              <a:t>Test scaffolding</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Generated edge-case tables for functions under test</a:t>
            </a:r>
            <a:endParaRPr sz="1100"/>
          </a:p>
        </p:txBody>
      </p:sp>
      <p:sp>
        <p:nvSpPr>
          <p:cNvPr id="258" name="Google Shape;258;p32"/>
          <p:cNvSpPr txBox="1"/>
          <p:nvPr/>
        </p:nvSpPr>
        <p:spPr>
          <a:xfrm>
            <a:off x="700700" y="3797030"/>
            <a:ext cx="37110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05  </a:t>
            </a:r>
            <a:r>
              <a:rPr b="1" lang="en-GB" sz="1200">
                <a:solidFill>
                  <a:srgbClr val="1B1F2A"/>
                </a:solidFill>
                <a:latin typeface="Manrope"/>
                <a:ea typeface="Manrope"/>
                <a:cs typeface="Manrope"/>
                <a:sym typeface="Manrope"/>
              </a:rPr>
              <a:t>Cross-language translation</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Port a Python service skeleton to Go in minutes</a:t>
            </a:r>
            <a:endParaRPr sz="1100"/>
          </a:p>
        </p:txBody>
      </p:sp>
      <p:sp>
        <p:nvSpPr>
          <p:cNvPr id="259" name="Google Shape;259;p32"/>
          <p:cNvSpPr txBox="1"/>
          <p:nvPr/>
        </p:nvSpPr>
        <p:spPr>
          <a:xfrm>
            <a:off x="4869310" y="1865376"/>
            <a:ext cx="36348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06  </a:t>
            </a:r>
            <a:r>
              <a:rPr b="1" lang="en-GB" sz="1200">
                <a:solidFill>
                  <a:srgbClr val="1B1F2A"/>
                </a:solidFill>
                <a:latin typeface="Manrope"/>
                <a:ea typeface="Manrope"/>
                <a:cs typeface="Manrope"/>
                <a:sym typeface="Manrope"/>
              </a:rPr>
              <a:t>Ticket-to-PR drafts</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Issue text in, a starter branch out</a:t>
            </a:r>
            <a:endParaRPr sz="1100"/>
          </a:p>
        </p:txBody>
      </p:sp>
      <p:sp>
        <p:nvSpPr>
          <p:cNvPr id="260" name="Google Shape;260;p32"/>
          <p:cNvSpPr txBox="1"/>
          <p:nvPr/>
        </p:nvSpPr>
        <p:spPr>
          <a:xfrm>
            <a:off x="4869310" y="2311146"/>
            <a:ext cx="36348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07  </a:t>
            </a:r>
            <a:r>
              <a:rPr b="1" lang="en-GB" sz="1200">
                <a:solidFill>
                  <a:srgbClr val="1B1F2A"/>
                </a:solidFill>
                <a:latin typeface="Manrope"/>
                <a:ea typeface="Manrope"/>
                <a:cs typeface="Manrope"/>
                <a:sym typeface="Manrope"/>
              </a:rPr>
              <a:t>Codebase Q&amp;A</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Ask the repo, not a teammate, for the easy questions</a:t>
            </a:r>
            <a:endParaRPr sz="1100"/>
          </a:p>
        </p:txBody>
      </p:sp>
      <p:sp>
        <p:nvSpPr>
          <p:cNvPr id="261" name="Google Shape;261;p32"/>
          <p:cNvSpPr txBox="1"/>
          <p:nvPr/>
        </p:nvSpPr>
        <p:spPr>
          <a:xfrm>
            <a:off x="4869310" y="2804928"/>
            <a:ext cx="36348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08  </a:t>
            </a:r>
            <a:r>
              <a:rPr b="1" lang="en-GB" sz="1200">
                <a:solidFill>
                  <a:srgbClr val="1B1F2A"/>
                </a:solidFill>
                <a:latin typeface="Manrope"/>
                <a:ea typeface="Manrope"/>
                <a:cs typeface="Manrope"/>
                <a:sym typeface="Manrope"/>
              </a:rPr>
              <a:t>SQL &amp; query generation</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Natural-language questions translated to your exact schema</a:t>
            </a:r>
            <a:endParaRPr sz="1100"/>
          </a:p>
        </p:txBody>
      </p:sp>
      <p:sp>
        <p:nvSpPr>
          <p:cNvPr id="262" name="Google Shape;262;p32"/>
          <p:cNvSpPr txBox="1"/>
          <p:nvPr/>
        </p:nvSpPr>
        <p:spPr>
          <a:xfrm>
            <a:off x="4869310" y="3298711"/>
            <a:ext cx="36348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09  </a:t>
            </a:r>
            <a:r>
              <a:rPr b="1" lang="en-GB" sz="1200">
                <a:solidFill>
                  <a:srgbClr val="1B1F2A"/>
                </a:solidFill>
                <a:latin typeface="Manrope"/>
                <a:ea typeface="Manrope"/>
                <a:cs typeface="Manrope"/>
                <a:sym typeface="Manrope"/>
              </a:rPr>
              <a:t>Documentation drafts</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READMEs, ADRs, changelogs from diff and spec</a:t>
            </a:r>
            <a:endParaRPr sz="1100"/>
          </a:p>
        </p:txBody>
      </p:sp>
      <p:sp>
        <p:nvSpPr>
          <p:cNvPr id="263" name="Google Shape;263;p32"/>
          <p:cNvSpPr txBox="1"/>
          <p:nvPr/>
        </p:nvSpPr>
        <p:spPr>
          <a:xfrm>
            <a:off x="4869310" y="3744468"/>
            <a:ext cx="36348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10  </a:t>
            </a:r>
            <a:r>
              <a:rPr b="1" lang="en-GB" sz="1200">
                <a:solidFill>
                  <a:srgbClr val="1B1F2A"/>
                </a:solidFill>
                <a:latin typeface="Manrope"/>
                <a:ea typeface="Manrope"/>
                <a:cs typeface="Manrope"/>
                <a:sym typeface="Manrope"/>
              </a:rPr>
              <a:t>Code review pre-pass</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Style, simple bugs, missed edge cases before human review</a:t>
            </a:r>
            <a:endParaRPr sz="1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3"/>
          <p:cNvSpPr/>
          <p:nvPr/>
        </p:nvSpPr>
        <p:spPr>
          <a:xfrm>
            <a:off x="0" y="0"/>
            <a:ext cx="9144000" cy="5143500"/>
          </a:xfrm>
          <a:prstGeom prst="rect">
            <a:avLst/>
          </a:prstGeom>
          <a:solidFill>
            <a:srgbClr val="384358"/>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69" name="Google Shape;269;p33"/>
          <p:cNvSpPr txBox="1"/>
          <p:nvPr/>
        </p:nvSpPr>
        <p:spPr>
          <a:xfrm>
            <a:off x="822982" y="342900"/>
            <a:ext cx="2743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FFFFFF"/>
                </a:solidFill>
                <a:latin typeface="Manrope"/>
                <a:ea typeface="Manrope"/>
                <a:cs typeface="Manrope"/>
                <a:sym typeface="Manrope"/>
              </a:rPr>
              <a:t>GlobalLogic</a:t>
            </a:r>
            <a:endParaRPr sz="1100"/>
          </a:p>
        </p:txBody>
      </p:sp>
      <p:sp>
        <p:nvSpPr>
          <p:cNvPr id="270" name="Google Shape;270;p33"/>
          <p:cNvSpPr txBox="1"/>
          <p:nvPr/>
        </p:nvSpPr>
        <p:spPr>
          <a:xfrm>
            <a:off x="822982" y="562356"/>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C9CFD8"/>
                </a:solidFill>
                <a:latin typeface="Manrope"/>
                <a:ea typeface="Manrope"/>
                <a:cs typeface="Manrope"/>
                <a:sym typeface="Manrope"/>
              </a:rPr>
              <a:t>A Hitachi Group Company</a:t>
            </a:r>
            <a:endParaRPr sz="1100"/>
          </a:p>
        </p:txBody>
      </p:sp>
      <p:sp>
        <p:nvSpPr>
          <p:cNvPr id="271" name="Google Shape;271;p33"/>
          <p:cNvSpPr txBox="1"/>
          <p:nvPr/>
        </p:nvSpPr>
        <p:spPr>
          <a:xfrm>
            <a:off x="822982" y="1714500"/>
            <a:ext cx="6172500" cy="2008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4200" u="none" cap="none" strike="noStrike">
                <a:solidFill>
                  <a:srgbClr val="FFFFFF"/>
                </a:solidFill>
                <a:latin typeface="Manrope"/>
                <a:ea typeface="Manrope"/>
                <a:cs typeface="Manrope"/>
                <a:sym typeface="Manrope"/>
              </a:rPr>
              <a:t>Intro to</a:t>
            </a:r>
            <a:br>
              <a:rPr b="1" i="0" lang="en-GB" sz="4200" u="none" cap="none" strike="noStrike">
                <a:solidFill>
                  <a:srgbClr val="FFFFFF"/>
                </a:solidFill>
                <a:latin typeface="Manrope"/>
                <a:ea typeface="Manrope"/>
                <a:cs typeface="Manrope"/>
                <a:sym typeface="Manrope"/>
              </a:rPr>
            </a:br>
            <a:r>
              <a:rPr b="1" i="0" lang="en-GB" sz="4200" u="none" cap="none" strike="noStrike">
                <a:solidFill>
                  <a:srgbClr val="FFFFFF"/>
                </a:solidFill>
                <a:latin typeface="Manrope"/>
                <a:ea typeface="Manrope"/>
                <a:cs typeface="Manrope"/>
                <a:sym typeface="Manrope"/>
              </a:rPr>
              <a:t>Artificial</a:t>
            </a:r>
            <a:br>
              <a:rPr b="1" i="0" lang="en-GB" sz="4200" u="none" cap="none" strike="noStrike">
                <a:solidFill>
                  <a:srgbClr val="FFFFFF"/>
                </a:solidFill>
                <a:latin typeface="Manrope"/>
                <a:ea typeface="Manrope"/>
                <a:cs typeface="Manrope"/>
                <a:sym typeface="Manrope"/>
              </a:rPr>
            </a:br>
            <a:r>
              <a:rPr b="1" i="0" lang="en-GB" sz="4200" u="none" cap="none" strike="noStrike">
                <a:solidFill>
                  <a:srgbClr val="FFFFFF"/>
                </a:solidFill>
                <a:latin typeface="Manrope"/>
                <a:ea typeface="Manrope"/>
                <a:cs typeface="Manrope"/>
                <a:sym typeface="Manrope"/>
              </a:rPr>
              <a:t>Intelligence.</a:t>
            </a:r>
            <a:endParaRPr sz="1100"/>
          </a:p>
        </p:txBody>
      </p:sp>
      <p:sp>
        <p:nvSpPr>
          <p:cNvPr id="272" name="Google Shape;272;p33"/>
          <p:cNvSpPr txBox="1"/>
          <p:nvPr/>
        </p:nvSpPr>
        <p:spPr>
          <a:xfrm>
            <a:off x="822982" y="3703320"/>
            <a:ext cx="6172500" cy="592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700" u="none" cap="none" strike="noStrike">
                <a:solidFill>
                  <a:srgbClr val="C9CFD8"/>
                </a:solidFill>
                <a:latin typeface="Manrope"/>
                <a:ea typeface="Manrope"/>
                <a:cs typeface="Manrope"/>
                <a:sym typeface="Manrope"/>
              </a:rPr>
              <a:t>From the umbrella term to the algorithms, models, and training loops that power the systems you support and build.</a:t>
            </a:r>
            <a:endParaRPr sz="1100"/>
          </a:p>
        </p:txBody>
      </p:sp>
      <p:sp>
        <p:nvSpPr>
          <p:cNvPr id="273" name="Google Shape;273;p33"/>
          <p:cNvSpPr txBox="1"/>
          <p:nvPr/>
        </p:nvSpPr>
        <p:spPr>
          <a:xfrm>
            <a:off x="822982" y="4732020"/>
            <a:ext cx="274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FFFFFF"/>
                </a:solidFill>
                <a:latin typeface="Courier New"/>
                <a:ea typeface="Courier New"/>
                <a:cs typeface="Courier New"/>
                <a:sym typeface="Courier New"/>
              </a:rPr>
              <a:t>globallogic.com</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4"/>
          <p:cNvSpPr txBox="1"/>
          <p:nvPr/>
        </p:nvSpPr>
        <p:spPr>
          <a:xfrm>
            <a:off x="822982" y="342900"/>
            <a:ext cx="2743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279" name="Google Shape;279;p34"/>
          <p:cNvSpPr txBox="1"/>
          <p:nvPr/>
        </p:nvSpPr>
        <p:spPr>
          <a:xfrm>
            <a:off x="822982" y="562356"/>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280" name="Google Shape;280;p34"/>
          <p:cNvSpPr txBox="1"/>
          <p:nvPr/>
        </p:nvSpPr>
        <p:spPr>
          <a:xfrm>
            <a:off x="822982" y="720090"/>
            <a:ext cx="548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INTRO TO AI</a:t>
            </a:r>
            <a:endParaRPr sz="1100"/>
          </a:p>
        </p:txBody>
      </p:sp>
      <p:sp>
        <p:nvSpPr>
          <p:cNvPr id="281" name="Google Shape;281;p34"/>
          <p:cNvSpPr txBox="1"/>
          <p:nvPr/>
        </p:nvSpPr>
        <p:spPr>
          <a:xfrm>
            <a:off x="822982" y="946404"/>
            <a:ext cx="7406700" cy="623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800" u="none" cap="none" strike="noStrike">
                <a:solidFill>
                  <a:srgbClr val="1B1F2A"/>
                </a:solidFill>
                <a:latin typeface="Manrope"/>
                <a:ea typeface="Manrope"/>
                <a:cs typeface="Manrope"/>
                <a:sym typeface="Manrope"/>
              </a:rPr>
              <a:t>AI is the umbrella. The interesting</a:t>
            </a:r>
            <a:endParaRPr b="1" i="0" sz="1800" u="none" cap="none" strike="noStrike">
              <a:solidFill>
                <a:srgbClr val="1B1F2A"/>
              </a:solidFill>
              <a:latin typeface="Manrope"/>
              <a:ea typeface="Manrope"/>
              <a:cs typeface="Manrope"/>
              <a:sym typeface="Manrope"/>
            </a:endParaRPr>
          </a:p>
          <a:p>
            <a:pPr indent="0" lvl="0" marL="0" marR="0" rtl="0" algn="l">
              <a:spcBef>
                <a:spcPts val="0"/>
              </a:spcBef>
              <a:spcAft>
                <a:spcPts val="0"/>
              </a:spcAft>
              <a:buNone/>
            </a:pPr>
            <a:r>
              <a:rPr b="1" i="0" lang="en-GB" sz="1800" u="none" cap="none" strike="noStrike">
                <a:solidFill>
                  <a:srgbClr val="1B1F2A"/>
                </a:solidFill>
                <a:latin typeface="Manrope"/>
                <a:ea typeface="Manrope"/>
                <a:cs typeface="Manrope"/>
                <a:sym typeface="Manrope"/>
              </a:rPr>
              <a:t> stuff is underneath.</a:t>
            </a:r>
            <a:endParaRPr sz="1100"/>
          </a:p>
        </p:txBody>
      </p:sp>
      <p:sp>
        <p:nvSpPr>
          <p:cNvPr id="282" name="Google Shape;282;p34"/>
          <p:cNvSpPr txBox="1"/>
          <p:nvPr/>
        </p:nvSpPr>
        <p:spPr>
          <a:xfrm>
            <a:off x="891600" y="1901204"/>
            <a:ext cx="4663500" cy="808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200" u="none" cap="none" strike="noStrike">
                <a:solidFill>
                  <a:srgbClr val="8B95A6"/>
                </a:solidFill>
                <a:latin typeface="Manrope"/>
                <a:ea typeface="Manrope"/>
                <a:cs typeface="Manrope"/>
                <a:sym typeface="Manrope"/>
              </a:rPr>
              <a:t>"Artificial intelligence" is a sixty-eight-year-old term for any system that does something we once thought only humans could do. Too broad for an engineering meeting — </a:t>
            </a:r>
            <a:endParaRPr b="0" i="0" sz="1200" u="none" cap="none" strike="noStrike">
              <a:solidFill>
                <a:srgbClr val="8B95A6"/>
              </a:solidFill>
              <a:latin typeface="Manrope"/>
              <a:ea typeface="Manrope"/>
              <a:cs typeface="Manrope"/>
              <a:sym typeface="Manrope"/>
            </a:endParaRPr>
          </a:p>
          <a:p>
            <a:pPr indent="0" lvl="0" marL="0" marR="0" rtl="0" algn="l">
              <a:spcBef>
                <a:spcPts val="0"/>
              </a:spcBef>
              <a:spcAft>
                <a:spcPts val="0"/>
              </a:spcAft>
              <a:buNone/>
            </a:pPr>
            <a:r>
              <a:rPr b="0" i="0" lang="en-GB" sz="1200" u="none" cap="none" strike="noStrike">
                <a:solidFill>
                  <a:srgbClr val="8B95A6"/>
                </a:solidFill>
                <a:latin typeface="Manrope"/>
                <a:ea typeface="Manrope"/>
                <a:cs typeface="Manrope"/>
                <a:sym typeface="Manrope"/>
              </a:rPr>
              <a:t>so here are the three nested layers that actually matter today.</a:t>
            </a:r>
            <a:endParaRPr sz="1100"/>
          </a:p>
        </p:txBody>
      </p:sp>
      <p:sp>
        <p:nvSpPr>
          <p:cNvPr id="283" name="Google Shape;283;p34"/>
          <p:cNvSpPr/>
          <p:nvPr/>
        </p:nvSpPr>
        <p:spPr>
          <a:xfrm>
            <a:off x="5404208" y="853445"/>
            <a:ext cx="3634800" cy="3840600"/>
          </a:xfrm>
          <a:prstGeom prst="rect">
            <a:avLst/>
          </a:prstGeom>
          <a:solidFill>
            <a:srgbClr val="E8EAED"/>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84" name="Google Shape;284;p34"/>
          <p:cNvSpPr txBox="1"/>
          <p:nvPr/>
        </p:nvSpPr>
        <p:spPr>
          <a:xfrm>
            <a:off x="5452255" y="1042416"/>
            <a:ext cx="24003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8B95A6"/>
                </a:solidFill>
                <a:latin typeface="Manrope"/>
                <a:ea typeface="Manrope"/>
                <a:cs typeface="Manrope"/>
                <a:sym typeface="Manrope"/>
              </a:rPr>
              <a:t>Artificial Intelligence</a:t>
            </a:r>
            <a:endParaRPr sz="1100"/>
          </a:p>
        </p:txBody>
      </p:sp>
      <p:sp>
        <p:nvSpPr>
          <p:cNvPr id="285" name="Google Shape;285;p34"/>
          <p:cNvSpPr txBox="1"/>
          <p:nvPr/>
        </p:nvSpPr>
        <p:spPr>
          <a:xfrm>
            <a:off x="5452255" y="1234440"/>
            <a:ext cx="24003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8B95A6"/>
                </a:solidFill>
                <a:latin typeface="Manrope"/>
                <a:ea typeface="Manrope"/>
                <a:cs typeface="Manrope"/>
                <a:sym typeface="Manrope"/>
              </a:rPr>
              <a:t>Any system doing something</a:t>
            </a:r>
            <a:br>
              <a:rPr b="0" i="0" lang="en-GB" sz="900" u="none" cap="none" strike="noStrike">
                <a:solidFill>
                  <a:srgbClr val="8B95A6"/>
                </a:solidFill>
                <a:latin typeface="Manrope"/>
                <a:ea typeface="Manrope"/>
                <a:cs typeface="Manrope"/>
                <a:sym typeface="Manrope"/>
              </a:rPr>
            </a:br>
            <a:r>
              <a:rPr b="0" i="0" lang="en-GB" sz="900" u="none" cap="none" strike="noStrike">
                <a:solidFill>
                  <a:srgbClr val="8B95A6"/>
                </a:solidFill>
                <a:latin typeface="Manrope"/>
                <a:ea typeface="Manrope"/>
                <a:cs typeface="Manrope"/>
                <a:sym typeface="Manrope"/>
              </a:rPr>
              <a:t>we used to think only humans could do.</a:t>
            </a:r>
            <a:endParaRPr sz="1100"/>
          </a:p>
        </p:txBody>
      </p:sp>
      <p:sp>
        <p:nvSpPr>
          <p:cNvPr id="286" name="Google Shape;286;p34"/>
          <p:cNvSpPr/>
          <p:nvPr/>
        </p:nvSpPr>
        <p:spPr>
          <a:xfrm>
            <a:off x="5555128" y="1783080"/>
            <a:ext cx="3223200" cy="2743200"/>
          </a:xfrm>
          <a:prstGeom prst="rect">
            <a:avLst/>
          </a:prstGeom>
          <a:solidFill>
            <a:srgbClr val="D0D4DB"/>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87" name="Google Shape;287;p34"/>
          <p:cNvSpPr txBox="1"/>
          <p:nvPr/>
        </p:nvSpPr>
        <p:spPr>
          <a:xfrm>
            <a:off x="5658001" y="1865376"/>
            <a:ext cx="24003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384358"/>
                </a:solidFill>
                <a:latin typeface="Manrope"/>
                <a:ea typeface="Manrope"/>
                <a:cs typeface="Manrope"/>
                <a:sym typeface="Manrope"/>
              </a:rPr>
              <a:t>Machine Learning</a:t>
            </a:r>
            <a:endParaRPr sz="1100"/>
          </a:p>
        </p:txBody>
      </p:sp>
      <p:sp>
        <p:nvSpPr>
          <p:cNvPr id="288" name="Google Shape;288;p34"/>
          <p:cNvSpPr txBox="1"/>
          <p:nvPr/>
        </p:nvSpPr>
        <p:spPr>
          <a:xfrm>
            <a:off x="5658001" y="2071116"/>
            <a:ext cx="24003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384358"/>
                </a:solidFill>
                <a:latin typeface="Manrope"/>
                <a:ea typeface="Manrope"/>
                <a:cs typeface="Manrope"/>
                <a:sym typeface="Manrope"/>
              </a:rPr>
              <a:t>Algorithms that improve from data</a:t>
            </a:r>
            <a:br>
              <a:rPr b="0" i="0" lang="en-GB" sz="900" u="none" cap="none" strike="noStrike">
                <a:solidFill>
                  <a:srgbClr val="384358"/>
                </a:solidFill>
                <a:latin typeface="Manrope"/>
                <a:ea typeface="Manrope"/>
                <a:cs typeface="Manrope"/>
                <a:sym typeface="Manrope"/>
              </a:rPr>
            </a:br>
            <a:r>
              <a:rPr b="0" i="0" lang="en-GB" sz="900" u="none" cap="none" strike="noStrike">
                <a:solidFill>
                  <a:srgbClr val="384358"/>
                </a:solidFill>
                <a:latin typeface="Manrope"/>
                <a:ea typeface="Manrope"/>
                <a:cs typeface="Manrope"/>
                <a:sym typeface="Manrope"/>
              </a:rPr>
              <a:t>instead of being hand-coded.</a:t>
            </a:r>
            <a:endParaRPr sz="1100"/>
          </a:p>
        </p:txBody>
      </p:sp>
      <p:sp>
        <p:nvSpPr>
          <p:cNvPr id="289" name="Google Shape;289;p34"/>
          <p:cNvSpPr/>
          <p:nvPr/>
        </p:nvSpPr>
        <p:spPr>
          <a:xfrm>
            <a:off x="5760874" y="2674620"/>
            <a:ext cx="2811900" cy="1577400"/>
          </a:xfrm>
          <a:prstGeom prst="rect">
            <a:avLst/>
          </a:prstGeom>
          <a:solidFill>
            <a:srgbClr val="384358"/>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90" name="Google Shape;290;p34"/>
          <p:cNvSpPr txBox="1"/>
          <p:nvPr/>
        </p:nvSpPr>
        <p:spPr>
          <a:xfrm>
            <a:off x="5863746" y="2756916"/>
            <a:ext cx="24003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FFFFFF"/>
                </a:solidFill>
                <a:latin typeface="Manrope"/>
                <a:ea typeface="Manrope"/>
                <a:cs typeface="Manrope"/>
                <a:sym typeface="Manrope"/>
              </a:rPr>
              <a:t>Deep Learning</a:t>
            </a:r>
            <a:endParaRPr sz="1100"/>
          </a:p>
        </p:txBody>
      </p:sp>
      <p:sp>
        <p:nvSpPr>
          <p:cNvPr id="291" name="Google Shape;291;p34"/>
          <p:cNvSpPr txBox="1"/>
          <p:nvPr/>
        </p:nvSpPr>
        <p:spPr>
          <a:xfrm>
            <a:off x="5863746" y="2983230"/>
            <a:ext cx="2263200" cy="315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C9CFD8"/>
                </a:solidFill>
                <a:latin typeface="Manrope"/>
                <a:ea typeface="Manrope"/>
                <a:cs typeface="Manrope"/>
                <a:sym typeface="Manrope"/>
              </a:rPr>
              <a:t>Neural networks with many layers — the engine behind LLMs and foundation models.</a:t>
            </a:r>
            <a:endParaRPr sz="1100"/>
          </a:p>
        </p:txBody>
      </p:sp>
      <p:sp>
        <p:nvSpPr>
          <p:cNvPr id="292" name="Google Shape;292;p34"/>
          <p:cNvSpPr/>
          <p:nvPr/>
        </p:nvSpPr>
        <p:spPr>
          <a:xfrm>
            <a:off x="754400" y="1783080"/>
            <a:ext cx="34200" cy="12345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93" name="Google Shape;293;p34"/>
          <p:cNvSpPr txBox="1"/>
          <p:nvPr/>
        </p:nvSpPr>
        <p:spPr>
          <a:xfrm>
            <a:off x="822982" y="4732020"/>
            <a:ext cx="274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5"/>
          <p:cNvSpPr txBox="1"/>
          <p:nvPr/>
        </p:nvSpPr>
        <p:spPr>
          <a:xfrm>
            <a:off x="822982" y="342900"/>
            <a:ext cx="2743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299" name="Google Shape;299;p35"/>
          <p:cNvSpPr txBox="1"/>
          <p:nvPr/>
        </p:nvSpPr>
        <p:spPr>
          <a:xfrm>
            <a:off x="822982" y="562356"/>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300" name="Google Shape;300;p35"/>
          <p:cNvSpPr txBox="1"/>
          <p:nvPr/>
        </p:nvSpPr>
        <p:spPr>
          <a:xfrm>
            <a:off x="822982" y="720090"/>
            <a:ext cx="548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INTRO TO AI</a:t>
            </a:r>
            <a:endParaRPr sz="1100"/>
          </a:p>
        </p:txBody>
      </p:sp>
      <p:sp>
        <p:nvSpPr>
          <p:cNvPr id="301" name="Google Shape;301;p35"/>
          <p:cNvSpPr txBox="1"/>
          <p:nvPr/>
        </p:nvSpPr>
        <p:spPr>
          <a:xfrm>
            <a:off x="822982" y="946404"/>
            <a:ext cx="7406700" cy="330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700" u="none" cap="none" strike="noStrike">
                <a:solidFill>
                  <a:srgbClr val="1B1F2A"/>
                </a:solidFill>
                <a:latin typeface="Manrope"/>
                <a:ea typeface="Manrope"/>
                <a:cs typeface="Manrope"/>
                <a:sym typeface="Manrope"/>
              </a:rPr>
              <a:t>A Short, Opinionated History — seven moments that got us here.</a:t>
            </a:r>
            <a:endParaRPr sz="1100"/>
          </a:p>
        </p:txBody>
      </p:sp>
      <p:sp>
        <p:nvSpPr>
          <p:cNvPr id="302" name="Google Shape;302;p35"/>
          <p:cNvSpPr txBox="1"/>
          <p:nvPr/>
        </p:nvSpPr>
        <p:spPr>
          <a:xfrm>
            <a:off x="822982" y="1440180"/>
            <a:ext cx="74067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AI is not a new idea. The current moment is the latest beat in a much older story — useful context when someone tells you it's a bubble, or that it isn't.</a:t>
            </a:r>
            <a:endParaRPr sz="1100"/>
          </a:p>
        </p:txBody>
      </p:sp>
      <p:sp>
        <p:nvSpPr>
          <p:cNvPr id="303" name="Google Shape;303;p35"/>
          <p:cNvSpPr/>
          <p:nvPr/>
        </p:nvSpPr>
        <p:spPr>
          <a:xfrm>
            <a:off x="788691" y="2249424"/>
            <a:ext cx="7544100" cy="27300"/>
          </a:xfrm>
          <a:prstGeom prst="rect">
            <a:avLst/>
          </a:prstGeom>
          <a:solidFill>
            <a:srgbClr val="8B95A6"/>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04" name="Google Shape;304;p35"/>
          <p:cNvSpPr/>
          <p:nvPr/>
        </p:nvSpPr>
        <p:spPr>
          <a:xfrm>
            <a:off x="1231534" y="2167128"/>
            <a:ext cx="164700" cy="164700"/>
          </a:xfrm>
          <a:prstGeom prst="ellipse">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05" name="Google Shape;305;p35"/>
          <p:cNvSpPr/>
          <p:nvPr/>
        </p:nvSpPr>
        <p:spPr>
          <a:xfrm>
            <a:off x="1087512" y="2091690"/>
            <a:ext cx="480000" cy="2196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06" name="Google Shape;306;p35"/>
          <p:cNvSpPr txBox="1"/>
          <p:nvPr/>
        </p:nvSpPr>
        <p:spPr>
          <a:xfrm>
            <a:off x="1087512" y="2091690"/>
            <a:ext cx="480000" cy="1923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800" u="none" cap="none" strike="noStrike">
                <a:solidFill>
                  <a:srgbClr val="FFFFFF"/>
                </a:solidFill>
                <a:latin typeface="Courier New"/>
                <a:ea typeface="Courier New"/>
                <a:cs typeface="Courier New"/>
                <a:sym typeface="Courier New"/>
              </a:rPr>
              <a:t>1956</a:t>
            </a:r>
            <a:endParaRPr sz="1100"/>
          </a:p>
        </p:txBody>
      </p:sp>
      <p:sp>
        <p:nvSpPr>
          <p:cNvPr id="307" name="Google Shape;307;p35"/>
          <p:cNvSpPr txBox="1"/>
          <p:nvPr/>
        </p:nvSpPr>
        <p:spPr>
          <a:xfrm>
            <a:off x="816124" y="2414016"/>
            <a:ext cx="10227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Dartmouth</a:t>
            </a:r>
            <a:endParaRPr sz="1100"/>
          </a:p>
        </p:txBody>
      </p:sp>
      <p:sp>
        <p:nvSpPr>
          <p:cNvPr id="308" name="Google Shape;308;p35"/>
          <p:cNvSpPr txBox="1"/>
          <p:nvPr/>
        </p:nvSpPr>
        <p:spPr>
          <a:xfrm>
            <a:off x="816124" y="2660904"/>
            <a:ext cx="1022700" cy="762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8B95A6"/>
                </a:solidFill>
                <a:latin typeface="Manrope"/>
                <a:ea typeface="Manrope"/>
                <a:cs typeface="Manrope"/>
                <a:sym typeface="Manrope"/>
              </a:rPr>
              <a:t>The term 'AI' coined. Optimism runs hot for two decades.</a:t>
            </a:r>
            <a:endParaRPr sz="1100"/>
          </a:p>
        </p:txBody>
      </p:sp>
      <p:sp>
        <p:nvSpPr>
          <p:cNvPr id="309" name="Google Shape;309;p35"/>
          <p:cNvSpPr/>
          <p:nvPr/>
        </p:nvSpPr>
        <p:spPr>
          <a:xfrm>
            <a:off x="2309248" y="2167128"/>
            <a:ext cx="164700" cy="164700"/>
          </a:xfrm>
          <a:prstGeom prst="ellipse">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10" name="Google Shape;310;p35"/>
          <p:cNvSpPr/>
          <p:nvPr/>
        </p:nvSpPr>
        <p:spPr>
          <a:xfrm>
            <a:off x="2165226" y="2091690"/>
            <a:ext cx="480000" cy="2196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11" name="Google Shape;311;p35"/>
          <p:cNvSpPr txBox="1"/>
          <p:nvPr/>
        </p:nvSpPr>
        <p:spPr>
          <a:xfrm>
            <a:off x="2165226" y="2091690"/>
            <a:ext cx="480000" cy="1923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800" u="none" cap="none" strike="noStrike">
                <a:solidFill>
                  <a:srgbClr val="FFFFFF"/>
                </a:solidFill>
                <a:latin typeface="Courier New"/>
                <a:ea typeface="Courier New"/>
                <a:cs typeface="Courier New"/>
                <a:sym typeface="Courier New"/>
              </a:rPr>
              <a:t>1986</a:t>
            </a:r>
            <a:endParaRPr sz="1100"/>
          </a:p>
        </p:txBody>
      </p:sp>
      <p:sp>
        <p:nvSpPr>
          <p:cNvPr id="312" name="Google Shape;312;p35"/>
          <p:cNvSpPr txBox="1"/>
          <p:nvPr/>
        </p:nvSpPr>
        <p:spPr>
          <a:xfrm>
            <a:off x="1893838" y="2414016"/>
            <a:ext cx="10227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Backprop</a:t>
            </a:r>
            <a:endParaRPr sz="1100"/>
          </a:p>
        </p:txBody>
      </p:sp>
      <p:sp>
        <p:nvSpPr>
          <p:cNvPr id="313" name="Google Shape;313;p35"/>
          <p:cNvSpPr txBox="1"/>
          <p:nvPr/>
        </p:nvSpPr>
        <p:spPr>
          <a:xfrm>
            <a:off x="1893838" y="2660904"/>
            <a:ext cx="1022700" cy="762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8B95A6"/>
                </a:solidFill>
                <a:latin typeface="Manrope"/>
                <a:ea typeface="Manrope"/>
                <a:cs typeface="Manrope"/>
                <a:sym typeface="Manrope"/>
              </a:rPr>
              <a:t>Rumelhart, Hinton &amp; Williams. Neural nets become trainable.</a:t>
            </a:r>
            <a:endParaRPr sz="1100"/>
          </a:p>
        </p:txBody>
      </p:sp>
      <p:sp>
        <p:nvSpPr>
          <p:cNvPr id="314" name="Google Shape;314;p35"/>
          <p:cNvSpPr/>
          <p:nvPr/>
        </p:nvSpPr>
        <p:spPr>
          <a:xfrm>
            <a:off x="3386962" y="2167128"/>
            <a:ext cx="164700" cy="164700"/>
          </a:xfrm>
          <a:prstGeom prst="ellipse">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15" name="Google Shape;315;p35"/>
          <p:cNvSpPr/>
          <p:nvPr/>
        </p:nvSpPr>
        <p:spPr>
          <a:xfrm>
            <a:off x="3242940" y="2091690"/>
            <a:ext cx="480000" cy="2196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16" name="Google Shape;316;p35"/>
          <p:cNvSpPr txBox="1"/>
          <p:nvPr/>
        </p:nvSpPr>
        <p:spPr>
          <a:xfrm>
            <a:off x="3242940" y="2091690"/>
            <a:ext cx="480000" cy="1923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800" u="none" cap="none" strike="noStrike">
                <a:solidFill>
                  <a:srgbClr val="FFFFFF"/>
                </a:solidFill>
                <a:latin typeface="Courier New"/>
                <a:ea typeface="Courier New"/>
                <a:cs typeface="Courier New"/>
                <a:sym typeface="Courier New"/>
              </a:rPr>
              <a:t>2012</a:t>
            </a:r>
            <a:endParaRPr sz="1100"/>
          </a:p>
        </p:txBody>
      </p:sp>
      <p:sp>
        <p:nvSpPr>
          <p:cNvPr id="317" name="Google Shape;317;p35"/>
          <p:cNvSpPr txBox="1"/>
          <p:nvPr/>
        </p:nvSpPr>
        <p:spPr>
          <a:xfrm>
            <a:off x="2971552" y="2414016"/>
            <a:ext cx="10227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ImageNet</a:t>
            </a:r>
            <a:endParaRPr sz="1100"/>
          </a:p>
        </p:txBody>
      </p:sp>
      <p:sp>
        <p:nvSpPr>
          <p:cNvPr id="318" name="Google Shape;318;p35"/>
          <p:cNvSpPr txBox="1"/>
          <p:nvPr/>
        </p:nvSpPr>
        <p:spPr>
          <a:xfrm>
            <a:off x="2971552" y="2660904"/>
            <a:ext cx="1022700" cy="762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8B95A6"/>
                </a:solidFill>
                <a:latin typeface="Manrope"/>
                <a:ea typeface="Manrope"/>
                <a:cs typeface="Manrope"/>
                <a:sym typeface="Manrope"/>
              </a:rPr>
              <a:t>AlexNet wins by a wide margin. Deep learning + GPUs = new default.</a:t>
            </a:r>
            <a:endParaRPr sz="1100"/>
          </a:p>
        </p:txBody>
      </p:sp>
      <p:sp>
        <p:nvSpPr>
          <p:cNvPr id="319" name="Google Shape;319;p35"/>
          <p:cNvSpPr/>
          <p:nvPr/>
        </p:nvSpPr>
        <p:spPr>
          <a:xfrm>
            <a:off x="4464677" y="2167128"/>
            <a:ext cx="164700" cy="164700"/>
          </a:xfrm>
          <a:prstGeom prst="ellipse">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20" name="Google Shape;320;p35"/>
          <p:cNvSpPr/>
          <p:nvPr/>
        </p:nvSpPr>
        <p:spPr>
          <a:xfrm>
            <a:off x="4320655" y="2091690"/>
            <a:ext cx="480000" cy="2196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21" name="Google Shape;321;p35"/>
          <p:cNvSpPr txBox="1"/>
          <p:nvPr/>
        </p:nvSpPr>
        <p:spPr>
          <a:xfrm>
            <a:off x="4320655" y="2091690"/>
            <a:ext cx="480000" cy="1923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800" u="none" cap="none" strike="noStrike">
                <a:solidFill>
                  <a:srgbClr val="FFFFFF"/>
                </a:solidFill>
                <a:latin typeface="Courier New"/>
                <a:ea typeface="Courier New"/>
                <a:cs typeface="Courier New"/>
                <a:sym typeface="Courier New"/>
              </a:rPr>
              <a:t>2017</a:t>
            </a:r>
            <a:endParaRPr sz="1100"/>
          </a:p>
        </p:txBody>
      </p:sp>
      <p:sp>
        <p:nvSpPr>
          <p:cNvPr id="322" name="Google Shape;322;p35"/>
          <p:cNvSpPr txBox="1"/>
          <p:nvPr/>
        </p:nvSpPr>
        <p:spPr>
          <a:xfrm>
            <a:off x="4049266" y="2414016"/>
            <a:ext cx="10227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Transformer</a:t>
            </a:r>
            <a:endParaRPr sz="1100"/>
          </a:p>
        </p:txBody>
      </p:sp>
      <p:sp>
        <p:nvSpPr>
          <p:cNvPr id="323" name="Google Shape;323;p35"/>
          <p:cNvSpPr txBox="1"/>
          <p:nvPr/>
        </p:nvSpPr>
        <p:spPr>
          <a:xfrm>
            <a:off x="4049266" y="2660904"/>
            <a:ext cx="1022700" cy="762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8B95A6"/>
                </a:solidFill>
                <a:latin typeface="Manrope"/>
                <a:ea typeface="Manrope"/>
                <a:cs typeface="Manrope"/>
                <a:sym typeface="Manrope"/>
              </a:rPr>
              <a:t>"Attention is all you need." The architecture under every modern LLM.</a:t>
            </a:r>
            <a:endParaRPr sz="1100"/>
          </a:p>
        </p:txBody>
      </p:sp>
      <p:sp>
        <p:nvSpPr>
          <p:cNvPr id="324" name="Google Shape;324;p35"/>
          <p:cNvSpPr/>
          <p:nvPr/>
        </p:nvSpPr>
        <p:spPr>
          <a:xfrm>
            <a:off x="5542391" y="2167128"/>
            <a:ext cx="164700" cy="164700"/>
          </a:xfrm>
          <a:prstGeom prst="ellipse">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25" name="Google Shape;325;p35"/>
          <p:cNvSpPr/>
          <p:nvPr/>
        </p:nvSpPr>
        <p:spPr>
          <a:xfrm>
            <a:off x="5398369" y="2091690"/>
            <a:ext cx="480000" cy="2196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26" name="Google Shape;326;p35"/>
          <p:cNvSpPr txBox="1"/>
          <p:nvPr/>
        </p:nvSpPr>
        <p:spPr>
          <a:xfrm>
            <a:off x="5398369" y="2091690"/>
            <a:ext cx="480000" cy="1923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800" u="none" cap="none" strike="noStrike">
                <a:solidFill>
                  <a:srgbClr val="FFFFFF"/>
                </a:solidFill>
                <a:latin typeface="Courier New"/>
                <a:ea typeface="Courier New"/>
                <a:cs typeface="Courier New"/>
                <a:sym typeface="Courier New"/>
              </a:rPr>
              <a:t>2020</a:t>
            </a:r>
            <a:endParaRPr sz="1100"/>
          </a:p>
        </p:txBody>
      </p:sp>
      <p:sp>
        <p:nvSpPr>
          <p:cNvPr id="327" name="Google Shape;327;p35"/>
          <p:cNvSpPr txBox="1"/>
          <p:nvPr/>
        </p:nvSpPr>
        <p:spPr>
          <a:xfrm>
            <a:off x="5126981" y="2414016"/>
            <a:ext cx="10227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GPT-3</a:t>
            </a:r>
            <a:endParaRPr sz="1100"/>
          </a:p>
        </p:txBody>
      </p:sp>
      <p:sp>
        <p:nvSpPr>
          <p:cNvPr id="328" name="Google Shape;328;p35"/>
          <p:cNvSpPr txBox="1"/>
          <p:nvPr/>
        </p:nvSpPr>
        <p:spPr>
          <a:xfrm>
            <a:off x="5126981" y="2660904"/>
            <a:ext cx="1022700" cy="623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8B95A6"/>
                </a:solidFill>
                <a:latin typeface="Manrope"/>
                <a:ea typeface="Manrope"/>
                <a:cs typeface="Manrope"/>
                <a:sym typeface="Manrope"/>
              </a:rPr>
              <a:t>Scaling laws confirmed. 175B parameters; the API era begins.</a:t>
            </a:r>
            <a:endParaRPr sz="1100"/>
          </a:p>
        </p:txBody>
      </p:sp>
      <p:sp>
        <p:nvSpPr>
          <p:cNvPr id="329" name="Google Shape;329;p35"/>
          <p:cNvSpPr/>
          <p:nvPr/>
        </p:nvSpPr>
        <p:spPr>
          <a:xfrm>
            <a:off x="6620105" y="2167128"/>
            <a:ext cx="164700" cy="164700"/>
          </a:xfrm>
          <a:prstGeom prst="ellipse">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30" name="Google Shape;330;p35"/>
          <p:cNvSpPr/>
          <p:nvPr/>
        </p:nvSpPr>
        <p:spPr>
          <a:xfrm>
            <a:off x="6476084" y="2091690"/>
            <a:ext cx="480000" cy="2196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31" name="Google Shape;331;p35"/>
          <p:cNvSpPr txBox="1"/>
          <p:nvPr/>
        </p:nvSpPr>
        <p:spPr>
          <a:xfrm>
            <a:off x="6476084" y="2091690"/>
            <a:ext cx="480000" cy="1923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800" u="none" cap="none" strike="noStrike">
                <a:solidFill>
                  <a:srgbClr val="FFFFFF"/>
                </a:solidFill>
                <a:latin typeface="Courier New"/>
                <a:ea typeface="Courier New"/>
                <a:cs typeface="Courier New"/>
                <a:sym typeface="Courier New"/>
              </a:rPr>
              <a:t>2022</a:t>
            </a:r>
            <a:endParaRPr sz="1100"/>
          </a:p>
        </p:txBody>
      </p:sp>
      <p:sp>
        <p:nvSpPr>
          <p:cNvPr id="332" name="Google Shape;332;p35"/>
          <p:cNvSpPr txBox="1"/>
          <p:nvPr/>
        </p:nvSpPr>
        <p:spPr>
          <a:xfrm>
            <a:off x="6204696" y="2414016"/>
            <a:ext cx="10227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ChatGPT</a:t>
            </a:r>
            <a:endParaRPr sz="1100"/>
          </a:p>
        </p:txBody>
      </p:sp>
      <p:sp>
        <p:nvSpPr>
          <p:cNvPr id="333" name="Google Shape;333;p35"/>
          <p:cNvSpPr txBox="1"/>
          <p:nvPr/>
        </p:nvSpPr>
        <p:spPr>
          <a:xfrm>
            <a:off x="6204696" y="2660904"/>
            <a:ext cx="1022700" cy="762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8B95A6"/>
                </a:solidFill>
                <a:latin typeface="Manrope"/>
                <a:ea typeface="Manrope"/>
                <a:cs typeface="Manrope"/>
                <a:sym typeface="Manrope"/>
              </a:rPr>
              <a:t>RLHF + a chat UI. 100 million users in two months. The product moment.</a:t>
            </a:r>
            <a:endParaRPr sz="1100"/>
          </a:p>
        </p:txBody>
      </p:sp>
      <p:sp>
        <p:nvSpPr>
          <p:cNvPr id="334" name="Google Shape;334;p35"/>
          <p:cNvSpPr/>
          <p:nvPr/>
        </p:nvSpPr>
        <p:spPr>
          <a:xfrm>
            <a:off x="7697820" y="2167128"/>
            <a:ext cx="164700" cy="164700"/>
          </a:xfrm>
          <a:prstGeom prst="ellipse">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35" name="Google Shape;335;p35"/>
          <p:cNvSpPr/>
          <p:nvPr/>
        </p:nvSpPr>
        <p:spPr>
          <a:xfrm>
            <a:off x="7553798" y="2091690"/>
            <a:ext cx="480000" cy="2196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36" name="Google Shape;336;p35"/>
          <p:cNvSpPr txBox="1"/>
          <p:nvPr/>
        </p:nvSpPr>
        <p:spPr>
          <a:xfrm>
            <a:off x="7553798" y="2091690"/>
            <a:ext cx="480000" cy="1923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800" u="none" cap="none" strike="noStrike">
                <a:solidFill>
                  <a:srgbClr val="FFFFFF"/>
                </a:solidFill>
                <a:latin typeface="Courier New"/>
                <a:ea typeface="Courier New"/>
                <a:cs typeface="Courier New"/>
                <a:sym typeface="Courier New"/>
              </a:rPr>
              <a:t>2024+</a:t>
            </a:r>
            <a:endParaRPr sz="1100"/>
          </a:p>
        </p:txBody>
      </p:sp>
      <p:sp>
        <p:nvSpPr>
          <p:cNvPr id="337" name="Google Shape;337;p35"/>
          <p:cNvSpPr txBox="1"/>
          <p:nvPr/>
        </p:nvSpPr>
        <p:spPr>
          <a:xfrm>
            <a:off x="7282410" y="2414016"/>
            <a:ext cx="10227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Agents</a:t>
            </a:r>
            <a:endParaRPr sz="1100"/>
          </a:p>
        </p:txBody>
      </p:sp>
      <p:sp>
        <p:nvSpPr>
          <p:cNvPr id="338" name="Google Shape;338;p35"/>
          <p:cNvSpPr txBox="1"/>
          <p:nvPr/>
        </p:nvSpPr>
        <p:spPr>
          <a:xfrm>
            <a:off x="7282410" y="2660904"/>
            <a:ext cx="1022700" cy="762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8B95A6"/>
                </a:solidFill>
                <a:latin typeface="Manrope"/>
                <a:ea typeface="Manrope"/>
                <a:cs typeface="Manrope"/>
                <a:sym typeface="Manrope"/>
              </a:rPr>
              <a:t>Tool use, long context, multi-step reasoning. Text in / action out.</a:t>
            </a:r>
            <a:endParaRPr sz="1100"/>
          </a:p>
        </p:txBody>
      </p:sp>
      <p:sp>
        <p:nvSpPr>
          <p:cNvPr id="339" name="Google Shape;339;p35"/>
          <p:cNvSpPr txBox="1"/>
          <p:nvPr/>
        </p:nvSpPr>
        <p:spPr>
          <a:xfrm>
            <a:off x="822982" y="4732020"/>
            <a:ext cx="274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36"/>
          <p:cNvSpPr txBox="1"/>
          <p:nvPr/>
        </p:nvSpPr>
        <p:spPr>
          <a:xfrm>
            <a:off x="822982" y="342900"/>
            <a:ext cx="2743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345" name="Google Shape;345;p36"/>
          <p:cNvSpPr txBox="1"/>
          <p:nvPr/>
        </p:nvSpPr>
        <p:spPr>
          <a:xfrm>
            <a:off x="822982" y="562356"/>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346" name="Google Shape;346;p36"/>
          <p:cNvSpPr txBox="1"/>
          <p:nvPr/>
        </p:nvSpPr>
        <p:spPr>
          <a:xfrm>
            <a:off x="822982" y="720090"/>
            <a:ext cx="548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INTRO TO AI</a:t>
            </a:r>
            <a:endParaRPr sz="1100"/>
          </a:p>
        </p:txBody>
      </p:sp>
      <p:sp>
        <p:nvSpPr>
          <p:cNvPr id="347" name="Google Shape;347;p36"/>
          <p:cNvSpPr txBox="1"/>
          <p:nvPr/>
        </p:nvSpPr>
        <p:spPr>
          <a:xfrm>
            <a:off x="822982" y="946404"/>
            <a:ext cx="74067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u="none" cap="none" strike="noStrike">
                <a:solidFill>
                  <a:srgbClr val="1B1F2A"/>
                </a:solidFill>
                <a:latin typeface="Manrope"/>
                <a:ea typeface="Manrope"/>
                <a:cs typeface="Manrope"/>
                <a:sym typeface="Manrope"/>
              </a:rPr>
              <a:t>Four ways to train a model.</a:t>
            </a:r>
            <a:endParaRPr sz="1100"/>
          </a:p>
        </p:txBody>
      </p:sp>
      <p:sp>
        <p:nvSpPr>
          <p:cNvPr id="348" name="Google Shape;348;p36"/>
          <p:cNvSpPr txBox="1"/>
          <p:nvPr/>
        </p:nvSpPr>
        <p:spPr>
          <a:xfrm>
            <a:off x="822982" y="1426464"/>
            <a:ext cx="74067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Almost every AI system — recommender, fraud check, LLM, robot — is one of these recipes, or a hybrid.</a:t>
            </a:r>
            <a:endParaRPr sz="1100"/>
          </a:p>
        </p:txBody>
      </p:sp>
      <p:sp>
        <p:nvSpPr>
          <p:cNvPr id="349" name="Google Shape;349;p36"/>
          <p:cNvSpPr/>
          <p:nvPr/>
        </p:nvSpPr>
        <p:spPr>
          <a:xfrm>
            <a:off x="822982" y="1885950"/>
            <a:ext cx="1920300" cy="20574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50" name="Google Shape;350;p36"/>
          <p:cNvSpPr txBox="1"/>
          <p:nvPr/>
        </p:nvSpPr>
        <p:spPr>
          <a:xfrm>
            <a:off x="960146" y="2009394"/>
            <a:ext cx="16461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01 · SUPERVISED</a:t>
            </a:r>
            <a:endParaRPr sz="1100"/>
          </a:p>
        </p:txBody>
      </p:sp>
      <p:sp>
        <p:nvSpPr>
          <p:cNvPr id="351" name="Google Shape;351;p36"/>
          <p:cNvSpPr txBox="1"/>
          <p:nvPr/>
        </p:nvSpPr>
        <p:spPr>
          <a:xfrm>
            <a:off x="960146" y="2208276"/>
            <a:ext cx="16461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Labelled examples in, predictions out</a:t>
            </a:r>
            <a:endParaRPr sz="1100"/>
          </a:p>
        </p:txBody>
      </p:sp>
      <p:sp>
        <p:nvSpPr>
          <p:cNvPr id="352" name="Google Shape;352;p36"/>
          <p:cNvSpPr txBox="1"/>
          <p:nvPr/>
        </p:nvSpPr>
        <p:spPr>
          <a:xfrm>
            <a:off x="960146" y="2640330"/>
            <a:ext cx="1646100" cy="1146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B95A6"/>
                </a:solidFill>
                <a:latin typeface="Manrope"/>
                <a:ea typeface="Manrope"/>
                <a:cs typeface="Manrope"/>
                <a:sym typeface="Manrope"/>
              </a:rPr>
              <a:t>You supply (input, correct answer) pairs. The model learns the mapping. Workhorse of classical ML: spam filters, OCR, demand forecasting, medical diagnosis.</a:t>
            </a:r>
            <a:endParaRPr sz="1100"/>
          </a:p>
        </p:txBody>
      </p:sp>
      <p:sp>
        <p:nvSpPr>
          <p:cNvPr id="353" name="Google Shape;353;p36"/>
          <p:cNvSpPr/>
          <p:nvPr/>
        </p:nvSpPr>
        <p:spPr>
          <a:xfrm>
            <a:off x="2880437" y="1885950"/>
            <a:ext cx="1920300" cy="20574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54" name="Google Shape;354;p36"/>
          <p:cNvSpPr txBox="1"/>
          <p:nvPr/>
        </p:nvSpPr>
        <p:spPr>
          <a:xfrm>
            <a:off x="3017600" y="2009394"/>
            <a:ext cx="16461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02 · UNSUPERVISED</a:t>
            </a:r>
            <a:endParaRPr sz="1100"/>
          </a:p>
        </p:txBody>
      </p:sp>
      <p:sp>
        <p:nvSpPr>
          <p:cNvPr id="355" name="Google Shape;355;p36"/>
          <p:cNvSpPr txBox="1"/>
          <p:nvPr/>
        </p:nvSpPr>
        <p:spPr>
          <a:xfrm>
            <a:off x="3017600" y="2208276"/>
            <a:ext cx="16461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No labels. Find hidden structure.</a:t>
            </a:r>
            <a:endParaRPr sz="1100"/>
          </a:p>
        </p:txBody>
      </p:sp>
      <p:sp>
        <p:nvSpPr>
          <p:cNvPr id="356" name="Google Shape;356;p36"/>
          <p:cNvSpPr txBox="1"/>
          <p:nvPr/>
        </p:nvSpPr>
        <p:spPr>
          <a:xfrm>
            <a:off x="3017600" y="2640330"/>
            <a:ext cx="1646100" cy="130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B95A6"/>
                </a:solidFill>
                <a:latin typeface="Manrope"/>
                <a:ea typeface="Manrope"/>
                <a:cs typeface="Manrope"/>
                <a:sym typeface="Manrope"/>
              </a:rPr>
              <a:t>Clustering, dimensionality reduction, anomaly detection. 'Which customers are similar? Which transactions look weird?' No human labelling required.</a:t>
            </a:r>
            <a:endParaRPr sz="1100"/>
          </a:p>
        </p:txBody>
      </p:sp>
      <p:sp>
        <p:nvSpPr>
          <p:cNvPr id="357" name="Google Shape;357;p36"/>
          <p:cNvSpPr/>
          <p:nvPr/>
        </p:nvSpPr>
        <p:spPr>
          <a:xfrm>
            <a:off x="4937892" y="1885950"/>
            <a:ext cx="1920300" cy="20574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58" name="Google Shape;358;p36"/>
          <p:cNvSpPr txBox="1"/>
          <p:nvPr/>
        </p:nvSpPr>
        <p:spPr>
          <a:xfrm>
            <a:off x="5075055" y="2009394"/>
            <a:ext cx="16461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03 · SELF-SUPERVISED</a:t>
            </a:r>
            <a:endParaRPr sz="1100"/>
          </a:p>
        </p:txBody>
      </p:sp>
      <p:sp>
        <p:nvSpPr>
          <p:cNvPr id="359" name="Google Shape;359;p36"/>
          <p:cNvSpPr txBox="1"/>
          <p:nvPr/>
        </p:nvSpPr>
        <p:spPr>
          <a:xfrm>
            <a:off x="5075055" y="2208276"/>
            <a:ext cx="16461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The data labels itself.</a:t>
            </a:r>
            <a:endParaRPr sz="1100"/>
          </a:p>
        </p:txBody>
      </p:sp>
      <p:sp>
        <p:nvSpPr>
          <p:cNvPr id="360" name="Google Shape;360;p36"/>
          <p:cNvSpPr txBox="1"/>
          <p:nvPr/>
        </p:nvSpPr>
        <p:spPr>
          <a:xfrm>
            <a:off x="5075055" y="2640330"/>
            <a:ext cx="1646100" cy="992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B95A6"/>
                </a:solidFill>
                <a:latin typeface="Manrope"/>
                <a:ea typeface="Manrope"/>
                <a:cs typeface="Manrope"/>
                <a:sym typeface="Manrope"/>
              </a:rPr>
              <a:t>Hide part of the input; ask the model to predict it. How every modern LLM is pre-trained — predict the next token from the previous ones.</a:t>
            </a:r>
            <a:endParaRPr sz="1100"/>
          </a:p>
        </p:txBody>
      </p:sp>
      <p:sp>
        <p:nvSpPr>
          <p:cNvPr id="361" name="Google Shape;361;p36"/>
          <p:cNvSpPr/>
          <p:nvPr/>
        </p:nvSpPr>
        <p:spPr>
          <a:xfrm>
            <a:off x="6995346" y="1885950"/>
            <a:ext cx="1920300" cy="20574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62" name="Google Shape;362;p36"/>
          <p:cNvSpPr txBox="1"/>
          <p:nvPr/>
        </p:nvSpPr>
        <p:spPr>
          <a:xfrm>
            <a:off x="7132510" y="2009394"/>
            <a:ext cx="16461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04 · REINFORCEMENT</a:t>
            </a:r>
            <a:endParaRPr sz="1100"/>
          </a:p>
        </p:txBody>
      </p:sp>
      <p:sp>
        <p:nvSpPr>
          <p:cNvPr id="363" name="Google Shape;363;p36"/>
          <p:cNvSpPr txBox="1"/>
          <p:nvPr/>
        </p:nvSpPr>
        <p:spPr>
          <a:xfrm>
            <a:off x="7132510" y="2208276"/>
            <a:ext cx="16461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Trial, error, reward.</a:t>
            </a:r>
            <a:endParaRPr sz="1100"/>
          </a:p>
        </p:txBody>
      </p:sp>
      <p:sp>
        <p:nvSpPr>
          <p:cNvPr id="364" name="Google Shape;364;p36"/>
          <p:cNvSpPr txBox="1"/>
          <p:nvPr/>
        </p:nvSpPr>
        <p:spPr>
          <a:xfrm>
            <a:off x="7132510" y="2640330"/>
            <a:ext cx="1646100" cy="130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B95A6"/>
                </a:solidFill>
                <a:latin typeface="Manrope"/>
                <a:ea typeface="Manrope"/>
                <a:cs typeface="Manrope"/>
                <a:sym typeface="Manrope"/>
              </a:rPr>
              <a:t>An agent acts in an environment and receives a score. Used to fine-tune LLMs (RLHF) and to train game-players, robots, and recommendation policies.</a:t>
            </a:r>
            <a:endParaRPr sz="1100"/>
          </a:p>
        </p:txBody>
      </p:sp>
      <p:sp>
        <p:nvSpPr>
          <p:cNvPr id="365" name="Google Shape;365;p36"/>
          <p:cNvSpPr txBox="1"/>
          <p:nvPr/>
        </p:nvSpPr>
        <p:spPr>
          <a:xfrm>
            <a:off x="822982" y="4732020"/>
            <a:ext cx="274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p37"/>
          <p:cNvSpPr txBox="1"/>
          <p:nvPr/>
        </p:nvSpPr>
        <p:spPr>
          <a:xfrm>
            <a:off x="822982" y="342900"/>
            <a:ext cx="2743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371" name="Google Shape;371;p37"/>
          <p:cNvSpPr txBox="1"/>
          <p:nvPr/>
        </p:nvSpPr>
        <p:spPr>
          <a:xfrm>
            <a:off x="822982" y="562356"/>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372" name="Google Shape;372;p37"/>
          <p:cNvSpPr txBox="1"/>
          <p:nvPr/>
        </p:nvSpPr>
        <p:spPr>
          <a:xfrm>
            <a:off x="822982" y="720090"/>
            <a:ext cx="548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INTRO TO AI</a:t>
            </a:r>
            <a:endParaRPr sz="1100"/>
          </a:p>
        </p:txBody>
      </p:sp>
      <p:sp>
        <p:nvSpPr>
          <p:cNvPr id="373" name="Google Shape;373;p37"/>
          <p:cNvSpPr txBox="1"/>
          <p:nvPr/>
        </p:nvSpPr>
        <p:spPr>
          <a:xfrm>
            <a:off x="822982" y="946404"/>
            <a:ext cx="74067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u="none" cap="none" strike="noStrike">
                <a:solidFill>
                  <a:srgbClr val="1B1F2A"/>
                </a:solidFill>
                <a:latin typeface="Manrope"/>
                <a:ea typeface="Manrope"/>
                <a:cs typeface="Manrope"/>
                <a:sym typeface="Manrope"/>
              </a:rPr>
              <a:t>Narrow AI vs. General AI — know the distinction.</a:t>
            </a:r>
            <a:endParaRPr sz="1100"/>
          </a:p>
        </p:txBody>
      </p:sp>
      <p:sp>
        <p:nvSpPr>
          <p:cNvPr id="374" name="Google Shape;374;p37"/>
          <p:cNvSpPr/>
          <p:nvPr/>
        </p:nvSpPr>
        <p:spPr>
          <a:xfrm>
            <a:off x="822982" y="1474470"/>
            <a:ext cx="3497700" cy="30861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5" name="Google Shape;375;p37"/>
          <p:cNvSpPr/>
          <p:nvPr/>
        </p:nvSpPr>
        <p:spPr>
          <a:xfrm>
            <a:off x="4800728" y="1474470"/>
            <a:ext cx="3497700" cy="3086100"/>
          </a:xfrm>
          <a:prstGeom prst="rect">
            <a:avLst/>
          </a:prstGeom>
          <a:solidFill>
            <a:srgbClr val="FFE3D2"/>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6" name="Google Shape;376;p37"/>
          <p:cNvSpPr/>
          <p:nvPr/>
        </p:nvSpPr>
        <p:spPr>
          <a:xfrm>
            <a:off x="822982" y="1474470"/>
            <a:ext cx="3497700" cy="329100"/>
          </a:xfrm>
          <a:prstGeom prst="rect">
            <a:avLst/>
          </a:prstGeom>
          <a:solidFill>
            <a:srgbClr val="384358"/>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7" name="Google Shape;377;p37"/>
          <p:cNvSpPr txBox="1"/>
          <p:nvPr/>
        </p:nvSpPr>
        <p:spPr>
          <a:xfrm>
            <a:off x="960146" y="1501902"/>
            <a:ext cx="3291900" cy="269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300" u="none" cap="none" strike="noStrike">
                <a:solidFill>
                  <a:srgbClr val="FFFFFF"/>
                </a:solidFill>
                <a:latin typeface="Manrope"/>
                <a:ea typeface="Manrope"/>
                <a:cs typeface="Manrope"/>
                <a:sym typeface="Manrope"/>
              </a:rPr>
              <a:t>Narrow AI — What We Have Today</a:t>
            </a:r>
            <a:endParaRPr sz="1100"/>
          </a:p>
        </p:txBody>
      </p:sp>
      <p:sp>
        <p:nvSpPr>
          <p:cNvPr id="378" name="Google Shape;378;p37"/>
          <p:cNvSpPr/>
          <p:nvPr/>
        </p:nvSpPr>
        <p:spPr>
          <a:xfrm>
            <a:off x="4800728" y="1474470"/>
            <a:ext cx="3497700" cy="3291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379" name="Google Shape;379;p37"/>
          <p:cNvSpPr txBox="1"/>
          <p:nvPr/>
        </p:nvSpPr>
        <p:spPr>
          <a:xfrm>
            <a:off x="4937892" y="1501902"/>
            <a:ext cx="3291900" cy="269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300" u="none" cap="none" strike="noStrike">
                <a:solidFill>
                  <a:srgbClr val="FFFFFF"/>
                </a:solidFill>
                <a:latin typeface="Manrope"/>
                <a:ea typeface="Manrope"/>
                <a:cs typeface="Manrope"/>
                <a:sym typeface="Manrope"/>
              </a:rPr>
              <a:t>General AI — What Gets Debated</a:t>
            </a:r>
            <a:endParaRPr sz="1100"/>
          </a:p>
        </p:txBody>
      </p:sp>
      <p:sp>
        <p:nvSpPr>
          <p:cNvPr id="380" name="Google Shape;380;p37"/>
          <p:cNvSpPr txBox="1"/>
          <p:nvPr/>
        </p:nvSpPr>
        <p:spPr>
          <a:xfrm>
            <a:off x="925855" y="1933956"/>
            <a:ext cx="32919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One job, done well. Trained for a specific task.</a:t>
            </a:r>
            <a:endParaRPr sz="1100"/>
          </a:p>
        </p:txBody>
      </p:sp>
      <p:sp>
        <p:nvSpPr>
          <p:cNvPr id="381" name="Google Shape;381;p37"/>
          <p:cNvSpPr txBox="1"/>
          <p:nvPr/>
        </p:nvSpPr>
        <p:spPr>
          <a:xfrm>
            <a:off x="925855" y="2276856"/>
            <a:ext cx="32919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Outside its task, performance falls off a cliff.</a:t>
            </a:r>
            <a:endParaRPr sz="1100"/>
          </a:p>
        </p:txBody>
      </p:sp>
      <p:sp>
        <p:nvSpPr>
          <p:cNvPr id="382" name="Google Shape;382;p37"/>
          <p:cNvSpPr txBox="1"/>
          <p:nvPr/>
        </p:nvSpPr>
        <p:spPr>
          <a:xfrm>
            <a:off x="925855" y="2619756"/>
            <a:ext cx="32919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Does not know it doesn't know.</a:t>
            </a:r>
            <a:endParaRPr sz="1100"/>
          </a:p>
        </p:txBody>
      </p:sp>
      <p:sp>
        <p:nvSpPr>
          <p:cNvPr id="383" name="Google Shape;383;p37"/>
          <p:cNvSpPr txBox="1"/>
          <p:nvPr/>
        </p:nvSpPr>
        <p:spPr>
          <a:xfrm>
            <a:off x="925855" y="2962656"/>
            <a:ext cx="32919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Every production AI system is narrow AI — even LLMs.</a:t>
            </a:r>
            <a:endParaRPr sz="1100"/>
          </a:p>
        </p:txBody>
      </p:sp>
      <p:sp>
        <p:nvSpPr>
          <p:cNvPr id="384" name="Google Shape;384;p37"/>
          <p:cNvSpPr txBox="1"/>
          <p:nvPr/>
        </p:nvSpPr>
        <p:spPr>
          <a:xfrm>
            <a:off x="925855" y="3305556"/>
            <a:ext cx="32919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Unusually wide, but still narrow in the technical sense.</a:t>
            </a:r>
            <a:endParaRPr sz="1100"/>
          </a:p>
        </p:txBody>
      </p:sp>
      <p:sp>
        <p:nvSpPr>
          <p:cNvPr id="385" name="Google Shape;385;p37"/>
          <p:cNvSpPr txBox="1"/>
          <p:nvPr/>
        </p:nvSpPr>
        <p:spPr>
          <a:xfrm>
            <a:off x="4903601" y="1933956"/>
            <a:ext cx="32919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Any cognitive task a human can do, at human level.</a:t>
            </a:r>
            <a:endParaRPr sz="1100"/>
          </a:p>
        </p:txBody>
      </p:sp>
      <p:sp>
        <p:nvSpPr>
          <p:cNvPr id="386" name="Google Shape;386;p37"/>
          <p:cNvSpPr txBox="1"/>
          <p:nvPr/>
        </p:nvSpPr>
        <p:spPr>
          <a:xfrm>
            <a:off x="4903601" y="2276856"/>
            <a:ext cx="32919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One system that learns arbitrary tasks with no domain training.</a:t>
            </a:r>
            <a:endParaRPr sz="1100"/>
          </a:p>
        </p:txBody>
      </p:sp>
      <p:sp>
        <p:nvSpPr>
          <p:cNvPr id="387" name="Google Shape;387;p37"/>
          <p:cNvSpPr txBox="1"/>
          <p:nvPr/>
        </p:nvSpPr>
        <p:spPr>
          <a:xfrm>
            <a:off x="4903601" y="2619756"/>
            <a:ext cx="32919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Sometimes called AGI. Definitions are contested.</a:t>
            </a:r>
            <a:endParaRPr sz="1100"/>
          </a:p>
        </p:txBody>
      </p:sp>
      <p:sp>
        <p:nvSpPr>
          <p:cNvPr id="388" name="Google Shape;388;p37"/>
          <p:cNvSpPr txBox="1"/>
          <p:nvPr/>
        </p:nvSpPr>
        <p:spPr>
          <a:xfrm>
            <a:off x="4903601" y="2962656"/>
            <a:ext cx="32919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Timelines are guesses; benchmarks are disputed.</a:t>
            </a:r>
            <a:endParaRPr sz="1100"/>
          </a:p>
        </p:txBody>
      </p:sp>
      <p:sp>
        <p:nvSpPr>
          <p:cNvPr id="389" name="Google Shape;389;p37"/>
          <p:cNvSpPr txBox="1"/>
          <p:nvPr/>
        </p:nvSpPr>
        <p:spPr>
          <a:xfrm>
            <a:off x="4903601" y="3305556"/>
            <a:ext cx="32919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Not on the engineering roadmap. Worth knowing the term.</a:t>
            </a:r>
            <a:endParaRPr sz="1100"/>
          </a:p>
        </p:txBody>
      </p:sp>
      <p:sp>
        <p:nvSpPr>
          <p:cNvPr id="390" name="Google Shape;390;p37"/>
          <p:cNvSpPr txBox="1"/>
          <p:nvPr/>
        </p:nvSpPr>
        <p:spPr>
          <a:xfrm>
            <a:off x="822982" y="4732020"/>
            <a:ext cx="274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38"/>
          <p:cNvSpPr txBox="1"/>
          <p:nvPr/>
        </p:nvSpPr>
        <p:spPr>
          <a:xfrm>
            <a:off x="822982" y="342900"/>
            <a:ext cx="2743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396" name="Google Shape;396;p38"/>
          <p:cNvSpPr txBox="1"/>
          <p:nvPr/>
        </p:nvSpPr>
        <p:spPr>
          <a:xfrm>
            <a:off x="822982" y="562356"/>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397" name="Google Shape;397;p38"/>
          <p:cNvSpPr txBox="1"/>
          <p:nvPr/>
        </p:nvSpPr>
        <p:spPr>
          <a:xfrm>
            <a:off x="822982" y="720090"/>
            <a:ext cx="548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INTRO TO AI</a:t>
            </a:r>
            <a:endParaRPr sz="1100"/>
          </a:p>
        </p:txBody>
      </p:sp>
      <p:sp>
        <p:nvSpPr>
          <p:cNvPr id="398" name="Google Shape;398;p38"/>
          <p:cNvSpPr txBox="1"/>
          <p:nvPr/>
        </p:nvSpPr>
        <p:spPr>
          <a:xfrm>
            <a:off x="822982" y="946404"/>
            <a:ext cx="7406700" cy="715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u="none" cap="none" strike="noStrike">
                <a:solidFill>
                  <a:srgbClr val="1B1F2A"/>
                </a:solidFill>
                <a:latin typeface="Manrope"/>
                <a:ea typeface="Manrope"/>
                <a:cs typeface="Manrope"/>
                <a:sym typeface="Manrope"/>
              </a:rPr>
              <a:t>Machine Learning: mathematical algorithms that learn patterns from data.</a:t>
            </a:r>
            <a:endParaRPr sz="1100"/>
          </a:p>
        </p:txBody>
      </p:sp>
      <p:sp>
        <p:nvSpPr>
          <p:cNvPr id="399" name="Google Shape;399;p38"/>
          <p:cNvSpPr/>
          <p:nvPr/>
        </p:nvSpPr>
        <p:spPr>
          <a:xfrm>
            <a:off x="3221060" y="2228850"/>
            <a:ext cx="123300" cy="549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00" name="Google Shape;400;p38"/>
          <p:cNvSpPr/>
          <p:nvPr/>
        </p:nvSpPr>
        <p:spPr>
          <a:xfrm>
            <a:off x="788691" y="1885950"/>
            <a:ext cx="480000" cy="3429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01" name="Google Shape;401;p38"/>
          <p:cNvSpPr txBox="1"/>
          <p:nvPr/>
        </p:nvSpPr>
        <p:spPr>
          <a:xfrm>
            <a:off x="822982" y="1913382"/>
            <a:ext cx="4116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u="none" cap="none" strike="noStrike">
                <a:solidFill>
                  <a:srgbClr val="FFFFFF"/>
                </a:solidFill>
                <a:latin typeface="Courier New"/>
                <a:ea typeface="Courier New"/>
                <a:cs typeface="Courier New"/>
                <a:sym typeface="Courier New"/>
              </a:rPr>
              <a:t>01</a:t>
            </a:r>
            <a:endParaRPr sz="1100"/>
          </a:p>
        </p:txBody>
      </p:sp>
      <p:sp>
        <p:nvSpPr>
          <p:cNvPr id="402" name="Google Shape;402;p38"/>
          <p:cNvSpPr txBox="1"/>
          <p:nvPr/>
        </p:nvSpPr>
        <p:spPr>
          <a:xfrm>
            <a:off x="788691" y="2331720"/>
            <a:ext cx="2446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Takes Input Data</a:t>
            </a:r>
            <a:endParaRPr sz="1100"/>
          </a:p>
        </p:txBody>
      </p:sp>
      <p:sp>
        <p:nvSpPr>
          <p:cNvPr id="403" name="Google Shape;403;p38"/>
          <p:cNvSpPr txBox="1"/>
          <p:nvPr/>
        </p:nvSpPr>
        <p:spPr>
          <a:xfrm>
            <a:off x="788691" y="2914650"/>
            <a:ext cx="2446200" cy="992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B95A6"/>
                </a:solidFill>
                <a:latin typeface="Manrope"/>
                <a:ea typeface="Manrope"/>
                <a:cs typeface="Manrope"/>
                <a:sym typeface="Manrope"/>
              </a:rPr>
              <a:t>Raw information is fed into the system. Structured tables, images, text, sensor streams — whatever your domain produces. Quality and volume of input data are the primary determinants of model quality.</a:t>
            </a:r>
            <a:endParaRPr sz="1100"/>
          </a:p>
        </p:txBody>
      </p:sp>
      <p:sp>
        <p:nvSpPr>
          <p:cNvPr id="404" name="Google Shape;404;p38"/>
          <p:cNvSpPr/>
          <p:nvPr/>
        </p:nvSpPr>
        <p:spPr>
          <a:xfrm>
            <a:off x="5735727" y="2228850"/>
            <a:ext cx="123300" cy="549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05" name="Google Shape;405;p38"/>
          <p:cNvSpPr/>
          <p:nvPr/>
        </p:nvSpPr>
        <p:spPr>
          <a:xfrm>
            <a:off x="3303358" y="1885950"/>
            <a:ext cx="480000" cy="3429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06" name="Google Shape;406;p38"/>
          <p:cNvSpPr txBox="1"/>
          <p:nvPr/>
        </p:nvSpPr>
        <p:spPr>
          <a:xfrm>
            <a:off x="3337649" y="1913382"/>
            <a:ext cx="4116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u="none" cap="none" strike="noStrike">
                <a:solidFill>
                  <a:srgbClr val="FFFFFF"/>
                </a:solidFill>
                <a:latin typeface="Courier New"/>
                <a:ea typeface="Courier New"/>
                <a:cs typeface="Courier New"/>
                <a:sym typeface="Courier New"/>
              </a:rPr>
              <a:t>02</a:t>
            </a:r>
            <a:endParaRPr sz="1100"/>
          </a:p>
        </p:txBody>
      </p:sp>
      <p:sp>
        <p:nvSpPr>
          <p:cNvPr id="407" name="Google Shape;407;p38"/>
          <p:cNvSpPr txBox="1"/>
          <p:nvPr/>
        </p:nvSpPr>
        <p:spPr>
          <a:xfrm>
            <a:off x="3303358" y="2331720"/>
            <a:ext cx="2446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Learns Patterns</a:t>
            </a:r>
            <a:endParaRPr sz="1100"/>
          </a:p>
        </p:txBody>
      </p:sp>
      <p:sp>
        <p:nvSpPr>
          <p:cNvPr id="408" name="Google Shape;408;p38"/>
          <p:cNvSpPr txBox="1"/>
          <p:nvPr/>
        </p:nvSpPr>
        <p:spPr>
          <a:xfrm>
            <a:off x="3303358" y="2914650"/>
            <a:ext cx="2446200" cy="992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B95A6"/>
                </a:solidFill>
                <a:latin typeface="Manrope"/>
                <a:ea typeface="Manrope"/>
                <a:cs typeface="Manrope"/>
                <a:sym typeface="Manrope"/>
              </a:rPr>
              <a:t>The algorithm identifies hidden structures and statistical relationships during the training phase. It adjusts its internal parameters (weights) to minimise the gap between its predictions and the correct answers.</a:t>
            </a:r>
            <a:endParaRPr sz="1100"/>
          </a:p>
        </p:txBody>
      </p:sp>
      <p:sp>
        <p:nvSpPr>
          <p:cNvPr id="409" name="Google Shape;409;p38"/>
          <p:cNvSpPr/>
          <p:nvPr/>
        </p:nvSpPr>
        <p:spPr>
          <a:xfrm>
            <a:off x="5818025" y="1885950"/>
            <a:ext cx="480000" cy="3429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10" name="Google Shape;410;p38"/>
          <p:cNvSpPr txBox="1"/>
          <p:nvPr/>
        </p:nvSpPr>
        <p:spPr>
          <a:xfrm>
            <a:off x="5852316" y="1913382"/>
            <a:ext cx="4116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u="none" cap="none" strike="noStrike">
                <a:solidFill>
                  <a:srgbClr val="FFFFFF"/>
                </a:solidFill>
                <a:latin typeface="Courier New"/>
                <a:ea typeface="Courier New"/>
                <a:cs typeface="Courier New"/>
                <a:sym typeface="Courier New"/>
              </a:rPr>
              <a:t>03</a:t>
            </a:r>
            <a:endParaRPr sz="1100"/>
          </a:p>
        </p:txBody>
      </p:sp>
      <p:sp>
        <p:nvSpPr>
          <p:cNvPr id="411" name="Google Shape;411;p38"/>
          <p:cNvSpPr txBox="1"/>
          <p:nvPr/>
        </p:nvSpPr>
        <p:spPr>
          <a:xfrm>
            <a:off x="5818025" y="2331720"/>
            <a:ext cx="2446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Produces Output</a:t>
            </a:r>
            <a:endParaRPr sz="1100"/>
          </a:p>
        </p:txBody>
      </p:sp>
      <p:sp>
        <p:nvSpPr>
          <p:cNvPr id="412" name="Google Shape;412;p38"/>
          <p:cNvSpPr txBox="1"/>
          <p:nvPr/>
        </p:nvSpPr>
        <p:spPr>
          <a:xfrm>
            <a:off x="5818025" y="2914650"/>
            <a:ext cx="2446200" cy="992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B95A6"/>
                </a:solidFill>
                <a:latin typeface="Manrope"/>
                <a:ea typeface="Manrope"/>
                <a:cs typeface="Manrope"/>
                <a:sym typeface="Manrope"/>
              </a:rPr>
              <a:t>The system generates a prediction, decision, or generated result. Classification label, a number, a probability score, a generated text passage — the output type depends on the task and model architecture.</a:t>
            </a:r>
            <a:endParaRPr sz="1100"/>
          </a:p>
        </p:txBody>
      </p:sp>
      <p:sp>
        <p:nvSpPr>
          <p:cNvPr id="413" name="Google Shape;413;p38"/>
          <p:cNvSpPr txBox="1"/>
          <p:nvPr/>
        </p:nvSpPr>
        <p:spPr>
          <a:xfrm>
            <a:off x="822982" y="4732020"/>
            <a:ext cx="274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39"/>
          <p:cNvSpPr txBox="1"/>
          <p:nvPr/>
        </p:nvSpPr>
        <p:spPr>
          <a:xfrm>
            <a:off x="822982" y="342900"/>
            <a:ext cx="2743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419" name="Google Shape;419;p39"/>
          <p:cNvSpPr txBox="1"/>
          <p:nvPr/>
        </p:nvSpPr>
        <p:spPr>
          <a:xfrm>
            <a:off x="822982" y="562356"/>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420" name="Google Shape;420;p39"/>
          <p:cNvSpPr txBox="1"/>
          <p:nvPr/>
        </p:nvSpPr>
        <p:spPr>
          <a:xfrm>
            <a:off x="822982" y="720090"/>
            <a:ext cx="548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INTRO TO AI</a:t>
            </a:r>
            <a:endParaRPr sz="1100"/>
          </a:p>
        </p:txBody>
      </p:sp>
      <p:sp>
        <p:nvSpPr>
          <p:cNvPr id="421" name="Google Shape;421;p39"/>
          <p:cNvSpPr txBox="1"/>
          <p:nvPr/>
        </p:nvSpPr>
        <p:spPr>
          <a:xfrm>
            <a:off x="822982" y="946404"/>
            <a:ext cx="7406700" cy="48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700" u="none" cap="none" strike="noStrike">
                <a:solidFill>
                  <a:srgbClr val="1B1F2A"/>
                </a:solidFill>
                <a:latin typeface="Manrope"/>
                <a:ea typeface="Manrope"/>
                <a:cs typeface="Manrope"/>
                <a:sym typeface="Manrope"/>
              </a:rPr>
              <a:t>Three core learning styles.</a:t>
            </a:r>
            <a:endParaRPr sz="1100"/>
          </a:p>
        </p:txBody>
      </p:sp>
      <p:sp>
        <p:nvSpPr>
          <p:cNvPr id="422" name="Google Shape;422;p39"/>
          <p:cNvSpPr txBox="1"/>
          <p:nvPr/>
        </p:nvSpPr>
        <p:spPr>
          <a:xfrm>
            <a:off x="822982" y="1522476"/>
            <a:ext cx="74067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The style of learning determines the data you need and the problems you can solve.</a:t>
            </a:r>
            <a:endParaRPr sz="1100"/>
          </a:p>
        </p:txBody>
      </p:sp>
      <p:sp>
        <p:nvSpPr>
          <p:cNvPr id="423" name="Google Shape;423;p39"/>
          <p:cNvSpPr/>
          <p:nvPr/>
        </p:nvSpPr>
        <p:spPr>
          <a:xfrm>
            <a:off x="822982" y="2023110"/>
            <a:ext cx="2469000" cy="273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24" name="Google Shape;424;p39"/>
          <p:cNvSpPr txBox="1"/>
          <p:nvPr/>
        </p:nvSpPr>
        <p:spPr>
          <a:xfrm>
            <a:off x="822982" y="2091690"/>
            <a:ext cx="246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8B95A6"/>
                </a:solidFill>
                <a:latin typeface="Courier New"/>
                <a:ea typeface="Courier New"/>
                <a:cs typeface="Courier New"/>
                <a:sym typeface="Courier New"/>
              </a:rPr>
              <a:t>SUPERVISED LEARNING</a:t>
            </a:r>
            <a:endParaRPr sz="1100"/>
          </a:p>
        </p:txBody>
      </p:sp>
      <p:sp>
        <p:nvSpPr>
          <p:cNvPr id="425" name="Google Shape;425;p39"/>
          <p:cNvSpPr txBox="1"/>
          <p:nvPr/>
        </p:nvSpPr>
        <p:spPr>
          <a:xfrm>
            <a:off x="822982" y="2242566"/>
            <a:ext cx="2469000" cy="300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u="none" cap="none" strike="noStrike">
                <a:solidFill>
                  <a:srgbClr val="1B1F2A"/>
                </a:solidFill>
                <a:latin typeface="Manrope"/>
                <a:ea typeface="Manrope"/>
                <a:cs typeface="Manrope"/>
                <a:sym typeface="Manrope"/>
              </a:rPr>
              <a:t>Predict correct answers</a:t>
            </a:r>
            <a:endParaRPr sz="1100"/>
          </a:p>
        </p:txBody>
      </p:sp>
      <p:sp>
        <p:nvSpPr>
          <p:cNvPr id="426" name="Google Shape;426;p39"/>
          <p:cNvSpPr txBox="1"/>
          <p:nvPr/>
        </p:nvSpPr>
        <p:spPr>
          <a:xfrm>
            <a:off x="822982" y="2558034"/>
            <a:ext cx="2469000" cy="142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Data type: Labelled inputs + correct outputs.</a:t>
            </a:r>
            <a:br>
              <a:rPr b="0" i="0" lang="en-GB" sz="1100" u="none" cap="none" strike="noStrike">
                <a:solidFill>
                  <a:srgbClr val="8B95A6"/>
                </a:solidFill>
                <a:latin typeface="Manrope"/>
                <a:ea typeface="Manrope"/>
                <a:cs typeface="Manrope"/>
                <a:sym typeface="Manrope"/>
              </a:rPr>
            </a:br>
            <a:r>
              <a:rPr b="0" i="0" lang="en-GB" sz="1100" u="none" cap="none" strike="noStrike">
                <a:solidFill>
                  <a:srgbClr val="8B95A6"/>
                </a:solidFill>
                <a:latin typeface="Manrope"/>
                <a:ea typeface="Manrope"/>
                <a:cs typeface="Manrope"/>
                <a:sym typeface="Manrope"/>
              </a:rPr>
              <a:t>Goal: Learn the input→output mapping.</a:t>
            </a:r>
            <a:br>
              <a:rPr b="0" i="0" lang="en-GB" sz="1100" u="none" cap="none" strike="noStrike">
                <a:solidFill>
                  <a:srgbClr val="8B95A6"/>
                </a:solidFill>
                <a:latin typeface="Manrope"/>
                <a:ea typeface="Manrope"/>
                <a:cs typeface="Manrope"/>
                <a:sym typeface="Manrope"/>
              </a:rPr>
            </a:br>
            <a:r>
              <a:rPr b="0" i="0" lang="en-GB" sz="1100" u="none" cap="none" strike="noStrike">
                <a:solidFill>
                  <a:srgbClr val="8B95A6"/>
                </a:solidFill>
                <a:latin typeface="Manrope"/>
                <a:ea typeface="Manrope"/>
                <a:cs typeface="Manrope"/>
                <a:sym typeface="Manrope"/>
              </a:rPr>
              <a:t>Real-world: Email spam detection (Gmail), credit scoring, image recognition, medical diagnosis, demand forecasting.</a:t>
            </a:r>
            <a:endParaRPr sz="1100"/>
          </a:p>
        </p:txBody>
      </p:sp>
      <p:sp>
        <p:nvSpPr>
          <p:cNvPr id="427" name="Google Shape;427;p39"/>
          <p:cNvSpPr/>
          <p:nvPr/>
        </p:nvSpPr>
        <p:spPr>
          <a:xfrm>
            <a:off x="3429091" y="2023110"/>
            <a:ext cx="2469000" cy="273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28" name="Google Shape;428;p39"/>
          <p:cNvSpPr txBox="1"/>
          <p:nvPr/>
        </p:nvSpPr>
        <p:spPr>
          <a:xfrm>
            <a:off x="3429091" y="2091690"/>
            <a:ext cx="246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8B95A6"/>
                </a:solidFill>
                <a:latin typeface="Courier New"/>
                <a:ea typeface="Courier New"/>
                <a:cs typeface="Courier New"/>
                <a:sym typeface="Courier New"/>
              </a:rPr>
              <a:t>UNSUPERVISED LEARNING</a:t>
            </a:r>
            <a:endParaRPr sz="1100"/>
          </a:p>
        </p:txBody>
      </p:sp>
      <p:sp>
        <p:nvSpPr>
          <p:cNvPr id="429" name="Google Shape;429;p39"/>
          <p:cNvSpPr txBox="1"/>
          <p:nvPr/>
        </p:nvSpPr>
        <p:spPr>
          <a:xfrm>
            <a:off x="3429091" y="2242566"/>
            <a:ext cx="2469000" cy="300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u="none" cap="none" strike="noStrike">
                <a:solidFill>
                  <a:srgbClr val="1B1F2A"/>
                </a:solidFill>
                <a:latin typeface="Manrope"/>
                <a:ea typeface="Manrope"/>
                <a:cs typeface="Manrope"/>
                <a:sym typeface="Manrope"/>
              </a:rPr>
              <a:t>Find hidden patterns</a:t>
            </a:r>
            <a:endParaRPr sz="1100"/>
          </a:p>
        </p:txBody>
      </p:sp>
      <p:sp>
        <p:nvSpPr>
          <p:cNvPr id="430" name="Google Shape;430;p39"/>
          <p:cNvSpPr txBox="1"/>
          <p:nvPr/>
        </p:nvSpPr>
        <p:spPr>
          <a:xfrm>
            <a:off x="3429091" y="2558034"/>
            <a:ext cx="2469000" cy="142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Data type: Unlabelled data.</a:t>
            </a:r>
            <a:br>
              <a:rPr b="0" i="0" lang="en-GB" sz="1100" u="none" cap="none" strike="noStrike">
                <a:solidFill>
                  <a:srgbClr val="8B95A6"/>
                </a:solidFill>
                <a:latin typeface="Manrope"/>
                <a:ea typeface="Manrope"/>
                <a:cs typeface="Manrope"/>
                <a:sym typeface="Manrope"/>
              </a:rPr>
            </a:br>
            <a:r>
              <a:rPr b="0" i="0" lang="en-GB" sz="1100" u="none" cap="none" strike="noStrike">
                <a:solidFill>
                  <a:srgbClr val="8B95A6"/>
                </a:solidFill>
                <a:latin typeface="Manrope"/>
                <a:ea typeface="Manrope"/>
                <a:cs typeface="Manrope"/>
                <a:sym typeface="Manrope"/>
              </a:rPr>
              <a:t>Goal: Discover structure, groups, or anomalies.</a:t>
            </a:r>
            <a:br>
              <a:rPr b="0" i="0" lang="en-GB" sz="1100" u="none" cap="none" strike="noStrike">
                <a:solidFill>
                  <a:srgbClr val="8B95A6"/>
                </a:solidFill>
                <a:latin typeface="Manrope"/>
                <a:ea typeface="Manrope"/>
                <a:cs typeface="Manrope"/>
                <a:sym typeface="Manrope"/>
              </a:rPr>
            </a:br>
            <a:r>
              <a:rPr b="0" i="0" lang="en-GB" sz="1100" u="none" cap="none" strike="noStrike">
                <a:solidFill>
                  <a:srgbClr val="8B95A6"/>
                </a:solidFill>
                <a:latin typeface="Manrope"/>
                <a:ea typeface="Manrope"/>
                <a:cs typeface="Manrope"/>
                <a:sym typeface="Manrope"/>
              </a:rPr>
              <a:t>Real-world: Customer segmentation (Amazon buying behaviour), topic modelling, anomaly detection, recommendation systems.</a:t>
            </a:r>
            <a:endParaRPr sz="1100"/>
          </a:p>
        </p:txBody>
      </p:sp>
      <p:sp>
        <p:nvSpPr>
          <p:cNvPr id="431" name="Google Shape;431;p39"/>
          <p:cNvSpPr/>
          <p:nvPr/>
        </p:nvSpPr>
        <p:spPr>
          <a:xfrm>
            <a:off x="6035201" y="2023110"/>
            <a:ext cx="2469000" cy="273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32" name="Google Shape;432;p39"/>
          <p:cNvSpPr txBox="1"/>
          <p:nvPr/>
        </p:nvSpPr>
        <p:spPr>
          <a:xfrm>
            <a:off x="6035201" y="2091690"/>
            <a:ext cx="246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8B95A6"/>
                </a:solidFill>
                <a:latin typeface="Courier New"/>
                <a:ea typeface="Courier New"/>
                <a:cs typeface="Courier New"/>
                <a:sym typeface="Courier New"/>
              </a:rPr>
              <a:t>REINFORCEMENT LEARNING</a:t>
            </a:r>
            <a:endParaRPr sz="1100"/>
          </a:p>
        </p:txBody>
      </p:sp>
      <p:sp>
        <p:nvSpPr>
          <p:cNvPr id="433" name="Google Shape;433;p39"/>
          <p:cNvSpPr txBox="1"/>
          <p:nvPr/>
        </p:nvSpPr>
        <p:spPr>
          <a:xfrm>
            <a:off x="6035201" y="2242566"/>
            <a:ext cx="2469000" cy="531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u="none" cap="none" strike="noStrike">
                <a:solidFill>
                  <a:srgbClr val="1B1F2A"/>
                </a:solidFill>
                <a:latin typeface="Manrope"/>
                <a:ea typeface="Manrope"/>
                <a:cs typeface="Manrope"/>
                <a:sym typeface="Manrope"/>
              </a:rPr>
              <a:t>Maximise reward over time</a:t>
            </a:r>
            <a:endParaRPr sz="1100"/>
          </a:p>
        </p:txBody>
      </p:sp>
      <p:sp>
        <p:nvSpPr>
          <p:cNvPr id="434" name="Google Shape;434;p39"/>
          <p:cNvSpPr txBox="1"/>
          <p:nvPr/>
        </p:nvSpPr>
        <p:spPr>
          <a:xfrm>
            <a:off x="6046167" y="2876575"/>
            <a:ext cx="2469000" cy="1254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Data type: Trial &amp; error with rewards/penalties.</a:t>
            </a:r>
            <a:br>
              <a:rPr b="0" i="0" lang="en-GB" sz="1100" u="none" cap="none" strike="noStrike">
                <a:solidFill>
                  <a:srgbClr val="8B95A6"/>
                </a:solidFill>
                <a:latin typeface="Manrope"/>
                <a:ea typeface="Manrope"/>
                <a:cs typeface="Manrope"/>
                <a:sym typeface="Manrope"/>
              </a:rPr>
            </a:br>
            <a:r>
              <a:rPr b="0" i="0" lang="en-GB" sz="1100" u="none" cap="none" strike="noStrike">
                <a:solidFill>
                  <a:srgbClr val="8B95A6"/>
                </a:solidFill>
                <a:latin typeface="Manrope"/>
                <a:ea typeface="Manrope"/>
                <a:cs typeface="Manrope"/>
                <a:sym typeface="Manrope"/>
              </a:rPr>
              <a:t>Goal: Learn a policy that maximises cumulative reward.</a:t>
            </a:r>
            <a:br>
              <a:rPr b="0" i="0" lang="en-GB" sz="1100" u="none" cap="none" strike="noStrike">
                <a:solidFill>
                  <a:srgbClr val="8B95A6"/>
                </a:solidFill>
                <a:latin typeface="Manrope"/>
                <a:ea typeface="Manrope"/>
                <a:cs typeface="Manrope"/>
                <a:sym typeface="Manrope"/>
              </a:rPr>
            </a:br>
            <a:r>
              <a:rPr b="0" i="0" lang="en-GB" sz="1100" u="none" cap="none" strike="noStrike">
                <a:solidFill>
                  <a:srgbClr val="8B95A6"/>
                </a:solidFill>
                <a:latin typeface="Manrope"/>
                <a:ea typeface="Manrope"/>
                <a:cs typeface="Manrope"/>
                <a:sym typeface="Manrope"/>
              </a:rPr>
              <a:t>Real-world: AlphaGo, autonomous vehicles, RLHF for LLM alignment, robotic control.</a:t>
            </a:r>
            <a:endParaRPr sz="1100"/>
          </a:p>
        </p:txBody>
      </p:sp>
      <p:sp>
        <p:nvSpPr>
          <p:cNvPr id="435" name="Google Shape;435;p39"/>
          <p:cNvSpPr txBox="1"/>
          <p:nvPr/>
        </p:nvSpPr>
        <p:spPr>
          <a:xfrm>
            <a:off x="822982" y="4732020"/>
            <a:ext cx="274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p40"/>
          <p:cNvSpPr txBox="1"/>
          <p:nvPr/>
        </p:nvSpPr>
        <p:spPr>
          <a:xfrm>
            <a:off x="822982" y="342900"/>
            <a:ext cx="2743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441" name="Google Shape;441;p40"/>
          <p:cNvSpPr txBox="1"/>
          <p:nvPr/>
        </p:nvSpPr>
        <p:spPr>
          <a:xfrm>
            <a:off x="822982" y="562356"/>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442" name="Google Shape;442;p40"/>
          <p:cNvSpPr txBox="1"/>
          <p:nvPr/>
        </p:nvSpPr>
        <p:spPr>
          <a:xfrm>
            <a:off x="822982" y="720090"/>
            <a:ext cx="548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INTRO TO AI</a:t>
            </a:r>
            <a:endParaRPr sz="1100"/>
          </a:p>
        </p:txBody>
      </p:sp>
      <p:sp>
        <p:nvSpPr>
          <p:cNvPr id="443" name="Google Shape;443;p40"/>
          <p:cNvSpPr txBox="1"/>
          <p:nvPr/>
        </p:nvSpPr>
        <p:spPr>
          <a:xfrm>
            <a:off x="822982" y="946404"/>
            <a:ext cx="74067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u="none" cap="none" strike="noStrike">
                <a:solidFill>
                  <a:srgbClr val="1B1F2A"/>
                </a:solidFill>
                <a:latin typeface="Manrope"/>
                <a:ea typeface="Manrope"/>
                <a:cs typeface="Manrope"/>
                <a:sym typeface="Manrope"/>
              </a:rPr>
              <a:t>Four primary ML task categories.</a:t>
            </a:r>
            <a:endParaRPr sz="1100"/>
          </a:p>
        </p:txBody>
      </p:sp>
      <p:sp>
        <p:nvSpPr>
          <p:cNvPr id="444" name="Google Shape;444;p40"/>
          <p:cNvSpPr txBox="1"/>
          <p:nvPr/>
        </p:nvSpPr>
        <p:spPr>
          <a:xfrm>
            <a:off x="822982" y="1426464"/>
            <a:ext cx="74067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Every ML application maps to one of these. Know the category; choose the algorithm family.</a:t>
            </a:r>
            <a:endParaRPr sz="1100"/>
          </a:p>
        </p:txBody>
      </p:sp>
      <p:sp>
        <p:nvSpPr>
          <p:cNvPr id="445" name="Google Shape;445;p40"/>
          <p:cNvSpPr/>
          <p:nvPr/>
        </p:nvSpPr>
        <p:spPr>
          <a:xfrm>
            <a:off x="822975" y="1885950"/>
            <a:ext cx="1920300" cy="27639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46" name="Google Shape;446;p40"/>
          <p:cNvSpPr txBox="1"/>
          <p:nvPr/>
        </p:nvSpPr>
        <p:spPr>
          <a:xfrm>
            <a:off x="960146" y="2009394"/>
            <a:ext cx="16461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CLASSIFICATION MODELS</a:t>
            </a:r>
            <a:endParaRPr sz="1100"/>
          </a:p>
        </p:txBody>
      </p:sp>
      <p:sp>
        <p:nvSpPr>
          <p:cNvPr id="447" name="Google Shape;447;p40"/>
          <p:cNvSpPr txBox="1"/>
          <p:nvPr/>
        </p:nvSpPr>
        <p:spPr>
          <a:xfrm>
            <a:off x="960146" y="2208276"/>
            <a:ext cx="16461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Predict a label or category</a:t>
            </a:r>
            <a:endParaRPr sz="1100"/>
          </a:p>
        </p:txBody>
      </p:sp>
      <p:sp>
        <p:nvSpPr>
          <p:cNvPr id="448" name="Google Shape;448;p40"/>
          <p:cNvSpPr txBox="1"/>
          <p:nvPr/>
        </p:nvSpPr>
        <p:spPr>
          <a:xfrm>
            <a:off x="960146" y="2640330"/>
            <a:ext cx="1646100" cy="992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B95A6"/>
                </a:solidFill>
                <a:latin typeface="Manrope"/>
                <a:ea typeface="Manrope"/>
                <a:cs typeface="Manrope"/>
                <a:sym typeface="Manrope"/>
              </a:rPr>
              <a:t>Output: Categories / labels.</a:t>
            </a:r>
            <a:br>
              <a:rPr b="0" i="0" lang="en-GB" sz="1000" u="none" cap="none" strike="noStrike">
                <a:solidFill>
                  <a:srgbClr val="8B95A6"/>
                </a:solidFill>
                <a:latin typeface="Manrope"/>
                <a:ea typeface="Manrope"/>
                <a:cs typeface="Manrope"/>
                <a:sym typeface="Manrope"/>
              </a:rPr>
            </a:br>
            <a:r>
              <a:rPr b="0" i="0" lang="en-GB" sz="1000" u="none" cap="none" strike="noStrike">
                <a:solidFill>
                  <a:srgbClr val="8B95A6"/>
                </a:solidFill>
                <a:latin typeface="Manrope"/>
                <a:ea typeface="Manrope"/>
                <a:cs typeface="Manrope"/>
                <a:sym typeface="Manrope"/>
              </a:rPr>
              <a:t>Example: Fraud detection in PayPal (Transaction → Fraud / Not Fraud), email spam, disease diagnosis.</a:t>
            </a:r>
            <a:endParaRPr sz="1100"/>
          </a:p>
        </p:txBody>
      </p:sp>
      <p:sp>
        <p:nvSpPr>
          <p:cNvPr id="449" name="Google Shape;449;p40"/>
          <p:cNvSpPr/>
          <p:nvPr/>
        </p:nvSpPr>
        <p:spPr>
          <a:xfrm>
            <a:off x="2880425" y="1885950"/>
            <a:ext cx="1920300" cy="27639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50" name="Google Shape;450;p40"/>
          <p:cNvSpPr txBox="1"/>
          <p:nvPr/>
        </p:nvSpPr>
        <p:spPr>
          <a:xfrm>
            <a:off x="3017600" y="2009394"/>
            <a:ext cx="16461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REGRESSION MODELS</a:t>
            </a:r>
            <a:endParaRPr sz="1100"/>
          </a:p>
        </p:txBody>
      </p:sp>
      <p:sp>
        <p:nvSpPr>
          <p:cNvPr id="451" name="Google Shape;451;p40"/>
          <p:cNvSpPr txBox="1"/>
          <p:nvPr/>
        </p:nvSpPr>
        <p:spPr>
          <a:xfrm>
            <a:off x="3017600" y="2208276"/>
            <a:ext cx="16461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Predict a continuous value</a:t>
            </a:r>
            <a:endParaRPr sz="1100"/>
          </a:p>
        </p:txBody>
      </p:sp>
      <p:sp>
        <p:nvSpPr>
          <p:cNvPr id="452" name="Google Shape;452;p40"/>
          <p:cNvSpPr txBox="1"/>
          <p:nvPr/>
        </p:nvSpPr>
        <p:spPr>
          <a:xfrm>
            <a:off x="3017600" y="2640330"/>
            <a:ext cx="1646100" cy="1146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B95A6"/>
                </a:solidFill>
                <a:latin typeface="Manrope"/>
                <a:ea typeface="Manrope"/>
                <a:cs typeface="Manrope"/>
                <a:sym typeface="Manrope"/>
              </a:rPr>
              <a:t>Output: A number on a continuous scale.</a:t>
            </a:r>
            <a:br>
              <a:rPr b="0" i="0" lang="en-GB" sz="1000" u="none" cap="none" strike="noStrike">
                <a:solidFill>
                  <a:srgbClr val="8B95A6"/>
                </a:solidFill>
                <a:latin typeface="Manrope"/>
                <a:ea typeface="Manrope"/>
                <a:cs typeface="Manrope"/>
                <a:sym typeface="Manrope"/>
              </a:rPr>
            </a:br>
            <a:r>
              <a:rPr b="0" i="0" lang="en-GB" sz="1000" u="none" cap="none" strike="noStrike">
                <a:solidFill>
                  <a:srgbClr val="8B95A6"/>
                </a:solidFill>
                <a:latin typeface="Manrope"/>
                <a:ea typeface="Manrope"/>
                <a:cs typeface="Manrope"/>
                <a:sym typeface="Manrope"/>
              </a:rPr>
              <a:t>Example: House price prediction on Zillow (predicts exact price based on features like sq. ft., zip, age).</a:t>
            </a:r>
            <a:endParaRPr sz="1100"/>
          </a:p>
        </p:txBody>
      </p:sp>
      <p:sp>
        <p:nvSpPr>
          <p:cNvPr id="453" name="Google Shape;453;p40"/>
          <p:cNvSpPr/>
          <p:nvPr/>
        </p:nvSpPr>
        <p:spPr>
          <a:xfrm>
            <a:off x="4937900" y="1885950"/>
            <a:ext cx="1920300" cy="27639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54" name="Google Shape;454;p40"/>
          <p:cNvSpPr txBox="1"/>
          <p:nvPr/>
        </p:nvSpPr>
        <p:spPr>
          <a:xfrm>
            <a:off x="5075055" y="2009394"/>
            <a:ext cx="16461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CLUSTERING MODELS</a:t>
            </a:r>
            <a:endParaRPr sz="1100"/>
          </a:p>
        </p:txBody>
      </p:sp>
      <p:sp>
        <p:nvSpPr>
          <p:cNvPr id="455" name="Google Shape;455;p40"/>
          <p:cNvSpPr txBox="1"/>
          <p:nvPr/>
        </p:nvSpPr>
        <p:spPr>
          <a:xfrm>
            <a:off x="5075055" y="2208276"/>
            <a:ext cx="16461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Group similar data points</a:t>
            </a:r>
            <a:endParaRPr sz="1100"/>
          </a:p>
        </p:txBody>
      </p:sp>
      <p:sp>
        <p:nvSpPr>
          <p:cNvPr id="456" name="Google Shape;456;p40"/>
          <p:cNvSpPr txBox="1"/>
          <p:nvPr/>
        </p:nvSpPr>
        <p:spPr>
          <a:xfrm>
            <a:off x="5075055" y="2640330"/>
            <a:ext cx="1646100" cy="1146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B95A6"/>
                </a:solidFill>
                <a:latin typeface="Manrope"/>
                <a:ea typeface="Manrope"/>
                <a:cs typeface="Manrope"/>
                <a:sym typeface="Manrope"/>
              </a:rPr>
              <a:t>Output: Groups of similar data.</a:t>
            </a:r>
            <a:br>
              <a:rPr b="0" i="0" lang="en-GB" sz="1000" u="none" cap="none" strike="noStrike">
                <a:solidFill>
                  <a:srgbClr val="8B95A6"/>
                </a:solidFill>
                <a:latin typeface="Manrope"/>
                <a:ea typeface="Manrope"/>
                <a:cs typeface="Manrope"/>
                <a:sym typeface="Manrope"/>
              </a:rPr>
            </a:br>
            <a:r>
              <a:rPr b="0" i="0" lang="en-GB" sz="1000" u="none" cap="none" strike="noStrike">
                <a:solidFill>
                  <a:srgbClr val="8B95A6"/>
                </a:solidFill>
                <a:latin typeface="Manrope"/>
                <a:ea typeface="Manrope"/>
                <a:cs typeface="Manrope"/>
                <a:sym typeface="Manrope"/>
              </a:rPr>
              <a:t>Example: Music grouping in Spotify (clusters songs based on listening patterns, enables 'Fans Also Like').</a:t>
            </a:r>
            <a:endParaRPr sz="1100"/>
          </a:p>
        </p:txBody>
      </p:sp>
      <p:sp>
        <p:nvSpPr>
          <p:cNvPr id="457" name="Google Shape;457;p40"/>
          <p:cNvSpPr/>
          <p:nvPr/>
        </p:nvSpPr>
        <p:spPr>
          <a:xfrm>
            <a:off x="6995350" y="1885950"/>
            <a:ext cx="1920300" cy="27639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58" name="Google Shape;458;p40"/>
          <p:cNvSpPr txBox="1"/>
          <p:nvPr/>
        </p:nvSpPr>
        <p:spPr>
          <a:xfrm>
            <a:off x="7132510" y="2009394"/>
            <a:ext cx="16461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GENERATIVE AI &amp; LLMs</a:t>
            </a:r>
            <a:endParaRPr sz="1100"/>
          </a:p>
        </p:txBody>
      </p:sp>
      <p:sp>
        <p:nvSpPr>
          <p:cNvPr id="459" name="Google Shape;459;p40"/>
          <p:cNvSpPr txBox="1"/>
          <p:nvPr/>
        </p:nvSpPr>
        <p:spPr>
          <a:xfrm>
            <a:off x="7132510" y="2208276"/>
            <a:ext cx="16461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Predict the next token in a sequence</a:t>
            </a:r>
            <a:endParaRPr sz="1100"/>
          </a:p>
        </p:txBody>
      </p:sp>
      <p:sp>
        <p:nvSpPr>
          <p:cNvPr id="460" name="Google Shape;460;p40"/>
          <p:cNvSpPr txBox="1"/>
          <p:nvPr/>
        </p:nvSpPr>
        <p:spPr>
          <a:xfrm>
            <a:off x="7132510" y="2640330"/>
            <a:ext cx="1646100" cy="2070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000">
                <a:solidFill>
                  <a:srgbClr val="8B95A6"/>
                </a:solidFill>
                <a:latin typeface="Manrope"/>
                <a:ea typeface="Manrope"/>
                <a:cs typeface="Manrope"/>
                <a:sym typeface="Manrope"/>
              </a:rPr>
              <a:t>Output: High-fidelity text, code, or structured reasoning.</a:t>
            </a:r>
            <a:endParaRPr sz="1000">
              <a:solidFill>
                <a:srgbClr val="8B95A6"/>
              </a:solidFill>
              <a:latin typeface="Manrope"/>
              <a:ea typeface="Manrope"/>
              <a:cs typeface="Manrope"/>
              <a:sym typeface="Manrope"/>
            </a:endParaRPr>
          </a:p>
          <a:p>
            <a:pPr indent="0" lvl="0" marL="0" rtl="0" algn="l">
              <a:spcBef>
                <a:spcPts val="0"/>
              </a:spcBef>
              <a:spcAft>
                <a:spcPts val="0"/>
              </a:spcAft>
              <a:buSzPts val="1100"/>
              <a:buNone/>
            </a:pPr>
            <a:r>
              <a:rPr lang="en-GB" sz="1000">
                <a:solidFill>
                  <a:srgbClr val="8B95A6"/>
                </a:solidFill>
                <a:latin typeface="Manrope"/>
                <a:ea typeface="Manrope"/>
                <a:cs typeface="Manrope"/>
                <a:sym typeface="Manrope"/>
              </a:rPr>
              <a:t>Neural Approach: Utilizes Transformer architectures and self-attention mechanisms to understand long-range dependencies in data.</a:t>
            </a:r>
            <a:endParaRPr sz="1000">
              <a:solidFill>
                <a:srgbClr val="8B95A6"/>
              </a:solidFill>
              <a:latin typeface="Manrope"/>
              <a:ea typeface="Manrope"/>
              <a:cs typeface="Manrope"/>
              <a:sym typeface="Manrope"/>
            </a:endParaRPr>
          </a:p>
          <a:p>
            <a:pPr indent="0" lvl="0" marL="0" rtl="0" algn="l">
              <a:spcBef>
                <a:spcPts val="0"/>
              </a:spcBef>
              <a:spcAft>
                <a:spcPts val="0"/>
              </a:spcAft>
              <a:buSzPts val="1100"/>
              <a:buNone/>
            </a:pPr>
            <a:r>
              <a:rPr lang="en-GB" sz="1000">
                <a:solidFill>
                  <a:srgbClr val="8B95A6"/>
                </a:solidFill>
                <a:latin typeface="Manrope"/>
                <a:ea typeface="Manrope"/>
                <a:cs typeface="Manrope"/>
                <a:sym typeface="Manrope"/>
              </a:rPr>
              <a:t>Example: Generative coding (GitHub Copilot), </a:t>
            </a:r>
            <a:endParaRPr sz="1100">
              <a:solidFill>
                <a:schemeClr val="dk1"/>
              </a:solidFill>
            </a:endParaRPr>
          </a:p>
          <a:p>
            <a:pPr indent="0" lvl="0" marL="0" marR="0" rtl="0" algn="l">
              <a:spcBef>
                <a:spcPts val="0"/>
              </a:spcBef>
              <a:spcAft>
                <a:spcPts val="0"/>
              </a:spcAft>
              <a:buNone/>
            </a:pPr>
            <a:r>
              <a:t/>
            </a:r>
            <a:endParaRPr sz="1000">
              <a:solidFill>
                <a:srgbClr val="8B95A6"/>
              </a:solidFill>
              <a:latin typeface="Manrope"/>
              <a:ea typeface="Manrope"/>
              <a:cs typeface="Manrope"/>
              <a:sym typeface="Manrope"/>
            </a:endParaRPr>
          </a:p>
        </p:txBody>
      </p:sp>
      <p:sp>
        <p:nvSpPr>
          <p:cNvPr id="461" name="Google Shape;461;p40"/>
          <p:cNvSpPr txBox="1"/>
          <p:nvPr/>
        </p:nvSpPr>
        <p:spPr>
          <a:xfrm>
            <a:off x="822982" y="4732020"/>
            <a:ext cx="274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41"/>
          <p:cNvSpPr txBox="1"/>
          <p:nvPr/>
        </p:nvSpPr>
        <p:spPr>
          <a:xfrm>
            <a:off x="822982" y="342900"/>
            <a:ext cx="2743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467" name="Google Shape;467;p41"/>
          <p:cNvSpPr txBox="1"/>
          <p:nvPr/>
        </p:nvSpPr>
        <p:spPr>
          <a:xfrm>
            <a:off x="822982" y="562356"/>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468" name="Google Shape;468;p41"/>
          <p:cNvSpPr txBox="1"/>
          <p:nvPr/>
        </p:nvSpPr>
        <p:spPr>
          <a:xfrm>
            <a:off x="822982" y="720090"/>
            <a:ext cx="548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INTRO TO AI</a:t>
            </a:r>
            <a:endParaRPr sz="1100"/>
          </a:p>
        </p:txBody>
      </p:sp>
      <p:sp>
        <p:nvSpPr>
          <p:cNvPr id="469" name="Google Shape;469;p41"/>
          <p:cNvSpPr txBox="1"/>
          <p:nvPr/>
        </p:nvSpPr>
        <p:spPr>
          <a:xfrm>
            <a:off x="822982" y="946404"/>
            <a:ext cx="74067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u="none" cap="none" strike="noStrike">
                <a:solidFill>
                  <a:srgbClr val="1B1F2A"/>
                </a:solidFill>
                <a:latin typeface="Manrope"/>
                <a:ea typeface="Manrope"/>
                <a:cs typeface="Manrope"/>
                <a:sym typeface="Manrope"/>
              </a:rPr>
              <a:t>Algorithm Gallery: Classification Models.</a:t>
            </a:r>
            <a:endParaRPr sz="1100"/>
          </a:p>
        </p:txBody>
      </p:sp>
      <p:sp>
        <p:nvSpPr>
          <p:cNvPr id="470" name="Google Shape;470;p41"/>
          <p:cNvSpPr txBox="1"/>
          <p:nvPr/>
        </p:nvSpPr>
        <p:spPr>
          <a:xfrm>
            <a:off x="822982" y="1426464"/>
            <a:ext cx="74067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Four classification algorithms you'll encounter most often in production systems.</a:t>
            </a:r>
            <a:endParaRPr sz="1100"/>
          </a:p>
        </p:txBody>
      </p:sp>
      <p:sp>
        <p:nvSpPr>
          <p:cNvPr id="471" name="Google Shape;471;p41"/>
          <p:cNvSpPr/>
          <p:nvPr/>
        </p:nvSpPr>
        <p:spPr>
          <a:xfrm>
            <a:off x="822975" y="1817375"/>
            <a:ext cx="1954500" cy="26352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72" name="Google Shape;472;p41"/>
          <p:cNvSpPr txBox="1"/>
          <p:nvPr/>
        </p:nvSpPr>
        <p:spPr>
          <a:xfrm>
            <a:off x="918996" y="1872234"/>
            <a:ext cx="3429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671F"/>
                </a:solidFill>
                <a:latin typeface="Courier New"/>
                <a:ea typeface="Courier New"/>
                <a:cs typeface="Courier New"/>
                <a:sym typeface="Courier New"/>
              </a:rPr>
              <a:t>01</a:t>
            </a:r>
            <a:endParaRPr sz="1100"/>
          </a:p>
        </p:txBody>
      </p:sp>
      <p:sp>
        <p:nvSpPr>
          <p:cNvPr id="473" name="Google Shape;473;p41"/>
          <p:cNvSpPr txBox="1"/>
          <p:nvPr/>
        </p:nvSpPr>
        <p:spPr>
          <a:xfrm>
            <a:off x="918996" y="2023110"/>
            <a:ext cx="17625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Decision Tree</a:t>
            </a:r>
            <a:endParaRPr sz="1100"/>
          </a:p>
        </p:txBody>
      </p:sp>
      <p:sp>
        <p:nvSpPr>
          <p:cNvPr id="474" name="Google Shape;474;p41"/>
          <p:cNvSpPr txBox="1"/>
          <p:nvPr/>
        </p:nvSpPr>
        <p:spPr>
          <a:xfrm>
            <a:off x="918996" y="2379726"/>
            <a:ext cx="17625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Rules-based, explainable, easy to explain to non-technical stakeholders. Key words: medical diagnosis, loan approval.</a:t>
            </a:r>
            <a:endParaRPr sz="1100"/>
          </a:p>
        </p:txBody>
      </p:sp>
      <p:sp>
        <p:nvSpPr>
          <p:cNvPr id="475" name="Google Shape;475;p41"/>
          <p:cNvSpPr/>
          <p:nvPr/>
        </p:nvSpPr>
        <p:spPr>
          <a:xfrm>
            <a:off x="2853000" y="1817375"/>
            <a:ext cx="1954500" cy="26352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76" name="Google Shape;476;p41"/>
          <p:cNvSpPr txBox="1"/>
          <p:nvPr/>
        </p:nvSpPr>
        <p:spPr>
          <a:xfrm>
            <a:off x="2949019" y="1872234"/>
            <a:ext cx="3429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671F"/>
                </a:solidFill>
                <a:latin typeface="Courier New"/>
                <a:ea typeface="Courier New"/>
                <a:cs typeface="Courier New"/>
                <a:sym typeface="Courier New"/>
              </a:rPr>
              <a:t>02</a:t>
            </a:r>
            <a:endParaRPr sz="1100"/>
          </a:p>
        </p:txBody>
      </p:sp>
      <p:sp>
        <p:nvSpPr>
          <p:cNvPr id="477" name="Google Shape;477;p41"/>
          <p:cNvSpPr txBox="1"/>
          <p:nvPr/>
        </p:nvSpPr>
        <p:spPr>
          <a:xfrm>
            <a:off x="2949019" y="2023110"/>
            <a:ext cx="17625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KNN (K-Nearest Neighbours)</a:t>
            </a:r>
            <a:endParaRPr sz="1100"/>
          </a:p>
        </p:txBody>
      </p:sp>
      <p:sp>
        <p:nvSpPr>
          <p:cNvPr id="478" name="Google Shape;478;p41"/>
          <p:cNvSpPr txBox="1"/>
          <p:nvPr/>
        </p:nvSpPr>
        <p:spPr>
          <a:xfrm>
            <a:off x="2949019" y="2379726"/>
            <a:ext cx="1762500" cy="684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Classify by looking at the K most similar past examples. Simple, intuitive, no training phase. Key words: similarity-based, small datasets.</a:t>
            </a:r>
            <a:endParaRPr sz="1100"/>
          </a:p>
        </p:txBody>
      </p:sp>
      <p:sp>
        <p:nvSpPr>
          <p:cNvPr id="479" name="Google Shape;479;p41"/>
          <p:cNvSpPr/>
          <p:nvPr/>
        </p:nvSpPr>
        <p:spPr>
          <a:xfrm>
            <a:off x="4883025" y="1817375"/>
            <a:ext cx="1954500" cy="26352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80" name="Google Shape;480;p41"/>
          <p:cNvSpPr txBox="1"/>
          <p:nvPr/>
        </p:nvSpPr>
        <p:spPr>
          <a:xfrm>
            <a:off x="4979041" y="1872234"/>
            <a:ext cx="3429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671F"/>
                </a:solidFill>
                <a:latin typeface="Courier New"/>
                <a:ea typeface="Courier New"/>
                <a:cs typeface="Courier New"/>
                <a:sym typeface="Courier New"/>
              </a:rPr>
              <a:t>03</a:t>
            </a:r>
            <a:endParaRPr sz="1100"/>
          </a:p>
        </p:txBody>
      </p:sp>
      <p:sp>
        <p:nvSpPr>
          <p:cNvPr id="481" name="Google Shape;481;p41"/>
          <p:cNvSpPr txBox="1"/>
          <p:nvPr/>
        </p:nvSpPr>
        <p:spPr>
          <a:xfrm>
            <a:off x="4979041" y="2023110"/>
            <a:ext cx="17625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Random Forest</a:t>
            </a:r>
            <a:endParaRPr sz="1100"/>
          </a:p>
        </p:txBody>
      </p:sp>
      <p:sp>
        <p:nvSpPr>
          <p:cNvPr id="482" name="Google Shape;482;p41"/>
          <p:cNvSpPr txBox="1"/>
          <p:nvPr/>
        </p:nvSpPr>
        <p:spPr>
          <a:xfrm>
            <a:off x="4979050" y="2379722"/>
            <a:ext cx="1762500" cy="684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Many decision trees voted together — more accurate than a single tree, less prone to overfitting. Key words: tabular data, fraud detection.</a:t>
            </a:r>
            <a:endParaRPr sz="1100"/>
          </a:p>
        </p:txBody>
      </p:sp>
      <p:sp>
        <p:nvSpPr>
          <p:cNvPr id="483" name="Google Shape;483;p41"/>
          <p:cNvSpPr/>
          <p:nvPr/>
        </p:nvSpPr>
        <p:spPr>
          <a:xfrm>
            <a:off x="6913050" y="1817381"/>
            <a:ext cx="1954500" cy="26352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84" name="Google Shape;484;p41"/>
          <p:cNvSpPr txBox="1"/>
          <p:nvPr/>
        </p:nvSpPr>
        <p:spPr>
          <a:xfrm>
            <a:off x="7009063" y="1872234"/>
            <a:ext cx="3429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671F"/>
                </a:solidFill>
                <a:latin typeface="Courier New"/>
                <a:ea typeface="Courier New"/>
                <a:cs typeface="Courier New"/>
                <a:sym typeface="Courier New"/>
              </a:rPr>
              <a:t>04</a:t>
            </a:r>
            <a:endParaRPr sz="1100"/>
          </a:p>
        </p:txBody>
      </p:sp>
      <p:sp>
        <p:nvSpPr>
          <p:cNvPr id="485" name="Google Shape;485;p41"/>
          <p:cNvSpPr txBox="1"/>
          <p:nvPr/>
        </p:nvSpPr>
        <p:spPr>
          <a:xfrm>
            <a:off x="7009063" y="2023110"/>
            <a:ext cx="17625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Logistic Regression</a:t>
            </a:r>
            <a:endParaRPr sz="1100"/>
          </a:p>
        </p:txBody>
      </p:sp>
      <p:sp>
        <p:nvSpPr>
          <p:cNvPr id="486" name="Google Shape;486;p41"/>
          <p:cNvSpPr txBox="1"/>
          <p:nvPr/>
        </p:nvSpPr>
        <p:spPr>
          <a:xfrm>
            <a:off x="7009063" y="2379726"/>
            <a:ext cx="17625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Classifies into 2 categories (yes/no). Despite the name, it's a classifier. Key words: spam or not, churn or not, binary outcome.</a:t>
            </a:r>
            <a:endParaRPr sz="1100"/>
          </a:p>
        </p:txBody>
      </p:sp>
      <p:sp>
        <p:nvSpPr>
          <p:cNvPr id="487" name="Google Shape;487;p41"/>
          <p:cNvSpPr txBox="1"/>
          <p:nvPr/>
        </p:nvSpPr>
        <p:spPr>
          <a:xfrm>
            <a:off x="822982" y="4732020"/>
            <a:ext cx="274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42"/>
          <p:cNvSpPr txBox="1"/>
          <p:nvPr/>
        </p:nvSpPr>
        <p:spPr>
          <a:xfrm>
            <a:off x="822982" y="342900"/>
            <a:ext cx="2743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493" name="Google Shape;493;p42"/>
          <p:cNvSpPr txBox="1"/>
          <p:nvPr/>
        </p:nvSpPr>
        <p:spPr>
          <a:xfrm>
            <a:off x="822982" y="562356"/>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494" name="Google Shape;494;p42"/>
          <p:cNvSpPr txBox="1"/>
          <p:nvPr/>
        </p:nvSpPr>
        <p:spPr>
          <a:xfrm>
            <a:off x="822982" y="720090"/>
            <a:ext cx="548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INTRO TO AI</a:t>
            </a:r>
            <a:endParaRPr sz="1100"/>
          </a:p>
        </p:txBody>
      </p:sp>
      <p:sp>
        <p:nvSpPr>
          <p:cNvPr id="495" name="Google Shape;495;p42"/>
          <p:cNvSpPr txBox="1"/>
          <p:nvPr/>
        </p:nvSpPr>
        <p:spPr>
          <a:xfrm>
            <a:off x="822982" y="946404"/>
            <a:ext cx="74067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u="none" cap="none" strike="noStrike">
                <a:solidFill>
                  <a:srgbClr val="1B1F2A"/>
                </a:solidFill>
                <a:latin typeface="Manrope"/>
                <a:ea typeface="Manrope"/>
                <a:cs typeface="Manrope"/>
                <a:sym typeface="Manrope"/>
              </a:rPr>
              <a:t>Algorithm Gallery: Regression and Advanced Models.</a:t>
            </a:r>
            <a:endParaRPr sz="1100"/>
          </a:p>
        </p:txBody>
      </p:sp>
      <p:sp>
        <p:nvSpPr>
          <p:cNvPr id="496" name="Google Shape;496;p42"/>
          <p:cNvSpPr txBox="1"/>
          <p:nvPr/>
        </p:nvSpPr>
        <p:spPr>
          <a:xfrm>
            <a:off x="822982" y="1426464"/>
            <a:ext cx="74067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From straight-line relationships to multi-layered neural networks.</a:t>
            </a:r>
            <a:endParaRPr sz="1100"/>
          </a:p>
        </p:txBody>
      </p:sp>
      <p:sp>
        <p:nvSpPr>
          <p:cNvPr id="497" name="Google Shape;497;p42"/>
          <p:cNvSpPr/>
          <p:nvPr/>
        </p:nvSpPr>
        <p:spPr>
          <a:xfrm>
            <a:off x="822975" y="1817380"/>
            <a:ext cx="1954500" cy="24075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498" name="Google Shape;498;p42"/>
          <p:cNvSpPr txBox="1"/>
          <p:nvPr/>
        </p:nvSpPr>
        <p:spPr>
          <a:xfrm>
            <a:off x="918996" y="1872234"/>
            <a:ext cx="3429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671F"/>
                </a:solidFill>
                <a:latin typeface="Courier New"/>
                <a:ea typeface="Courier New"/>
                <a:cs typeface="Courier New"/>
                <a:sym typeface="Courier New"/>
              </a:rPr>
              <a:t>01</a:t>
            </a:r>
            <a:endParaRPr sz="1100"/>
          </a:p>
        </p:txBody>
      </p:sp>
      <p:sp>
        <p:nvSpPr>
          <p:cNvPr id="499" name="Google Shape;499;p42"/>
          <p:cNvSpPr txBox="1"/>
          <p:nvPr/>
        </p:nvSpPr>
        <p:spPr>
          <a:xfrm>
            <a:off x="918996" y="2023110"/>
            <a:ext cx="17625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Linear Regression</a:t>
            </a:r>
            <a:endParaRPr sz="1100"/>
          </a:p>
        </p:txBody>
      </p:sp>
      <p:sp>
        <p:nvSpPr>
          <p:cNvPr id="500" name="Google Shape;500;p42"/>
          <p:cNvSpPr txBox="1"/>
          <p:nvPr/>
        </p:nvSpPr>
        <p:spPr>
          <a:xfrm>
            <a:off x="918996" y="2379726"/>
            <a:ext cx="17625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Predict a continuous number with a straight-line relationship. Key words: forecast sales, estimate score, how much/many.</a:t>
            </a:r>
            <a:endParaRPr sz="1100"/>
          </a:p>
        </p:txBody>
      </p:sp>
      <p:sp>
        <p:nvSpPr>
          <p:cNvPr id="501" name="Google Shape;501;p42"/>
          <p:cNvSpPr/>
          <p:nvPr/>
        </p:nvSpPr>
        <p:spPr>
          <a:xfrm>
            <a:off x="2853000" y="1817375"/>
            <a:ext cx="1954500" cy="24075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02" name="Google Shape;502;p42"/>
          <p:cNvSpPr txBox="1"/>
          <p:nvPr/>
        </p:nvSpPr>
        <p:spPr>
          <a:xfrm>
            <a:off x="2949019" y="1872234"/>
            <a:ext cx="3429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671F"/>
                </a:solidFill>
                <a:latin typeface="Courier New"/>
                <a:ea typeface="Courier New"/>
                <a:cs typeface="Courier New"/>
                <a:sym typeface="Courier New"/>
              </a:rPr>
              <a:t>02</a:t>
            </a:r>
            <a:endParaRPr sz="1100"/>
          </a:p>
        </p:txBody>
      </p:sp>
      <p:sp>
        <p:nvSpPr>
          <p:cNvPr id="503" name="Google Shape;503;p42"/>
          <p:cNvSpPr txBox="1"/>
          <p:nvPr/>
        </p:nvSpPr>
        <p:spPr>
          <a:xfrm>
            <a:off x="2949019" y="2023110"/>
            <a:ext cx="17625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Polynomial / Multiple Regression</a:t>
            </a:r>
            <a:endParaRPr sz="1100"/>
          </a:p>
        </p:txBody>
      </p:sp>
      <p:sp>
        <p:nvSpPr>
          <p:cNvPr id="504" name="Google Shape;504;p42"/>
          <p:cNvSpPr txBox="1"/>
          <p:nvPr/>
        </p:nvSpPr>
        <p:spPr>
          <a:xfrm>
            <a:off x="2949019" y="2379726"/>
            <a:ext cx="1762500" cy="684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Predict a number using multiple input features or non-linear curves. Key words: multiple factors, curved trend, house price with many features.</a:t>
            </a:r>
            <a:endParaRPr sz="1100"/>
          </a:p>
        </p:txBody>
      </p:sp>
      <p:sp>
        <p:nvSpPr>
          <p:cNvPr id="505" name="Google Shape;505;p42"/>
          <p:cNvSpPr/>
          <p:nvPr/>
        </p:nvSpPr>
        <p:spPr>
          <a:xfrm>
            <a:off x="4883025" y="1817380"/>
            <a:ext cx="1954500" cy="24075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06" name="Google Shape;506;p42"/>
          <p:cNvSpPr txBox="1"/>
          <p:nvPr/>
        </p:nvSpPr>
        <p:spPr>
          <a:xfrm>
            <a:off x="4979041" y="1872234"/>
            <a:ext cx="3429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671F"/>
                </a:solidFill>
                <a:latin typeface="Courier New"/>
                <a:ea typeface="Courier New"/>
                <a:cs typeface="Courier New"/>
                <a:sym typeface="Courier New"/>
              </a:rPr>
              <a:t>03</a:t>
            </a:r>
            <a:endParaRPr sz="1100"/>
          </a:p>
        </p:txBody>
      </p:sp>
      <p:sp>
        <p:nvSpPr>
          <p:cNvPr id="507" name="Google Shape;507;p42"/>
          <p:cNvSpPr txBox="1"/>
          <p:nvPr/>
        </p:nvSpPr>
        <p:spPr>
          <a:xfrm>
            <a:off x="4979041" y="2023110"/>
            <a:ext cx="17625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K-Means Clustering</a:t>
            </a:r>
            <a:endParaRPr sz="1100"/>
          </a:p>
        </p:txBody>
      </p:sp>
      <p:sp>
        <p:nvSpPr>
          <p:cNvPr id="508" name="Google Shape;508;p42"/>
          <p:cNvSpPr txBox="1"/>
          <p:nvPr/>
        </p:nvSpPr>
        <p:spPr>
          <a:xfrm>
            <a:off x="4979041" y="2379726"/>
            <a:ext cx="17625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Group unlabelled data into K natural clusters. Key words: segment users, find patterns, no labels needed.</a:t>
            </a:r>
            <a:endParaRPr sz="1100"/>
          </a:p>
        </p:txBody>
      </p:sp>
      <p:sp>
        <p:nvSpPr>
          <p:cNvPr id="509" name="Google Shape;509;p42"/>
          <p:cNvSpPr/>
          <p:nvPr/>
        </p:nvSpPr>
        <p:spPr>
          <a:xfrm>
            <a:off x="6913050" y="1817380"/>
            <a:ext cx="1954500" cy="24075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10" name="Google Shape;510;p42"/>
          <p:cNvSpPr txBox="1"/>
          <p:nvPr/>
        </p:nvSpPr>
        <p:spPr>
          <a:xfrm>
            <a:off x="7009063" y="1872234"/>
            <a:ext cx="3429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671F"/>
                </a:solidFill>
                <a:latin typeface="Courier New"/>
                <a:ea typeface="Courier New"/>
                <a:cs typeface="Courier New"/>
                <a:sym typeface="Courier New"/>
              </a:rPr>
              <a:t>04</a:t>
            </a:r>
            <a:endParaRPr sz="1100"/>
          </a:p>
        </p:txBody>
      </p:sp>
      <p:sp>
        <p:nvSpPr>
          <p:cNvPr id="511" name="Google Shape;511;p42"/>
          <p:cNvSpPr txBox="1"/>
          <p:nvPr/>
        </p:nvSpPr>
        <p:spPr>
          <a:xfrm>
            <a:off x="7009063" y="2023110"/>
            <a:ext cx="17625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Neural Network / Deep Learning</a:t>
            </a:r>
            <a:endParaRPr sz="1100"/>
          </a:p>
        </p:txBody>
      </p:sp>
      <p:sp>
        <p:nvSpPr>
          <p:cNvPr id="512" name="Google Shape;512;p42"/>
          <p:cNvSpPr txBox="1"/>
          <p:nvPr/>
        </p:nvSpPr>
        <p:spPr>
          <a:xfrm>
            <a:off x="7009063" y="2379726"/>
            <a:ext cx="1762500" cy="684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Complex patterns in images, text, audio. Needs large datasets and significant compute. Key words: image recognition, speech, text generation, large datasets.</a:t>
            </a:r>
            <a:endParaRPr sz="1100"/>
          </a:p>
        </p:txBody>
      </p:sp>
      <p:sp>
        <p:nvSpPr>
          <p:cNvPr id="513" name="Google Shape;513;p42"/>
          <p:cNvSpPr txBox="1"/>
          <p:nvPr/>
        </p:nvSpPr>
        <p:spPr>
          <a:xfrm>
            <a:off x="822982" y="4732020"/>
            <a:ext cx="274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43"/>
          <p:cNvSpPr txBox="1"/>
          <p:nvPr/>
        </p:nvSpPr>
        <p:spPr>
          <a:xfrm>
            <a:off x="822982" y="342900"/>
            <a:ext cx="2743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519" name="Google Shape;519;p43"/>
          <p:cNvSpPr txBox="1"/>
          <p:nvPr/>
        </p:nvSpPr>
        <p:spPr>
          <a:xfrm>
            <a:off x="822982" y="562356"/>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520" name="Google Shape;520;p43"/>
          <p:cNvSpPr txBox="1"/>
          <p:nvPr/>
        </p:nvSpPr>
        <p:spPr>
          <a:xfrm>
            <a:off x="822982" y="720090"/>
            <a:ext cx="548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INTRO TO AI</a:t>
            </a:r>
            <a:endParaRPr sz="1100"/>
          </a:p>
        </p:txBody>
      </p:sp>
      <p:sp>
        <p:nvSpPr>
          <p:cNvPr id="521" name="Google Shape;521;p43"/>
          <p:cNvSpPr txBox="1"/>
          <p:nvPr/>
        </p:nvSpPr>
        <p:spPr>
          <a:xfrm>
            <a:off x="822982" y="946404"/>
            <a:ext cx="7406700" cy="715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u="none" cap="none" strike="noStrike">
                <a:solidFill>
                  <a:srgbClr val="1B1F2A"/>
                </a:solidFill>
                <a:latin typeface="Manrope"/>
                <a:ea typeface="Manrope"/>
                <a:cs typeface="Manrope"/>
                <a:sym typeface="Manrope"/>
              </a:rPr>
              <a:t>The Complexity Evolution: from simple rules to generative AI.</a:t>
            </a:r>
            <a:endParaRPr sz="1100"/>
          </a:p>
        </p:txBody>
      </p:sp>
      <p:sp>
        <p:nvSpPr>
          <p:cNvPr id="522" name="Google Shape;522;p43"/>
          <p:cNvSpPr/>
          <p:nvPr/>
        </p:nvSpPr>
        <p:spPr>
          <a:xfrm>
            <a:off x="3221060" y="2228850"/>
            <a:ext cx="123300" cy="549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23" name="Google Shape;523;p43"/>
          <p:cNvSpPr/>
          <p:nvPr/>
        </p:nvSpPr>
        <p:spPr>
          <a:xfrm>
            <a:off x="788708" y="1885950"/>
            <a:ext cx="933000" cy="3771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24" name="Google Shape;524;p43"/>
          <p:cNvSpPr txBox="1"/>
          <p:nvPr/>
        </p:nvSpPr>
        <p:spPr>
          <a:xfrm flipH="1">
            <a:off x="822875" y="2008450"/>
            <a:ext cx="8112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u="none" cap="none" strike="noStrike">
                <a:solidFill>
                  <a:srgbClr val="FFFFFF"/>
                </a:solidFill>
                <a:latin typeface="Courier New"/>
                <a:ea typeface="Courier New"/>
                <a:cs typeface="Courier New"/>
                <a:sym typeface="Courier New"/>
              </a:rPr>
              <a:t>Level 1</a:t>
            </a:r>
            <a:endParaRPr sz="1100"/>
          </a:p>
        </p:txBody>
      </p:sp>
      <p:sp>
        <p:nvSpPr>
          <p:cNvPr id="525" name="Google Shape;525;p43"/>
          <p:cNvSpPr txBox="1"/>
          <p:nvPr/>
        </p:nvSpPr>
        <p:spPr>
          <a:xfrm>
            <a:off x="788691" y="2331720"/>
            <a:ext cx="2446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Traditional ML</a:t>
            </a:r>
            <a:endParaRPr sz="1100"/>
          </a:p>
        </p:txBody>
      </p:sp>
      <p:sp>
        <p:nvSpPr>
          <p:cNvPr id="526" name="Google Shape;526;p43"/>
          <p:cNvSpPr txBox="1"/>
          <p:nvPr/>
        </p:nvSpPr>
        <p:spPr>
          <a:xfrm>
            <a:off x="788691" y="2914650"/>
            <a:ext cx="2446200" cy="838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B95A6"/>
                </a:solidFill>
                <a:latin typeface="Manrope"/>
                <a:ea typeface="Manrope"/>
                <a:cs typeface="Manrope"/>
                <a:sym typeface="Manrope"/>
              </a:rPr>
              <a:t>Simpler, foundational models (Linear Regression, Decision Trees). Fast to train, easy to explain, excellent on tabular data. Example: predicting retail sales trends.</a:t>
            </a:r>
            <a:endParaRPr sz="1100"/>
          </a:p>
        </p:txBody>
      </p:sp>
      <p:sp>
        <p:nvSpPr>
          <p:cNvPr id="527" name="Google Shape;527;p43"/>
          <p:cNvSpPr/>
          <p:nvPr/>
        </p:nvSpPr>
        <p:spPr>
          <a:xfrm>
            <a:off x="5735727" y="2228850"/>
            <a:ext cx="123300" cy="549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28" name="Google Shape;528;p43"/>
          <p:cNvSpPr/>
          <p:nvPr/>
        </p:nvSpPr>
        <p:spPr>
          <a:xfrm>
            <a:off x="3303358" y="1885950"/>
            <a:ext cx="480000" cy="3429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29" name="Google Shape;529;p43"/>
          <p:cNvSpPr txBox="1"/>
          <p:nvPr/>
        </p:nvSpPr>
        <p:spPr>
          <a:xfrm>
            <a:off x="3337649" y="1913382"/>
            <a:ext cx="411600" cy="5772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u="none" cap="none" strike="noStrike">
                <a:solidFill>
                  <a:srgbClr val="FFFFFF"/>
                </a:solidFill>
                <a:latin typeface="Courier New"/>
                <a:ea typeface="Courier New"/>
                <a:cs typeface="Courier New"/>
                <a:sym typeface="Courier New"/>
              </a:rPr>
              <a:t>Level 2</a:t>
            </a:r>
            <a:endParaRPr sz="1100"/>
          </a:p>
        </p:txBody>
      </p:sp>
      <p:sp>
        <p:nvSpPr>
          <p:cNvPr id="530" name="Google Shape;530;p43"/>
          <p:cNvSpPr txBox="1"/>
          <p:nvPr/>
        </p:nvSpPr>
        <p:spPr>
          <a:xfrm>
            <a:off x="3303358" y="2331720"/>
            <a:ext cx="2446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Deep Learning</a:t>
            </a:r>
            <a:endParaRPr sz="1100"/>
          </a:p>
        </p:txBody>
      </p:sp>
      <p:sp>
        <p:nvSpPr>
          <p:cNvPr id="531" name="Google Shape;531;p43"/>
          <p:cNvSpPr txBox="1"/>
          <p:nvPr/>
        </p:nvSpPr>
        <p:spPr>
          <a:xfrm>
            <a:off x="3303358" y="2914650"/>
            <a:ext cx="2446200" cy="684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B95A6"/>
                </a:solidFill>
                <a:latin typeface="Manrope"/>
                <a:ea typeface="Manrope"/>
                <a:cs typeface="Manrope"/>
                <a:sym typeface="Manrope"/>
              </a:rPr>
              <a:t>Multi-layered neural networks requiring more compute. Learns representations directly from raw data. Example: Facebook face recognition technology.</a:t>
            </a:r>
            <a:endParaRPr sz="1100"/>
          </a:p>
        </p:txBody>
      </p:sp>
      <p:sp>
        <p:nvSpPr>
          <p:cNvPr id="532" name="Google Shape;532;p43"/>
          <p:cNvSpPr/>
          <p:nvPr/>
        </p:nvSpPr>
        <p:spPr>
          <a:xfrm>
            <a:off x="5818025" y="1885950"/>
            <a:ext cx="480000" cy="3429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33" name="Google Shape;533;p43"/>
          <p:cNvSpPr txBox="1"/>
          <p:nvPr/>
        </p:nvSpPr>
        <p:spPr>
          <a:xfrm>
            <a:off x="5852316" y="1913382"/>
            <a:ext cx="411600" cy="5772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u="none" cap="none" strike="noStrike">
                <a:solidFill>
                  <a:srgbClr val="FFFFFF"/>
                </a:solidFill>
                <a:latin typeface="Courier New"/>
                <a:ea typeface="Courier New"/>
                <a:cs typeface="Courier New"/>
                <a:sym typeface="Courier New"/>
              </a:rPr>
              <a:t>Level 3</a:t>
            </a:r>
            <a:endParaRPr sz="1100"/>
          </a:p>
        </p:txBody>
      </p:sp>
      <p:sp>
        <p:nvSpPr>
          <p:cNvPr id="534" name="Google Shape;534;p43"/>
          <p:cNvSpPr txBox="1"/>
          <p:nvPr/>
        </p:nvSpPr>
        <p:spPr>
          <a:xfrm>
            <a:off x="5818025" y="2331720"/>
            <a:ext cx="2446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Generative AI Models</a:t>
            </a:r>
            <a:endParaRPr sz="1100"/>
          </a:p>
        </p:txBody>
      </p:sp>
      <p:sp>
        <p:nvSpPr>
          <p:cNvPr id="535" name="Google Shape;535;p43"/>
          <p:cNvSpPr txBox="1"/>
          <p:nvPr/>
        </p:nvSpPr>
        <p:spPr>
          <a:xfrm>
            <a:off x="5818025" y="2914650"/>
            <a:ext cx="2446200" cy="838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B95A6"/>
                </a:solidFill>
                <a:latin typeface="Manrope"/>
                <a:ea typeface="Manrope"/>
                <a:cs typeface="Manrope"/>
                <a:sym typeface="Manrope"/>
              </a:rPr>
              <a:t>Systems capable of synthesising entirely novel outputs — text, images, code, audio. Example: ChatGPT generating coherent answers and production-quality code.</a:t>
            </a:r>
            <a:endParaRPr sz="1100"/>
          </a:p>
        </p:txBody>
      </p:sp>
      <p:sp>
        <p:nvSpPr>
          <p:cNvPr id="536" name="Google Shape;536;p43"/>
          <p:cNvSpPr txBox="1"/>
          <p:nvPr/>
        </p:nvSpPr>
        <p:spPr>
          <a:xfrm>
            <a:off x="822982" y="4732020"/>
            <a:ext cx="274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
        <p:nvSpPr>
          <p:cNvPr id="537" name="Google Shape;537;p43"/>
          <p:cNvSpPr/>
          <p:nvPr/>
        </p:nvSpPr>
        <p:spPr>
          <a:xfrm>
            <a:off x="3262221" y="1886050"/>
            <a:ext cx="933000" cy="3771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38" name="Google Shape;538;p43"/>
          <p:cNvSpPr txBox="1"/>
          <p:nvPr/>
        </p:nvSpPr>
        <p:spPr>
          <a:xfrm flipH="1">
            <a:off x="3296388" y="2008550"/>
            <a:ext cx="8112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u="none" cap="none" strike="noStrike">
                <a:solidFill>
                  <a:srgbClr val="FFFFFF"/>
                </a:solidFill>
                <a:latin typeface="Courier New"/>
                <a:ea typeface="Courier New"/>
                <a:cs typeface="Courier New"/>
                <a:sym typeface="Courier New"/>
              </a:rPr>
              <a:t>Level </a:t>
            </a:r>
            <a:r>
              <a:rPr b="1" lang="en-GB" sz="1100">
                <a:solidFill>
                  <a:srgbClr val="FFFFFF"/>
                </a:solidFill>
                <a:latin typeface="Courier New"/>
                <a:ea typeface="Courier New"/>
                <a:cs typeface="Courier New"/>
                <a:sym typeface="Courier New"/>
              </a:rPr>
              <a:t>2</a:t>
            </a:r>
            <a:endParaRPr sz="1100"/>
          </a:p>
        </p:txBody>
      </p:sp>
      <p:sp>
        <p:nvSpPr>
          <p:cNvPr id="539" name="Google Shape;539;p43"/>
          <p:cNvSpPr/>
          <p:nvPr/>
        </p:nvSpPr>
        <p:spPr>
          <a:xfrm>
            <a:off x="5823383" y="1886050"/>
            <a:ext cx="933000" cy="3771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40" name="Google Shape;540;p43"/>
          <p:cNvSpPr txBox="1"/>
          <p:nvPr/>
        </p:nvSpPr>
        <p:spPr>
          <a:xfrm flipH="1">
            <a:off x="5857550" y="2008550"/>
            <a:ext cx="8112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u="none" cap="none" strike="noStrike">
                <a:solidFill>
                  <a:srgbClr val="FFFFFF"/>
                </a:solidFill>
                <a:latin typeface="Courier New"/>
                <a:ea typeface="Courier New"/>
                <a:cs typeface="Courier New"/>
                <a:sym typeface="Courier New"/>
              </a:rPr>
              <a:t>Level </a:t>
            </a:r>
            <a:r>
              <a:rPr b="1" lang="en-GB" sz="1100">
                <a:solidFill>
                  <a:srgbClr val="FFFFFF"/>
                </a:solidFill>
                <a:latin typeface="Courier New"/>
                <a:ea typeface="Courier New"/>
                <a:cs typeface="Courier New"/>
                <a:sym typeface="Courier New"/>
              </a:rPr>
              <a:t>3</a:t>
            </a:r>
            <a:endParaRPr sz="11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44"/>
          <p:cNvSpPr txBox="1"/>
          <p:nvPr/>
        </p:nvSpPr>
        <p:spPr>
          <a:xfrm>
            <a:off x="822982" y="342900"/>
            <a:ext cx="2743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546" name="Google Shape;546;p44"/>
          <p:cNvSpPr txBox="1"/>
          <p:nvPr/>
        </p:nvSpPr>
        <p:spPr>
          <a:xfrm>
            <a:off x="822982" y="562356"/>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547" name="Google Shape;547;p44"/>
          <p:cNvSpPr txBox="1"/>
          <p:nvPr/>
        </p:nvSpPr>
        <p:spPr>
          <a:xfrm>
            <a:off x="822982" y="720090"/>
            <a:ext cx="548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INTRO TO AI</a:t>
            </a:r>
            <a:endParaRPr sz="1100"/>
          </a:p>
        </p:txBody>
      </p:sp>
      <p:sp>
        <p:nvSpPr>
          <p:cNvPr id="548" name="Google Shape;548;p44"/>
          <p:cNvSpPr txBox="1"/>
          <p:nvPr/>
        </p:nvSpPr>
        <p:spPr>
          <a:xfrm>
            <a:off x="822982" y="946404"/>
            <a:ext cx="74067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u="none" cap="none" strike="noStrike">
                <a:solidFill>
                  <a:srgbClr val="1B1F2A"/>
                </a:solidFill>
                <a:latin typeface="Manrope"/>
                <a:ea typeface="Manrope"/>
                <a:cs typeface="Manrope"/>
                <a:sym typeface="Manrope"/>
              </a:rPr>
              <a:t>The AI Taxonomy: Master Cheat Sheet</a:t>
            </a:r>
            <a:endParaRPr sz="1100"/>
          </a:p>
        </p:txBody>
      </p:sp>
      <p:sp>
        <p:nvSpPr>
          <p:cNvPr id="549" name="Google Shape;549;p44"/>
          <p:cNvSpPr/>
          <p:nvPr/>
        </p:nvSpPr>
        <p:spPr>
          <a:xfrm>
            <a:off x="822982" y="1508760"/>
            <a:ext cx="2400300" cy="274200"/>
          </a:xfrm>
          <a:prstGeom prst="rect">
            <a:avLst/>
          </a:prstGeom>
          <a:solidFill>
            <a:srgbClr val="384358"/>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50" name="Google Shape;550;p44"/>
          <p:cNvSpPr txBox="1"/>
          <p:nvPr/>
        </p:nvSpPr>
        <p:spPr>
          <a:xfrm>
            <a:off x="891564" y="1543050"/>
            <a:ext cx="22632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FFFFFF"/>
                </a:solidFill>
                <a:latin typeface="Manrope"/>
                <a:ea typeface="Manrope"/>
                <a:cs typeface="Manrope"/>
                <a:sym typeface="Manrope"/>
              </a:rPr>
              <a:t>Classification Type</a:t>
            </a:r>
            <a:endParaRPr sz="1100"/>
          </a:p>
        </p:txBody>
      </p:sp>
      <p:sp>
        <p:nvSpPr>
          <p:cNvPr id="551" name="Google Shape;551;p44"/>
          <p:cNvSpPr/>
          <p:nvPr/>
        </p:nvSpPr>
        <p:spPr>
          <a:xfrm>
            <a:off x="3291928" y="1508760"/>
            <a:ext cx="2400300" cy="274200"/>
          </a:xfrm>
          <a:prstGeom prst="rect">
            <a:avLst/>
          </a:prstGeom>
          <a:solidFill>
            <a:srgbClr val="384358"/>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52" name="Google Shape;552;p44"/>
          <p:cNvSpPr txBox="1"/>
          <p:nvPr/>
        </p:nvSpPr>
        <p:spPr>
          <a:xfrm>
            <a:off x="3360510" y="1543050"/>
            <a:ext cx="22632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FFFFFF"/>
                </a:solidFill>
                <a:latin typeface="Manrope"/>
                <a:ea typeface="Manrope"/>
                <a:cs typeface="Manrope"/>
                <a:sym typeface="Manrope"/>
              </a:rPr>
              <a:t>Core Focus</a:t>
            </a:r>
            <a:endParaRPr sz="1100"/>
          </a:p>
        </p:txBody>
      </p:sp>
      <p:sp>
        <p:nvSpPr>
          <p:cNvPr id="553" name="Google Shape;553;p44"/>
          <p:cNvSpPr/>
          <p:nvPr/>
        </p:nvSpPr>
        <p:spPr>
          <a:xfrm>
            <a:off x="5760874" y="1508760"/>
            <a:ext cx="2400300" cy="274200"/>
          </a:xfrm>
          <a:prstGeom prst="rect">
            <a:avLst/>
          </a:prstGeom>
          <a:solidFill>
            <a:srgbClr val="384358"/>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54" name="Google Shape;554;p44"/>
          <p:cNvSpPr txBox="1"/>
          <p:nvPr/>
        </p:nvSpPr>
        <p:spPr>
          <a:xfrm>
            <a:off x="5829455" y="1543050"/>
            <a:ext cx="22632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FFFFFF"/>
                </a:solidFill>
                <a:latin typeface="Manrope"/>
                <a:ea typeface="Manrope"/>
                <a:cs typeface="Manrope"/>
                <a:sym typeface="Manrope"/>
              </a:rPr>
              <a:t>Real-World Example</a:t>
            </a:r>
            <a:endParaRPr sz="1100"/>
          </a:p>
        </p:txBody>
      </p:sp>
      <p:sp>
        <p:nvSpPr>
          <p:cNvPr id="555" name="Google Shape;555;p44"/>
          <p:cNvSpPr/>
          <p:nvPr/>
        </p:nvSpPr>
        <p:spPr>
          <a:xfrm>
            <a:off x="822982" y="1783080"/>
            <a:ext cx="2400300" cy="3429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56" name="Google Shape;556;p44"/>
          <p:cNvSpPr txBox="1"/>
          <p:nvPr/>
        </p:nvSpPr>
        <p:spPr>
          <a:xfrm>
            <a:off x="905280" y="1851660"/>
            <a:ext cx="22632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000" u="none" cap="none" strike="noStrike">
                <a:solidFill>
                  <a:srgbClr val="1B1F2A"/>
                </a:solidFill>
                <a:latin typeface="Manrope"/>
                <a:ea typeface="Manrope"/>
                <a:cs typeface="Manrope"/>
                <a:sym typeface="Manrope"/>
              </a:rPr>
              <a:t>Supervised</a:t>
            </a:r>
            <a:endParaRPr sz="1100"/>
          </a:p>
        </p:txBody>
      </p:sp>
      <p:sp>
        <p:nvSpPr>
          <p:cNvPr id="557" name="Google Shape;557;p44"/>
          <p:cNvSpPr/>
          <p:nvPr/>
        </p:nvSpPr>
        <p:spPr>
          <a:xfrm>
            <a:off x="3291928" y="1783080"/>
            <a:ext cx="2400300" cy="3429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58" name="Google Shape;558;p44"/>
          <p:cNvSpPr txBox="1"/>
          <p:nvPr/>
        </p:nvSpPr>
        <p:spPr>
          <a:xfrm>
            <a:off x="3374226" y="1851660"/>
            <a:ext cx="22632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B95A6"/>
                </a:solidFill>
                <a:latin typeface="Manrope"/>
                <a:ea typeface="Manrope"/>
                <a:cs typeface="Manrope"/>
                <a:sym typeface="Manrope"/>
              </a:rPr>
              <a:t>Labelled data → predictions</a:t>
            </a:r>
            <a:endParaRPr sz="1100"/>
          </a:p>
        </p:txBody>
      </p:sp>
      <p:sp>
        <p:nvSpPr>
          <p:cNvPr id="559" name="Google Shape;559;p44"/>
          <p:cNvSpPr/>
          <p:nvPr/>
        </p:nvSpPr>
        <p:spPr>
          <a:xfrm>
            <a:off x="5760874" y="1783080"/>
            <a:ext cx="2400300" cy="3429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60" name="Google Shape;560;p44"/>
          <p:cNvSpPr txBox="1"/>
          <p:nvPr/>
        </p:nvSpPr>
        <p:spPr>
          <a:xfrm>
            <a:off x="5843172" y="1851660"/>
            <a:ext cx="22632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8B95A6"/>
                </a:solidFill>
                <a:latin typeface="Manrope"/>
                <a:ea typeface="Manrope"/>
                <a:cs typeface="Manrope"/>
                <a:sym typeface="Manrope"/>
              </a:rPr>
              <a:t>Spam detection, demand forecasting</a:t>
            </a:r>
            <a:endParaRPr sz="1000"/>
          </a:p>
        </p:txBody>
      </p:sp>
      <p:sp>
        <p:nvSpPr>
          <p:cNvPr id="561" name="Google Shape;561;p44"/>
          <p:cNvSpPr/>
          <p:nvPr/>
        </p:nvSpPr>
        <p:spPr>
          <a:xfrm>
            <a:off x="822982" y="2125980"/>
            <a:ext cx="2400300" cy="3429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62" name="Google Shape;562;p44"/>
          <p:cNvSpPr txBox="1"/>
          <p:nvPr/>
        </p:nvSpPr>
        <p:spPr>
          <a:xfrm>
            <a:off x="905280" y="2194560"/>
            <a:ext cx="22632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000" u="none" cap="none" strike="noStrike">
                <a:solidFill>
                  <a:srgbClr val="1B1F2A"/>
                </a:solidFill>
                <a:latin typeface="Manrope"/>
                <a:ea typeface="Manrope"/>
                <a:cs typeface="Manrope"/>
                <a:sym typeface="Manrope"/>
              </a:rPr>
              <a:t>Unsupervised</a:t>
            </a:r>
            <a:endParaRPr sz="1100"/>
          </a:p>
        </p:txBody>
      </p:sp>
      <p:sp>
        <p:nvSpPr>
          <p:cNvPr id="563" name="Google Shape;563;p44"/>
          <p:cNvSpPr/>
          <p:nvPr/>
        </p:nvSpPr>
        <p:spPr>
          <a:xfrm>
            <a:off x="3291928" y="2125980"/>
            <a:ext cx="2400300" cy="3429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64" name="Google Shape;564;p44"/>
          <p:cNvSpPr txBox="1"/>
          <p:nvPr/>
        </p:nvSpPr>
        <p:spPr>
          <a:xfrm>
            <a:off x="3374226" y="2194560"/>
            <a:ext cx="22632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B95A6"/>
                </a:solidFill>
                <a:latin typeface="Manrope"/>
                <a:ea typeface="Manrope"/>
                <a:cs typeface="Manrope"/>
                <a:sym typeface="Manrope"/>
              </a:rPr>
              <a:t>Unlabelled data → patterns</a:t>
            </a:r>
            <a:endParaRPr sz="1100"/>
          </a:p>
        </p:txBody>
      </p:sp>
      <p:sp>
        <p:nvSpPr>
          <p:cNvPr id="565" name="Google Shape;565;p44"/>
          <p:cNvSpPr/>
          <p:nvPr/>
        </p:nvSpPr>
        <p:spPr>
          <a:xfrm>
            <a:off x="5760874" y="2125980"/>
            <a:ext cx="2400300" cy="3429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66" name="Google Shape;566;p44"/>
          <p:cNvSpPr txBox="1"/>
          <p:nvPr/>
        </p:nvSpPr>
        <p:spPr>
          <a:xfrm>
            <a:off x="5843172" y="2194560"/>
            <a:ext cx="226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Customer segmentation, anomaly detection</a:t>
            </a:r>
            <a:endParaRPr sz="900"/>
          </a:p>
        </p:txBody>
      </p:sp>
      <p:sp>
        <p:nvSpPr>
          <p:cNvPr id="567" name="Google Shape;567;p44"/>
          <p:cNvSpPr/>
          <p:nvPr/>
        </p:nvSpPr>
        <p:spPr>
          <a:xfrm>
            <a:off x="822982" y="2468880"/>
            <a:ext cx="2400300" cy="3429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68" name="Google Shape;568;p44"/>
          <p:cNvSpPr txBox="1"/>
          <p:nvPr/>
        </p:nvSpPr>
        <p:spPr>
          <a:xfrm>
            <a:off x="905280" y="2537460"/>
            <a:ext cx="22632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000" u="none" cap="none" strike="noStrike">
                <a:solidFill>
                  <a:srgbClr val="1B1F2A"/>
                </a:solidFill>
                <a:latin typeface="Manrope"/>
                <a:ea typeface="Manrope"/>
                <a:cs typeface="Manrope"/>
                <a:sym typeface="Manrope"/>
              </a:rPr>
              <a:t>Reinforcement</a:t>
            </a:r>
            <a:endParaRPr sz="1100"/>
          </a:p>
        </p:txBody>
      </p:sp>
      <p:sp>
        <p:nvSpPr>
          <p:cNvPr id="569" name="Google Shape;569;p44"/>
          <p:cNvSpPr/>
          <p:nvPr/>
        </p:nvSpPr>
        <p:spPr>
          <a:xfrm>
            <a:off x="3291928" y="2468880"/>
            <a:ext cx="2400300" cy="3429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70" name="Google Shape;570;p44"/>
          <p:cNvSpPr txBox="1"/>
          <p:nvPr/>
        </p:nvSpPr>
        <p:spPr>
          <a:xfrm>
            <a:off x="3374226" y="2537460"/>
            <a:ext cx="22632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B95A6"/>
                </a:solidFill>
                <a:latin typeface="Manrope"/>
                <a:ea typeface="Manrope"/>
                <a:cs typeface="Manrope"/>
                <a:sym typeface="Manrope"/>
              </a:rPr>
              <a:t>Reward-based learning</a:t>
            </a:r>
            <a:endParaRPr sz="1100"/>
          </a:p>
        </p:txBody>
      </p:sp>
      <p:sp>
        <p:nvSpPr>
          <p:cNvPr id="571" name="Google Shape;571;p44"/>
          <p:cNvSpPr/>
          <p:nvPr/>
        </p:nvSpPr>
        <p:spPr>
          <a:xfrm>
            <a:off x="5760874" y="2468880"/>
            <a:ext cx="2400300" cy="3429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72" name="Google Shape;572;p44"/>
          <p:cNvSpPr txBox="1"/>
          <p:nvPr/>
        </p:nvSpPr>
        <p:spPr>
          <a:xfrm>
            <a:off x="5843172" y="2537460"/>
            <a:ext cx="22632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B95A6"/>
                </a:solidFill>
                <a:latin typeface="Manrope"/>
                <a:ea typeface="Manrope"/>
                <a:cs typeface="Manrope"/>
                <a:sym typeface="Manrope"/>
              </a:rPr>
              <a:t>Game AI, robot policy, RLHF</a:t>
            </a:r>
            <a:endParaRPr sz="1100"/>
          </a:p>
        </p:txBody>
      </p:sp>
      <p:sp>
        <p:nvSpPr>
          <p:cNvPr id="573" name="Google Shape;573;p44"/>
          <p:cNvSpPr/>
          <p:nvPr/>
        </p:nvSpPr>
        <p:spPr>
          <a:xfrm>
            <a:off x="822982" y="2811780"/>
            <a:ext cx="2400300" cy="3429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74" name="Google Shape;574;p44"/>
          <p:cNvSpPr txBox="1"/>
          <p:nvPr/>
        </p:nvSpPr>
        <p:spPr>
          <a:xfrm>
            <a:off x="905280" y="2880360"/>
            <a:ext cx="22632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000" u="none" cap="none" strike="noStrike">
                <a:solidFill>
                  <a:srgbClr val="1B1F2A"/>
                </a:solidFill>
                <a:latin typeface="Manrope"/>
                <a:ea typeface="Manrope"/>
                <a:cs typeface="Manrope"/>
                <a:sym typeface="Manrope"/>
              </a:rPr>
              <a:t>Classification</a:t>
            </a:r>
            <a:endParaRPr sz="1100"/>
          </a:p>
        </p:txBody>
      </p:sp>
      <p:sp>
        <p:nvSpPr>
          <p:cNvPr id="575" name="Google Shape;575;p44"/>
          <p:cNvSpPr/>
          <p:nvPr/>
        </p:nvSpPr>
        <p:spPr>
          <a:xfrm>
            <a:off x="3291928" y="2811780"/>
            <a:ext cx="2400300" cy="3429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76" name="Google Shape;576;p44"/>
          <p:cNvSpPr txBox="1"/>
          <p:nvPr/>
        </p:nvSpPr>
        <p:spPr>
          <a:xfrm>
            <a:off x="3374226" y="2880360"/>
            <a:ext cx="22632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B95A6"/>
                </a:solidFill>
                <a:latin typeface="Manrope"/>
                <a:ea typeface="Manrope"/>
                <a:cs typeface="Manrope"/>
                <a:sym typeface="Manrope"/>
              </a:rPr>
              <a:t>Predict categories</a:t>
            </a:r>
            <a:endParaRPr sz="1100"/>
          </a:p>
        </p:txBody>
      </p:sp>
      <p:sp>
        <p:nvSpPr>
          <p:cNvPr id="577" name="Google Shape;577;p44"/>
          <p:cNvSpPr/>
          <p:nvPr/>
        </p:nvSpPr>
        <p:spPr>
          <a:xfrm>
            <a:off x="5760874" y="2811780"/>
            <a:ext cx="2400300" cy="3429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78" name="Google Shape;578;p44"/>
          <p:cNvSpPr txBox="1"/>
          <p:nvPr/>
        </p:nvSpPr>
        <p:spPr>
          <a:xfrm>
            <a:off x="5843172" y="2880360"/>
            <a:ext cx="22632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B95A6"/>
                </a:solidFill>
                <a:latin typeface="Manrope"/>
                <a:ea typeface="Manrope"/>
                <a:cs typeface="Manrope"/>
                <a:sym typeface="Manrope"/>
              </a:rPr>
              <a:t>Fraud detection, medical diagnosis</a:t>
            </a:r>
            <a:endParaRPr sz="1100"/>
          </a:p>
        </p:txBody>
      </p:sp>
      <p:sp>
        <p:nvSpPr>
          <p:cNvPr id="579" name="Google Shape;579;p44"/>
          <p:cNvSpPr/>
          <p:nvPr/>
        </p:nvSpPr>
        <p:spPr>
          <a:xfrm>
            <a:off x="822982" y="3154680"/>
            <a:ext cx="2400300" cy="3429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80" name="Google Shape;580;p44"/>
          <p:cNvSpPr txBox="1"/>
          <p:nvPr/>
        </p:nvSpPr>
        <p:spPr>
          <a:xfrm>
            <a:off x="905280" y="3223260"/>
            <a:ext cx="22632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000" u="none" cap="none" strike="noStrike">
                <a:solidFill>
                  <a:srgbClr val="1B1F2A"/>
                </a:solidFill>
                <a:latin typeface="Manrope"/>
                <a:ea typeface="Manrope"/>
                <a:cs typeface="Manrope"/>
                <a:sym typeface="Manrope"/>
              </a:rPr>
              <a:t>Regression</a:t>
            </a:r>
            <a:endParaRPr sz="1100"/>
          </a:p>
        </p:txBody>
      </p:sp>
      <p:sp>
        <p:nvSpPr>
          <p:cNvPr id="581" name="Google Shape;581;p44"/>
          <p:cNvSpPr/>
          <p:nvPr/>
        </p:nvSpPr>
        <p:spPr>
          <a:xfrm>
            <a:off x="3291928" y="3154680"/>
            <a:ext cx="2400300" cy="3429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82" name="Google Shape;582;p44"/>
          <p:cNvSpPr txBox="1"/>
          <p:nvPr/>
        </p:nvSpPr>
        <p:spPr>
          <a:xfrm>
            <a:off x="3374226" y="3223260"/>
            <a:ext cx="22632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B95A6"/>
                </a:solidFill>
                <a:latin typeface="Manrope"/>
                <a:ea typeface="Manrope"/>
                <a:cs typeface="Manrope"/>
                <a:sym typeface="Manrope"/>
              </a:rPr>
              <a:t>Predict continuous numbers</a:t>
            </a:r>
            <a:endParaRPr sz="1100"/>
          </a:p>
        </p:txBody>
      </p:sp>
      <p:sp>
        <p:nvSpPr>
          <p:cNvPr id="583" name="Google Shape;583;p44"/>
          <p:cNvSpPr/>
          <p:nvPr/>
        </p:nvSpPr>
        <p:spPr>
          <a:xfrm>
            <a:off x="5760874" y="3154680"/>
            <a:ext cx="2400300" cy="3429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84" name="Google Shape;584;p44"/>
          <p:cNvSpPr txBox="1"/>
          <p:nvPr/>
        </p:nvSpPr>
        <p:spPr>
          <a:xfrm>
            <a:off x="5843172" y="3223260"/>
            <a:ext cx="226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House price prediction, sales forecasting</a:t>
            </a:r>
            <a:endParaRPr sz="900"/>
          </a:p>
        </p:txBody>
      </p:sp>
      <p:sp>
        <p:nvSpPr>
          <p:cNvPr id="585" name="Google Shape;585;p44"/>
          <p:cNvSpPr/>
          <p:nvPr/>
        </p:nvSpPr>
        <p:spPr>
          <a:xfrm>
            <a:off x="822982" y="3497580"/>
            <a:ext cx="2400300" cy="3429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86" name="Google Shape;586;p44"/>
          <p:cNvSpPr txBox="1"/>
          <p:nvPr/>
        </p:nvSpPr>
        <p:spPr>
          <a:xfrm>
            <a:off x="905280" y="3566160"/>
            <a:ext cx="22632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000" u="none" cap="none" strike="noStrike">
                <a:solidFill>
                  <a:srgbClr val="1B1F2A"/>
                </a:solidFill>
                <a:latin typeface="Manrope"/>
                <a:ea typeface="Manrope"/>
                <a:cs typeface="Manrope"/>
                <a:sym typeface="Manrope"/>
              </a:rPr>
              <a:t>Deep Learning</a:t>
            </a:r>
            <a:endParaRPr sz="1100"/>
          </a:p>
        </p:txBody>
      </p:sp>
      <p:sp>
        <p:nvSpPr>
          <p:cNvPr id="587" name="Google Shape;587;p44"/>
          <p:cNvSpPr/>
          <p:nvPr/>
        </p:nvSpPr>
        <p:spPr>
          <a:xfrm>
            <a:off x="3291928" y="3497580"/>
            <a:ext cx="2400300" cy="3429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88" name="Google Shape;588;p44"/>
          <p:cNvSpPr txBox="1"/>
          <p:nvPr/>
        </p:nvSpPr>
        <p:spPr>
          <a:xfrm>
            <a:off x="3374226" y="3566160"/>
            <a:ext cx="22632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B95A6"/>
                </a:solidFill>
                <a:latin typeface="Manrope"/>
                <a:ea typeface="Manrope"/>
                <a:cs typeface="Manrope"/>
                <a:sym typeface="Manrope"/>
              </a:rPr>
              <a:t>Complex patterns via neural nets</a:t>
            </a:r>
            <a:endParaRPr sz="1100"/>
          </a:p>
        </p:txBody>
      </p:sp>
      <p:sp>
        <p:nvSpPr>
          <p:cNvPr id="589" name="Google Shape;589;p44"/>
          <p:cNvSpPr/>
          <p:nvPr/>
        </p:nvSpPr>
        <p:spPr>
          <a:xfrm>
            <a:off x="5760874" y="3497580"/>
            <a:ext cx="2400300" cy="3429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90" name="Google Shape;590;p44"/>
          <p:cNvSpPr txBox="1"/>
          <p:nvPr/>
        </p:nvSpPr>
        <p:spPr>
          <a:xfrm>
            <a:off x="5843172" y="3566160"/>
            <a:ext cx="22632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B95A6"/>
                </a:solidFill>
                <a:latin typeface="Manrope"/>
                <a:ea typeface="Manrope"/>
                <a:cs typeface="Manrope"/>
                <a:sym typeface="Manrope"/>
              </a:rPr>
              <a:t>Image recognition, speech-to-text</a:t>
            </a:r>
            <a:endParaRPr sz="1100"/>
          </a:p>
        </p:txBody>
      </p:sp>
      <p:sp>
        <p:nvSpPr>
          <p:cNvPr id="591" name="Google Shape;591;p44"/>
          <p:cNvSpPr/>
          <p:nvPr/>
        </p:nvSpPr>
        <p:spPr>
          <a:xfrm>
            <a:off x="822982" y="3840480"/>
            <a:ext cx="2400300" cy="3429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92" name="Google Shape;592;p44"/>
          <p:cNvSpPr txBox="1"/>
          <p:nvPr/>
        </p:nvSpPr>
        <p:spPr>
          <a:xfrm>
            <a:off x="905280" y="3909060"/>
            <a:ext cx="22632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000" u="none" cap="none" strike="noStrike">
                <a:solidFill>
                  <a:srgbClr val="1B1F2A"/>
                </a:solidFill>
                <a:latin typeface="Manrope"/>
                <a:ea typeface="Manrope"/>
                <a:cs typeface="Manrope"/>
                <a:sym typeface="Manrope"/>
              </a:rPr>
              <a:t>Generative AI</a:t>
            </a:r>
            <a:endParaRPr sz="1100"/>
          </a:p>
        </p:txBody>
      </p:sp>
      <p:sp>
        <p:nvSpPr>
          <p:cNvPr id="593" name="Google Shape;593;p44"/>
          <p:cNvSpPr/>
          <p:nvPr/>
        </p:nvSpPr>
        <p:spPr>
          <a:xfrm>
            <a:off x="3291928" y="3840480"/>
            <a:ext cx="2400300" cy="3429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94" name="Google Shape;594;p44"/>
          <p:cNvSpPr txBox="1"/>
          <p:nvPr/>
        </p:nvSpPr>
        <p:spPr>
          <a:xfrm>
            <a:off x="3374226" y="3909060"/>
            <a:ext cx="22632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B95A6"/>
                </a:solidFill>
                <a:latin typeface="Manrope"/>
                <a:ea typeface="Manrope"/>
                <a:cs typeface="Manrope"/>
                <a:sym typeface="Manrope"/>
              </a:rPr>
              <a:t>Create novel content</a:t>
            </a:r>
            <a:endParaRPr sz="1100"/>
          </a:p>
        </p:txBody>
      </p:sp>
      <p:sp>
        <p:nvSpPr>
          <p:cNvPr id="595" name="Google Shape;595;p44"/>
          <p:cNvSpPr/>
          <p:nvPr/>
        </p:nvSpPr>
        <p:spPr>
          <a:xfrm>
            <a:off x="5760874" y="3840480"/>
            <a:ext cx="2400300" cy="3429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596" name="Google Shape;596;p44"/>
          <p:cNvSpPr txBox="1"/>
          <p:nvPr/>
        </p:nvSpPr>
        <p:spPr>
          <a:xfrm>
            <a:off x="5843172" y="3909060"/>
            <a:ext cx="226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ChatGPT, image generators, code assistants</a:t>
            </a:r>
            <a:endParaRPr sz="900"/>
          </a:p>
        </p:txBody>
      </p:sp>
      <p:sp>
        <p:nvSpPr>
          <p:cNvPr id="597" name="Google Shape;597;p44"/>
          <p:cNvSpPr txBox="1"/>
          <p:nvPr/>
        </p:nvSpPr>
        <p:spPr>
          <a:xfrm>
            <a:off x="822982" y="4732020"/>
            <a:ext cx="274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45"/>
          <p:cNvSpPr txBox="1"/>
          <p:nvPr/>
        </p:nvSpPr>
        <p:spPr>
          <a:xfrm>
            <a:off x="822982" y="342900"/>
            <a:ext cx="2743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603" name="Google Shape;603;p45"/>
          <p:cNvSpPr txBox="1"/>
          <p:nvPr/>
        </p:nvSpPr>
        <p:spPr>
          <a:xfrm>
            <a:off x="822982" y="562356"/>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604" name="Google Shape;604;p45"/>
          <p:cNvSpPr txBox="1"/>
          <p:nvPr/>
        </p:nvSpPr>
        <p:spPr>
          <a:xfrm>
            <a:off x="822982" y="720090"/>
            <a:ext cx="548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INTRO TO AI</a:t>
            </a:r>
            <a:endParaRPr sz="1100"/>
          </a:p>
        </p:txBody>
      </p:sp>
      <p:sp>
        <p:nvSpPr>
          <p:cNvPr id="605" name="Google Shape;605;p45"/>
          <p:cNvSpPr txBox="1"/>
          <p:nvPr/>
        </p:nvSpPr>
        <p:spPr>
          <a:xfrm>
            <a:off x="822982" y="946404"/>
            <a:ext cx="7406700" cy="715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u="none" cap="none" strike="noStrike">
                <a:solidFill>
                  <a:srgbClr val="1B1F2A"/>
                </a:solidFill>
                <a:latin typeface="Manrope"/>
                <a:ea typeface="Manrope"/>
                <a:cs typeface="Manrope"/>
                <a:sym typeface="Manrope"/>
              </a:rPr>
              <a:t>Machine Learning: The Engine Inside — Artificial Neural Networks.</a:t>
            </a:r>
            <a:endParaRPr sz="1100"/>
          </a:p>
        </p:txBody>
      </p:sp>
      <p:sp>
        <p:nvSpPr>
          <p:cNvPr id="606" name="Google Shape;606;p45"/>
          <p:cNvSpPr/>
          <p:nvPr/>
        </p:nvSpPr>
        <p:spPr>
          <a:xfrm>
            <a:off x="788691" y="1885950"/>
            <a:ext cx="480000" cy="3429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07" name="Google Shape;607;p45"/>
          <p:cNvSpPr txBox="1"/>
          <p:nvPr/>
        </p:nvSpPr>
        <p:spPr>
          <a:xfrm>
            <a:off x="822982" y="1913382"/>
            <a:ext cx="411600" cy="7464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u="none" cap="none" strike="noStrike">
                <a:solidFill>
                  <a:srgbClr val="FFFFFF"/>
                </a:solidFill>
                <a:latin typeface="Courier New"/>
                <a:ea typeface="Courier New"/>
                <a:cs typeface="Courier New"/>
                <a:sym typeface="Courier New"/>
              </a:rPr>
              <a:t>Input Layer</a:t>
            </a:r>
            <a:endParaRPr sz="1100"/>
          </a:p>
        </p:txBody>
      </p:sp>
      <p:sp>
        <p:nvSpPr>
          <p:cNvPr id="608" name="Google Shape;608;p45"/>
          <p:cNvSpPr txBox="1"/>
          <p:nvPr/>
        </p:nvSpPr>
        <p:spPr>
          <a:xfrm>
            <a:off x="788691" y="2331720"/>
            <a:ext cx="2446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Receives raw data</a:t>
            </a:r>
            <a:endParaRPr sz="1100"/>
          </a:p>
        </p:txBody>
      </p:sp>
      <p:sp>
        <p:nvSpPr>
          <p:cNvPr id="609" name="Google Shape;609;p45"/>
          <p:cNvSpPr txBox="1"/>
          <p:nvPr/>
        </p:nvSpPr>
        <p:spPr>
          <a:xfrm>
            <a:off x="788691" y="2914650"/>
            <a:ext cx="2446200" cy="684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B95A6"/>
                </a:solidFill>
                <a:latin typeface="Manrope"/>
                <a:ea typeface="Manrope"/>
                <a:cs typeface="Manrope"/>
                <a:sym typeface="Manrope"/>
              </a:rPr>
              <a:t>Raw pixels, tokens, or numerical features. Example: raw pixels of a scanned invoice fed directly into the network with no preprocessing.</a:t>
            </a:r>
            <a:endParaRPr sz="1100"/>
          </a:p>
        </p:txBody>
      </p:sp>
      <p:sp>
        <p:nvSpPr>
          <p:cNvPr id="610" name="Google Shape;610;p45"/>
          <p:cNvSpPr/>
          <p:nvPr/>
        </p:nvSpPr>
        <p:spPr>
          <a:xfrm>
            <a:off x="3303358" y="1885950"/>
            <a:ext cx="480000" cy="3429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11" name="Google Shape;611;p45"/>
          <p:cNvSpPr txBox="1"/>
          <p:nvPr/>
        </p:nvSpPr>
        <p:spPr>
          <a:xfrm>
            <a:off x="3337649" y="1913382"/>
            <a:ext cx="411600" cy="7464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u="none" cap="none" strike="noStrike">
                <a:solidFill>
                  <a:srgbClr val="FFFFFF"/>
                </a:solidFill>
                <a:latin typeface="Courier New"/>
                <a:ea typeface="Courier New"/>
                <a:cs typeface="Courier New"/>
                <a:sym typeface="Courier New"/>
              </a:rPr>
              <a:t>Hidden Layers</a:t>
            </a:r>
            <a:endParaRPr sz="1100"/>
          </a:p>
        </p:txBody>
      </p:sp>
      <p:sp>
        <p:nvSpPr>
          <p:cNvPr id="612" name="Google Shape;612;p45"/>
          <p:cNvSpPr txBox="1"/>
          <p:nvPr/>
        </p:nvSpPr>
        <p:spPr>
          <a:xfrm>
            <a:off x="3303358" y="2331720"/>
            <a:ext cx="2446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Where the thinking happens</a:t>
            </a:r>
            <a:endParaRPr sz="1100"/>
          </a:p>
        </p:txBody>
      </p:sp>
      <p:sp>
        <p:nvSpPr>
          <p:cNvPr id="613" name="Google Shape;613;p45"/>
          <p:cNvSpPr txBox="1"/>
          <p:nvPr/>
        </p:nvSpPr>
        <p:spPr>
          <a:xfrm>
            <a:off x="3303358" y="2914650"/>
            <a:ext cx="2446200" cy="684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B95A6"/>
                </a:solidFill>
                <a:latin typeface="Manrope"/>
                <a:ea typeface="Manrope"/>
                <a:cs typeface="Manrope"/>
                <a:sym typeface="Manrope"/>
              </a:rPr>
              <a:t>Pattern recognition through stacked matrix multiplications + non-linear activations. The network learns which features matter most for the task.</a:t>
            </a:r>
            <a:endParaRPr sz="1100"/>
          </a:p>
        </p:txBody>
      </p:sp>
      <p:sp>
        <p:nvSpPr>
          <p:cNvPr id="614" name="Google Shape;614;p45"/>
          <p:cNvSpPr/>
          <p:nvPr/>
        </p:nvSpPr>
        <p:spPr>
          <a:xfrm>
            <a:off x="5818025" y="1885950"/>
            <a:ext cx="480000" cy="3429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15" name="Google Shape;615;p45"/>
          <p:cNvSpPr txBox="1"/>
          <p:nvPr/>
        </p:nvSpPr>
        <p:spPr>
          <a:xfrm>
            <a:off x="5852316" y="1913382"/>
            <a:ext cx="411600" cy="7464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u="none" cap="none" strike="noStrike">
                <a:solidFill>
                  <a:srgbClr val="FFFFFF"/>
                </a:solidFill>
                <a:latin typeface="Courier New"/>
                <a:ea typeface="Courier New"/>
                <a:cs typeface="Courier New"/>
                <a:sym typeface="Courier New"/>
              </a:rPr>
              <a:t>Output Layer</a:t>
            </a:r>
            <a:endParaRPr sz="1100"/>
          </a:p>
        </p:txBody>
      </p:sp>
      <p:sp>
        <p:nvSpPr>
          <p:cNvPr id="616" name="Google Shape;616;p45"/>
          <p:cNvSpPr txBox="1"/>
          <p:nvPr/>
        </p:nvSpPr>
        <p:spPr>
          <a:xfrm>
            <a:off x="5818025" y="2331720"/>
            <a:ext cx="2446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The final result</a:t>
            </a:r>
            <a:endParaRPr sz="1100"/>
          </a:p>
        </p:txBody>
      </p:sp>
      <p:sp>
        <p:nvSpPr>
          <p:cNvPr id="617" name="Google Shape;617;p45"/>
          <p:cNvSpPr txBox="1"/>
          <p:nvPr/>
        </p:nvSpPr>
        <p:spPr>
          <a:xfrm>
            <a:off x="5818025" y="2914650"/>
            <a:ext cx="2446200" cy="838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B95A6"/>
                </a:solidFill>
                <a:latin typeface="Manrope"/>
                <a:ea typeface="Manrope"/>
                <a:cs typeface="Manrope"/>
                <a:sym typeface="Manrope"/>
              </a:rPr>
              <a:t>Produces the prediction or decision. Example: 'This is an invoice for $500.' The final layer converts the learned representation into the answer your application needs.</a:t>
            </a:r>
            <a:endParaRPr sz="1100"/>
          </a:p>
        </p:txBody>
      </p:sp>
      <p:sp>
        <p:nvSpPr>
          <p:cNvPr id="618" name="Google Shape;618;p45"/>
          <p:cNvSpPr txBox="1"/>
          <p:nvPr/>
        </p:nvSpPr>
        <p:spPr>
          <a:xfrm>
            <a:off x="822982" y="4732020"/>
            <a:ext cx="274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
        <p:nvSpPr>
          <p:cNvPr id="619" name="Google Shape;619;p45"/>
          <p:cNvSpPr/>
          <p:nvPr/>
        </p:nvSpPr>
        <p:spPr>
          <a:xfrm>
            <a:off x="788708" y="1885950"/>
            <a:ext cx="933000" cy="3771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20" name="Google Shape;620;p45"/>
          <p:cNvSpPr txBox="1"/>
          <p:nvPr/>
        </p:nvSpPr>
        <p:spPr>
          <a:xfrm flipH="1">
            <a:off x="788725" y="1915125"/>
            <a:ext cx="933000" cy="408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GB" sz="1100">
                <a:solidFill>
                  <a:srgbClr val="FFFFFF"/>
                </a:solidFill>
                <a:latin typeface="Courier New"/>
                <a:ea typeface="Courier New"/>
                <a:cs typeface="Courier New"/>
                <a:sym typeface="Courier New"/>
              </a:rPr>
              <a:t>Input Layer</a:t>
            </a:r>
            <a:endParaRPr sz="1100"/>
          </a:p>
        </p:txBody>
      </p:sp>
      <p:sp>
        <p:nvSpPr>
          <p:cNvPr id="621" name="Google Shape;621;p45"/>
          <p:cNvSpPr/>
          <p:nvPr/>
        </p:nvSpPr>
        <p:spPr>
          <a:xfrm>
            <a:off x="3303371" y="1886050"/>
            <a:ext cx="933000" cy="3771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22" name="Google Shape;622;p45"/>
          <p:cNvSpPr txBox="1"/>
          <p:nvPr/>
        </p:nvSpPr>
        <p:spPr>
          <a:xfrm flipH="1">
            <a:off x="3323113" y="1855150"/>
            <a:ext cx="811200" cy="408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GB" sz="1100">
                <a:solidFill>
                  <a:srgbClr val="FFFFFF"/>
                </a:solidFill>
                <a:latin typeface="Courier New"/>
                <a:ea typeface="Courier New"/>
                <a:cs typeface="Courier New"/>
                <a:sym typeface="Courier New"/>
              </a:rPr>
              <a:t>Hidden Layer</a:t>
            </a:r>
            <a:endParaRPr sz="1100"/>
          </a:p>
        </p:txBody>
      </p:sp>
      <p:sp>
        <p:nvSpPr>
          <p:cNvPr id="623" name="Google Shape;623;p45"/>
          <p:cNvSpPr/>
          <p:nvPr/>
        </p:nvSpPr>
        <p:spPr>
          <a:xfrm>
            <a:off x="5818025" y="1886050"/>
            <a:ext cx="1003500" cy="4080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24" name="Google Shape;624;p45"/>
          <p:cNvSpPr txBox="1"/>
          <p:nvPr/>
        </p:nvSpPr>
        <p:spPr>
          <a:xfrm flipH="1">
            <a:off x="5818025" y="1915125"/>
            <a:ext cx="811200" cy="4080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GB" sz="1100">
                <a:solidFill>
                  <a:srgbClr val="FFFFFF"/>
                </a:solidFill>
                <a:latin typeface="Courier New"/>
                <a:ea typeface="Courier New"/>
                <a:cs typeface="Courier New"/>
                <a:sym typeface="Courier New"/>
              </a:rPr>
              <a:t>Output </a:t>
            </a:r>
            <a:endParaRPr b="1" sz="1100">
              <a:solidFill>
                <a:srgbClr val="FFFFFF"/>
              </a:solidFill>
              <a:latin typeface="Courier New"/>
              <a:ea typeface="Courier New"/>
              <a:cs typeface="Courier New"/>
              <a:sym typeface="Courier New"/>
            </a:endParaRPr>
          </a:p>
          <a:p>
            <a:pPr indent="0" lvl="0" marL="0" marR="0" rtl="0" algn="ctr">
              <a:spcBef>
                <a:spcPts val="0"/>
              </a:spcBef>
              <a:spcAft>
                <a:spcPts val="0"/>
              </a:spcAft>
              <a:buNone/>
            </a:pPr>
            <a:r>
              <a:rPr b="1" lang="en-GB" sz="1100">
                <a:solidFill>
                  <a:srgbClr val="FFFFFF"/>
                </a:solidFill>
                <a:latin typeface="Courier New"/>
                <a:ea typeface="Courier New"/>
                <a:cs typeface="Courier New"/>
                <a:sym typeface="Courier New"/>
              </a:rPr>
              <a:t>Layer</a:t>
            </a:r>
            <a:endParaRPr b="1" sz="1100">
              <a:solidFill>
                <a:srgbClr val="FFFFFF"/>
              </a:solidFill>
              <a:latin typeface="Courier New"/>
              <a:ea typeface="Courier New"/>
              <a:cs typeface="Courier New"/>
              <a:sym typeface="Courier New"/>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46"/>
          <p:cNvSpPr/>
          <p:nvPr/>
        </p:nvSpPr>
        <p:spPr>
          <a:xfrm>
            <a:off x="0" y="0"/>
            <a:ext cx="9144000" cy="51435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30" name="Google Shape;630;p46"/>
          <p:cNvSpPr txBox="1"/>
          <p:nvPr/>
        </p:nvSpPr>
        <p:spPr>
          <a:xfrm>
            <a:off x="822982" y="342900"/>
            <a:ext cx="2743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631" name="Google Shape;631;p46"/>
          <p:cNvSpPr txBox="1"/>
          <p:nvPr/>
        </p:nvSpPr>
        <p:spPr>
          <a:xfrm>
            <a:off x="822982" y="562356"/>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632" name="Google Shape;632;p46"/>
          <p:cNvSpPr txBox="1"/>
          <p:nvPr/>
        </p:nvSpPr>
        <p:spPr>
          <a:xfrm>
            <a:off x="822982" y="617220"/>
            <a:ext cx="1371600" cy="134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300" u="none" cap="none" strike="noStrike">
                <a:solidFill>
                  <a:srgbClr val="FF671F"/>
                </a:solidFill>
                <a:latin typeface="Manrope"/>
                <a:ea typeface="Manrope"/>
                <a:cs typeface="Manrope"/>
                <a:sym typeface="Manrope"/>
              </a:rPr>
              <a:t>“</a:t>
            </a:r>
            <a:endParaRPr sz="1100"/>
          </a:p>
        </p:txBody>
      </p:sp>
      <p:sp>
        <p:nvSpPr>
          <p:cNvPr id="633" name="Google Shape;633;p46"/>
          <p:cNvSpPr txBox="1"/>
          <p:nvPr/>
        </p:nvSpPr>
        <p:spPr>
          <a:xfrm>
            <a:off x="822982" y="1234440"/>
            <a:ext cx="7406700" cy="1269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2600" u="none" cap="none" strike="noStrike">
                <a:solidFill>
                  <a:srgbClr val="1B1F2A"/>
                </a:solidFill>
                <a:latin typeface="Manrope"/>
                <a:ea typeface="Manrope"/>
                <a:cs typeface="Manrope"/>
                <a:sym typeface="Manrope"/>
              </a:rPr>
              <a:t>The goal of an AI model is not to memorise the past… but to learn the patterns necessary to predict the future.</a:t>
            </a:r>
            <a:endParaRPr sz="1100"/>
          </a:p>
        </p:txBody>
      </p:sp>
      <p:sp>
        <p:nvSpPr>
          <p:cNvPr id="634" name="Google Shape;634;p46"/>
          <p:cNvSpPr txBox="1"/>
          <p:nvPr/>
        </p:nvSpPr>
        <p:spPr>
          <a:xfrm>
            <a:off x="822982" y="3771900"/>
            <a:ext cx="5486400" cy="300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u="none" cap="none" strike="noStrike">
                <a:solidFill>
                  <a:srgbClr val="1B1F2A"/>
                </a:solidFill>
                <a:latin typeface="Manrope"/>
                <a:ea typeface="Manrope"/>
                <a:cs typeface="Manrope"/>
                <a:sym typeface="Manrope"/>
              </a:rPr>
              <a:t>Core Principle of Model Training</a:t>
            </a:r>
            <a:endParaRPr sz="1100"/>
          </a:p>
        </p:txBody>
      </p:sp>
      <p:sp>
        <p:nvSpPr>
          <p:cNvPr id="635" name="Google Shape;635;p46"/>
          <p:cNvSpPr txBox="1"/>
          <p:nvPr/>
        </p:nvSpPr>
        <p:spPr>
          <a:xfrm>
            <a:off x="822982" y="4046220"/>
            <a:ext cx="5486400" cy="43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200" u="none" cap="none" strike="noStrike">
                <a:solidFill>
                  <a:srgbClr val="8B95A6"/>
                </a:solidFill>
                <a:latin typeface="Courier New"/>
                <a:ea typeface="Courier New"/>
                <a:cs typeface="Courier New"/>
                <a:sym typeface="Courier New"/>
              </a:rPr>
              <a:t>The ultimate challenge of model training is balancing how well a system learns without simply memorising data.</a:t>
            </a:r>
            <a:endParaRPr sz="1100"/>
          </a:p>
        </p:txBody>
      </p:sp>
      <p:sp>
        <p:nvSpPr>
          <p:cNvPr id="636" name="Google Shape;636;p46"/>
          <p:cNvSpPr txBox="1"/>
          <p:nvPr/>
        </p:nvSpPr>
        <p:spPr>
          <a:xfrm>
            <a:off x="822982" y="4732020"/>
            <a:ext cx="274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47"/>
          <p:cNvSpPr txBox="1"/>
          <p:nvPr/>
        </p:nvSpPr>
        <p:spPr>
          <a:xfrm>
            <a:off x="822982" y="342900"/>
            <a:ext cx="2743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642" name="Google Shape;642;p47"/>
          <p:cNvSpPr txBox="1"/>
          <p:nvPr/>
        </p:nvSpPr>
        <p:spPr>
          <a:xfrm>
            <a:off x="822982" y="562356"/>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643" name="Google Shape;643;p47"/>
          <p:cNvSpPr txBox="1"/>
          <p:nvPr/>
        </p:nvSpPr>
        <p:spPr>
          <a:xfrm>
            <a:off x="822982" y="720090"/>
            <a:ext cx="548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INTRO TO AI</a:t>
            </a:r>
            <a:endParaRPr sz="1100"/>
          </a:p>
        </p:txBody>
      </p:sp>
      <p:sp>
        <p:nvSpPr>
          <p:cNvPr id="644" name="Google Shape;644;p47"/>
          <p:cNvSpPr txBox="1"/>
          <p:nvPr/>
        </p:nvSpPr>
        <p:spPr>
          <a:xfrm>
            <a:off x="822982" y="946404"/>
            <a:ext cx="7406700" cy="330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700" u="none" cap="none" strike="noStrike">
                <a:solidFill>
                  <a:srgbClr val="1B1F2A"/>
                </a:solidFill>
                <a:latin typeface="Manrope"/>
                <a:ea typeface="Manrope"/>
                <a:cs typeface="Manrope"/>
                <a:sym typeface="Manrope"/>
              </a:rPr>
              <a:t>Underfitting vs. Overfitting — the two failure modes of model training.</a:t>
            </a:r>
            <a:endParaRPr sz="700"/>
          </a:p>
        </p:txBody>
      </p:sp>
      <p:sp>
        <p:nvSpPr>
          <p:cNvPr id="645" name="Google Shape;645;p47"/>
          <p:cNvSpPr/>
          <p:nvPr/>
        </p:nvSpPr>
        <p:spPr>
          <a:xfrm>
            <a:off x="822982" y="1474470"/>
            <a:ext cx="3497700" cy="30861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46" name="Google Shape;646;p47"/>
          <p:cNvSpPr/>
          <p:nvPr/>
        </p:nvSpPr>
        <p:spPr>
          <a:xfrm>
            <a:off x="4800728" y="1474470"/>
            <a:ext cx="3497700" cy="3086100"/>
          </a:xfrm>
          <a:prstGeom prst="rect">
            <a:avLst/>
          </a:prstGeom>
          <a:solidFill>
            <a:srgbClr val="FFE3D2"/>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47" name="Google Shape;647;p47"/>
          <p:cNvSpPr/>
          <p:nvPr/>
        </p:nvSpPr>
        <p:spPr>
          <a:xfrm>
            <a:off x="822982" y="1474470"/>
            <a:ext cx="3497700" cy="329100"/>
          </a:xfrm>
          <a:prstGeom prst="rect">
            <a:avLst/>
          </a:prstGeom>
          <a:solidFill>
            <a:srgbClr val="384358"/>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48" name="Google Shape;648;p47"/>
          <p:cNvSpPr txBox="1"/>
          <p:nvPr/>
        </p:nvSpPr>
        <p:spPr>
          <a:xfrm>
            <a:off x="960146" y="1501902"/>
            <a:ext cx="3291900" cy="269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300" u="none" cap="none" strike="noStrike">
                <a:solidFill>
                  <a:srgbClr val="FFFFFF"/>
                </a:solidFill>
                <a:latin typeface="Manrope"/>
                <a:ea typeface="Manrope"/>
                <a:cs typeface="Manrope"/>
                <a:sym typeface="Manrope"/>
              </a:rPr>
              <a:t>Underfitting (The Simple Failure)</a:t>
            </a:r>
            <a:endParaRPr sz="1100"/>
          </a:p>
        </p:txBody>
      </p:sp>
      <p:sp>
        <p:nvSpPr>
          <p:cNvPr id="649" name="Google Shape;649;p47"/>
          <p:cNvSpPr/>
          <p:nvPr/>
        </p:nvSpPr>
        <p:spPr>
          <a:xfrm>
            <a:off x="4800728" y="1474470"/>
            <a:ext cx="3497700" cy="3291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50" name="Google Shape;650;p47"/>
          <p:cNvSpPr txBox="1"/>
          <p:nvPr/>
        </p:nvSpPr>
        <p:spPr>
          <a:xfrm>
            <a:off x="4937892" y="1501902"/>
            <a:ext cx="3291900" cy="269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300" u="none" cap="none" strike="noStrike">
                <a:solidFill>
                  <a:srgbClr val="FFFFFF"/>
                </a:solidFill>
                <a:latin typeface="Manrope"/>
                <a:ea typeface="Manrope"/>
                <a:cs typeface="Manrope"/>
                <a:sym typeface="Manrope"/>
              </a:rPr>
              <a:t>Overfitting (The Complex Failure)</a:t>
            </a:r>
            <a:endParaRPr sz="1100"/>
          </a:p>
        </p:txBody>
      </p:sp>
      <p:sp>
        <p:nvSpPr>
          <p:cNvPr id="651" name="Google Shape;651;p47"/>
          <p:cNvSpPr txBox="1"/>
          <p:nvPr/>
        </p:nvSpPr>
        <p:spPr>
          <a:xfrm>
            <a:off x="925855" y="1933956"/>
            <a:ext cx="32919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The Flaw: Model is too simple; fails to learn the pattern.</a:t>
            </a:r>
            <a:endParaRPr sz="1100"/>
          </a:p>
        </p:txBody>
      </p:sp>
      <p:sp>
        <p:nvSpPr>
          <p:cNvPr id="652" name="Google Shape;652;p47"/>
          <p:cNvSpPr txBox="1"/>
          <p:nvPr/>
        </p:nvSpPr>
        <p:spPr>
          <a:xfrm>
            <a:off x="925855" y="2276856"/>
            <a:ext cx="32919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Performance: Fails on both training data and new data.</a:t>
            </a:r>
            <a:endParaRPr sz="1100"/>
          </a:p>
        </p:txBody>
      </p:sp>
      <p:sp>
        <p:nvSpPr>
          <p:cNvPr id="653" name="Google Shape;653;p47"/>
          <p:cNvSpPr txBox="1"/>
          <p:nvPr/>
        </p:nvSpPr>
        <p:spPr>
          <a:xfrm>
            <a:off x="925855" y="2619756"/>
            <a:ext cx="32919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Root Causes: Not enough training time, missing critical features.</a:t>
            </a:r>
            <a:endParaRPr sz="1100"/>
          </a:p>
        </p:txBody>
      </p:sp>
      <p:sp>
        <p:nvSpPr>
          <p:cNvPr id="654" name="Google Shape;654;p47"/>
          <p:cNvSpPr txBox="1"/>
          <p:nvPr/>
        </p:nvSpPr>
        <p:spPr>
          <a:xfrm>
            <a:off x="925855" y="2962656"/>
            <a:ext cx="32919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Analogy: A student who barely studied — fails easy test questions.</a:t>
            </a:r>
            <a:endParaRPr sz="1100"/>
          </a:p>
        </p:txBody>
      </p:sp>
      <p:sp>
        <p:nvSpPr>
          <p:cNvPr id="655" name="Google Shape;655;p47"/>
          <p:cNvSpPr txBox="1"/>
          <p:nvPr/>
        </p:nvSpPr>
        <p:spPr>
          <a:xfrm>
            <a:off x="925855" y="3305556"/>
            <a:ext cx="32919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Fix: More training, richer features, a more complex model.</a:t>
            </a:r>
            <a:endParaRPr sz="1100"/>
          </a:p>
        </p:txBody>
      </p:sp>
      <p:sp>
        <p:nvSpPr>
          <p:cNvPr id="656" name="Google Shape;656;p47"/>
          <p:cNvSpPr txBox="1"/>
          <p:nvPr/>
        </p:nvSpPr>
        <p:spPr>
          <a:xfrm>
            <a:off x="4903601" y="1933956"/>
            <a:ext cx="32919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The Flaw: Model learns too much, including pure noise.</a:t>
            </a:r>
            <a:endParaRPr sz="1100"/>
          </a:p>
        </p:txBody>
      </p:sp>
      <p:sp>
        <p:nvSpPr>
          <p:cNvPr id="657" name="Google Shape;657;p47"/>
          <p:cNvSpPr txBox="1"/>
          <p:nvPr/>
        </p:nvSpPr>
        <p:spPr>
          <a:xfrm>
            <a:off x="4903601" y="2276856"/>
            <a:ext cx="32919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Performance: Perfect on training data, fails on new data.</a:t>
            </a:r>
            <a:endParaRPr sz="1100"/>
          </a:p>
        </p:txBody>
      </p:sp>
      <p:sp>
        <p:nvSpPr>
          <p:cNvPr id="658" name="Google Shape;658;p47"/>
          <p:cNvSpPr txBox="1"/>
          <p:nvPr/>
        </p:nvSpPr>
        <p:spPr>
          <a:xfrm>
            <a:off x="4903601" y="2619756"/>
            <a:ext cx="32919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Root Causes: Model too complex, dataset too small.</a:t>
            </a:r>
            <a:endParaRPr sz="1100"/>
          </a:p>
        </p:txBody>
      </p:sp>
      <p:sp>
        <p:nvSpPr>
          <p:cNvPr id="659" name="Google Shape;659;p47"/>
          <p:cNvSpPr txBox="1"/>
          <p:nvPr/>
        </p:nvSpPr>
        <p:spPr>
          <a:xfrm>
            <a:off x="4903601" y="2962656"/>
            <a:ext cx="32919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Analogy: A student who memorised last year's exam verbatim.</a:t>
            </a:r>
            <a:endParaRPr sz="1100"/>
          </a:p>
        </p:txBody>
      </p:sp>
      <p:sp>
        <p:nvSpPr>
          <p:cNvPr id="660" name="Google Shape;660;p47"/>
          <p:cNvSpPr txBox="1"/>
          <p:nvPr/>
        </p:nvSpPr>
        <p:spPr>
          <a:xfrm>
            <a:off x="4903601" y="3305556"/>
            <a:ext cx="32919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Fix: More data, regularisation, dropout, simpler architecture.</a:t>
            </a:r>
            <a:endParaRPr sz="1100"/>
          </a:p>
        </p:txBody>
      </p:sp>
      <p:sp>
        <p:nvSpPr>
          <p:cNvPr id="661" name="Google Shape;661;p47"/>
          <p:cNvSpPr txBox="1"/>
          <p:nvPr/>
        </p:nvSpPr>
        <p:spPr>
          <a:xfrm>
            <a:off x="822982" y="4732020"/>
            <a:ext cx="274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48"/>
          <p:cNvSpPr txBox="1"/>
          <p:nvPr/>
        </p:nvSpPr>
        <p:spPr>
          <a:xfrm>
            <a:off x="822982" y="342900"/>
            <a:ext cx="2743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667" name="Google Shape;667;p48"/>
          <p:cNvSpPr txBox="1"/>
          <p:nvPr/>
        </p:nvSpPr>
        <p:spPr>
          <a:xfrm>
            <a:off x="822982" y="562356"/>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668" name="Google Shape;668;p48"/>
          <p:cNvSpPr txBox="1"/>
          <p:nvPr/>
        </p:nvSpPr>
        <p:spPr>
          <a:xfrm>
            <a:off x="822982" y="720090"/>
            <a:ext cx="548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INTRO TO AI</a:t>
            </a:r>
            <a:endParaRPr sz="1100"/>
          </a:p>
        </p:txBody>
      </p:sp>
      <p:sp>
        <p:nvSpPr>
          <p:cNvPr id="669" name="Google Shape;669;p48"/>
          <p:cNvSpPr txBox="1"/>
          <p:nvPr/>
        </p:nvSpPr>
        <p:spPr>
          <a:xfrm>
            <a:off x="822982" y="946404"/>
            <a:ext cx="7406700" cy="423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300" u="none" cap="none" strike="noStrike">
                <a:solidFill>
                  <a:srgbClr val="1B1F2A"/>
                </a:solidFill>
                <a:latin typeface="Manrope"/>
                <a:ea typeface="Manrope"/>
                <a:cs typeface="Manrope"/>
                <a:sym typeface="Manrope"/>
              </a:rPr>
              <a:t>Real-World Impact: Predicting House Prices.</a:t>
            </a:r>
            <a:endParaRPr sz="700"/>
          </a:p>
        </p:txBody>
      </p:sp>
      <p:sp>
        <p:nvSpPr>
          <p:cNvPr id="670" name="Google Shape;670;p48"/>
          <p:cNvSpPr txBox="1"/>
          <p:nvPr/>
        </p:nvSpPr>
        <p:spPr>
          <a:xfrm>
            <a:off x="822982" y="1522476"/>
            <a:ext cx="74067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Three fitting scenarios, one real estate use case.</a:t>
            </a:r>
            <a:endParaRPr sz="1100"/>
          </a:p>
        </p:txBody>
      </p:sp>
      <p:sp>
        <p:nvSpPr>
          <p:cNvPr id="671" name="Google Shape;671;p48"/>
          <p:cNvSpPr/>
          <p:nvPr/>
        </p:nvSpPr>
        <p:spPr>
          <a:xfrm>
            <a:off x="822982" y="2023110"/>
            <a:ext cx="2469000" cy="273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72" name="Google Shape;672;p48"/>
          <p:cNvSpPr txBox="1"/>
          <p:nvPr/>
        </p:nvSpPr>
        <p:spPr>
          <a:xfrm>
            <a:off x="822982" y="2091690"/>
            <a:ext cx="246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8B95A6"/>
                </a:solidFill>
                <a:latin typeface="Courier New"/>
                <a:ea typeface="Courier New"/>
                <a:cs typeface="Courier New"/>
                <a:sym typeface="Courier New"/>
              </a:rPr>
              <a:t>UNDERFIT</a:t>
            </a:r>
            <a:endParaRPr sz="1100"/>
          </a:p>
        </p:txBody>
      </p:sp>
      <p:sp>
        <p:nvSpPr>
          <p:cNvPr id="673" name="Google Shape;673;p48"/>
          <p:cNvSpPr txBox="1"/>
          <p:nvPr/>
        </p:nvSpPr>
        <p:spPr>
          <a:xfrm>
            <a:off x="822982" y="2242566"/>
            <a:ext cx="2469000" cy="300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u="none" cap="none" strike="noStrike">
                <a:solidFill>
                  <a:srgbClr val="1B1F2A"/>
                </a:solidFill>
                <a:latin typeface="Manrope"/>
                <a:ea typeface="Manrope"/>
                <a:cs typeface="Manrope"/>
                <a:sym typeface="Manrope"/>
              </a:rPr>
              <a:t>Ignores most features</a:t>
            </a:r>
            <a:endParaRPr sz="1100"/>
          </a:p>
        </p:txBody>
      </p:sp>
      <p:sp>
        <p:nvSpPr>
          <p:cNvPr id="674" name="Google Shape;674;p48"/>
          <p:cNvSpPr txBox="1"/>
          <p:nvPr/>
        </p:nvSpPr>
        <p:spPr>
          <a:xfrm>
            <a:off x="822982" y="2558034"/>
            <a:ext cx="2469000" cy="915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Only looks at number of rooms. Ignores location, size, amenities, school district, market trends. Predictions fail everywhere — too simple to generalise.</a:t>
            </a:r>
            <a:endParaRPr sz="1100"/>
          </a:p>
        </p:txBody>
      </p:sp>
      <p:sp>
        <p:nvSpPr>
          <p:cNvPr id="675" name="Google Shape;675;p48"/>
          <p:cNvSpPr/>
          <p:nvPr/>
        </p:nvSpPr>
        <p:spPr>
          <a:xfrm>
            <a:off x="3429091" y="2023110"/>
            <a:ext cx="2469000" cy="273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76" name="Google Shape;676;p48"/>
          <p:cNvSpPr txBox="1"/>
          <p:nvPr/>
        </p:nvSpPr>
        <p:spPr>
          <a:xfrm>
            <a:off x="3429091" y="2091690"/>
            <a:ext cx="246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8B95A6"/>
                </a:solidFill>
                <a:latin typeface="Courier New"/>
                <a:ea typeface="Courier New"/>
                <a:cs typeface="Courier New"/>
                <a:sym typeface="Courier New"/>
              </a:rPr>
              <a:t>OVERFIT</a:t>
            </a:r>
            <a:endParaRPr sz="1100"/>
          </a:p>
        </p:txBody>
      </p:sp>
      <p:sp>
        <p:nvSpPr>
          <p:cNvPr id="677" name="Google Shape;677;p48"/>
          <p:cNvSpPr txBox="1"/>
          <p:nvPr/>
        </p:nvSpPr>
        <p:spPr>
          <a:xfrm>
            <a:off x="3429091" y="2242566"/>
            <a:ext cx="2469000" cy="300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u="none" cap="none" strike="noStrike">
                <a:solidFill>
                  <a:srgbClr val="1B1F2A"/>
                </a:solidFill>
                <a:latin typeface="Manrope"/>
                <a:ea typeface="Manrope"/>
                <a:cs typeface="Manrope"/>
                <a:sym typeface="Manrope"/>
              </a:rPr>
              <a:t>Obsesses over noise</a:t>
            </a:r>
            <a:endParaRPr sz="1100"/>
          </a:p>
        </p:txBody>
      </p:sp>
      <p:sp>
        <p:nvSpPr>
          <p:cNvPr id="678" name="Google Shape;678;p48"/>
          <p:cNvSpPr txBox="1"/>
          <p:nvPr/>
        </p:nvSpPr>
        <p:spPr>
          <a:xfrm>
            <a:off x="3429091" y="2558034"/>
            <a:ext cx="2469000" cy="915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Memorises a specific crack in the driveway of one training house. Cannot predict prices in a new neighbourhood — too specific to generalise.</a:t>
            </a:r>
            <a:endParaRPr sz="1100"/>
          </a:p>
        </p:txBody>
      </p:sp>
      <p:sp>
        <p:nvSpPr>
          <p:cNvPr id="679" name="Google Shape;679;p48"/>
          <p:cNvSpPr/>
          <p:nvPr/>
        </p:nvSpPr>
        <p:spPr>
          <a:xfrm>
            <a:off x="6035201" y="2023110"/>
            <a:ext cx="2469000" cy="273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80" name="Google Shape;680;p48"/>
          <p:cNvSpPr txBox="1"/>
          <p:nvPr/>
        </p:nvSpPr>
        <p:spPr>
          <a:xfrm>
            <a:off x="6035201" y="2091690"/>
            <a:ext cx="246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8B95A6"/>
                </a:solidFill>
                <a:latin typeface="Courier New"/>
                <a:ea typeface="Courier New"/>
                <a:cs typeface="Courier New"/>
                <a:sym typeface="Courier New"/>
              </a:rPr>
              <a:t>PERFECT FIT</a:t>
            </a:r>
            <a:endParaRPr sz="1100"/>
          </a:p>
        </p:txBody>
      </p:sp>
      <p:sp>
        <p:nvSpPr>
          <p:cNvPr id="681" name="Google Shape;681;p48"/>
          <p:cNvSpPr txBox="1"/>
          <p:nvPr/>
        </p:nvSpPr>
        <p:spPr>
          <a:xfrm>
            <a:off x="6035201" y="2242566"/>
            <a:ext cx="2469000" cy="300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u="none" cap="none" strike="noStrike">
                <a:solidFill>
                  <a:srgbClr val="1B1F2A"/>
                </a:solidFill>
                <a:latin typeface="Manrope"/>
                <a:ea typeface="Manrope"/>
                <a:cs typeface="Manrope"/>
                <a:sym typeface="Manrope"/>
              </a:rPr>
              <a:t>Learns the true patterns</a:t>
            </a:r>
            <a:endParaRPr sz="1100"/>
          </a:p>
        </p:txBody>
      </p:sp>
      <p:sp>
        <p:nvSpPr>
          <p:cNvPr id="682" name="Google Shape;682;p48"/>
          <p:cNvSpPr txBox="1"/>
          <p:nvPr/>
        </p:nvSpPr>
        <p:spPr>
          <a:xfrm>
            <a:off x="6035201" y="2558034"/>
            <a:ext cx="2469000" cy="915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Identifies the true underlying patterns: square footage, zip code, and market trends. Generalises accurately to homes it has never seen before.</a:t>
            </a:r>
            <a:endParaRPr sz="1100"/>
          </a:p>
        </p:txBody>
      </p:sp>
      <p:sp>
        <p:nvSpPr>
          <p:cNvPr id="683" name="Google Shape;683;p48"/>
          <p:cNvSpPr txBox="1"/>
          <p:nvPr/>
        </p:nvSpPr>
        <p:spPr>
          <a:xfrm>
            <a:off x="822982" y="4732020"/>
            <a:ext cx="274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49"/>
          <p:cNvSpPr txBox="1"/>
          <p:nvPr/>
        </p:nvSpPr>
        <p:spPr>
          <a:xfrm>
            <a:off x="822982" y="342900"/>
            <a:ext cx="2743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689" name="Google Shape;689;p49"/>
          <p:cNvSpPr txBox="1"/>
          <p:nvPr/>
        </p:nvSpPr>
        <p:spPr>
          <a:xfrm>
            <a:off x="822982" y="562356"/>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690" name="Google Shape;690;p49"/>
          <p:cNvSpPr txBox="1"/>
          <p:nvPr/>
        </p:nvSpPr>
        <p:spPr>
          <a:xfrm>
            <a:off x="822982" y="720090"/>
            <a:ext cx="548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INTRO TO AI</a:t>
            </a:r>
            <a:endParaRPr sz="1100"/>
          </a:p>
        </p:txBody>
      </p:sp>
      <p:sp>
        <p:nvSpPr>
          <p:cNvPr id="691" name="Google Shape;691;p49"/>
          <p:cNvSpPr txBox="1"/>
          <p:nvPr/>
        </p:nvSpPr>
        <p:spPr>
          <a:xfrm>
            <a:off x="822982" y="1177378"/>
            <a:ext cx="7406700" cy="377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000" u="none" cap="none" strike="noStrike">
                <a:solidFill>
                  <a:srgbClr val="1B1F2A"/>
                </a:solidFill>
                <a:latin typeface="Manrope"/>
                <a:ea typeface="Manrope"/>
                <a:cs typeface="Manrope"/>
                <a:sym typeface="Manrope"/>
              </a:rPr>
              <a:t>Part 1: The Neuronal Core — what lives inside each neuron.</a:t>
            </a:r>
            <a:endParaRPr sz="400"/>
          </a:p>
        </p:txBody>
      </p:sp>
      <p:sp>
        <p:nvSpPr>
          <p:cNvPr id="692" name="Google Shape;692;p49"/>
          <p:cNvSpPr txBox="1"/>
          <p:nvPr/>
        </p:nvSpPr>
        <p:spPr>
          <a:xfrm>
            <a:off x="822982" y="1753450"/>
            <a:ext cx="74067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Three components that define how a single artificial neuron processes information.</a:t>
            </a:r>
            <a:endParaRPr sz="1100"/>
          </a:p>
        </p:txBody>
      </p:sp>
      <p:sp>
        <p:nvSpPr>
          <p:cNvPr id="693" name="Google Shape;693;p49"/>
          <p:cNvSpPr/>
          <p:nvPr/>
        </p:nvSpPr>
        <p:spPr>
          <a:xfrm>
            <a:off x="822982" y="2254084"/>
            <a:ext cx="2469000" cy="273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94" name="Google Shape;694;p49"/>
          <p:cNvSpPr txBox="1"/>
          <p:nvPr/>
        </p:nvSpPr>
        <p:spPr>
          <a:xfrm>
            <a:off x="822982" y="2322664"/>
            <a:ext cx="246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8B95A6"/>
                </a:solidFill>
                <a:latin typeface="Courier New"/>
                <a:ea typeface="Courier New"/>
                <a:cs typeface="Courier New"/>
                <a:sym typeface="Courier New"/>
              </a:rPr>
              <a:t>1 · WEIGHTS</a:t>
            </a:r>
            <a:endParaRPr sz="1100"/>
          </a:p>
        </p:txBody>
      </p:sp>
      <p:sp>
        <p:nvSpPr>
          <p:cNvPr id="695" name="Google Shape;695;p49"/>
          <p:cNvSpPr txBox="1"/>
          <p:nvPr/>
        </p:nvSpPr>
        <p:spPr>
          <a:xfrm>
            <a:off x="822982" y="2473540"/>
            <a:ext cx="2469000" cy="300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u="none" cap="none" strike="noStrike">
                <a:solidFill>
                  <a:srgbClr val="1B1F2A"/>
                </a:solidFill>
                <a:latin typeface="Manrope"/>
                <a:ea typeface="Manrope"/>
                <a:cs typeface="Manrope"/>
                <a:sym typeface="Manrope"/>
              </a:rPr>
              <a:t>The dials of importance</a:t>
            </a:r>
            <a:endParaRPr sz="1100"/>
          </a:p>
        </p:txBody>
      </p:sp>
      <p:sp>
        <p:nvSpPr>
          <p:cNvPr id="696" name="Google Shape;696;p49"/>
          <p:cNvSpPr txBox="1"/>
          <p:nvPr/>
        </p:nvSpPr>
        <p:spPr>
          <a:xfrm>
            <a:off x="822982" y="2789008"/>
            <a:ext cx="2469000" cy="915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Numerical values determining how strongly a neuron responds to each input. Adjusted during training via backpropagation. High weight = strong influence on the prediction.</a:t>
            </a:r>
            <a:endParaRPr sz="1100"/>
          </a:p>
        </p:txBody>
      </p:sp>
      <p:sp>
        <p:nvSpPr>
          <p:cNvPr id="697" name="Google Shape;697;p49"/>
          <p:cNvSpPr/>
          <p:nvPr/>
        </p:nvSpPr>
        <p:spPr>
          <a:xfrm>
            <a:off x="3429091" y="2254084"/>
            <a:ext cx="2469000" cy="273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698" name="Google Shape;698;p49"/>
          <p:cNvSpPr txBox="1"/>
          <p:nvPr/>
        </p:nvSpPr>
        <p:spPr>
          <a:xfrm>
            <a:off x="3429091" y="2322664"/>
            <a:ext cx="246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8B95A6"/>
                </a:solidFill>
                <a:latin typeface="Courier New"/>
                <a:ea typeface="Courier New"/>
                <a:cs typeface="Courier New"/>
                <a:sym typeface="Courier New"/>
              </a:rPr>
              <a:t>2 · BIAS</a:t>
            </a:r>
            <a:endParaRPr sz="1100"/>
          </a:p>
        </p:txBody>
      </p:sp>
      <p:sp>
        <p:nvSpPr>
          <p:cNvPr id="699" name="Google Shape;699;p49"/>
          <p:cNvSpPr txBox="1"/>
          <p:nvPr/>
        </p:nvSpPr>
        <p:spPr>
          <a:xfrm>
            <a:off x="3429091" y="2473540"/>
            <a:ext cx="2469000" cy="300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u="none" cap="none" strike="noStrike">
                <a:solidFill>
                  <a:srgbClr val="1B1F2A"/>
                </a:solidFill>
                <a:latin typeface="Manrope"/>
                <a:ea typeface="Manrope"/>
                <a:cs typeface="Manrope"/>
                <a:sym typeface="Manrope"/>
              </a:rPr>
              <a:t>The baseline shift</a:t>
            </a:r>
            <a:endParaRPr sz="1100"/>
          </a:p>
        </p:txBody>
      </p:sp>
      <p:sp>
        <p:nvSpPr>
          <p:cNvPr id="700" name="Google Shape;700;p49"/>
          <p:cNvSpPr txBox="1"/>
          <p:nvPr/>
        </p:nvSpPr>
        <p:spPr>
          <a:xfrm>
            <a:off x="3429091" y="2789008"/>
            <a:ext cx="2469000" cy="915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An extra parameter that shifts predictions, allowing the model to fit data flexibly without being forced through zero. Analogous to the y-intercept in linear regression.</a:t>
            </a:r>
            <a:endParaRPr sz="1100"/>
          </a:p>
        </p:txBody>
      </p:sp>
      <p:sp>
        <p:nvSpPr>
          <p:cNvPr id="701" name="Google Shape;701;p49"/>
          <p:cNvSpPr/>
          <p:nvPr/>
        </p:nvSpPr>
        <p:spPr>
          <a:xfrm>
            <a:off x="6035201" y="2254084"/>
            <a:ext cx="2469000" cy="273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02" name="Google Shape;702;p49"/>
          <p:cNvSpPr txBox="1"/>
          <p:nvPr/>
        </p:nvSpPr>
        <p:spPr>
          <a:xfrm>
            <a:off x="6035201" y="2322664"/>
            <a:ext cx="246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8B95A6"/>
                </a:solidFill>
                <a:latin typeface="Courier New"/>
                <a:ea typeface="Courier New"/>
                <a:cs typeface="Courier New"/>
                <a:sym typeface="Courier New"/>
              </a:rPr>
              <a:t>3 · ACTIVATION FUNCTION</a:t>
            </a:r>
            <a:endParaRPr sz="1100"/>
          </a:p>
        </p:txBody>
      </p:sp>
      <p:sp>
        <p:nvSpPr>
          <p:cNvPr id="703" name="Google Shape;703;p49"/>
          <p:cNvSpPr txBox="1"/>
          <p:nvPr/>
        </p:nvSpPr>
        <p:spPr>
          <a:xfrm>
            <a:off x="6035201" y="2473540"/>
            <a:ext cx="2469000" cy="300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u="none" cap="none" strike="noStrike">
                <a:solidFill>
                  <a:srgbClr val="1B1F2A"/>
                </a:solidFill>
                <a:latin typeface="Manrope"/>
                <a:ea typeface="Manrope"/>
                <a:cs typeface="Manrope"/>
                <a:sym typeface="Manrope"/>
              </a:rPr>
              <a:t>The decision gate</a:t>
            </a:r>
            <a:endParaRPr sz="1100"/>
          </a:p>
        </p:txBody>
      </p:sp>
      <p:sp>
        <p:nvSpPr>
          <p:cNvPr id="704" name="Google Shape;704;p49"/>
          <p:cNvSpPr txBox="1"/>
          <p:nvPr/>
        </p:nvSpPr>
        <p:spPr>
          <a:xfrm>
            <a:off x="6035201" y="2789008"/>
            <a:ext cx="2469000" cy="915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Decides if a neuron should fire. Introduces non-linearity — without it, a neural network is just linear regression. Common examples: ReLU, Sigmoid, Tanh, Softmax.</a:t>
            </a:r>
            <a:endParaRPr sz="1100"/>
          </a:p>
        </p:txBody>
      </p:sp>
      <p:sp>
        <p:nvSpPr>
          <p:cNvPr id="705" name="Google Shape;705;p49"/>
          <p:cNvSpPr txBox="1"/>
          <p:nvPr/>
        </p:nvSpPr>
        <p:spPr>
          <a:xfrm>
            <a:off x="822982" y="4732020"/>
            <a:ext cx="274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p50"/>
          <p:cNvSpPr txBox="1"/>
          <p:nvPr/>
        </p:nvSpPr>
        <p:spPr>
          <a:xfrm>
            <a:off x="822982" y="342900"/>
            <a:ext cx="2743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711" name="Google Shape;711;p50"/>
          <p:cNvSpPr txBox="1"/>
          <p:nvPr/>
        </p:nvSpPr>
        <p:spPr>
          <a:xfrm>
            <a:off x="822982" y="562356"/>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712" name="Google Shape;712;p50"/>
          <p:cNvSpPr txBox="1"/>
          <p:nvPr/>
        </p:nvSpPr>
        <p:spPr>
          <a:xfrm>
            <a:off x="822982" y="720090"/>
            <a:ext cx="548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INTRO TO AI</a:t>
            </a:r>
            <a:endParaRPr sz="1100"/>
          </a:p>
        </p:txBody>
      </p:sp>
      <p:sp>
        <p:nvSpPr>
          <p:cNvPr id="713" name="Google Shape;713;p50"/>
          <p:cNvSpPr txBox="1"/>
          <p:nvPr/>
        </p:nvSpPr>
        <p:spPr>
          <a:xfrm>
            <a:off x="822982" y="946404"/>
            <a:ext cx="7406700" cy="654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900" u="none" cap="none" strike="noStrike">
                <a:solidFill>
                  <a:srgbClr val="1B1F2A"/>
                </a:solidFill>
                <a:latin typeface="Manrope"/>
                <a:ea typeface="Manrope"/>
                <a:cs typeface="Manrope"/>
                <a:sym typeface="Manrope"/>
              </a:rPr>
              <a:t>Part 2: The Correction Loop — how a model learns from its mistakes.</a:t>
            </a:r>
            <a:endParaRPr sz="300"/>
          </a:p>
        </p:txBody>
      </p:sp>
      <p:sp>
        <p:nvSpPr>
          <p:cNvPr id="714" name="Google Shape;714;p50"/>
          <p:cNvSpPr txBox="1"/>
          <p:nvPr/>
        </p:nvSpPr>
        <p:spPr>
          <a:xfrm>
            <a:off x="822982" y="1522476"/>
            <a:ext cx="74067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Three mechanisms that work together every training iteration to reduce prediction error.</a:t>
            </a:r>
            <a:endParaRPr sz="1100"/>
          </a:p>
        </p:txBody>
      </p:sp>
      <p:sp>
        <p:nvSpPr>
          <p:cNvPr id="715" name="Google Shape;715;p50"/>
          <p:cNvSpPr/>
          <p:nvPr/>
        </p:nvSpPr>
        <p:spPr>
          <a:xfrm>
            <a:off x="822982" y="2023110"/>
            <a:ext cx="2469000" cy="273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16" name="Google Shape;716;p50"/>
          <p:cNvSpPr txBox="1"/>
          <p:nvPr/>
        </p:nvSpPr>
        <p:spPr>
          <a:xfrm>
            <a:off x="822982" y="2091690"/>
            <a:ext cx="2469000" cy="315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8B95A6"/>
                </a:solidFill>
                <a:latin typeface="Courier New"/>
                <a:ea typeface="Courier New"/>
                <a:cs typeface="Courier New"/>
                <a:sym typeface="Courier New"/>
              </a:rPr>
              <a:t>1 · LOSS FUNCTION</a:t>
            </a:r>
            <a:br>
              <a:rPr b="1" i="0" lang="en-GB" sz="800" u="none" cap="none" strike="noStrike">
                <a:solidFill>
                  <a:srgbClr val="8B95A6"/>
                </a:solidFill>
                <a:latin typeface="Courier New"/>
                <a:ea typeface="Courier New"/>
                <a:cs typeface="Courier New"/>
                <a:sym typeface="Courier New"/>
              </a:rPr>
            </a:br>
            <a:r>
              <a:rPr b="1" i="0" lang="en-GB" sz="800" u="none" cap="none" strike="noStrike">
                <a:solidFill>
                  <a:srgbClr val="8B95A6"/>
                </a:solidFill>
                <a:latin typeface="Courier New"/>
                <a:ea typeface="Courier New"/>
                <a:cs typeface="Courier New"/>
                <a:sym typeface="Courier New"/>
              </a:rPr>
              <a:t>(THE JUDGE)</a:t>
            </a:r>
            <a:endParaRPr sz="1100"/>
          </a:p>
        </p:txBody>
      </p:sp>
      <p:sp>
        <p:nvSpPr>
          <p:cNvPr id="717" name="Google Shape;717;p50"/>
          <p:cNvSpPr txBox="1"/>
          <p:nvPr/>
        </p:nvSpPr>
        <p:spPr>
          <a:xfrm>
            <a:off x="822982" y="2485666"/>
            <a:ext cx="2469000" cy="531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u="none" cap="none" strike="noStrike">
                <a:solidFill>
                  <a:srgbClr val="1B1F2A"/>
                </a:solidFill>
                <a:latin typeface="Manrope"/>
                <a:ea typeface="Manrope"/>
                <a:cs typeface="Manrope"/>
                <a:sym typeface="Manrope"/>
              </a:rPr>
              <a:t>Measures how wrong the model was</a:t>
            </a:r>
            <a:endParaRPr sz="1100"/>
          </a:p>
        </p:txBody>
      </p:sp>
      <p:sp>
        <p:nvSpPr>
          <p:cNvPr id="718" name="Google Shape;718;p50"/>
          <p:cNvSpPr txBox="1"/>
          <p:nvPr/>
        </p:nvSpPr>
        <p:spPr>
          <a:xfrm>
            <a:off x="822925" y="3090016"/>
            <a:ext cx="2469000" cy="1085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Compares prediction to ground truth and produces a single number — the 'error score.' The sole goal of training is to minimise this number. Common examples: MSE, Cross-Entropy, MAE.</a:t>
            </a:r>
            <a:endParaRPr sz="1100"/>
          </a:p>
        </p:txBody>
      </p:sp>
      <p:sp>
        <p:nvSpPr>
          <p:cNvPr id="719" name="Google Shape;719;p50"/>
          <p:cNvSpPr/>
          <p:nvPr/>
        </p:nvSpPr>
        <p:spPr>
          <a:xfrm>
            <a:off x="3429091" y="2023110"/>
            <a:ext cx="2469000" cy="273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20" name="Google Shape;720;p50"/>
          <p:cNvSpPr txBox="1"/>
          <p:nvPr/>
        </p:nvSpPr>
        <p:spPr>
          <a:xfrm>
            <a:off x="3429091" y="2091690"/>
            <a:ext cx="2469000" cy="315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8B95A6"/>
                </a:solidFill>
                <a:latin typeface="Courier New"/>
                <a:ea typeface="Courier New"/>
                <a:cs typeface="Courier New"/>
                <a:sym typeface="Courier New"/>
              </a:rPr>
              <a:t>2 · BACKPROPAGATION</a:t>
            </a:r>
            <a:br>
              <a:rPr b="1" i="0" lang="en-GB" sz="800" u="none" cap="none" strike="noStrike">
                <a:solidFill>
                  <a:srgbClr val="8B95A6"/>
                </a:solidFill>
                <a:latin typeface="Courier New"/>
                <a:ea typeface="Courier New"/>
                <a:cs typeface="Courier New"/>
                <a:sym typeface="Courier New"/>
              </a:rPr>
            </a:br>
            <a:r>
              <a:rPr b="1" i="0" lang="en-GB" sz="800" u="none" cap="none" strike="noStrike">
                <a:solidFill>
                  <a:srgbClr val="8B95A6"/>
                </a:solidFill>
                <a:latin typeface="Courier New"/>
                <a:ea typeface="Courier New"/>
                <a:cs typeface="Courier New"/>
                <a:sym typeface="Courier New"/>
              </a:rPr>
              <a:t>(THE MESSENGER)</a:t>
            </a:r>
            <a:endParaRPr sz="1100"/>
          </a:p>
        </p:txBody>
      </p:sp>
      <p:sp>
        <p:nvSpPr>
          <p:cNvPr id="721" name="Google Shape;721;p50"/>
          <p:cNvSpPr txBox="1"/>
          <p:nvPr/>
        </p:nvSpPr>
        <p:spPr>
          <a:xfrm>
            <a:off x="3429079" y="2542691"/>
            <a:ext cx="2469000" cy="500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u="none" cap="none" strike="noStrike">
                <a:solidFill>
                  <a:srgbClr val="1B1F2A"/>
                </a:solidFill>
                <a:latin typeface="Manrope"/>
                <a:ea typeface="Manrope"/>
                <a:cs typeface="Manrope"/>
                <a:sym typeface="Manrope"/>
              </a:rPr>
              <a:t>Carries the error signal backwards</a:t>
            </a:r>
            <a:endParaRPr sz="1000"/>
          </a:p>
        </p:txBody>
      </p:sp>
      <p:sp>
        <p:nvSpPr>
          <p:cNvPr id="722" name="Google Shape;722;p50"/>
          <p:cNvSpPr txBox="1"/>
          <p:nvPr/>
        </p:nvSpPr>
        <p:spPr>
          <a:xfrm>
            <a:off x="3429063" y="3145678"/>
            <a:ext cx="2469000" cy="1085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An algorithm that propagates the error calculated by the loss function backwards through every layer of the network to determine how much each weight contributed to the mistake.</a:t>
            </a:r>
            <a:endParaRPr sz="1100"/>
          </a:p>
        </p:txBody>
      </p:sp>
      <p:sp>
        <p:nvSpPr>
          <p:cNvPr id="723" name="Google Shape;723;p50"/>
          <p:cNvSpPr/>
          <p:nvPr/>
        </p:nvSpPr>
        <p:spPr>
          <a:xfrm>
            <a:off x="6035201" y="2023110"/>
            <a:ext cx="2469000" cy="273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24" name="Google Shape;724;p50"/>
          <p:cNvSpPr txBox="1"/>
          <p:nvPr/>
        </p:nvSpPr>
        <p:spPr>
          <a:xfrm>
            <a:off x="6035201" y="2091690"/>
            <a:ext cx="2469000" cy="315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8B95A6"/>
                </a:solidFill>
                <a:latin typeface="Courier New"/>
                <a:ea typeface="Courier New"/>
                <a:cs typeface="Courier New"/>
                <a:sym typeface="Courier New"/>
              </a:rPr>
              <a:t>3 · GRADIENT DESCENT</a:t>
            </a:r>
            <a:br>
              <a:rPr b="1" i="0" lang="en-GB" sz="800" u="none" cap="none" strike="noStrike">
                <a:solidFill>
                  <a:srgbClr val="8B95A6"/>
                </a:solidFill>
                <a:latin typeface="Courier New"/>
                <a:ea typeface="Courier New"/>
                <a:cs typeface="Courier New"/>
                <a:sym typeface="Courier New"/>
              </a:rPr>
            </a:br>
            <a:r>
              <a:rPr b="1" i="0" lang="en-GB" sz="800" u="none" cap="none" strike="noStrike">
                <a:solidFill>
                  <a:srgbClr val="8B95A6"/>
                </a:solidFill>
                <a:latin typeface="Courier New"/>
                <a:ea typeface="Courier New"/>
                <a:cs typeface="Courier New"/>
                <a:sym typeface="Courier New"/>
              </a:rPr>
              <a:t>(THE NAVIGATOR)</a:t>
            </a:r>
            <a:endParaRPr sz="1100"/>
          </a:p>
        </p:txBody>
      </p:sp>
      <p:sp>
        <p:nvSpPr>
          <p:cNvPr id="725" name="Google Shape;725;p50"/>
          <p:cNvSpPr txBox="1"/>
          <p:nvPr/>
        </p:nvSpPr>
        <p:spPr>
          <a:xfrm>
            <a:off x="6035176" y="2527229"/>
            <a:ext cx="2469000" cy="469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300" u="none" cap="none" strike="noStrike">
                <a:solidFill>
                  <a:srgbClr val="1B1F2A"/>
                </a:solidFill>
                <a:latin typeface="Manrope"/>
                <a:ea typeface="Manrope"/>
                <a:cs typeface="Manrope"/>
                <a:sym typeface="Manrope"/>
              </a:rPr>
              <a:t>Physically moves the weights</a:t>
            </a:r>
            <a:endParaRPr sz="900"/>
          </a:p>
        </p:txBody>
      </p:sp>
      <p:sp>
        <p:nvSpPr>
          <p:cNvPr id="726" name="Google Shape;726;p50"/>
          <p:cNvSpPr txBox="1"/>
          <p:nvPr/>
        </p:nvSpPr>
        <p:spPr>
          <a:xfrm>
            <a:off x="6035200" y="3012202"/>
            <a:ext cx="2469000" cy="1254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The optimisation technique that adjusts each weight in the mathematical direction of lowest error. Takes steps proportional to the learning rate. Stochastic, mini-batch, and full-batch variants exist.</a:t>
            </a:r>
            <a:endParaRPr sz="1100"/>
          </a:p>
        </p:txBody>
      </p:sp>
      <p:sp>
        <p:nvSpPr>
          <p:cNvPr id="727" name="Google Shape;727;p50"/>
          <p:cNvSpPr txBox="1"/>
          <p:nvPr/>
        </p:nvSpPr>
        <p:spPr>
          <a:xfrm>
            <a:off x="822982" y="4732020"/>
            <a:ext cx="274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1" name="Shape 731"/>
        <p:cNvGrpSpPr/>
        <p:nvPr/>
      </p:nvGrpSpPr>
      <p:grpSpPr>
        <a:xfrm>
          <a:off x="0" y="0"/>
          <a:ext cx="0" cy="0"/>
          <a:chOff x="0" y="0"/>
          <a:chExt cx="0" cy="0"/>
        </a:xfrm>
      </p:grpSpPr>
      <p:sp>
        <p:nvSpPr>
          <p:cNvPr id="732" name="Google Shape;732;p51"/>
          <p:cNvSpPr txBox="1"/>
          <p:nvPr/>
        </p:nvSpPr>
        <p:spPr>
          <a:xfrm>
            <a:off x="822982" y="342900"/>
            <a:ext cx="2743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733" name="Google Shape;733;p51"/>
          <p:cNvSpPr txBox="1"/>
          <p:nvPr/>
        </p:nvSpPr>
        <p:spPr>
          <a:xfrm>
            <a:off x="822982" y="562356"/>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734" name="Google Shape;734;p51"/>
          <p:cNvSpPr txBox="1"/>
          <p:nvPr/>
        </p:nvSpPr>
        <p:spPr>
          <a:xfrm>
            <a:off x="822982" y="720090"/>
            <a:ext cx="548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INTRO TO AI</a:t>
            </a:r>
            <a:endParaRPr sz="1100"/>
          </a:p>
        </p:txBody>
      </p:sp>
      <p:sp>
        <p:nvSpPr>
          <p:cNvPr id="735" name="Google Shape;735;p51"/>
          <p:cNvSpPr txBox="1"/>
          <p:nvPr/>
        </p:nvSpPr>
        <p:spPr>
          <a:xfrm>
            <a:off x="822982" y="946404"/>
            <a:ext cx="7406700" cy="684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000" u="none" cap="none" strike="noStrike">
                <a:solidFill>
                  <a:srgbClr val="1B1F2A"/>
                </a:solidFill>
                <a:latin typeface="Manrope"/>
                <a:ea typeface="Manrope"/>
                <a:cs typeface="Manrope"/>
                <a:sym typeface="Manrope"/>
              </a:rPr>
              <a:t>Part 3: The Hyperparameters — the knobs you set before training.</a:t>
            </a:r>
            <a:endParaRPr sz="400"/>
          </a:p>
        </p:txBody>
      </p:sp>
      <p:sp>
        <p:nvSpPr>
          <p:cNvPr id="736" name="Google Shape;736;p51"/>
          <p:cNvSpPr txBox="1"/>
          <p:nvPr/>
        </p:nvSpPr>
        <p:spPr>
          <a:xfrm>
            <a:off x="822982" y="1522476"/>
            <a:ext cx="74067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Unlike weights and biases, hyperparameters are not learned from data — they are configured by the engineer.</a:t>
            </a:r>
            <a:endParaRPr sz="1100"/>
          </a:p>
        </p:txBody>
      </p:sp>
      <p:sp>
        <p:nvSpPr>
          <p:cNvPr id="737" name="Google Shape;737;p51"/>
          <p:cNvSpPr/>
          <p:nvPr/>
        </p:nvSpPr>
        <p:spPr>
          <a:xfrm>
            <a:off x="822982" y="2023110"/>
            <a:ext cx="2469000" cy="273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38" name="Google Shape;738;p51"/>
          <p:cNvSpPr txBox="1"/>
          <p:nvPr/>
        </p:nvSpPr>
        <p:spPr>
          <a:xfrm>
            <a:off x="822982" y="2091690"/>
            <a:ext cx="2469000" cy="315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8B95A6"/>
                </a:solidFill>
                <a:latin typeface="Courier New"/>
                <a:ea typeface="Courier New"/>
                <a:cs typeface="Courier New"/>
                <a:sym typeface="Courier New"/>
              </a:rPr>
              <a:t>LEARNING RATE</a:t>
            </a:r>
            <a:br>
              <a:rPr b="1" i="0" lang="en-GB" sz="800" u="none" cap="none" strike="noStrike">
                <a:solidFill>
                  <a:srgbClr val="8B95A6"/>
                </a:solidFill>
                <a:latin typeface="Courier New"/>
                <a:ea typeface="Courier New"/>
                <a:cs typeface="Courier New"/>
                <a:sym typeface="Courier New"/>
              </a:rPr>
            </a:br>
            <a:r>
              <a:rPr b="1" i="0" lang="en-GB" sz="800" u="none" cap="none" strike="noStrike">
                <a:solidFill>
                  <a:srgbClr val="8B95A6"/>
                </a:solidFill>
                <a:latin typeface="Courier New"/>
                <a:ea typeface="Courier New"/>
                <a:cs typeface="Courier New"/>
                <a:sym typeface="Courier New"/>
              </a:rPr>
              <a:t>(THE STEP SIZE)</a:t>
            </a:r>
            <a:endParaRPr sz="1100"/>
          </a:p>
        </p:txBody>
      </p:sp>
      <p:sp>
        <p:nvSpPr>
          <p:cNvPr id="739" name="Google Shape;739;p51"/>
          <p:cNvSpPr txBox="1"/>
          <p:nvPr/>
        </p:nvSpPr>
        <p:spPr>
          <a:xfrm>
            <a:off x="822975" y="2583093"/>
            <a:ext cx="2469000" cy="500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u="none" cap="none" strike="noStrike">
                <a:solidFill>
                  <a:srgbClr val="1B1F2A"/>
                </a:solidFill>
                <a:latin typeface="Manrope"/>
                <a:ea typeface="Manrope"/>
                <a:cs typeface="Manrope"/>
                <a:sym typeface="Manrope"/>
              </a:rPr>
              <a:t>Controls update magnitude</a:t>
            </a:r>
            <a:endParaRPr sz="1000"/>
          </a:p>
        </p:txBody>
      </p:sp>
      <p:sp>
        <p:nvSpPr>
          <p:cNvPr id="740" name="Google Shape;740;p51"/>
          <p:cNvSpPr txBox="1"/>
          <p:nvPr/>
        </p:nvSpPr>
        <p:spPr>
          <a:xfrm>
            <a:off x="822975" y="3182600"/>
            <a:ext cx="2469000" cy="1085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How drastically weights are adjusted each step. Too high: overshoots the solution (training diverges). Too low: training takes forever. Typical range: 0.0001–0.01. Often decayed over time.</a:t>
            </a:r>
            <a:endParaRPr sz="1100"/>
          </a:p>
        </p:txBody>
      </p:sp>
      <p:sp>
        <p:nvSpPr>
          <p:cNvPr id="741" name="Google Shape;741;p51"/>
          <p:cNvSpPr/>
          <p:nvPr/>
        </p:nvSpPr>
        <p:spPr>
          <a:xfrm>
            <a:off x="3429091" y="2023110"/>
            <a:ext cx="2469000" cy="273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42" name="Google Shape;742;p51"/>
          <p:cNvSpPr txBox="1"/>
          <p:nvPr/>
        </p:nvSpPr>
        <p:spPr>
          <a:xfrm>
            <a:off x="3429091" y="2091690"/>
            <a:ext cx="2469000" cy="315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8B95A6"/>
                </a:solidFill>
                <a:latin typeface="Courier New"/>
                <a:ea typeface="Courier New"/>
                <a:cs typeface="Courier New"/>
                <a:sym typeface="Courier New"/>
              </a:rPr>
              <a:t>EPOCH</a:t>
            </a:r>
            <a:br>
              <a:rPr b="1" i="0" lang="en-GB" sz="800" u="none" cap="none" strike="noStrike">
                <a:solidFill>
                  <a:srgbClr val="8B95A6"/>
                </a:solidFill>
                <a:latin typeface="Courier New"/>
                <a:ea typeface="Courier New"/>
                <a:cs typeface="Courier New"/>
                <a:sym typeface="Courier New"/>
              </a:rPr>
            </a:br>
            <a:r>
              <a:rPr b="1" i="0" lang="en-GB" sz="800" u="none" cap="none" strike="noStrike">
                <a:solidFill>
                  <a:srgbClr val="8B95A6"/>
                </a:solidFill>
                <a:latin typeface="Courier New"/>
                <a:ea typeface="Courier New"/>
                <a:cs typeface="Courier New"/>
                <a:sym typeface="Courier New"/>
              </a:rPr>
              <a:t>(THE REPETITIONS)</a:t>
            </a:r>
            <a:endParaRPr sz="1100"/>
          </a:p>
        </p:txBody>
      </p:sp>
      <p:sp>
        <p:nvSpPr>
          <p:cNvPr id="743" name="Google Shape;743;p51"/>
          <p:cNvSpPr txBox="1"/>
          <p:nvPr/>
        </p:nvSpPr>
        <p:spPr>
          <a:xfrm>
            <a:off x="3429116" y="2539441"/>
            <a:ext cx="2469000" cy="500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u="none" cap="none" strike="noStrike">
                <a:solidFill>
                  <a:srgbClr val="1B1F2A"/>
                </a:solidFill>
                <a:latin typeface="Manrope"/>
                <a:ea typeface="Manrope"/>
                <a:cs typeface="Manrope"/>
                <a:sym typeface="Manrope"/>
              </a:rPr>
              <a:t>One complete pass through all training data</a:t>
            </a:r>
            <a:endParaRPr sz="1000"/>
          </a:p>
        </p:txBody>
      </p:sp>
      <p:sp>
        <p:nvSpPr>
          <p:cNvPr id="744" name="Google Shape;744;p51"/>
          <p:cNvSpPr txBox="1"/>
          <p:nvPr/>
        </p:nvSpPr>
        <p:spPr>
          <a:xfrm>
            <a:off x="3429075" y="3158650"/>
            <a:ext cx="2469000" cy="1085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Multiple passes improve learning but too many trigger overfitting. Monitor validation loss to find the right stopping point. Early stopping is a common technique to prevent overtraining.</a:t>
            </a:r>
            <a:endParaRPr sz="1100"/>
          </a:p>
        </p:txBody>
      </p:sp>
      <p:sp>
        <p:nvSpPr>
          <p:cNvPr id="745" name="Google Shape;745;p51"/>
          <p:cNvSpPr/>
          <p:nvPr/>
        </p:nvSpPr>
        <p:spPr>
          <a:xfrm>
            <a:off x="6035201" y="2023110"/>
            <a:ext cx="2469000" cy="273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46" name="Google Shape;746;p51"/>
          <p:cNvSpPr txBox="1"/>
          <p:nvPr/>
        </p:nvSpPr>
        <p:spPr>
          <a:xfrm>
            <a:off x="6035201" y="2091690"/>
            <a:ext cx="2469000" cy="315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8B95A6"/>
                </a:solidFill>
                <a:latin typeface="Courier New"/>
                <a:ea typeface="Courier New"/>
                <a:cs typeface="Courier New"/>
                <a:sym typeface="Courier New"/>
              </a:rPr>
              <a:t>BATCH SIZE</a:t>
            </a:r>
            <a:br>
              <a:rPr b="1" i="0" lang="en-GB" sz="800" u="none" cap="none" strike="noStrike">
                <a:solidFill>
                  <a:srgbClr val="8B95A6"/>
                </a:solidFill>
                <a:latin typeface="Courier New"/>
                <a:ea typeface="Courier New"/>
                <a:cs typeface="Courier New"/>
                <a:sym typeface="Courier New"/>
              </a:rPr>
            </a:br>
            <a:r>
              <a:rPr b="1" i="0" lang="en-GB" sz="800" u="none" cap="none" strike="noStrike">
                <a:solidFill>
                  <a:srgbClr val="8B95A6"/>
                </a:solidFill>
                <a:latin typeface="Courier New"/>
                <a:ea typeface="Courier New"/>
                <a:cs typeface="Courier New"/>
                <a:sym typeface="Courier New"/>
              </a:rPr>
              <a:t>(THE CHUNKS)</a:t>
            </a:r>
            <a:endParaRPr sz="1100"/>
          </a:p>
        </p:txBody>
      </p:sp>
      <p:sp>
        <p:nvSpPr>
          <p:cNvPr id="747" name="Google Shape;747;p51"/>
          <p:cNvSpPr txBox="1"/>
          <p:nvPr/>
        </p:nvSpPr>
        <p:spPr>
          <a:xfrm>
            <a:off x="6035276" y="2539454"/>
            <a:ext cx="2469000" cy="469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300" u="none" cap="none" strike="noStrike">
                <a:solidFill>
                  <a:srgbClr val="1B1F2A"/>
                </a:solidFill>
                <a:latin typeface="Manrope"/>
                <a:ea typeface="Manrope"/>
                <a:cs typeface="Manrope"/>
                <a:sym typeface="Manrope"/>
              </a:rPr>
              <a:t>Samples processed before each weight update</a:t>
            </a:r>
            <a:endParaRPr sz="900"/>
          </a:p>
        </p:txBody>
      </p:sp>
      <p:sp>
        <p:nvSpPr>
          <p:cNvPr id="748" name="Google Shape;748;p51"/>
          <p:cNvSpPr txBox="1"/>
          <p:nvPr/>
        </p:nvSpPr>
        <p:spPr>
          <a:xfrm>
            <a:off x="6035200" y="3182600"/>
            <a:ext cx="2469000" cy="1085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Small batch: faster updates, noisier gradients, better generalisation. Large batch: stable but slower learning. Common sizes: 16, 32, 64, 128. GPU memory usually sets the practical ceiling.</a:t>
            </a:r>
            <a:endParaRPr sz="1100"/>
          </a:p>
        </p:txBody>
      </p:sp>
      <p:sp>
        <p:nvSpPr>
          <p:cNvPr id="749" name="Google Shape;749;p51"/>
          <p:cNvSpPr txBox="1"/>
          <p:nvPr/>
        </p:nvSpPr>
        <p:spPr>
          <a:xfrm>
            <a:off x="822982" y="4732020"/>
            <a:ext cx="274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52"/>
          <p:cNvSpPr txBox="1"/>
          <p:nvPr/>
        </p:nvSpPr>
        <p:spPr>
          <a:xfrm>
            <a:off x="822982" y="342900"/>
            <a:ext cx="2743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755" name="Google Shape;755;p52"/>
          <p:cNvSpPr txBox="1"/>
          <p:nvPr/>
        </p:nvSpPr>
        <p:spPr>
          <a:xfrm>
            <a:off x="822982" y="562356"/>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756" name="Google Shape;756;p52"/>
          <p:cNvSpPr txBox="1"/>
          <p:nvPr/>
        </p:nvSpPr>
        <p:spPr>
          <a:xfrm>
            <a:off x="822982" y="720090"/>
            <a:ext cx="548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INTRO TO AI</a:t>
            </a:r>
            <a:endParaRPr sz="1100"/>
          </a:p>
        </p:txBody>
      </p:sp>
      <p:sp>
        <p:nvSpPr>
          <p:cNvPr id="757" name="Google Shape;757;p52"/>
          <p:cNvSpPr txBox="1"/>
          <p:nvPr/>
        </p:nvSpPr>
        <p:spPr>
          <a:xfrm>
            <a:off x="822982" y="946404"/>
            <a:ext cx="74067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u="none" cap="none" strike="noStrike">
                <a:solidFill>
                  <a:srgbClr val="1B1F2A"/>
                </a:solidFill>
                <a:latin typeface="Manrope"/>
                <a:ea typeface="Manrope"/>
                <a:cs typeface="Manrope"/>
                <a:sym typeface="Manrope"/>
              </a:rPr>
              <a:t>Synthesis: The Model Training Lifecycle.</a:t>
            </a:r>
            <a:endParaRPr sz="1100"/>
          </a:p>
        </p:txBody>
      </p:sp>
      <p:sp>
        <p:nvSpPr>
          <p:cNvPr id="758" name="Google Shape;758;p52"/>
          <p:cNvSpPr/>
          <p:nvPr/>
        </p:nvSpPr>
        <p:spPr>
          <a:xfrm>
            <a:off x="788691" y="1885950"/>
            <a:ext cx="480000" cy="3429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59" name="Google Shape;759;p52"/>
          <p:cNvSpPr txBox="1"/>
          <p:nvPr/>
        </p:nvSpPr>
        <p:spPr>
          <a:xfrm>
            <a:off x="822982" y="1913382"/>
            <a:ext cx="4116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u="none" cap="none" strike="noStrike">
                <a:solidFill>
                  <a:srgbClr val="FFFFFF"/>
                </a:solidFill>
                <a:latin typeface="Courier New"/>
                <a:ea typeface="Courier New"/>
                <a:cs typeface="Courier New"/>
                <a:sym typeface="Courier New"/>
              </a:rPr>
              <a:t>01</a:t>
            </a:r>
            <a:endParaRPr sz="1100"/>
          </a:p>
        </p:txBody>
      </p:sp>
      <p:sp>
        <p:nvSpPr>
          <p:cNvPr id="760" name="Google Shape;760;p52"/>
          <p:cNvSpPr txBox="1"/>
          <p:nvPr/>
        </p:nvSpPr>
        <p:spPr>
          <a:xfrm>
            <a:off x="788691" y="2331720"/>
            <a:ext cx="18174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Step 1 · Input</a:t>
            </a:r>
            <a:endParaRPr sz="1100"/>
          </a:p>
        </p:txBody>
      </p:sp>
      <p:sp>
        <p:nvSpPr>
          <p:cNvPr id="761" name="Google Shape;761;p52"/>
          <p:cNvSpPr txBox="1"/>
          <p:nvPr/>
        </p:nvSpPr>
        <p:spPr>
          <a:xfrm>
            <a:off x="788691" y="2914650"/>
            <a:ext cx="1817400" cy="1146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B95A6"/>
                </a:solidFill>
                <a:latin typeface="Manrope"/>
                <a:ea typeface="Manrope"/>
                <a:cs typeface="Manrope"/>
                <a:sym typeface="Manrope"/>
              </a:rPr>
              <a:t>Raw data flows forward through the network. Weights, biases, and activation functions transform it layer by layer until the output layer generates a prediction.</a:t>
            </a:r>
            <a:endParaRPr sz="1100"/>
          </a:p>
        </p:txBody>
      </p:sp>
      <p:sp>
        <p:nvSpPr>
          <p:cNvPr id="762" name="Google Shape;762;p52"/>
          <p:cNvSpPr/>
          <p:nvPr/>
        </p:nvSpPr>
        <p:spPr>
          <a:xfrm>
            <a:off x="2674691" y="1885950"/>
            <a:ext cx="480000" cy="3429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63" name="Google Shape;763;p52"/>
          <p:cNvSpPr txBox="1"/>
          <p:nvPr/>
        </p:nvSpPr>
        <p:spPr>
          <a:xfrm>
            <a:off x="2708982" y="1913382"/>
            <a:ext cx="4116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u="none" cap="none" strike="noStrike">
                <a:solidFill>
                  <a:srgbClr val="FFFFFF"/>
                </a:solidFill>
                <a:latin typeface="Courier New"/>
                <a:ea typeface="Courier New"/>
                <a:cs typeface="Courier New"/>
                <a:sym typeface="Courier New"/>
              </a:rPr>
              <a:t>02</a:t>
            </a:r>
            <a:endParaRPr sz="1100"/>
          </a:p>
        </p:txBody>
      </p:sp>
      <p:sp>
        <p:nvSpPr>
          <p:cNvPr id="764" name="Google Shape;764;p52"/>
          <p:cNvSpPr txBox="1"/>
          <p:nvPr/>
        </p:nvSpPr>
        <p:spPr>
          <a:xfrm>
            <a:off x="2674691" y="2331720"/>
            <a:ext cx="18174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Step 2 · Evaluate</a:t>
            </a:r>
            <a:endParaRPr sz="1100"/>
          </a:p>
        </p:txBody>
      </p:sp>
      <p:sp>
        <p:nvSpPr>
          <p:cNvPr id="765" name="Google Shape;765;p52"/>
          <p:cNvSpPr txBox="1"/>
          <p:nvPr/>
        </p:nvSpPr>
        <p:spPr>
          <a:xfrm>
            <a:off x="2674691" y="2914650"/>
            <a:ext cx="1817400" cy="1146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B95A6"/>
                </a:solidFill>
                <a:latin typeface="Manrope"/>
                <a:ea typeface="Manrope"/>
                <a:cs typeface="Manrope"/>
                <a:sym typeface="Manrope"/>
              </a:rPr>
              <a:t>The prediction is compared to the ground truth label. The loss function quantifies exactly how wrong the prediction was — this number drives all weight adjustments.</a:t>
            </a:r>
            <a:endParaRPr sz="1100"/>
          </a:p>
        </p:txBody>
      </p:sp>
      <p:sp>
        <p:nvSpPr>
          <p:cNvPr id="766" name="Google Shape;766;p52"/>
          <p:cNvSpPr/>
          <p:nvPr/>
        </p:nvSpPr>
        <p:spPr>
          <a:xfrm>
            <a:off x="4560692" y="1885950"/>
            <a:ext cx="480000" cy="3429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67" name="Google Shape;767;p52"/>
          <p:cNvSpPr txBox="1"/>
          <p:nvPr/>
        </p:nvSpPr>
        <p:spPr>
          <a:xfrm>
            <a:off x="4594982" y="1913382"/>
            <a:ext cx="4116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u="none" cap="none" strike="noStrike">
                <a:solidFill>
                  <a:srgbClr val="FFFFFF"/>
                </a:solidFill>
                <a:latin typeface="Courier New"/>
                <a:ea typeface="Courier New"/>
                <a:cs typeface="Courier New"/>
                <a:sym typeface="Courier New"/>
              </a:rPr>
              <a:t>03</a:t>
            </a:r>
            <a:endParaRPr sz="1100"/>
          </a:p>
        </p:txBody>
      </p:sp>
      <p:sp>
        <p:nvSpPr>
          <p:cNvPr id="768" name="Google Shape;768;p52"/>
          <p:cNvSpPr txBox="1"/>
          <p:nvPr/>
        </p:nvSpPr>
        <p:spPr>
          <a:xfrm>
            <a:off x="4560692" y="2331720"/>
            <a:ext cx="18174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Step 3 · Correct</a:t>
            </a:r>
            <a:endParaRPr sz="1100"/>
          </a:p>
        </p:txBody>
      </p:sp>
      <p:sp>
        <p:nvSpPr>
          <p:cNvPr id="769" name="Google Shape;769;p52"/>
          <p:cNvSpPr txBox="1"/>
          <p:nvPr/>
        </p:nvSpPr>
        <p:spPr>
          <a:xfrm>
            <a:off x="4560692" y="2914650"/>
            <a:ext cx="1817400" cy="1146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B95A6"/>
                </a:solidFill>
                <a:latin typeface="Manrope"/>
                <a:ea typeface="Manrope"/>
                <a:cs typeface="Manrope"/>
                <a:sym typeface="Manrope"/>
              </a:rPr>
              <a:t>The error is sent backwards through every layer. Gradient descent nudges each weight in the direction that reduces the loss. Small adjustments, repeated millions of times.</a:t>
            </a:r>
            <a:endParaRPr sz="1100"/>
          </a:p>
        </p:txBody>
      </p:sp>
      <p:sp>
        <p:nvSpPr>
          <p:cNvPr id="770" name="Google Shape;770;p52"/>
          <p:cNvSpPr/>
          <p:nvPr/>
        </p:nvSpPr>
        <p:spPr>
          <a:xfrm>
            <a:off x="6446692" y="1885950"/>
            <a:ext cx="480000" cy="3429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71" name="Google Shape;771;p52"/>
          <p:cNvSpPr txBox="1"/>
          <p:nvPr/>
        </p:nvSpPr>
        <p:spPr>
          <a:xfrm>
            <a:off x="6480983" y="1913382"/>
            <a:ext cx="411600" cy="2385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u="none" cap="none" strike="noStrike">
                <a:solidFill>
                  <a:srgbClr val="FFFFFF"/>
                </a:solidFill>
                <a:latin typeface="Courier New"/>
                <a:ea typeface="Courier New"/>
                <a:cs typeface="Courier New"/>
                <a:sym typeface="Courier New"/>
              </a:rPr>
              <a:t>04</a:t>
            </a:r>
            <a:endParaRPr sz="1100"/>
          </a:p>
        </p:txBody>
      </p:sp>
      <p:sp>
        <p:nvSpPr>
          <p:cNvPr id="772" name="Google Shape;772;p52"/>
          <p:cNvSpPr txBox="1"/>
          <p:nvPr/>
        </p:nvSpPr>
        <p:spPr>
          <a:xfrm>
            <a:off x="6446692" y="2331720"/>
            <a:ext cx="18174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Step 4 · Repeat</a:t>
            </a:r>
            <a:endParaRPr sz="1100"/>
          </a:p>
        </p:txBody>
      </p:sp>
      <p:sp>
        <p:nvSpPr>
          <p:cNvPr id="773" name="Google Shape;773;p52"/>
          <p:cNvSpPr txBox="1"/>
          <p:nvPr/>
        </p:nvSpPr>
        <p:spPr>
          <a:xfrm>
            <a:off x="6446692" y="2914650"/>
            <a:ext cx="1817400" cy="992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B95A6"/>
                </a:solidFill>
                <a:latin typeface="Manrope"/>
                <a:ea typeface="Manrope"/>
                <a:cs typeface="Manrope"/>
                <a:sym typeface="Manrope"/>
              </a:rPr>
              <a:t>The loop runs until the model generalises well to new data. Hyperparameters control speed and stability. Validation loss determines when to stop.</a:t>
            </a:r>
            <a:endParaRPr sz="1100"/>
          </a:p>
        </p:txBody>
      </p:sp>
      <p:sp>
        <p:nvSpPr>
          <p:cNvPr id="774" name="Google Shape;774;p52"/>
          <p:cNvSpPr txBox="1"/>
          <p:nvPr/>
        </p:nvSpPr>
        <p:spPr>
          <a:xfrm>
            <a:off x="822982" y="4732020"/>
            <a:ext cx="274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53"/>
          <p:cNvSpPr txBox="1"/>
          <p:nvPr/>
        </p:nvSpPr>
        <p:spPr>
          <a:xfrm>
            <a:off x="822982" y="342900"/>
            <a:ext cx="2743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780" name="Google Shape;780;p53"/>
          <p:cNvSpPr txBox="1"/>
          <p:nvPr/>
        </p:nvSpPr>
        <p:spPr>
          <a:xfrm>
            <a:off x="822982" y="562356"/>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781" name="Google Shape;781;p53"/>
          <p:cNvSpPr txBox="1"/>
          <p:nvPr/>
        </p:nvSpPr>
        <p:spPr>
          <a:xfrm>
            <a:off x="822982" y="720090"/>
            <a:ext cx="548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INTRO TO AI</a:t>
            </a:r>
            <a:endParaRPr sz="1100"/>
          </a:p>
        </p:txBody>
      </p:sp>
      <p:sp>
        <p:nvSpPr>
          <p:cNvPr id="782" name="Google Shape;782;p53"/>
          <p:cNvSpPr txBox="1"/>
          <p:nvPr/>
        </p:nvSpPr>
        <p:spPr>
          <a:xfrm>
            <a:off x="822982" y="946404"/>
            <a:ext cx="7406700" cy="715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u="none" cap="none" strike="noStrike">
                <a:solidFill>
                  <a:srgbClr val="1B1F2A"/>
                </a:solidFill>
                <a:latin typeface="Manrope"/>
                <a:ea typeface="Manrope"/>
                <a:cs typeface="Manrope"/>
                <a:sym typeface="Manrope"/>
              </a:rPr>
              <a:t>Filtering the Noise: Activation and Bias working together.</a:t>
            </a:r>
            <a:endParaRPr sz="1100"/>
          </a:p>
        </p:txBody>
      </p:sp>
      <p:sp>
        <p:nvSpPr>
          <p:cNvPr id="783" name="Google Shape;783;p53"/>
          <p:cNvSpPr/>
          <p:nvPr/>
        </p:nvSpPr>
        <p:spPr>
          <a:xfrm>
            <a:off x="735257" y="1799881"/>
            <a:ext cx="3429000" cy="273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84" name="Google Shape;784;p53"/>
          <p:cNvSpPr/>
          <p:nvPr/>
        </p:nvSpPr>
        <p:spPr>
          <a:xfrm>
            <a:off x="4869310" y="1780185"/>
            <a:ext cx="3429000" cy="273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785" name="Google Shape;785;p53"/>
          <p:cNvSpPr txBox="1"/>
          <p:nvPr/>
        </p:nvSpPr>
        <p:spPr>
          <a:xfrm>
            <a:off x="735257" y="1882178"/>
            <a:ext cx="3429000" cy="330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700" u="none" cap="none" strike="noStrike">
                <a:solidFill>
                  <a:srgbClr val="1B1F2A"/>
                </a:solidFill>
                <a:latin typeface="Manrope"/>
                <a:ea typeface="Manrope"/>
                <a:cs typeface="Manrope"/>
                <a:sym typeface="Manrope"/>
              </a:rPr>
              <a:t>How Activation Works</a:t>
            </a:r>
            <a:endParaRPr sz="1100"/>
          </a:p>
        </p:txBody>
      </p:sp>
      <p:sp>
        <p:nvSpPr>
          <p:cNvPr id="786" name="Google Shape;786;p53"/>
          <p:cNvSpPr txBox="1"/>
          <p:nvPr/>
        </p:nvSpPr>
        <p:spPr>
          <a:xfrm>
            <a:off x="735257" y="2238794"/>
            <a:ext cx="3429000" cy="1546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200" u="none" cap="none" strike="noStrike">
                <a:solidFill>
                  <a:srgbClr val="8B95A6"/>
                </a:solidFill>
                <a:latin typeface="Manrope"/>
                <a:ea typeface="Manrope"/>
                <a:cs typeface="Manrope"/>
                <a:sym typeface="Manrope"/>
              </a:rPr>
              <a:t>A neuron only fires if the total weighted signal crosses a mathematical threshold. Think of it as a gate: below the threshold, no signal passes; above it, the neuron activates and passes information to the next layer. The activation function (ReLU, Sigmoid, Tanh) determines the shape of this gate — linear, squashed, or clipped.</a:t>
            </a:r>
            <a:endParaRPr sz="1100"/>
          </a:p>
        </p:txBody>
      </p:sp>
      <p:sp>
        <p:nvSpPr>
          <p:cNvPr id="787" name="Google Shape;787;p53"/>
          <p:cNvSpPr txBox="1"/>
          <p:nvPr/>
        </p:nvSpPr>
        <p:spPr>
          <a:xfrm>
            <a:off x="4869310" y="1862481"/>
            <a:ext cx="3429000" cy="330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700" u="none" cap="none" strike="noStrike">
                <a:solidFill>
                  <a:srgbClr val="1B1F2A"/>
                </a:solidFill>
                <a:latin typeface="Manrope"/>
                <a:ea typeface="Manrope"/>
                <a:cs typeface="Manrope"/>
                <a:sym typeface="Manrope"/>
              </a:rPr>
              <a:t>The Manager Analogy</a:t>
            </a:r>
            <a:endParaRPr sz="1100"/>
          </a:p>
        </p:txBody>
      </p:sp>
      <p:sp>
        <p:nvSpPr>
          <p:cNvPr id="788" name="Google Shape;788;p53"/>
          <p:cNvSpPr txBox="1"/>
          <p:nvPr/>
        </p:nvSpPr>
        <p:spPr>
          <a:xfrm>
            <a:off x="4869310" y="2219097"/>
            <a:ext cx="3429000" cy="1546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200" u="none" cap="none" strike="noStrike">
                <a:solidFill>
                  <a:srgbClr val="8B95A6"/>
                </a:solidFill>
                <a:latin typeface="Manrope"/>
                <a:ea typeface="Manrope"/>
                <a:cs typeface="Manrope"/>
                <a:sym typeface="Manrope"/>
              </a:rPr>
              <a:t>Setting a filter: 'Don't bother me with minor complaints; only come to me if the total loss is over $500.' The $500 is the Bias — it sets the baseline. The activation function filters out noise so the AI system stays focused on what matters. Together they prevent trivial signals from propagating through the network and wasting compute.</a:t>
            </a:r>
            <a:endParaRPr sz="1100"/>
          </a:p>
        </p:txBody>
      </p:sp>
      <p:sp>
        <p:nvSpPr>
          <p:cNvPr id="789" name="Google Shape;789;p53"/>
          <p:cNvSpPr txBox="1"/>
          <p:nvPr/>
        </p:nvSpPr>
        <p:spPr>
          <a:xfrm>
            <a:off x="822982" y="4732020"/>
            <a:ext cx="274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54"/>
          <p:cNvSpPr/>
          <p:nvPr/>
        </p:nvSpPr>
        <p:spPr>
          <a:xfrm>
            <a:off x="0" y="0"/>
            <a:ext cx="9144015" cy="5143500"/>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795" name="Google Shape;795;p54"/>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FFFFFF"/>
                </a:solidFill>
                <a:latin typeface="Manrope"/>
                <a:ea typeface="Manrope"/>
                <a:cs typeface="Manrope"/>
                <a:sym typeface="Manrope"/>
              </a:rPr>
              <a:t>GlobalLogic</a:t>
            </a:r>
            <a:endParaRPr sz="1100"/>
          </a:p>
        </p:txBody>
      </p:sp>
      <p:sp>
        <p:nvSpPr>
          <p:cNvPr id="796" name="Google Shape;796;p54"/>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C9CFD8"/>
                </a:solidFill>
                <a:latin typeface="Manrope"/>
                <a:ea typeface="Manrope"/>
                <a:cs typeface="Manrope"/>
                <a:sym typeface="Manrope"/>
              </a:rPr>
              <a:t>A Hitachi Group Company</a:t>
            </a:r>
            <a:endParaRPr sz="1100"/>
          </a:p>
        </p:txBody>
      </p:sp>
      <p:sp>
        <p:nvSpPr>
          <p:cNvPr id="797" name="Google Shape;797;p54"/>
          <p:cNvSpPr txBox="1"/>
          <p:nvPr/>
        </p:nvSpPr>
        <p:spPr>
          <a:xfrm>
            <a:off x="822982" y="1714500"/>
            <a:ext cx="6172500" cy="1670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5200">
                <a:solidFill>
                  <a:srgbClr val="FFFFFF"/>
                </a:solidFill>
                <a:latin typeface="Manrope"/>
                <a:ea typeface="Manrope"/>
                <a:cs typeface="Manrope"/>
                <a:sym typeface="Manrope"/>
              </a:rPr>
              <a:t>How LLMs</a:t>
            </a:r>
            <a:br>
              <a:rPr b="1" i="0" lang="en-GB" sz="5200">
                <a:solidFill>
                  <a:srgbClr val="FFFFFF"/>
                </a:solidFill>
                <a:latin typeface="Manrope"/>
                <a:ea typeface="Manrope"/>
                <a:cs typeface="Manrope"/>
                <a:sym typeface="Manrope"/>
              </a:rPr>
            </a:br>
            <a:r>
              <a:rPr b="1" i="0" lang="en-GB" sz="5200">
                <a:solidFill>
                  <a:srgbClr val="FFFFFF"/>
                </a:solidFill>
                <a:latin typeface="Manrope"/>
                <a:ea typeface="Manrope"/>
                <a:cs typeface="Manrope"/>
                <a:sym typeface="Manrope"/>
              </a:rPr>
              <a:t>Actually Work.</a:t>
            </a:r>
            <a:endParaRPr sz="300"/>
          </a:p>
        </p:txBody>
      </p:sp>
      <p:sp>
        <p:nvSpPr>
          <p:cNvPr id="798" name="Google Shape;798;p54"/>
          <p:cNvSpPr txBox="1"/>
          <p:nvPr/>
        </p:nvSpPr>
        <p:spPr>
          <a:xfrm>
            <a:off x="822982" y="3429000"/>
            <a:ext cx="6172365" cy="8229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700">
                <a:solidFill>
                  <a:srgbClr val="C9CFD8"/>
                </a:solidFill>
                <a:latin typeface="Manrope"/>
                <a:ea typeface="Manrope"/>
                <a:cs typeface="Manrope"/>
                <a:sym typeface="Manrope"/>
              </a:rPr>
              <a:t>A practical mental model for engineers — deep enough to debug, light enough to fit on a sticky note.</a:t>
            </a:r>
            <a:endParaRPr sz="1100"/>
          </a:p>
        </p:txBody>
      </p:sp>
      <p:sp>
        <p:nvSpPr>
          <p:cNvPr id="799" name="Google Shape;799;p54"/>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FFFFFF"/>
                </a:solidFill>
                <a:latin typeface="Courier New"/>
                <a:ea typeface="Courier New"/>
                <a:cs typeface="Courier New"/>
                <a:sym typeface="Courier New"/>
              </a:rPr>
              <a:t>globallogic.com</a:t>
            </a:r>
            <a:endParaRPr sz="11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55"/>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805" name="Google Shape;805;p55"/>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806" name="Google Shape;806;p55"/>
          <p:cNvSpPr txBox="1"/>
          <p:nvPr/>
        </p:nvSpPr>
        <p:spPr>
          <a:xfrm>
            <a:off x="822982" y="946404"/>
            <a:ext cx="74067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200">
                <a:solidFill>
                  <a:srgbClr val="1B1F2A"/>
                </a:solidFill>
                <a:latin typeface="Manrope"/>
                <a:ea typeface="Manrope"/>
                <a:cs typeface="Manrope"/>
                <a:sym typeface="Manrope"/>
              </a:rPr>
              <a:t>First principle: an LLM is a very good autocomplete.</a:t>
            </a:r>
            <a:endParaRPr sz="600"/>
          </a:p>
        </p:txBody>
      </p:sp>
      <p:sp>
        <p:nvSpPr>
          <p:cNvPr id="807" name="Google Shape;807;p55"/>
          <p:cNvSpPr txBox="1"/>
          <p:nvPr/>
        </p:nvSpPr>
        <p:spPr>
          <a:xfrm>
            <a:off x="822982" y="1522476"/>
            <a:ext cx="7406837"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It reads a sequence of tokens and predicts the most probable next token. Then it does that again. Everything else — chat…</a:t>
            </a:r>
            <a:endParaRPr sz="1100"/>
          </a:p>
        </p:txBody>
      </p:sp>
      <p:sp>
        <p:nvSpPr>
          <p:cNvPr id="808" name="Google Shape;808;p55"/>
          <p:cNvSpPr/>
          <p:nvPr/>
        </p:nvSpPr>
        <p:spPr>
          <a:xfrm>
            <a:off x="822982"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809" name="Google Shape;809;p55"/>
          <p:cNvSpPr txBox="1"/>
          <p:nvPr/>
        </p:nvSpPr>
        <p:spPr>
          <a:xfrm>
            <a:off x="822982"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WHAT IT DOES</a:t>
            </a:r>
            <a:endParaRPr sz="1100"/>
          </a:p>
        </p:txBody>
      </p:sp>
      <p:sp>
        <p:nvSpPr>
          <p:cNvPr id="810" name="Google Shape;810;p55"/>
          <p:cNvSpPr txBox="1"/>
          <p:nvPr/>
        </p:nvSpPr>
        <p:spPr>
          <a:xfrm>
            <a:off x="822982" y="2242566"/>
            <a:ext cx="2468946" cy="30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Predict the next token</a:t>
            </a:r>
            <a:endParaRPr sz="1100"/>
          </a:p>
        </p:txBody>
      </p:sp>
      <p:sp>
        <p:nvSpPr>
          <p:cNvPr id="811" name="Google Shape;811;p55"/>
          <p:cNvSpPr txBox="1"/>
          <p:nvPr/>
        </p:nvSpPr>
        <p:spPr>
          <a:xfrm>
            <a:off x="822975" y="2811775"/>
            <a:ext cx="2469000" cy="746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Given all tokens seen so far, assign a probability to every possible next token and sample one. Repeat until done.</a:t>
            </a:r>
            <a:endParaRPr sz="1100"/>
          </a:p>
        </p:txBody>
      </p:sp>
      <p:sp>
        <p:nvSpPr>
          <p:cNvPr id="812" name="Google Shape;812;p55"/>
          <p:cNvSpPr/>
          <p:nvPr/>
        </p:nvSpPr>
        <p:spPr>
          <a:xfrm>
            <a:off x="3429091"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813" name="Google Shape;813;p55"/>
          <p:cNvSpPr txBox="1"/>
          <p:nvPr/>
        </p:nvSpPr>
        <p:spPr>
          <a:xfrm>
            <a:off x="3429091"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WHAT IT DOESN'T DO</a:t>
            </a:r>
            <a:endParaRPr sz="1100"/>
          </a:p>
        </p:txBody>
      </p:sp>
      <p:sp>
        <p:nvSpPr>
          <p:cNvPr id="814" name="Google Shape;814;p55"/>
          <p:cNvSpPr txBox="1"/>
          <p:nvPr/>
        </p:nvSpPr>
        <p:spPr>
          <a:xfrm>
            <a:off x="3429091" y="2242566"/>
            <a:ext cx="2468946" cy="30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Reason, remember, or execute</a:t>
            </a:r>
            <a:endParaRPr sz="1100"/>
          </a:p>
        </p:txBody>
      </p:sp>
      <p:sp>
        <p:nvSpPr>
          <p:cNvPr id="815" name="Google Shape;815;p55"/>
          <p:cNvSpPr txBox="1"/>
          <p:nvPr/>
        </p:nvSpPr>
        <p:spPr>
          <a:xfrm>
            <a:off x="3429091" y="2811784"/>
            <a:ext cx="2469000" cy="915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No persistent memory between calls. No filesystem access. No ability to run the code it writes. Those capabilities are wired around the model, not inside it.</a:t>
            </a:r>
            <a:endParaRPr sz="1100"/>
          </a:p>
        </p:txBody>
      </p:sp>
      <p:sp>
        <p:nvSpPr>
          <p:cNvPr id="816" name="Google Shape;816;p55"/>
          <p:cNvSpPr/>
          <p:nvPr/>
        </p:nvSpPr>
        <p:spPr>
          <a:xfrm>
            <a:off x="6035201"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817" name="Google Shape;817;p55"/>
          <p:cNvSpPr txBox="1"/>
          <p:nvPr/>
        </p:nvSpPr>
        <p:spPr>
          <a:xfrm>
            <a:off x="6035201"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DEBUG CONSEQUENCE</a:t>
            </a:r>
            <a:endParaRPr sz="1100"/>
          </a:p>
        </p:txBody>
      </p:sp>
      <p:sp>
        <p:nvSpPr>
          <p:cNvPr id="818" name="Google Shape;818;p55"/>
          <p:cNvSpPr txBox="1"/>
          <p:nvPr/>
        </p:nvSpPr>
        <p:spPr>
          <a:xfrm>
            <a:off x="6035201" y="2242566"/>
            <a:ext cx="2468946" cy="30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Context is everything</a:t>
            </a:r>
            <a:endParaRPr sz="1100"/>
          </a:p>
        </p:txBody>
      </p:sp>
      <p:sp>
        <p:nvSpPr>
          <p:cNvPr id="819" name="Google Shape;819;p55"/>
          <p:cNvSpPr txBox="1"/>
          <p:nvPr/>
        </p:nvSpPr>
        <p:spPr>
          <a:xfrm>
            <a:off x="6035276" y="2811784"/>
            <a:ext cx="2469000" cy="746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When an answer goes wrong, ask what context the model could see — not what it 'thought.' Every bug is a context bug or a sampling bug.</a:t>
            </a:r>
            <a:endParaRPr sz="1100"/>
          </a:p>
        </p:txBody>
      </p:sp>
      <p:sp>
        <p:nvSpPr>
          <p:cNvPr id="820" name="Google Shape;820;p55"/>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p56"/>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826" name="Google Shape;826;p56"/>
          <p:cNvSpPr txBox="1"/>
          <p:nvPr/>
        </p:nvSpPr>
        <p:spPr>
          <a:xfrm>
            <a:off x="822982" y="573323"/>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827" name="Google Shape;827;p56"/>
          <p:cNvSpPr txBox="1"/>
          <p:nvPr/>
        </p:nvSpPr>
        <p:spPr>
          <a:xfrm>
            <a:off x="822982" y="946404"/>
            <a:ext cx="7406837"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a:solidFill>
                  <a:srgbClr val="1B1F2A"/>
                </a:solidFill>
                <a:latin typeface="Manrope"/>
                <a:ea typeface="Manrope"/>
                <a:cs typeface="Manrope"/>
                <a:sym typeface="Manrope"/>
              </a:rPr>
              <a:t>From your prompt to one output token — five steps.</a:t>
            </a:r>
            <a:endParaRPr sz="1100"/>
          </a:p>
        </p:txBody>
      </p:sp>
      <p:sp>
        <p:nvSpPr>
          <p:cNvPr id="828" name="Google Shape;828;p56"/>
          <p:cNvSpPr/>
          <p:nvPr/>
        </p:nvSpPr>
        <p:spPr>
          <a:xfrm>
            <a:off x="788691" y="1885950"/>
            <a:ext cx="480073" cy="3429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829" name="Google Shape;829;p56"/>
          <p:cNvSpPr txBox="1"/>
          <p:nvPr/>
        </p:nvSpPr>
        <p:spPr>
          <a:xfrm>
            <a:off x="822982" y="1913382"/>
            <a:ext cx="411491" cy="3086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a:solidFill>
                  <a:srgbClr val="FFFFFF"/>
                </a:solidFill>
                <a:latin typeface="Courier New"/>
                <a:ea typeface="Courier New"/>
                <a:cs typeface="Courier New"/>
                <a:sym typeface="Courier New"/>
              </a:rPr>
              <a:t>01</a:t>
            </a:r>
            <a:endParaRPr sz="1100"/>
          </a:p>
        </p:txBody>
      </p:sp>
      <p:sp>
        <p:nvSpPr>
          <p:cNvPr id="830" name="Google Shape;830;p56"/>
          <p:cNvSpPr txBox="1"/>
          <p:nvPr/>
        </p:nvSpPr>
        <p:spPr>
          <a:xfrm>
            <a:off x="788691" y="2331720"/>
            <a:ext cx="144021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400">
                <a:solidFill>
                  <a:srgbClr val="1B1F2A"/>
                </a:solidFill>
                <a:latin typeface="Manrope"/>
                <a:ea typeface="Manrope"/>
                <a:cs typeface="Manrope"/>
                <a:sym typeface="Manrope"/>
              </a:rPr>
              <a:t>Tokenise</a:t>
            </a:r>
            <a:endParaRPr sz="1100"/>
          </a:p>
        </p:txBody>
      </p:sp>
      <p:sp>
        <p:nvSpPr>
          <p:cNvPr id="831" name="Google Shape;831;p56"/>
          <p:cNvSpPr txBox="1"/>
          <p:nvPr/>
        </p:nvSpPr>
        <p:spPr>
          <a:xfrm>
            <a:off x="788691" y="2674620"/>
            <a:ext cx="1440218" cy="22631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Your text is split into sub-word units from a fixed vocabulary of ~50–200k pieces. 'engineering' might become two or three tokens.</a:t>
            </a:r>
            <a:endParaRPr sz="1100"/>
          </a:p>
        </p:txBody>
      </p:sp>
      <p:sp>
        <p:nvSpPr>
          <p:cNvPr id="832" name="Google Shape;832;p56"/>
          <p:cNvSpPr/>
          <p:nvPr/>
        </p:nvSpPr>
        <p:spPr>
          <a:xfrm>
            <a:off x="2297491" y="1885950"/>
            <a:ext cx="480073" cy="3429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833" name="Google Shape;833;p56"/>
          <p:cNvSpPr txBox="1"/>
          <p:nvPr/>
        </p:nvSpPr>
        <p:spPr>
          <a:xfrm>
            <a:off x="2331782" y="1913382"/>
            <a:ext cx="411491" cy="3086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a:solidFill>
                  <a:srgbClr val="FFFFFF"/>
                </a:solidFill>
                <a:latin typeface="Courier New"/>
                <a:ea typeface="Courier New"/>
                <a:cs typeface="Courier New"/>
                <a:sym typeface="Courier New"/>
              </a:rPr>
              <a:t>02</a:t>
            </a:r>
            <a:endParaRPr sz="1100"/>
          </a:p>
        </p:txBody>
      </p:sp>
      <p:sp>
        <p:nvSpPr>
          <p:cNvPr id="834" name="Google Shape;834;p56"/>
          <p:cNvSpPr txBox="1"/>
          <p:nvPr/>
        </p:nvSpPr>
        <p:spPr>
          <a:xfrm>
            <a:off x="2297491" y="2331720"/>
            <a:ext cx="144021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400">
                <a:solidFill>
                  <a:srgbClr val="1B1F2A"/>
                </a:solidFill>
                <a:latin typeface="Manrope"/>
                <a:ea typeface="Manrope"/>
                <a:cs typeface="Manrope"/>
                <a:sym typeface="Manrope"/>
              </a:rPr>
              <a:t>Embed</a:t>
            </a:r>
            <a:endParaRPr sz="1100"/>
          </a:p>
        </p:txBody>
      </p:sp>
      <p:sp>
        <p:nvSpPr>
          <p:cNvPr id="835" name="Google Shape;835;p56"/>
          <p:cNvSpPr txBox="1"/>
          <p:nvPr/>
        </p:nvSpPr>
        <p:spPr>
          <a:xfrm>
            <a:off x="2297491" y="2674620"/>
            <a:ext cx="1440218" cy="22631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Each token ID maps to a high-dimensional vector — a point in space that encodes semantic and positional meaning.</a:t>
            </a:r>
            <a:endParaRPr sz="1100"/>
          </a:p>
        </p:txBody>
      </p:sp>
      <p:sp>
        <p:nvSpPr>
          <p:cNvPr id="836" name="Google Shape;836;p56"/>
          <p:cNvSpPr/>
          <p:nvPr/>
        </p:nvSpPr>
        <p:spPr>
          <a:xfrm>
            <a:off x="3806291" y="1885950"/>
            <a:ext cx="480073" cy="3429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837" name="Google Shape;837;p56"/>
          <p:cNvSpPr txBox="1"/>
          <p:nvPr/>
        </p:nvSpPr>
        <p:spPr>
          <a:xfrm>
            <a:off x="3840582" y="1913382"/>
            <a:ext cx="411491" cy="3086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a:solidFill>
                  <a:srgbClr val="FFFFFF"/>
                </a:solidFill>
                <a:latin typeface="Courier New"/>
                <a:ea typeface="Courier New"/>
                <a:cs typeface="Courier New"/>
                <a:sym typeface="Courier New"/>
              </a:rPr>
              <a:t>03</a:t>
            </a:r>
            <a:endParaRPr sz="1100"/>
          </a:p>
        </p:txBody>
      </p:sp>
      <p:sp>
        <p:nvSpPr>
          <p:cNvPr id="838" name="Google Shape;838;p56"/>
          <p:cNvSpPr txBox="1"/>
          <p:nvPr/>
        </p:nvSpPr>
        <p:spPr>
          <a:xfrm>
            <a:off x="3806291" y="2331720"/>
            <a:ext cx="144021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400">
                <a:solidFill>
                  <a:srgbClr val="1B1F2A"/>
                </a:solidFill>
                <a:latin typeface="Manrope"/>
                <a:ea typeface="Manrope"/>
                <a:cs typeface="Manrope"/>
                <a:sym typeface="Manrope"/>
              </a:rPr>
              <a:t>Attend</a:t>
            </a:r>
            <a:endParaRPr sz="1100"/>
          </a:p>
        </p:txBody>
      </p:sp>
      <p:sp>
        <p:nvSpPr>
          <p:cNvPr id="839" name="Google Shape;839;p56"/>
          <p:cNvSpPr txBox="1"/>
          <p:nvPr/>
        </p:nvSpPr>
        <p:spPr>
          <a:xfrm>
            <a:off x="3806291" y="2674620"/>
            <a:ext cx="1440218" cy="22631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The transformer mixes information across every position. Each token 'looks at' every other, weighted by learned relevance.</a:t>
            </a:r>
            <a:endParaRPr sz="1100"/>
          </a:p>
        </p:txBody>
      </p:sp>
      <p:sp>
        <p:nvSpPr>
          <p:cNvPr id="840" name="Google Shape;840;p56"/>
          <p:cNvSpPr/>
          <p:nvPr/>
        </p:nvSpPr>
        <p:spPr>
          <a:xfrm>
            <a:off x="5315092" y="1885950"/>
            <a:ext cx="480073" cy="3429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841" name="Google Shape;841;p56"/>
          <p:cNvSpPr txBox="1"/>
          <p:nvPr/>
        </p:nvSpPr>
        <p:spPr>
          <a:xfrm>
            <a:off x="5349383" y="1913382"/>
            <a:ext cx="411491" cy="3086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a:solidFill>
                  <a:srgbClr val="FFFFFF"/>
                </a:solidFill>
                <a:latin typeface="Courier New"/>
                <a:ea typeface="Courier New"/>
                <a:cs typeface="Courier New"/>
                <a:sym typeface="Courier New"/>
              </a:rPr>
              <a:t>04</a:t>
            </a:r>
            <a:endParaRPr sz="1100"/>
          </a:p>
        </p:txBody>
      </p:sp>
      <p:sp>
        <p:nvSpPr>
          <p:cNvPr id="842" name="Google Shape;842;p56"/>
          <p:cNvSpPr txBox="1"/>
          <p:nvPr/>
        </p:nvSpPr>
        <p:spPr>
          <a:xfrm>
            <a:off x="5315092" y="2331720"/>
            <a:ext cx="144021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400">
                <a:solidFill>
                  <a:srgbClr val="1B1F2A"/>
                </a:solidFill>
                <a:latin typeface="Manrope"/>
                <a:ea typeface="Manrope"/>
                <a:cs typeface="Manrope"/>
                <a:sym typeface="Manrope"/>
              </a:rPr>
              <a:t>Score</a:t>
            </a:r>
            <a:endParaRPr sz="1100"/>
          </a:p>
        </p:txBody>
      </p:sp>
      <p:sp>
        <p:nvSpPr>
          <p:cNvPr id="843" name="Google Shape;843;p56"/>
          <p:cNvSpPr txBox="1"/>
          <p:nvPr/>
        </p:nvSpPr>
        <p:spPr>
          <a:xfrm>
            <a:off x="5323830" y="2674620"/>
            <a:ext cx="1440300" cy="1254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The final layer produces a probability distribution over the entire vocabulary for the next token.</a:t>
            </a:r>
            <a:endParaRPr sz="1100"/>
          </a:p>
        </p:txBody>
      </p:sp>
      <p:sp>
        <p:nvSpPr>
          <p:cNvPr id="844" name="Google Shape;844;p56"/>
          <p:cNvSpPr/>
          <p:nvPr/>
        </p:nvSpPr>
        <p:spPr>
          <a:xfrm>
            <a:off x="6823892" y="1885950"/>
            <a:ext cx="480073" cy="3429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845" name="Google Shape;845;p56"/>
          <p:cNvSpPr txBox="1"/>
          <p:nvPr/>
        </p:nvSpPr>
        <p:spPr>
          <a:xfrm>
            <a:off x="6858183" y="1913382"/>
            <a:ext cx="411491" cy="3086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a:solidFill>
                  <a:srgbClr val="FFFFFF"/>
                </a:solidFill>
                <a:latin typeface="Courier New"/>
                <a:ea typeface="Courier New"/>
                <a:cs typeface="Courier New"/>
                <a:sym typeface="Courier New"/>
              </a:rPr>
              <a:t>05</a:t>
            </a:r>
            <a:endParaRPr sz="1100"/>
          </a:p>
        </p:txBody>
      </p:sp>
      <p:sp>
        <p:nvSpPr>
          <p:cNvPr id="846" name="Google Shape;846;p56"/>
          <p:cNvSpPr txBox="1"/>
          <p:nvPr/>
        </p:nvSpPr>
        <p:spPr>
          <a:xfrm>
            <a:off x="6823892" y="2331720"/>
            <a:ext cx="144021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400">
                <a:solidFill>
                  <a:srgbClr val="1B1F2A"/>
                </a:solidFill>
                <a:latin typeface="Manrope"/>
                <a:ea typeface="Manrope"/>
                <a:cs typeface="Manrope"/>
                <a:sym typeface="Manrope"/>
              </a:rPr>
              <a:t>Sample</a:t>
            </a:r>
            <a:endParaRPr sz="1100"/>
          </a:p>
        </p:txBody>
      </p:sp>
      <p:sp>
        <p:nvSpPr>
          <p:cNvPr id="847" name="Google Shape;847;p56"/>
          <p:cNvSpPr txBox="1"/>
          <p:nvPr/>
        </p:nvSpPr>
        <p:spPr>
          <a:xfrm>
            <a:off x="6823892" y="2674620"/>
            <a:ext cx="1440218" cy="22631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One token is drawn from that distribution and appended. The loop runs again until a stop condition is met.</a:t>
            </a:r>
            <a:endParaRPr sz="1100"/>
          </a:p>
        </p:txBody>
      </p:sp>
      <p:sp>
        <p:nvSpPr>
          <p:cNvPr id="848" name="Google Shape;848;p56"/>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p57"/>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854" name="Google Shape;854;p57"/>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855" name="Google Shape;855;p57"/>
          <p:cNvSpPr txBox="1"/>
          <p:nvPr/>
        </p:nvSpPr>
        <p:spPr>
          <a:xfrm>
            <a:off x="822982" y="946404"/>
            <a:ext cx="74067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2100">
                <a:solidFill>
                  <a:srgbClr val="1B1F2A"/>
                </a:solidFill>
                <a:latin typeface="Manrope"/>
                <a:ea typeface="Manrope"/>
                <a:cs typeface="Manrope"/>
                <a:sym typeface="Manrope"/>
              </a:rPr>
              <a:t>N</a:t>
            </a:r>
            <a:r>
              <a:rPr b="1" i="0" lang="en-GB" sz="2100">
                <a:solidFill>
                  <a:srgbClr val="1B1F2A"/>
                </a:solidFill>
                <a:latin typeface="Manrope"/>
                <a:ea typeface="Manrope"/>
                <a:cs typeface="Manrope"/>
                <a:sym typeface="Manrope"/>
              </a:rPr>
              <a:t>umbers that describe a model.</a:t>
            </a:r>
            <a:endParaRPr sz="1100"/>
          </a:p>
        </p:txBody>
      </p:sp>
      <p:sp>
        <p:nvSpPr>
          <p:cNvPr id="856" name="Google Shape;856;p57"/>
          <p:cNvSpPr txBox="1"/>
          <p:nvPr/>
        </p:nvSpPr>
        <p:spPr>
          <a:xfrm>
            <a:off x="822982" y="1426464"/>
            <a:ext cx="74067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Knowing these </a:t>
            </a:r>
            <a:r>
              <a:rPr lang="en-GB" sz="1100">
                <a:solidFill>
                  <a:srgbClr val="8B95A6"/>
                </a:solidFill>
                <a:latin typeface="Manrope"/>
                <a:ea typeface="Manrope"/>
                <a:cs typeface="Manrope"/>
                <a:sym typeface="Manrope"/>
              </a:rPr>
              <a:t>four </a:t>
            </a:r>
            <a:r>
              <a:rPr b="0" i="0" lang="en-GB" sz="1100">
                <a:solidFill>
                  <a:srgbClr val="8B95A6"/>
                </a:solidFill>
                <a:latin typeface="Manrope"/>
                <a:ea typeface="Manrope"/>
                <a:cs typeface="Manrope"/>
                <a:sym typeface="Manrope"/>
              </a:rPr>
              <a:t>dimensions lets you compare models honestly across capability, cost, and suitability for your </a:t>
            </a:r>
            <a:r>
              <a:rPr lang="en-GB" sz="1100">
                <a:solidFill>
                  <a:srgbClr val="8B95A6"/>
                </a:solidFill>
                <a:latin typeface="Manrope"/>
                <a:ea typeface="Manrope"/>
                <a:cs typeface="Manrope"/>
                <a:sym typeface="Manrope"/>
              </a:rPr>
              <a:t>workload</a:t>
            </a:r>
            <a:r>
              <a:rPr b="0" i="0" lang="en-GB" sz="1100">
                <a:solidFill>
                  <a:srgbClr val="8B95A6"/>
                </a:solidFill>
                <a:latin typeface="Manrope"/>
                <a:ea typeface="Manrope"/>
                <a:cs typeface="Manrope"/>
                <a:sym typeface="Manrope"/>
              </a:rPr>
              <a:t>…</a:t>
            </a:r>
            <a:endParaRPr sz="1100"/>
          </a:p>
        </p:txBody>
      </p:sp>
      <p:sp>
        <p:nvSpPr>
          <p:cNvPr id="857" name="Google Shape;857;p57"/>
          <p:cNvSpPr/>
          <p:nvPr/>
        </p:nvSpPr>
        <p:spPr>
          <a:xfrm>
            <a:off x="822982" y="1885950"/>
            <a:ext cx="1920291" cy="20574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858" name="Google Shape;858;p57"/>
          <p:cNvSpPr txBox="1"/>
          <p:nvPr/>
        </p:nvSpPr>
        <p:spPr>
          <a:xfrm>
            <a:off x="960146" y="2009394"/>
            <a:ext cx="1645964"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PARAMETERS</a:t>
            </a:r>
            <a:endParaRPr sz="1100"/>
          </a:p>
        </p:txBody>
      </p:sp>
      <p:sp>
        <p:nvSpPr>
          <p:cNvPr id="859" name="Google Shape;859;p57"/>
          <p:cNvSpPr txBox="1"/>
          <p:nvPr/>
        </p:nvSpPr>
        <p:spPr>
          <a:xfrm>
            <a:off x="960146" y="2208276"/>
            <a:ext cx="1645964"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10B – 1T+</a:t>
            </a:r>
            <a:endParaRPr sz="1100"/>
          </a:p>
        </p:txBody>
      </p:sp>
      <p:sp>
        <p:nvSpPr>
          <p:cNvPr id="860" name="Google Shape;860;p57"/>
          <p:cNvSpPr txBox="1"/>
          <p:nvPr/>
        </p:nvSpPr>
        <p:spPr>
          <a:xfrm>
            <a:off x="960146" y="2640330"/>
            <a:ext cx="1645964" cy="12001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8B95A6"/>
                </a:solidFill>
                <a:latin typeface="Manrope"/>
                <a:ea typeface="Manrope"/>
                <a:cs typeface="Manrope"/>
                <a:sym typeface="Manrope"/>
              </a:rPr>
              <a:t>Trained weights. Bigger is generally smarter, but slower and more expensive per inference call. Mixture-of-Experts extends effective scale.</a:t>
            </a:r>
            <a:endParaRPr sz="1100"/>
          </a:p>
        </p:txBody>
      </p:sp>
      <p:sp>
        <p:nvSpPr>
          <p:cNvPr id="861" name="Google Shape;861;p57"/>
          <p:cNvSpPr/>
          <p:nvPr/>
        </p:nvSpPr>
        <p:spPr>
          <a:xfrm>
            <a:off x="2880437" y="1885950"/>
            <a:ext cx="1920291" cy="20574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862" name="Google Shape;862;p57"/>
          <p:cNvSpPr txBox="1"/>
          <p:nvPr/>
        </p:nvSpPr>
        <p:spPr>
          <a:xfrm>
            <a:off x="3017600" y="2009394"/>
            <a:ext cx="1645964"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TRAINING TOKENS</a:t>
            </a:r>
            <a:endParaRPr sz="1100"/>
          </a:p>
        </p:txBody>
      </p:sp>
      <p:sp>
        <p:nvSpPr>
          <p:cNvPr id="863" name="Google Shape;863;p57"/>
          <p:cNvSpPr txBox="1"/>
          <p:nvPr/>
        </p:nvSpPr>
        <p:spPr>
          <a:xfrm>
            <a:off x="3017600" y="2208276"/>
            <a:ext cx="1645964"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~15 Trillion</a:t>
            </a:r>
            <a:endParaRPr sz="1100"/>
          </a:p>
        </p:txBody>
      </p:sp>
      <p:sp>
        <p:nvSpPr>
          <p:cNvPr id="864" name="Google Shape;864;p57"/>
          <p:cNvSpPr txBox="1"/>
          <p:nvPr/>
        </p:nvSpPr>
        <p:spPr>
          <a:xfrm>
            <a:off x="3017600" y="2640330"/>
            <a:ext cx="1645964" cy="12001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8B95A6"/>
                </a:solidFill>
                <a:latin typeface="Manrope"/>
                <a:ea typeface="Manrope"/>
                <a:cs typeface="Manrope"/>
                <a:sym typeface="Manrope"/>
              </a:rPr>
              <a:t>The corpus the model read during pre-training. Breadth of what it has 'seen.' Most frontier models have consumed the readable internet several times over.</a:t>
            </a:r>
            <a:endParaRPr sz="1100"/>
          </a:p>
        </p:txBody>
      </p:sp>
      <p:sp>
        <p:nvSpPr>
          <p:cNvPr id="865" name="Google Shape;865;p57"/>
          <p:cNvSpPr/>
          <p:nvPr/>
        </p:nvSpPr>
        <p:spPr>
          <a:xfrm>
            <a:off x="4937892" y="1885950"/>
            <a:ext cx="1920291" cy="20574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866" name="Google Shape;866;p57"/>
          <p:cNvSpPr txBox="1"/>
          <p:nvPr/>
        </p:nvSpPr>
        <p:spPr>
          <a:xfrm>
            <a:off x="5075055" y="2009394"/>
            <a:ext cx="1645964"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CONTEXT WINDOW</a:t>
            </a:r>
            <a:endParaRPr sz="1100"/>
          </a:p>
        </p:txBody>
      </p:sp>
      <p:sp>
        <p:nvSpPr>
          <p:cNvPr id="867" name="Google Shape;867;p57"/>
          <p:cNvSpPr txBox="1"/>
          <p:nvPr/>
        </p:nvSpPr>
        <p:spPr>
          <a:xfrm>
            <a:off x="5075055" y="2208276"/>
            <a:ext cx="1645964"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200k – 1M+</a:t>
            </a:r>
            <a:endParaRPr sz="1100"/>
          </a:p>
        </p:txBody>
      </p:sp>
      <p:sp>
        <p:nvSpPr>
          <p:cNvPr id="868" name="Google Shape;868;p57"/>
          <p:cNvSpPr txBox="1"/>
          <p:nvPr/>
        </p:nvSpPr>
        <p:spPr>
          <a:xfrm>
            <a:off x="5075055" y="2640330"/>
            <a:ext cx="1645964" cy="12001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8B95A6"/>
                </a:solidFill>
                <a:latin typeface="Manrope"/>
                <a:ea typeface="Manrope"/>
                <a:cs typeface="Manrope"/>
                <a:sym typeface="Manrope"/>
              </a:rPr>
              <a:t>Tokens readable in one call — the working memory of a single conversation. Anything outside the window is invisible to the model.</a:t>
            </a:r>
            <a:endParaRPr sz="1100"/>
          </a:p>
        </p:txBody>
      </p:sp>
      <p:sp>
        <p:nvSpPr>
          <p:cNvPr id="869" name="Google Shape;869;p57"/>
          <p:cNvSpPr/>
          <p:nvPr/>
        </p:nvSpPr>
        <p:spPr>
          <a:xfrm>
            <a:off x="6995346" y="1885950"/>
            <a:ext cx="1920291" cy="20574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870" name="Google Shape;870;p57"/>
          <p:cNvSpPr txBox="1"/>
          <p:nvPr/>
        </p:nvSpPr>
        <p:spPr>
          <a:xfrm>
            <a:off x="7132510" y="2009394"/>
            <a:ext cx="1645964"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FLOPS (TRAINING)</a:t>
            </a:r>
            <a:endParaRPr sz="1100"/>
          </a:p>
        </p:txBody>
      </p:sp>
      <p:sp>
        <p:nvSpPr>
          <p:cNvPr id="871" name="Google Shape;871;p57"/>
          <p:cNvSpPr txBox="1"/>
          <p:nvPr/>
        </p:nvSpPr>
        <p:spPr>
          <a:xfrm>
            <a:off x="7132510" y="2208276"/>
            <a:ext cx="1645964"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~10²⁵</a:t>
            </a:r>
            <a:endParaRPr sz="1100"/>
          </a:p>
        </p:txBody>
      </p:sp>
      <p:sp>
        <p:nvSpPr>
          <p:cNvPr id="872" name="Google Shape;872;p57"/>
          <p:cNvSpPr txBox="1"/>
          <p:nvPr/>
        </p:nvSpPr>
        <p:spPr>
          <a:xfrm>
            <a:off x="7132510" y="2640330"/>
            <a:ext cx="1645964" cy="12001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8B95A6"/>
                </a:solidFill>
                <a:latin typeface="Manrope"/>
                <a:ea typeface="Manrope"/>
                <a:cs typeface="Manrope"/>
                <a:sym typeface="Manrope"/>
              </a:rPr>
              <a:t>Total floating-point operations during training. The number that export-control policies and chip regulations now key off.</a:t>
            </a:r>
            <a:endParaRPr sz="1100"/>
          </a:p>
        </p:txBody>
      </p:sp>
      <p:sp>
        <p:nvSpPr>
          <p:cNvPr id="873" name="Google Shape;873;p57"/>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p58"/>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879" name="Google Shape;879;p58"/>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880" name="Google Shape;880;p58"/>
          <p:cNvSpPr txBox="1"/>
          <p:nvPr/>
        </p:nvSpPr>
        <p:spPr>
          <a:xfrm>
            <a:off x="822982" y="946404"/>
            <a:ext cx="7406837"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a:solidFill>
                  <a:srgbClr val="1B1F2A"/>
                </a:solidFill>
                <a:latin typeface="Manrope"/>
                <a:ea typeface="Manrope"/>
                <a:cs typeface="Manrope"/>
                <a:sym typeface="Manrope"/>
              </a:rPr>
              <a:t>Base models predict. Instruct models obey.</a:t>
            </a:r>
            <a:endParaRPr sz="1100"/>
          </a:p>
        </p:txBody>
      </p:sp>
      <p:sp>
        <p:nvSpPr>
          <p:cNvPr id="881" name="Google Shape;881;p58"/>
          <p:cNvSpPr/>
          <p:nvPr/>
        </p:nvSpPr>
        <p:spPr>
          <a:xfrm>
            <a:off x="822982" y="1474470"/>
            <a:ext cx="3497673" cy="30861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882" name="Google Shape;882;p58"/>
          <p:cNvSpPr/>
          <p:nvPr/>
        </p:nvSpPr>
        <p:spPr>
          <a:xfrm>
            <a:off x="4800728" y="1474470"/>
            <a:ext cx="3497673" cy="3086100"/>
          </a:xfrm>
          <a:prstGeom prst="rect">
            <a:avLst/>
          </a:prstGeom>
          <a:solidFill>
            <a:srgbClr val="FFE3D2"/>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883" name="Google Shape;883;p58"/>
          <p:cNvSpPr/>
          <p:nvPr/>
        </p:nvSpPr>
        <p:spPr>
          <a:xfrm>
            <a:off x="822982" y="1474470"/>
            <a:ext cx="3497673" cy="329184"/>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884" name="Google Shape;884;p58"/>
          <p:cNvSpPr txBox="1"/>
          <p:nvPr/>
        </p:nvSpPr>
        <p:spPr>
          <a:xfrm>
            <a:off x="960146" y="1501902"/>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300">
                <a:solidFill>
                  <a:srgbClr val="FFFFFF"/>
                </a:solidFill>
                <a:latin typeface="Manrope"/>
                <a:ea typeface="Manrope"/>
                <a:cs typeface="Manrope"/>
                <a:sym typeface="Manrope"/>
              </a:rPr>
              <a:t>Base / Pretrained</a:t>
            </a:r>
            <a:endParaRPr sz="1100"/>
          </a:p>
        </p:txBody>
      </p:sp>
      <p:sp>
        <p:nvSpPr>
          <p:cNvPr id="885" name="Google Shape;885;p58"/>
          <p:cNvSpPr/>
          <p:nvPr/>
        </p:nvSpPr>
        <p:spPr>
          <a:xfrm>
            <a:off x="4800728" y="1474470"/>
            <a:ext cx="3497673" cy="329184"/>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886" name="Google Shape;886;p58"/>
          <p:cNvSpPr txBox="1"/>
          <p:nvPr/>
        </p:nvSpPr>
        <p:spPr>
          <a:xfrm>
            <a:off x="4937892" y="1501902"/>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300">
                <a:solidFill>
                  <a:srgbClr val="FFFFFF"/>
                </a:solidFill>
                <a:latin typeface="Manrope"/>
                <a:ea typeface="Manrope"/>
                <a:cs typeface="Manrope"/>
                <a:sym typeface="Manrope"/>
              </a:rPr>
              <a:t>Instruction-Tuned / Chat</a:t>
            </a:r>
            <a:endParaRPr sz="1100"/>
          </a:p>
        </p:txBody>
      </p:sp>
      <p:sp>
        <p:nvSpPr>
          <p:cNvPr id="887" name="Google Shape;887;p58"/>
          <p:cNvSpPr txBox="1"/>
          <p:nvPr/>
        </p:nvSpPr>
        <p:spPr>
          <a:xfrm>
            <a:off x="925855" y="19339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Pure text predictor — continues any sequence</a:t>
            </a:r>
            <a:endParaRPr sz="1100"/>
          </a:p>
        </p:txBody>
      </p:sp>
      <p:sp>
        <p:nvSpPr>
          <p:cNvPr id="888" name="Google Shape;888;p58"/>
          <p:cNvSpPr txBox="1"/>
          <p:nvPr/>
        </p:nvSpPr>
        <p:spPr>
          <a:xfrm>
            <a:off x="925855" y="22768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Asked '2+2?' may reply with an essay on arithmetic</a:t>
            </a:r>
            <a:endParaRPr sz="1100"/>
          </a:p>
        </p:txBody>
      </p:sp>
      <p:sp>
        <p:nvSpPr>
          <p:cNvPr id="889" name="Google Shape;889;p58"/>
          <p:cNvSpPr txBox="1"/>
          <p:nvPr/>
        </p:nvSpPr>
        <p:spPr>
          <a:xfrm>
            <a:off x="925855" y="26197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Trained on trillions of raw tokens</a:t>
            </a:r>
            <a:endParaRPr sz="1100"/>
          </a:p>
        </p:txBody>
      </p:sp>
      <p:sp>
        <p:nvSpPr>
          <p:cNvPr id="890" name="Google Shape;890;p58"/>
          <p:cNvSpPr txBox="1"/>
          <p:nvPr/>
        </p:nvSpPr>
        <p:spPr>
          <a:xfrm>
            <a:off x="925855" y="29626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Useful for fine-tuning research — not end-users</a:t>
            </a:r>
            <a:endParaRPr sz="1100"/>
          </a:p>
        </p:txBody>
      </p:sp>
      <p:sp>
        <p:nvSpPr>
          <p:cNvPr id="891" name="Google Shape;891;p58"/>
          <p:cNvSpPr txBox="1"/>
          <p:nvPr/>
        </p:nvSpPr>
        <p:spPr>
          <a:xfrm>
            <a:off x="925855" y="33055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No concept of helpfulness or refusal</a:t>
            </a:r>
            <a:endParaRPr sz="1100"/>
          </a:p>
        </p:txBody>
      </p:sp>
      <p:sp>
        <p:nvSpPr>
          <p:cNvPr id="892" name="Google Shape;892;p58"/>
          <p:cNvSpPr txBox="1"/>
          <p:nvPr/>
        </p:nvSpPr>
        <p:spPr>
          <a:xfrm>
            <a:off x="4903601" y="19339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Trained to follow instructions and be helpful</a:t>
            </a:r>
            <a:endParaRPr sz="1100"/>
          </a:p>
        </p:txBody>
      </p:sp>
      <p:sp>
        <p:nvSpPr>
          <p:cNvPr id="893" name="Google Shape;893;p58"/>
          <p:cNvSpPr txBox="1"/>
          <p:nvPr/>
        </p:nvSpPr>
        <p:spPr>
          <a:xfrm>
            <a:off x="4903601" y="22768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Asked '2+2?' answers '4'</a:t>
            </a:r>
            <a:endParaRPr sz="1100"/>
          </a:p>
        </p:txBody>
      </p:sp>
      <p:sp>
        <p:nvSpPr>
          <p:cNvPr id="894" name="Google Shape;894;p58"/>
          <p:cNvSpPr txBox="1"/>
          <p:nvPr/>
        </p:nvSpPr>
        <p:spPr>
          <a:xfrm>
            <a:off x="4903601" y="26197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SFT + RLHF / preference learning applied on top</a:t>
            </a:r>
            <a:endParaRPr sz="1100"/>
          </a:p>
        </p:txBody>
      </p:sp>
      <p:sp>
        <p:nvSpPr>
          <p:cNvPr id="895" name="Google Shape;895;p58"/>
          <p:cNvSpPr txBox="1"/>
          <p:nvPr/>
        </p:nvSpPr>
        <p:spPr>
          <a:xfrm>
            <a:off x="4903601" y="29626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What you actually call from your app (GPT-4o, Claude, Llama Instruct)</a:t>
            </a:r>
            <a:endParaRPr sz="1100"/>
          </a:p>
        </p:txBody>
      </p:sp>
      <p:sp>
        <p:nvSpPr>
          <p:cNvPr id="896" name="Google Shape;896;p58"/>
          <p:cNvSpPr txBox="1"/>
          <p:nvPr/>
        </p:nvSpPr>
        <p:spPr>
          <a:xfrm>
            <a:off x="4903601" y="33055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Has safety filters, refusal behaviour, system prompt support</a:t>
            </a:r>
            <a:endParaRPr sz="1100"/>
          </a:p>
        </p:txBody>
      </p:sp>
      <p:sp>
        <p:nvSpPr>
          <p:cNvPr id="897" name="Google Shape;897;p58"/>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59"/>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903" name="Google Shape;903;p59"/>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904" name="Google Shape;904;p59"/>
          <p:cNvSpPr txBox="1"/>
          <p:nvPr/>
        </p:nvSpPr>
        <p:spPr>
          <a:xfrm>
            <a:off x="822982" y="946404"/>
            <a:ext cx="74067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a:solidFill>
                  <a:srgbClr val="1B1F2A"/>
                </a:solidFill>
                <a:latin typeface="Manrope"/>
                <a:ea typeface="Manrope"/>
                <a:cs typeface="Manrope"/>
                <a:sym typeface="Manrope"/>
              </a:rPr>
              <a:t>How a model becomes useful — three training stages.</a:t>
            </a:r>
            <a:endParaRPr sz="500"/>
          </a:p>
        </p:txBody>
      </p:sp>
      <p:sp>
        <p:nvSpPr>
          <p:cNvPr id="905" name="Google Shape;905;p59"/>
          <p:cNvSpPr txBox="1"/>
          <p:nvPr/>
        </p:nvSpPr>
        <p:spPr>
          <a:xfrm>
            <a:off x="822982" y="1522476"/>
            <a:ext cx="7406837"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You don't run any of these. But knowing the shape helps you reason about what a model will and won't do well — and when …</a:t>
            </a:r>
            <a:endParaRPr sz="1100"/>
          </a:p>
        </p:txBody>
      </p:sp>
      <p:sp>
        <p:nvSpPr>
          <p:cNvPr id="906" name="Google Shape;906;p59"/>
          <p:cNvSpPr/>
          <p:nvPr/>
        </p:nvSpPr>
        <p:spPr>
          <a:xfrm>
            <a:off x="822982"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907" name="Google Shape;907;p59"/>
          <p:cNvSpPr txBox="1"/>
          <p:nvPr/>
        </p:nvSpPr>
        <p:spPr>
          <a:xfrm>
            <a:off x="822982"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STAGE 01</a:t>
            </a:r>
            <a:endParaRPr sz="1100"/>
          </a:p>
        </p:txBody>
      </p:sp>
      <p:sp>
        <p:nvSpPr>
          <p:cNvPr id="908" name="Google Shape;908;p59"/>
          <p:cNvSpPr txBox="1"/>
          <p:nvPr/>
        </p:nvSpPr>
        <p:spPr>
          <a:xfrm>
            <a:off x="822982" y="2242566"/>
            <a:ext cx="2468946" cy="30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Pre-training</a:t>
            </a:r>
            <a:endParaRPr sz="1100"/>
          </a:p>
        </p:txBody>
      </p:sp>
      <p:sp>
        <p:nvSpPr>
          <p:cNvPr id="909" name="Google Shape;909;p59"/>
          <p:cNvSpPr txBox="1"/>
          <p:nvPr/>
        </p:nvSpPr>
        <p:spPr>
          <a:xfrm>
            <a:off x="822982" y="2518422"/>
            <a:ext cx="2469000" cy="915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Reading the internet. Trillions of tokens, weeks on thousands of GPUs. The model learns language, code, reasoning patterns, and world knowledge encoded in text.</a:t>
            </a:r>
            <a:endParaRPr sz="1100"/>
          </a:p>
        </p:txBody>
      </p:sp>
      <p:sp>
        <p:nvSpPr>
          <p:cNvPr id="910" name="Google Shape;910;p59"/>
          <p:cNvSpPr/>
          <p:nvPr/>
        </p:nvSpPr>
        <p:spPr>
          <a:xfrm>
            <a:off x="3429091"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911" name="Google Shape;911;p59"/>
          <p:cNvSpPr txBox="1"/>
          <p:nvPr/>
        </p:nvSpPr>
        <p:spPr>
          <a:xfrm>
            <a:off x="3429091"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STAGE 02</a:t>
            </a:r>
            <a:endParaRPr sz="1100"/>
          </a:p>
        </p:txBody>
      </p:sp>
      <p:sp>
        <p:nvSpPr>
          <p:cNvPr id="912" name="Google Shape;912;p59"/>
          <p:cNvSpPr txBox="1"/>
          <p:nvPr/>
        </p:nvSpPr>
        <p:spPr>
          <a:xfrm>
            <a:off x="3429091" y="2242566"/>
            <a:ext cx="2468946" cy="30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Supervised Fine-Tuning</a:t>
            </a:r>
            <a:endParaRPr sz="1100"/>
          </a:p>
        </p:txBody>
      </p:sp>
      <p:sp>
        <p:nvSpPr>
          <p:cNvPr id="913" name="Google Shape;913;p59"/>
          <p:cNvSpPr txBox="1"/>
          <p:nvPr/>
        </p:nvSpPr>
        <p:spPr>
          <a:xfrm>
            <a:off x="3429116" y="2600709"/>
            <a:ext cx="2469000" cy="915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Learning to be helpful. Curated instruction-response pairs teach the model what a good answer looks like — format, depth, style, and refusal behaviour.</a:t>
            </a:r>
            <a:endParaRPr sz="1100"/>
          </a:p>
        </p:txBody>
      </p:sp>
      <p:sp>
        <p:nvSpPr>
          <p:cNvPr id="914" name="Google Shape;914;p59"/>
          <p:cNvSpPr/>
          <p:nvPr/>
        </p:nvSpPr>
        <p:spPr>
          <a:xfrm>
            <a:off x="6035201"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915" name="Google Shape;915;p59"/>
          <p:cNvSpPr txBox="1"/>
          <p:nvPr/>
        </p:nvSpPr>
        <p:spPr>
          <a:xfrm>
            <a:off x="6035201"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STAGE 03</a:t>
            </a:r>
            <a:endParaRPr sz="1100"/>
          </a:p>
        </p:txBody>
      </p:sp>
      <p:sp>
        <p:nvSpPr>
          <p:cNvPr id="916" name="Google Shape;916;p59"/>
          <p:cNvSpPr txBox="1"/>
          <p:nvPr/>
        </p:nvSpPr>
        <p:spPr>
          <a:xfrm>
            <a:off x="6035201" y="2242566"/>
            <a:ext cx="2468946" cy="30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Preference Alignment</a:t>
            </a:r>
            <a:endParaRPr sz="1100"/>
          </a:p>
        </p:txBody>
      </p:sp>
      <p:sp>
        <p:nvSpPr>
          <p:cNvPr id="917" name="Google Shape;917;p59"/>
          <p:cNvSpPr txBox="1"/>
          <p:nvPr/>
        </p:nvSpPr>
        <p:spPr>
          <a:xfrm>
            <a:off x="6035276" y="2564909"/>
            <a:ext cx="2469000" cy="915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Aligned to humans. RLHF, DPO, and similar methods nudge the model toward outputs people rate higher — clearer, safer, more concise, less sycophantic.</a:t>
            </a:r>
            <a:endParaRPr sz="1100"/>
          </a:p>
        </p:txBody>
      </p:sp>
      <p:sp>
        <p:nvSpPr>
          <p:cNvPr id="918" name="Google Shape;918;p59"/>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sp>
        <p:nvSpPr>
          <p:cNvPr id="923" name="Google Shape;923;p60"/>
          <p:cNvSpPr/>
          <p:nvPr/>
        </p:nvSpPr>
        <p:spPr>
          <a:xfrm>
            <a:off x="43793" y="0"/>
            <a:ext cx="9144000" cy="51435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924" name="Google Shape;924;p60"/>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925" name="Google Shape;925;p60"/>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926" name="Google Shape;926;p60"/>
          <p:cNvSpPr txBox="1"/>
          <p:nvPr/>
        </p:nvSpPr>
        <p:spPr>
          <a:xfrm>
            <a:off x="822982" y="1097280"/>
            <a:ext cx="3086182" cy="19202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0">
                <a:solidFill>
                  <a:srgbClr val="FF671F"/>
                </a:solidFill>
                <a:latin typeface="Manrope"/>
                <a:ea typeface="Manrope"/>
                <a:cs typeface="Manrope"/>
                <a:sym typeface="Manrope"/>
              </a:rPr>
              <a:t>200k</a:t>
            </a:r>
            <a:endParaRPr sz="1100"/>
          </a:p>
        </p:txBody>
      </p:sp>
      <p:sp>
        <p:nvSpPr>
          <p:cNvPr id="927" name="Google Shape;927;p60"/>
          <p:cNvSpPr txBox="1"/>
          <p:nvPr/>
        </p:nvSpPr>
        <p:spPr>
          <a:xfrm>
            <a:off x="3799049" y="1440175"/>
            <a:ext cx="453000" cy="623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3600">
                <a:solidFill>
                  <a:srgbClr val="1B1F2A"/>
                </a:solidFill>
                <a:latin typeface="Manrope"/>
                <a:ea typeface="Manrope"/>
                <a:cs typeface="Manrope"/>
                <a:sym typeface="Manrope"/>
              </a:rPr>
              <a:t>+</a:t>
            </a:r>
            <a:endParaRPr sz="1100"/>
          </a:p>
        </p:txBody>
      </p:sp>
      <p:sp>
        <p:nvSpPr>
          <p:cNvPr id="928" name="Google Shape;928;p60"/>
          <p:cNvSpPr txBox="1"/>
          <p:nvPr/>
        </p:nvSpPr>
        <p:spPr>
          <a:xfrm>
            <a:off x="4457819" y="1234440"/>
            <a:ext cx="4114910" cy="1371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600">
                <a:solidFill>
                  <a:srgbClr val="1B1F2A"/>
                </a:solidFill>
                <a:latin typeface="Manrope"/>
                <a:ea typeface="Manrope"/>
                <a:cs typeface="Manrope"/>
                <a:sym typeface="Manrope"/>
              </a:rPr>
              <a:t>Tokens in a modern frontier model's context window.</a:t>
            </a:r>
            <a:endParaRPr sz="1100"/>
          </a:p>
        </p:txBody>
      </p:sp>
      <p:sp>
        <p:nvSpPr>
          <p:cNvPr id="929" name="Google Shape;929;p60"/>
          <p:cNvSpPr/>
          <p:nvPr/>
        </p:nvSpPr>
        <p:spPr>
          <a:xfrm>
            <a:off x="4457819" y="2743200"/>
            <a:ext cx="34291" cy="13716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930" name="Google Shape;930;p60"/>
          <p:cNvSpPr txBox="1"/>
          <p:nvPr/>
        </p:nvSpPr>
        <p:spPr>
          <a:xfrm>
            <a:off x="4594982" y="2743200"/>
            <a:ext cx="3977746" cy="1714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400">
                <a:solidFill>
                  <a:srgbClr val="8B95A6"/>
                </a:solidFill>
                <a:latin typeface="Manrope"/>
                <a:ea typeface="Manrope"/>
                <a:cs typeface="Manrope"/>
                <a:sym typeface="Manrope"/>
              </a:rPr>
              <a:t>Context length has grown 100× in two years. This changes system design: instead of building complex retrieval pipelines, you can sometimes just pass the whole document. But cost grows linearly with context length, and model quality degrades in the middle of very long contexts — the 'lost-in-the-middle' effect.</a:t>
            </a:r>
            <a:endParaRPr sz="1100"/>
          </a:p>
        </p:txBody>
      </p:sp>
      <p:sp>
        <p:nvSpPr>
          <p:cNvPr id="931" name="Google Shape;931;p60"/>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p61"/>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937" name="Google Shape;937;p61"/>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938" name="Google Shape;938;p61"/>
          <p:cNvSpPr txBox="1"/>
          <p:nvPr/>
        </p:nvSpPr>
        <p:spPr>
          <a:xfrm>
            <a:off x="822982" y="946404"/>
            <a:ext cx="7406837"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a:solidFill>
                  <a:srgbClr val="1B1F2A"/>
                </a:solidFill>
                <a:latin typeface="Manrope"/>
                <a:ea typeface="Manrope"/>
                <a:cs typeface="Manrope"/>
                <a:sym typeface="Manrope"/>
              </a:rPr>
              <a:t>Eight practical facts every engineer should know.</a:t>
            </a:r>
            <a:endParaRPr sz="1100"/>
          </a:p>
        </p:txBody>
      </p:sp>
      <p:sp>
        <p:nvSpPr>
          <p:cNvPr id="939" name="Google Shape;939;p61"/>
          <p:cNvSpPr txBox="1"/>
          <p:nvPr/>
        </p:nvSpPr>
        <p:spPr>
          <a:xfrm>
            <a:off x="822982" y="1426464"/>
            <a:ext cx="7406837" cy="2095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Internalising these changes how you debug, prompt, and build — more than any individual technique.</a:t>
            </a:r>
            <a:endParaRPr sz="1100"/>
          </a:p>
        </p:txBody>
      </p:sp>
      <p:sp>
        <p:nvSpPr>
          <p:cNvPr id="940" name="Google Shape;940;p61"/>
          <p:cNvSpPr/>
          <p:nvPr/>
        </p:nvSpPr>
        <p:spPr>
          <a:xfrm>
            <a:off x="822982" y="1817370"/>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941" name="Google Shape;941;p61"/>
          <p:cNvSpPr txBox="1"/>
          <p:nvPr/>
        </p:nvSpPr>
        <p:spPr>
          <a:xfrm>
            <a:off x="918996" y="1872234"/>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01</a:t>
            </a:r>
            <a:endParaRPr sz="1100"/>
          </a:p>
        </p:txBody>
      </p:sp>
      <p:sp>
        <p:nvSpPr>
          <p:cNvPr id="942" name="Google Shape;942;p61"/>
          <p:cNvSpPr txBox="1"/>
          <p:nvPr/>
        </p:nvSpPr>
        <p:spPr>
          <a:xfrm>
            <a:off x="918996" y="2023110"/>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No memory by default</a:t>
            </a:r>
            <a:endParaRPr sz="1100"/>
          </a:p>
        </p:txBody>
      </p:sp>
      <p:sp>
        <p:nvSpPr>
          <p:cNvPr id="943" name="Google Shape;943;p61"/>
          <p:cNvSpPr txBox="1"/>
          <p:nvPr/>
        </p:nvSpPr>
        <p:spPr>
          <a:xfrm>
            <a:off x="918996" y="2379726"/>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Each API call is stateless. History is passed in as tokens.</a:t>
            </a:r>
            <a:endParaRPr sz="1100"/>
          </a:p>
        </p:txBody>
      </p:sp>
      <p:sp>
        <p:nvSpPr>
          <p:cNvPr id="944" name="Google Shape;944;p61"/>
          <p:cNvSpPr/>
          <p:nvPr/>
        </p:nvSpPr>
        <p:spPr>
          <a:xfrm>
            <a:off x="2853004" y="1817370"/>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945" name="Google Shape;945;p61"/>
          <p:cNvSpPr txBox="1"/>
          <p:nvPr/>
        </p:nvSpPr>
        <p:spPr>
          <a:xfrm>
            <a:off x="2949019" y="1872234"/>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02</a:t>
            </a:r>
            <a:endParaRPr sz="1100"/>
          </a:p>
        </p:txBody>
      </p:sp>
      <p:sp>
        <p:nvSpPr>
          <p:cNvPr id="946" name="Google Shape;946;p61"/>
          <p:cNvSpPr txBox="1"/>
          <p:nvPr/>
        </p:nvSpPr>
        <p:spPr>
          <a:xfrm>
            <a:off x="2949019" y="2023110"/>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Context is the program</a:t>
            </a:r>
            <a:endParaRPr sz="1100"/>
          </a:p>
        </p:txBody>
      </p:sp>
      <p:sp>
        <p:nvSpPr>
          <p:cNvPr id="947" name="Google Shape;947;p61"/>
          <p:cNvSpPr txBox="1"/>
          <p:nvPr/>
        </p:nvSpPr>
        <p:spPr>
          <a:xfrm>
            <a:off x="2949019" y="2379726"/>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What the model sees is what you sent. Garbage in, garbage out.</a:t>
            </a:r>
            <a:endParaRPr sz="1100"/>
          </a:p>
        </p:txBody>
      </p:sp>
      <p:sp>
        <p:nvSpPr>
          <p:cNvPr id="948" name="Google Shape;948;p61"/>
          <p:cNvSpPr/>
          <p:nvPr/>
        </p:nvSpPr>
        <p:spPr>
          <a:xfrm>
            <a:off x="4883026" y="1817370"/>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949" name="Google Shape;949;p61"/>
          <p:cNvSpPr txBox="1"/>
          <p:nvPr/>
        </p:nvSpPr>
        <p:spPr>
          <a:xfrm>
            <a:off x="4979041" y="1872234"/>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03</a:t>
            </a:r>
            <a:endParaRPr sz="1100"/>
          </a:p>
        </p:txBody>
      </p:sp>
      <p:sp>
        <p:nvSpPr>
          <p:cNvPr id="950" name="Google Shape;950;p61"/>
          <p:cNvSpPr txBox="1"/>
          <p:nvPr/>
        </p:nvSpPr>
        <p:spPr>
          <a:xfrm>
            <a:off x="4979041" y="2023110"/>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Sampling is random</a:t>
            </a:r>
            <a:endParaRPr sz="1100"/>
          </a:p>
        </p:txBody>
      </p:sp>
      <p:sp>
        <p:nvSpPr>
          <p:cNvPr id="951" name="Google Shape;951;p61"/>
          <p:cNvSpPr txBox="1"/>
          <p:nvPr/>
        </p:nvSpPr>
        <p:spPr>
          <a:xfrm>
            <a:off x="4979041" y="2379726"/>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Same prompt, different seeds → different outputs. Non-determinism is by design.</a:t>
            </a:r>
            <a:endParaRPr sz="1100"/>
          </a:p>
        </p:txBody>
      </p:sp>
      <p:sp>
        <p:nvSpPr>
          <p:cNvPr id="952" name="Google Shape;952;p61"/>
          <p:cNvSpPr/>
          <p:nvPr/>
        </p:nvSpPr>
        <p:spPr>
          <a:xfrm>
            <a:off x="6913048" y="1817370"/>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953" name="Google Shape;953;p61"/>
          <p:cNvSpPr txBox="1"/>
          <p:nvPr/>
        </p:nvSpPr>
        <p:spPr>
          <a:xfrm>
            <a:off x="7009063" y="1872234"/>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04</a:t>
            </a:r>
            <a:endParaRPr sz="1100"/>
          </a:p>
        </p:txBody>
      </p:sp>
      <p:sp>
        <p:nvSpPr>
          <p:cNvPr id="954" name="Google Shape;954;p61"/>
          <p:cNvSpPr txBox="1"/>
          <p:nvPr/>
        </p:nvSpPr>
        <p:spPr>
          <a:xfrm>
            <a:off x="7009063" y="2023110"/>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Temperature controls randomness</a:t>
            </a:r>
            <a:endParaRPr sz="1100"/>
          </a:p>
        </p:txBody>
      </p:sp>
      <p:sp>
        <p:nvSpPr>
          <p:cNvPr id="955" name="Google Shape;955;p61"/>
          <p:cNvSpPr txBox="1"/>
          <p:nvPr/>
        </p:nvSpPr>
        <p:spPr>
          <a:xfrm>
            <a:off x="7009038" y="2410589"/>
            <a:ext cx="1762500" cy="315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0 = greedy (deterministic); 1 = highly varied. Tune per task.</a:t>
            </a:r>
            <a:endParaRPr sz="1100"/>
          </a:p>
        </p:txBody>
      </p:sp>
      <p:sp>
        <p:nvSpPr>
          <p:cNvPr id="956" name="Google Shape;956;p61"/>
          <p:cNvSpPr/>
          <p:nvPr/>
        </p:nvSpPr>
        <p:spPr>
          <a:xfrm>
            <a:off x="822982" y="3072384"/>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957" name="Google Shape;957;p61"/>
          <p:cNvSpPr txBox="1"/>
          <p:nvPr/>
        </p:nvSpPr>
        <p:spPr>
          <a:xfrm>
            <a:off x="918996" y="3127248"/>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05</a:t>
            </a:r>
            <a:endParaRPr sz="1100"/>
          </a:p>
        </p:txBody>
      </p:sp>
      <p:sp>
        <p:nvSpPr>
          <p:cNvPr id="958" name="Google Shape;958;p61"/>
          <p:cNvSpPr txBox="1"/>
          <p:nvPr/>
        </p:nvSpPr>
        <p:spPr>
          <a:xfrm>
            <a:off x="918996" y="3278124"/>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Bigger ≠ always better</a:t>
            </a:r>
            <a:endParaRPr sz="1100"/>
          </a:p>
        </p:txBody>
      </p:sp>
      <p:sp>
        <p:nvSpPr>
          <p:cNvPr id="959" name="Google Shape;959;p61"/>
          <p:cNvSpPr txBox="1"/>
          <p:nvPr/>
        </p:nvSpPr>
        <p:spPr>
          <a:xfrm>
            <a:off x="918996" y="3634740"/>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Smaller, fine-tuned models often beat giants on narrow tasks at 10× lower cost.</a:t>
            </a:r>
            <a:endParaRPr sz="1100"/>
          </a:p>
        </p:txBody>
      </p:sp>
      <p:sp>
        <p:nvSpPr>
          <p:cNvPr id="960" name="Google Shape;960;p61"/>
          <p:cNvSpPr/>
          <p:nvPr/>
        </p:nvSpPr>
        <p:spPr>
          <a:xfrm>
            <a:off x="2853004" y="3072384"/>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961" name="Google Shape;961;p61"/>
          <p:cNvSpPr txBox="1"/>
          <p:nvPr/>
        </p:nvSpPr>
        <p:spPr>
          <a:xfrm>
            <a:off x="2949019" y="3127248"/>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06</a:t>
            </a:r>
            <a:endParaRPr sz="1100"/>
          </a:p>
        </p:txBody>
      </p:sp>
      <p:sp>
        <p:nvSpPr>
          <p:cNvPr id="962" name="Google Shape;962;p61"/>
          <p:cNvSpPr txBox="1"/>
          <p:nvPr/>
        </p:nvSpPr>
        <p:spPr>
          <a:xfrm>
            <a:off x="2949019" y="3278124"/>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Latency scales with tokens</a:t>
            </a:r>
            <a:endParaRPr sz="1100"/>
          </a:p>
        </p:txBody>
      </p:sp>
      <p:sp>
        <p:nvSpPr>
          <p:cNvPr id="963" name="Google Shape;963;p61"/>
          <p:cNvSpPr txBox="1"/>
          <p:nvPr/>
        </p:nvSpPr>
        <p:spPr>
          <a:xfrm>
            <a:off x="2949019" y="3634740"/>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Output token count drives time-to-complete. Cap max_tokens on extraction tasks.</a:t>
            </a:r>
            <a:endParaRPr sz="1100"/>
          </a:p>
        </p:txBody>
      </p:sp>
      <p:sp>
        <p:nvSpPr>
          <p:cNvPr id="964" name="Google Shape;964;p61"/>
          <p:cNvSpPr/>
          <p:nvPr/>
        </p:nvSpPr>
        <p:spPr>
          <a:xfrm>
            <a:off x="4883026" y="3072384"/>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965" name="Google Shape;965;p61"/>
          <p:cNvSpPr txBox="1"/>
          <p:nvPr/>
        </p:nvSpPr>
        <p:spPr>
          <a:xfrm>
            <a:off x="4979041" y="3127248"/>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07</a:t>
            </a:r>
            <a:endParaRPr sz="1100"/>
          </a:p>
        </p:txBody>
      </p:sp>
      <p:sp>
        <p:nvSpPr>
          <p:cNvPr id="966" name="Google Shape;966;p61"/>
          <p:cNvSpPr txBox="1"/>
          <p:nvPr/>
        </p:nvSpPr>
        <p:spPr>
          <a:xfrm>
            <a:off x="4979041" y="3278124"/>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Hallucination is a feature</a:t>
            </a:r>
            <a:endParaRPr sz="1100"/>
          </a:p>
        </p:txBody>
      </p:sp>
      <p:sp>
        <p:nvSpPr>
          <p:cNvPr id="967" name="Google Shape;967;p61"/>
          <p:cNvSpPr txBox="1"/>
          <p:nvPr/>
        </p:nvSpPr>
        <p:spPr>
          <a:xfrm>
            <a:off x="4979041" y="3634740"/>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Models are trained to produce plausible continuations — 'I don't know' must be explicitly permitted.</a:t>
            </a:r>
            <a:endParaRPr sz="1100"/>
          </a:p>
        </p:txBody>
      </p:sp>
      <p:sp>
        <p:nvSpPr>
          <p:cNvPr id="968" name="Google Shape;968;p61"/>
          <p:cNvSpPr/>
          <p:nvPr/>
        </p:nvSpPr>
        <p:spPr>
          <a:xfrm>
            <a:off x="6913048" y="3072384"/>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969" name="Google Shape;969;p61"/>
          <p:cNvSpPr txBox="1"/>
          <p:nvPr/>
        </p:nvSpPr>
        <p:spPr>
          <a:xfrm>
            <a:off x="7009063" y="3127248"/>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08</a:t>
            </a:r>
            <a:endParaRPr sz="1100"/>
          </a:p>
        </p:txBody>
      </p:sp>
      <p:sp>
        <p:nvSpPr>
          <p:cNvPr id="970" name="Google Shape;970;p61"/>
          <p:cNvSpPr txBox="1"/>
          <p:nvPr/>
        </p:nvSpPr>
        <p:spPr>
          <a:xfrm>
            <a:off x="7009063" y="3278124"/>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Evals beat vibes</a:t>
            </a:r>
            <a:endParaRPr sz="1100"/>
          </a:p>
        </p:txBody>
      </p:sp>
      <p:sp>
        <p:nvSpPr>
          <p:cNvPr id="971" name="Google Shape;971;p61"/>
          <p:cNvSpPr txBox="1"/>
          <p:nvPr/>
        </p:nvSpPr>
        <p:spPr>
          <a:xfrm>
            <a:off x="7009063" y="3634740"/>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You cannot feel quality regression. Measure it with ground-truth test sets.</a:t>
            </a:r>
            <a:endParaRPr sz="1100"/>
          </a:p>
        </p:txBody>
      </p:sp>
      <p:sp>
        <p:nvSpPr>
          <p:cNvPr id="972" name="Google Shape;972;p61"/>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62"/>
          <p:cNvSpPr/>
          <p:nvPr/>
        </p:nvSpPr>
        <p:spPr>
          <a:xfrm>
            <a:off x="0" y="0"/>
            <a:ext cx="9144000" cy="51435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78" name="Google Shape;978;p62"/>
          <p:cNvSpPr txBox="1"/>
          <p:nvPr/>
        </p:nvSpPr>
        <p:spPr>
          <a:xfrm>
            <a:off x="822982" y="192024"/>
            <a:ext cx="34290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GlobalLogic</a:t>
            </a:r>
            <a:endParaRPr sz="1100"/>
          </a:p>
        </p:txBody>
      </p:sp>
      <p:sp>
        <p:nvSpPr>
          <p:cNvPr id="979" name="Google Shape;979;p62"/>
          <p:cNvSpPr txBox="1"/>
          <p:nvPr/>
        </p:nvSpPr>
        <p:spPr>
          <a:xfrm>
            <a:off x="822982" y="370332"/>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980" name="Google Shape;980;p62"/>
          <p:cNvSpPr txBox="1"/>
          <p:nvPr/>
        </p:nvSpPr>
        <p:spPr>
          <a:xfrm>
            <a:off x="822982" y="562356"/>
            <a:ext cx="7887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 HOW LLMS WORK  ·  THE TRANSFORMER  ·  ORIGIN</a:t>
            </a:r>
            <a:endParaRPr sz="1100"/>
          </a:p>
        </p:txBody>
      </p:sp>
      <p:sp>
        <p:nvSpPr>
          <p:cNvPr id="981" name="Google Shape;981;p62"/>
          <p:cNvSpPr txBox="1"/>
          <p:nvPr/>
        </p:nvSpPr>
        <p:spPr>
          <a:xfrm>
            <a:off x="822982" y="754380"/>
            <a:ext cx="7887000" cy="330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700" u="none" cap="none" strike="noStrike">
                <a:solidFill>
                  <a:srgbClr val="1B1F2A"/>
                </a:solidFill>
                <a:latin typeface="Manrope"/>
                <a:ea typeface="Manrope"/>
                <a:cs typeface="Manrope"/>
                <a:sym typeface="Manrope"/>
              </a:rPr>
              <a:t>The Transformer — why it exists, what it is, and how it came to be.</a:t>
            </a:r>
            <a:endParaRPr sz="1100"/>
          </a:p>
        </p:txBody>
      </p:sp>
      <p:sp>
        <p:nvSpPr>
          <p:cNvPr id="982" name="Google Shape;982;p62"/>
          <p:cNvSpPr/>
          <p:nvPr/>
        </p:nvSpPr>
        <p:spPr>
          <a:xfrm>
            <a:off x="822982" y="1248156"/>
            <a:ext cx="3223200" cy="1522500"/>
          </a:xfrm>
          <a:prstGeom prst="rect">
            <a:avLst/>
          </a:prstGeom>
          <a:solidFill>
            <a:srgbClr val="F1F2F4"/>
          </a:solidFill>
          <a:ln cap="flat" cmpd="sng" w="10150">
            <a:solidFill>
              <a:srgbClr val="C9CFD8"/>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83" name="Google Shape;983;p62"/>
          <p:cNvSpPr/>
          <p:nvPr/>
        </p:nvSpPr>
        <p:spPr>
          <a:xfrm>
            <a:off x="822982" y="1248156"/>
            <a:ext cx="3223200" cy="246900"/>
          </a:xfrm>
          <a:prstGeom prst="rect">
            <a:avLst/>
          </a:prstGeom>
          <a:solidFill>
            <a:srgbClr val="384358"/>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84" name="Google Shape;984;p62"/>
          <p:cNvSpPr txBox="1"/>
          <p:nvPr/>
        </p:nvSpPr>
        <p:spPr>
          <a:xfrm>
            <a:off x="918996" y="1296162"/>
            <a:ext cx="3031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FFFF"/>
                </a:solidFill>
                <a:latin typeface="Courier New"/>
                <a:ea typeface="Courier New"/>
                <a:cs typeface="Courier New"/>
                <a:sym typeface="Courier New"/>
              </a:rPr>
              <a:t>THE PROBLEM — why RNNs had to go</a:t>
            </a:r>
            <a:endParaRPr sz="1100"/>
          </a:p>
        </p:txBody>
      </p:sp>
      <p:sp>
        <p:nvSpPr>
          <p:cNvPr id="985" name="Google Shape;985;p62"/>
          <p:cNvSpPr/>
          <p:nvPr/>
        </p:nvSpPr>
        <p:spPr>
          <a:xfrm>
            <a:off x="932713" y="1591056"/>
            <a:ext cx="34200" cy="356700"/>
          </a:xfrm>
          <a:prstGeom prst="rect">
            <a:avLst/>
          </a:prstGeom>
          <a:solidFill>
            <a:srgbClr val="384358"/>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86" name="Google Shape;986;p62"/>
          <p:cNvSpPr txBox="1"/>
          <p:nvPr/>
        </p:nvSpPr>
        <p:spPr>
          <a:xfrm>
            <a:off x="1015011" y="1563624"/>
            <a:ext cx="29352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1B1F2A"/>
                </a:solidFill>
                <a:latin typeface="Manrope"/>
                <a:ea typeface="Manrope"/>
                <a:cs typeface="Manrope"/>
                <a:sym typeface="Manrope"/>
              </a:rPr>
              <a:t>Sequential bottleneck</a:t>
            </a:r>
            <a:endParaRPr sz="1100"/>
          </a:p>
        </p:txBody>
      </p:sp>
      <p:sp>
        <p:nvSpPr>
          <p:cNvPr id="987" name="Google Shape;987;p62"/>
          <p:cNvSpPr txBox="1"/>
          <p:nvPr/>
        </p:nvSpPr>
        <p:spPr>
          <a:xfrm>
            <a:off x="1015011" y="1721358"/>
            <a:ext cx="2935200" cy="315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Processed one token at a time — token N waits for N-1. Training on 1 trillion tokens became a painful serial queue.</a:t>
            </a:r>
            <a:endParaRPr sz="1100"/>
          </a:p>
        </p:txBody>
      </p:sp>
      <p:sp>
        <p:nvSpPr>
          <p:cNvPr id="988" name="Google Shape;988;p62"/>
          <p:cNvSpPr/>
          <p:nvPr/>
        </p:nvSpPr>
        <p:spPr>
          <a:xfrm>
            <a:off x="932713" y="2043684"/>
            <a:ext cx="34200" cy="356700"/>
          </a:xfrm>
          <a:prstGeom prst="rect">
            <a:avLst/>
          </a:prstGeom>
          <a:solidFill>
            <a:srgbClr val="384358"/>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89" name="Google Shape;989;p62"/>
          <p:cNvSpPr txBox="1"/>
          <p:nvPr/>
        </p:nvSpPr>
        <p:spPr>
          <a:xfrm>
            <a:off x="1015011" y="2016252"/>
            <a:ext cx="29352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1B1F2A"/>
                </a:solidFill>
                <a:latin typeface="Manrope"/>
                <a:ea typeface="Manrope"/>
                <a:cs typeface="Manrope"/>
                <a:sym typeface="Manrope"/>
              </a:rPr>
              <a:t>Vanishing gradients</a:t>
            </a:r>
            <a:endParaRPr sz="1100"/>
          </a:p>
        </p:txBody>
      </p:sp>
      <p:sp>
        <p:nvSpPr>
          <p:cNvPr id="990" name="Google Shape;990;p62"/>
          <p:cNvSpPr txBox="1"/>
          <p:nvPr/>
        </p:nvSpPr>
        <p:spPr>
          <a:xfrm>
            <a:off x="1015011" y="2173986"/>
            <a:ext cx="2935200" cy="315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Error signals faded across hundreds of recurrent steps. Long-range dependencies effectively invisible.</a:t>
            </a:r>
            <a:endParaRPr sz="1100"/>
          </a:p>
        </p:txBody>
      </p:sp>
      <p:sp>
        <p:nvSpPr>
          <p:cNvPr id="991" name="Google Shape;991;p62"/>
          <p:cNvSpPr txBox="1"/>
          <p:nvPr/>
        </p:nvSpPr>
        <p:spPr>
          <a:xfrm>
            <a:off x="1015011" y="2468880"/>
            <a:ext cx="29352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1B1F2A"/>
                </a:solidFill>
                <a:latin typeface="Manrope"/>
                <a:ea typeface="Manrope"/>
                <a:cs typeface="Manrope"/>
                <a:sym typeface="Manrope"/>
              </a:rPr>
              <a:t>GPU parallelism wasted</a:t>
            </a:r>
            <a:endParaRPr sz="1100"/>
          </a:p>
        </p:txBody>
      </p:sp>
      <p:sp>
        <p:nvSpPr>
          <p:cNvPr id="992" name="Google Shape;992;p62"/>
          <p:cNvSpPr/>
          <p:nvPr/>
        </p:nvSpPr>
        <p:spPr>
          <a:xfrm>
            <a:off x="822975" y="4194504"/>
            <a:ext cx="8044500" cy="504900"/>
          </a:xfrm>
          <a:prstGeom prst="rect">
            <a:avLst/>
          </a:prstGeom>
          <a:solidFill>
            <a:srgbClr val="1B1F2A"/>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93" name="Google Shape;993;p62"/>
          <p:cNvSpPr txBox="1"/>
          <p:nvPr/>
        </p:nvSpPr>
        <p:spPr>
          <a:xfrm>
            <a:off x="932713" y="4242499"/>
            <a:ext cx="78525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FFFFFF"/>
                </a:solidFill>
                <a:latin typeface="Courier New"/>
                <a:ea typeface="Courier New"/>
                <a:cs typeface="Courier New"/>
                <a:sym typeface="Courier New"/>
              </a:rPr>
              <a:t>KEY INSIGHT:  The Transformer is the reason prompt engineering, context windows, RAG, and agents exist. Every concept in this training traces back to one 8-page paper — arXiv:1706.03762.</a:t>
            </a:r>
            <a:endParaRPr sz="1100"/>
          </a:p>
        </p:txBody>
      </p:sp>
      <p:sp>
        <p:nvSpPr>
          <p:cNvPr id="994" name="Google Shape;994;p62"/>
          <p:cNvSpPr txBox="1"/>
          <p:nvPr/>
        </p:nvSpPr>
        <p:spPr>
          <a:xfrm>
            <a:off x="822982" y="4869180"/>
            <a:ext cx="274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
        <p:nvSpPr>
          <p:cNvPr id="995" name="Google Shape;995;p62"/>
          <p:cNvSpPr txBox="1"/>
          <p:nvPr/>
        </p:nvSpPr>
        <p:spPr>
          <a:xfrm>
            <a:off x="6515274" y="4869180"/>
            <a:ext cx="1920300" cy="23850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t/>
            </a:r>
            <a:endParaRPr sz="1100"/>
          </a:p>
        </p:txBody>
      </p:sp>
      <p:sp>
        <p:nvSpPr>
          <p:cNvPr id="996" name="Google Shape;996;p62"/>
          <p:cNvSpPr/>
          <p:nvPr/>
        </p:nvSpPr>
        <p:spPr>
          <a:xfrm>
            <a:off x="4572000" y="1299752"/>
            <a:ext cx="3223200" cy="2757900"/>
          </a:xfrm>
          <a:prstGeom prst="rect">
            <a:avLst/>
          </a:prstGeom>
          <a:solidFill>
            <a:srgbClr val="FFECE0"/>
          </a:solidFill>
          <a:ln cap="flat" cmpd="sng" w="15225">
            <a:solidFill>
              <a:srgbClr val="FF671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97" name="Google Shape;997;p62"/>
          <p:cNvSpPr/>
          <p:nvPr/>
        </p:nvSpPr>
        <p:spPr>
          <a:xfrm>
            <a:off x="4572007" y="1299748"/>
            <a:ext cx="3223200" cy="2469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998" name="Google Shape;998;p62"/>
          <p:cNvSpPr txBox="1"/>
          <p:nvPr/>
        </p:nvSpPr>
        <p:spPr>
          <a:xfrm>
            <a:off x="4668021" y="1347754"/>
            <a:ext cx="3031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FFFF"/>
                </a:solidFill>
                <a:latin typeface="Courier New"/>
                <a:ea typeface="Courier New"/>
                <a:cs typeface="Courier New"/>
                <a:sym typeface="Courier New"/>
              </a:rPr>
              <a:t>THE SOLUTION — attention is all you need</a:t>
            </a:r>
            <a:endParaRPr sz="1100"/>
          </a:p>
        </p:txBody>
      </p:sp>
      <p:sp>
        <p:nvSpPr>
          <p:cNvPr id="999" name="Google Shape;999;p62"/>
          <p:cNvSpPr/>
          <p:nvPr/>
        </p:nvSpPr>
        <p:spPr>
          <a:xfrm>
            <a:off x="4681738" y="1668035"/>
            <a:ext cx="34200" cy="3567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00" name="Google Shape;1000;p62"/>
          <p:cNvSpPr txBox="1"/>
          <p:nvPr/>
        </p:nvSpPr>
        <p:spPr>
          <a:xfrm>
            <a:off x="4764036" y="1615215"/>
            <a:ext cx="29352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671F"/>
                </a:solidFill>
                <a:latin typeface="Manrope"/>
                <a:ea typeface="Manrope"/>
                <a:cs typeface="Manrope"/>
                <a:sym typeface="Manrope"/>
              </a:rPr>
              <a:t>What it IS</a:t>
            </a:r>
            <a:endParaRPr sz="1100"/>
          </a:p>
        </p:txBody>
      </p:sp>
      <p:sp>
        <p:nvSpPr>
          <p:cNvPr id="1001" name="Google Shape;1001;p62"/>
          <p:cNvSpPr txBox="1"/>
          <p:nvPr/>
        </p:nvSpPr>
        <p:spPr>
          <a:xfrm>
            <a:off x="4764036" y="1772950"/>
            <a:ext cx="2935200" cy="315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1B1F2A"/>
                </a:solidFill>
                <a:latin typeface="Manrope"/>
                <a:ea typeface="Manrope"/>
                <a:cs typeface="Manrope"/>
                <a:sym typeface="Manrope"/>
              </a:rPr>
              <a:t>A neural network replacing recurrence with self-attention — every token attends to every other in one parallel operation.</a:t>
            </a:r>
            <a:endParaRPr sz="1100"/>
          </a:p>
        </p:txBody>
      </p:sp>
      <p:sp>
        <p:nvSpPr>
          <p:cNvPr id="1002" name="Google Shape;1002;p62"/>
          <p:cNvSpPr/>
          <p:nvPr/>
        </p:nvSpPr>
        <p:spPr>
          <a:xfrm>
            <a:off x="4681738" y="2441454"/>
            <a:ext cx="34200" cy="356700"/>
          </a:xfrm>
          <a:prstGeom prst="rect">
            <a:avLst/>
          </a:prstGeom>
          <a:solidFill>
            <a:srgbClr val="2BB1A6"/>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03" name="Google Shape;1003;p62"/>
          <p:cNvSpPr txBox="1"/>
          <p:nvPr/>
        </p:nvSpPr>
        <p:spPr>
          <a:xfrm>
            <a:off x="4764036" y="2300899"/>
            <a:ext cx="29352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2BB1A6"/>
                </a:solidFill>
                <a:latin typeface="Manrope"/>
                <a:ea typeface="Manrope"/>
                <a:cs typeface="Manrope"/>
                <a:sym typeface="Manrope"/>
              </a:rPr>
              <a:t>The core insight</a:t>
            </a:r>
            <a:endParaRPr sz="1100"/>
          </a:p>
        </p:txBody>
      </p:sp>
      <p:sp>
        <p:nvSpPr>
          <p:cNvPr id="1004" name="Google Shape;1004;p62"/>
          <p:cNvSpPr txBox="1"/>
          <p:nvPr/>
        </p:nvSpPr>
        <p:spPr>
          <a:xfrm>
            <a:off x="4764036" y="2502500"/>
            <a:ext cx="2935200" cy="43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1B1F2A"/>
                </a:solidFill>
                <a:latin typeface="Manrope"/>
                <a:ea typeface="Manrope"/>
                <a:cs typeface="Manrope"/>
                <a:sym typeface="Manrope"/>
              </a:rPr>
              <a:t>Compute weighted relationships between ALL pairs of tokens simultaneously. Attention scores are learned from data, not hand-coded.</a:t>
            </a:r>
            <a:endParaRPr sz="1100"/>
          </a:p>
        </p:txBody>
      </p:sp>
      <p:sp>
        <p:nvSpPr>
          <p:cNvPr id="1005" name="Google Shape;1005;p62"/>
          <p:cNvSpPr/>
          <p:nvPr/>
        </p:nvSpPr>
        <p:spPr>
          <a:xfrm>
            <a:off x="4681738" y="3489046"/>
            <a:ext cx="34200" cy="356700"/>
          </a:xfrm>
          <a:prstGeom prst="rect">
            <a:avLst/>
          </a:prstGeom>
          <a:solidFill>
            <a:srgbClr val="7B5BD9"/>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06" name="Google Shape;1006;p62"/>
          <p:cNvSpPr txBox="1"/>
          <p:nvPr/>
        </p:nvSpPr>
        <p:spPr>
          <a:xfrm>
            <a:off x="4764036" y="3096251"/>
            <a:ext cx="29352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7B5BD9"/>
                </a:solidFill>
                <a:latin typeface="Manrope"/>
                <a:ea typeface="Manrope"/>
                <a:cs typeface="Manrope"/>
                <a:sym typeface="Manrope"/>
              </a:rPr>
              <a:t>Why it won</a:t>
            </a:r>
            <a:endParaRPr sz="1100"/>
          </a:p>
        </p:txBody>
      </p:sp>
      <p:sp>
        <p:nvSpPr>
          <p:cNvPr id="1007" name="Google Shape;1007;p62"/>
          <p:cNvSpPr txBox="1"/>
          <p:nvPr/>
        </p:nvSpPr>
        <p:spPr>
          <a:xfrm>
            <a:off x="4764036" y="3411438"/>
            <a:ext cx="2935200" cy="43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1B1F2A"/>
                </a:solidFill>
                <a:latin typeface="Manrope"/>
                <a:ea typeface="Manrope"/>
                <a:cs typeface="Manrope"/>
                <a:sym typeface="Manrope"/>
              </a:rPr>
              <a:t>Fully parallelisable on GPU. Handles any-length dependencies. Scales predictably — the three properties that unlocked this era.</a:t>
            </a:r>
            <a:endParaRPr sz="1100"/>
          </a:p>
        </p:txBody>
      </p:sp>
      <p:sp>
        <p:nvSpPr>
          <p:cNvPr id="1008" name="Google Shape;1008;p62"/>
          <p:cNvSpPr/>
          <p:nvPr/>
        </p:nvSpPr>
        <p:spPr>
          <a:xfrm>
            <a:off x="925900" y="3003737"/>
            <a:ext cx="34200" cy="356700"/>
          </a:xfrm>
          <a:prstGeom prst="rect">
            <a:avLst/>
          </a:prstGeom>
          <a:solidFill>
            <a:srgbClr val="384358"/>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09" name="Google Shape;1009;p62"/>
          <p:cNvSpPr txBox="1"/>
          <p:nvPr/>
        </p:nvSpPr>
        <p:spPr>
          <a:xfrm>
            <a:off x="1008199" y="3024370"/>
            <a:ext cx="2935200" cy="315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GPUs are built for massive parallel compute. Sequential RNNs left ~95% of hardware idle during training.</a:t>
            </a:r>
            <a:endParaRPr sz="11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3" name="Shape 1013"/>
        <p:cNvGrpSpPr/>
        <p:nvPr/>
      </p:nvGrpSpPr>
      <p:grpSpPr>
        <a:xfrm>
          <a:off x="0" y="0"/>
          <a:ext cx="0" cy="0"/>
          <a:chOff x="0" y="0"/>
          <a:chExt cx="0" cy="0"/>
        </a:xfrm>
      </p:grpSpPr>
      <p:sp>
        <p:nvSpPr>
          <p:cNvPr id="1014" name="Google Shape;1014;p63"/>
          <p:cNvSpPr/>
          <p:nvPr/>
        </p:nvSpPr>
        <p:spPr>
          <a:xfrm>
            <a:off x="0" y="0"/>
            <a:ext cx="9144000" cy="51435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15" name="Google Shape;1015;p63"/>
          <p:cNvSpPr/>
          <p:nvPr/>
        </p:nvSpPr>
        <p:spPr>
          <a:xfrm>
            <a:off x="1206868" y="1226219"/>
            <a:ext cx="7887000" cy="273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16" name="Google Shape;1016;p63"/>
          <p:cNvSpPr/>
          <p:nvPr/>
        </p:nvSpPr>
        <p:spPr>
          <a:xfrm>
            <a:off x="2554973" y="1390731"/>
            <a:ext cx="4732200" cy="973800"/>
          </a:xfrm>
          <a:prstGeom prst="rect">
            <a:avLst/>
          </a:prstGeom>
          <a:solidFill>
            <a:srgbClr val="1B1F2A"/>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17" name="Google Shape;1017;p63"/>
          <p:cNvSpPr/>
          <p:nvPr/>
        </p:nvSpPr>
        <p:spPr>
          <a:xfrm>
            <a:off x="2554973" y="1390731"/>
            <a:ext cx="4732200" cy="411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18" name="Google Shape;1018;p63"/>
          <p:cNvSpPr txBox="1"/>
          <p:nvPr/>
        </p:nvSpPr>
        <p:spPr>
          <a:xfrm>
            <a:off x="2692136" y="1486743"/>
            <a:ext cx="44577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000" u="none" cap="none" strike="noStrike">
                <a:solidFill>
                  <a:srgbClr val="FF671F"/>
                </a:solidFill>
                <a:latin typeface="Courier New"/>
                <a:ea typeface="Courier New"/>
                <a:cs typeface="Courier New"/>
                <a:sym typeface="Courier New"/>
              </a:rPr>
              <a:t>2017  ·  "ATTENTION IS ALL YOU NEED"</a:t>
            </a:r>
            <a:endParaRPr sz="1100"/>
          </a:p>
        </p:txBody>
      </p:sp>
      <p:sp>
        <p:nvSpPr>
          <p:cNvPr id="1019" name="Google Shape;1019;p63"/>
          <p:cNvSpPr txBox="1"/>
          <p:nvPr/>
        </p:nvSpPr>
        <p:spPr>
          <a:xfrm>
            <a:off x="2692136" y="1692483"/>
            <a:ext cx="4457700" cy="315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Vaswani, Shazeer, Parmar, Uszkoreit, Jones, Gomez, Kaiser &amp; Polosukhin  ·  Google Brain / Google Research</a:t>
            </a:r>
            <a:endParaRPr sz="1100"/>
          </a:p>
        </p:txBody>
      </p:sp>
      <p:sp>
        <p:nvSpPr>
          <p:cNvPr id="1020" name="Google Shape;1020;p63"/>
          <p:cNvSpPr txBox="1"/>
          <p:nvPr/>
        </p:nvSpPr>
        <p:spPr>
          <a:xfrm>
            <a:off x="2692136" y="2032546"/>
            <a:ext cx="4457700" cy="177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700" u="none" cap="none" strike="noStrike">
                <a:solidFill>
                  <a:srgbClr val="FFFFFF"/>
                </a:solidFill>
                <a:latin typeface="Manrope"/>
                <a:ea typeface="Manrope"/>
                <a:cs typeface="Manrope"/>
                <a:sym typeface="Manrope"/>
              </a:rPr>
              <a:t>8 researchers. 1 paper. The architecture under every modern LLM — submitted to arXiv on June 12, 2017.</a:t>
            </a:r>
            <a:endParaRPr sz="800"/>
          </a:p>
        </p:txBody>
      </p:sp>
      <p:sp>
        <p:nvSpPr>
          <p:cNvPr id="1021" name="Google Shape;1021;p63"/>
          <p:cNvSpPr txBox="1"/>
          <p:nvPr/>
        </p:nvSpPr>
        <p:spPr>
          <a:xfrm>
            <a:off x="2692136" y="2172542"/>
            <a:ext cx="44577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2BB1A6"/>
                </a:solidFill>
                <a:latin typeface="Courier New"/>
                <a:ea typeface="Courier New"/>
                <a:cs typeface="Courier New"/>
                <a:sym typeface="Courier New"/>
              </a:rPr>
              <a:t>65,000+ citations  ·  Most influential ML paper of the decade</a:t>
            </a:r>
            <a:endParaRPr sz="1100"/>
          </a:p>
        </p:txBody>
      </p:sp>
      <p:sp>
        <p:nvSpPr>
          <p:cNvPr id="1022" name="Google Shape;1022;p63"/>
          <p:cNvSpPr/>
          <p:nvPr/>
        </p:nvSpPr>
        <p:spPr>
          <a:xfrm>
            <a:off x="3172209" y="2625171"/>
            <a:ext cx="27300" cy="1858500"/>
          </a:xfrm>
          <a:prstGeom prst="rect">
            <a:avLst/>
          </a:prstGeom>
          <a:solidFill>
            <a:srgbClr val="C9CFD8"/>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23" name="Google Shape;1023;p63"/>
          <p:cNvSpPr/>
          <p:nvPr/>
        </p:nvSpPr>
        <p:spPr>
          <a:xfrm>
            <a:off x="2664704" y="2529159"/>
            <a:ext cx="425100" cy="1920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24" name="Google Shape;1024;p63"/>
          <p:cNvSpPr txBox="1"/>
          <p:nvPr/>
        </p:nvSpPr>
        <p:spPr>
          <a:xfrm>
            <a:off x="2664704" y="2529159"/>
            <a:ext cx="425100" cy="1923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800" u="none" cap="none" strike="noStrike">
                <a:solidFill>
                  <a:srgbClr val="FFFFFF"/>
                </a:solidFill>
                <a:latin typeface="Courier New"/>
                <a:ea typeface="Courier New"/>
                <a:cs typeface="Courier New"/>
                <a:sym typeface="Courier New"/>
              </a:rPr>
              <a:t>2017</a:t>
            </a:r>
            <a:endParaRPr sz="1100"/>
          </a:p>
        </p:txBody>
      </p:sp>
      <p:sp>
        <p:nvSpPr>
          <p:cNvPr id="1025" name="Google Shape;1025;p63"/>
          <p:cNvSpPr/>
          <p:nvPr/>
        </p:nvSpPr>
        <p:spPr>
          <a:xfrm>
            <a:off x="3124202" y="2563449"/>
            <a:ext cx="123300" cy="123300"/>
          </a:xfrm>
          <a:prstGeom prst="ellipse">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26" name="Google Shape;1026;p63"/>
          <p:cNvSpPr txBox="1"/>
          <p:nvPr/>
        </p:nvSpPr>
        <p:spPr>
          <a:xfrm>
            <a:off x="3281940" y="2501727"/>
            <a:ext cx="39093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671F"/>
                </a:solidFill>
                <a:latin typeface="Manrope"/>
                <a:ea typeface="Manrope"/>
                <a:cs typeface="Manrope"/>
                <a:sym typeface="Manrope"/>
              </a:rPr>
              <a:t>Transformer paper published</a:t>
            </a:r>
            <a:endParaRPr sz="1100"/>
          </a:p>
        </p:txBody>
      </p:sp>
      <p:sp>
        <p:nvSpPr>
          <p:cNvPr id="1027" name="Google Shape;1027;p63"/>
          <p:cNvSpPr txBox="1"/>
          <p:nvPr/>
        </p:nvSpPr>
        <p:spPr>
          <a:xfrm>
            <a:off x="3281940" y="2666319"/>
            <a:ext cx="3909300" cy="315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Self-attention beats every prior NLP model at fraction of compute. GPU training time: 12 hours vs weeks.</a:t>
            </a:r>
            <a:endParaRPr sz="1100"/>
          </a:p>
        </p:txBody>
      </p:sp>
      <p:sp>
        <p:nvSpPr>
          <p:cNvPr id="1028" name="Google Shape;1028;p63"/>
          <p:cNvSpPr/>
          <p:nvPr/>
        </p:nvSpPr>
        <p:spPr>
          <a:xfrm>
            <a:off x="2664704" y="2935152"/>
            <a:ext cx="425100" cy="192000"/>
          </a:xfrm>
          <a:prstGeom prst="rect">
            <a:avLst/>
          </a:prstGeom>
          <a:solidFill>
            <a:srgbClr val="2BB1A6"/>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29" name="Google Shape;1029;p63"/>
          <p:cNvSpPr txBox="1"/>
          <p:nvPr/>
        </p:nvSpPr>
        <p:spPr>
          <a:xfrm>
            <a:off x="2664704" y="2935152"/>
            <a:ext cx="425100" cy="1923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800" u="none" cap="none" strike="noStrike">
                <a:solidFill>
                  <a:srgbClr val="FFFFFF"/>
                </a:solidFill>
                <a:latin typeface="Courier New"/>
                <a:ea typeface="Courier New"/>
                <a:cs typeface="Courier New"/>
                <a:sym typeface="Courier New"/>
              </a:rPr>
              <a:t>2018</a:t>
            </a:r>
            <a:endParaRPr sz="1100"/>
          </a:p>
        </p:txBody>
      </p:sp>
      <p:sp>
        <p:nvSpPr>
          <p:cNvPr id="1030" name="Google Shape;1030;p63"/>
          <p:cNvSpPr/>
          <p:nvPr/>
        </p:nvSpPr>
        <p:spPr>
          <a:xfrm>
            <a:off x="3124202" y="2969442"/>
            <a:ext cx="123300" cy="123300"/>
          </a:xfrm>
          <a:prstGeom prst="ellipse">
            <a:avLst/>
          </a:prstGeom>
          <a:solidFill>
            <a:srgbClr val="2BB1A6"/>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31" name="Google Shape;1031;p63"/>
          <p:cNvSpPr txBox="1"/>
          <p:nvPr/>
        </p:nvSpPr>
        <p:spPr>
          <a:xfrm>
            <a:off x="3281940" y="2907720"/>
            <a:ext cx="39093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2BB1A6"/>
                </a:solidFill>
                <a:latin typeface="Manrope"/>
                <a:ea typeface="Manrope"/>
                <a:cs typeface="Manrope"/>
                <a:sym typeface="Manrope"/>
              </a:rPr>
              <a:t>BERT + GPT-1</a:t>
            </a:r>
            <a:endParaRPr sz="1100"/>
          </a:p>
        </p:txBody>
      </p:sp>
      <p:sp>
        <p:nvSpPr>
          <p:cNvPr id="1032" name="Google Shape;1032;p63"/>
          <p:cNvSpPr txBox="1"/>
          <p:nvPr/>
        </p:nvSpPr>
        <p:spPr>
          <a:xfrm>
            <a:off x="3281940" y="3072312"/>
            <a:ext cx="3909300" cy="315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Google's BERT (bidirectional, masked LM) and OpenAI's GPT-1 (117M params). The foundation model era begins.</a:t>
            </a:r>
            <a:endParaRPr sz="1100"/>
          </a:p>
        </p:txBody>
      </p:sp>
      <p:sp>
        <p:nvSpPr>
          <p:cNvPr id="1033" name="Google Shape;1033;p63"/>
          <p:cNvSpPr/>
          <p:nvPr/>
        </p:nvSpPr>
        <p:spPr>
          <a:xfrm>
            <a:off x="2664704" y="3341146"/>
            <a:ext cx="425100" cy="192000"/>
          </a:xfrm>
          <a:prstGeom prst="rect">
            <a:avLst/>
          </a:prstGeom>
          <a:solidFill>
            <a:srgbClr val="7B5BD9"/>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34" name="Google Shape;1034;p63"/>
          <p:cNvSpPr txBox="1"/>
          <p:nvPr/>
        </p:nvSpPr>
        <p:spPr>
          <a:xfrm>
            <a:off x="2664704" y="3341146"/>
            <a:ext cx="425100" cy="1923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800" u="none" cap="none" strike="noStrike">
                <a:solidFill>
                  <a:srgbClr val="FFFFFF"/>
                </a:solidFill>
                <a:latin typeface="Courier New"/>
                <a:ea typeface="Courier New"/>
                <a:cs typeface="Courier New"/>
                <a:sym typeface="Courier New"/>
              </a:rPr>
              <a:t>2020</a:t>
            </a:r>
            <a:endParaRPr sz="1100"/>
          </a:p>
        </p:txBody>
      </p:sp>
      <p:sp>
        <p:nvSpPr>
          <p:cNvPr id="1035" name="Google Shape;1035;p63"/>
          <p:cNvSpPr/>
          <p:nvPr/>
        </p:nvSpPr>
        <p:spPr>
          <a:xfrm>
            <a:off x="3124202" y="3375436"/>
            <a:ext cx="123300" cy="123300"/>
          </a:xfrm>
          <a:prstGeom prst="ellipse">
            <a:avLst/>
          </a:prstGeom>
          <a:solidFill>
            <a:srgbClr val="7B5BD9"/>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36" name="Google Shape;1036;p63"/>
          <p:cNvSpPr txBox="1"/>
          <p:nvPr/>
        </p:nvSpPr>
        <p:spPr>
          <a:xfrm>
            <a:off x="3281940" y="3313714"/>
            <a:ext cx="39093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7B5BD9"/>
                </a:solidFill>
                <a:latin typeface="Manrope"/>
                <a:ea typeface="Manrope"/>
                <a:cs typeface="Manrope"/>
                <a:sym typeface="Manrope"/>
              </a:rPr>
              <a:t>GPT-3 — scaling inflection</a:t>
            </a:r>
            <a:endParaRPr sz="1100"/>
          </a:p>
        </p:txBody>
      </p:sp>
      <p:sp>
        <p:nvSpPr>
          <p:cNvPr id="1037" name="Google Shape;1037;p63"/>
          <p:cNvSpPr txBox="1"/>
          <p:nvPr/>
        </p:nvSpPr>
        <p:spPr>
          <a:xfrm>
            <a:off x="3281940" y="3478306"/>
            <a:ext cx="3909300" cy="315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175B parameters. Scaling laws confirmed. In-context learning emerges. API era starts — AI becomes a service.</a:t>
            </a:r>
            <a:endParaRPr sz="1100"/>
          </a:p>
        </p:txBody>
      </p:sp>
      <p:sp>
        <p:nvSpPr>
          <p:cNvPr id="1038" name="Google Shape;1038;p63"/>
          <p:cNvSpPr/>
          <p:nvPr/>
        </p:nvSpPr>
        <p:spPr>
          <a:xfrm>
            <a:off x="2664704" y="3747139"/>
            <a:ext cx="425100" cy="192000"/>
          </a:xfrm>
          <a:prstGeom prst="rect">
            <a:avLst/>
          </a:prstGeom>
          <a:solidFill>
            <a:srgbClr val="F2A93B"/>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39" name="Google Shape;1039;p63"/>
          <p:cNvSpPr txBox="1"/>
          <p:nvPr/>
        </p:nvSpPr>
        <p:spPr>
          <a:xfrm>
            <a:off x="2664704" y="3747139"/>
            <a:ext cx="425100" cy="1923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800" u="none" cap="none" strike="noStrike">
                <a:solidFill>
                  <a:srgbClr val="FFFFFF"/>
                </a:solidFill>
                <a:latin typeface="Courier New"/>
                <a:ea typeface="Courier New"/>
                <a:cs typeface="Courier New"/>
                <a:sym typeface="Courier New"/>
              </a:rPr>
              <a:t>2022</a:t>
            </a:r>
            <a:endParaRPr sz="1100"/>
          </a:p>
        </p:txBody>
      </p:sp>
      <p:sp>
        <p:nvSpPr>
          <p:cNvPr id="1040" name="Google Shape;1040;p63"/>
          <p:cNvSpPr/>
          <p:nvPr/>
        </p:nvSpPr>
        <p:spPr>
          <a:xfrm>
            <a:off x="3124202" y="3781430"/>
            <a:ext cx="123300" cy="123300"/>
          </a:xfrm>
          <a:prstGeom prst="ellipse">
            <a:avLst/>
          </a:prstGeom>
          <a:solidFill>
            <a:srgbClr val="F2A93B"/>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41" name="Google Shape;1041;p63"/>
          <p:cNvSpPr txBox="1"/>
          <p:nvPr/>
        </p:nvSpPr>
        <p:spPr>
          <a:xfrm>
            <a:off x="3281940" y="3719707"/>
            <a:ext cx="39093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2A93B"/>
                </a:solidFill>
                <a:latin typeface="Manrope"/>
                <a:ea typeface="Manrope"/>
                <a:cs typeface="Manrope"/>
                <a:sym typeface="Manrope"/>
              </a:rPr>
              <a:t>ChatGPT — the product moment</a:t>
            </a:r>
            <a:endParaRPr sz="1100"/>
          </a:p>
        </p:txBody>
      </p:sp>
      <p:sp>
        <p:nvSpPr>
          <p:cNvPr id="1042" name="Google Shape;1042;p63"/>
          <p:cNvSpPr txBox="1"/>
          <p:nvPr/>
        </p:nvSpPr>
        <p:spPr>
          <a:xfrm>
            <a:off x="3281940" y="3884300"/>
            <a:ext cx="39093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RLHF + chat UI. 100M users in 60 days. Every company launches an AI strategy.</a:t>
            </a:r>
            <a:endParaRPr sz="1100"/>
          </a:p>
        </p:txBody>
      </p:sp>
      <p:sp>
        <p:nvSpPr>
          <p:cNvPr id="1043" name="Google Shape;1043;p63"/>
          <p:cNvSpPr/>
          <p:nvPr/>
        </p:nvSpPr>
        <p:spPr>
          <a:xfrm>
            <a:off x="2664704" y="4153133"/>
            <a:ext cx="425100" cy="192000"/>
          </a:xfrm>
          <a:prstGeom prst="rect">
            <a:avLst/>
          </a:prstGeom>
          <a:solidFill>
            <a:srgbClr val="384358"/>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44" name="Google Shape;1044;p63"/>
          <p:cNvSpPr txBox="1"/>
          <p:nvPr/>
        </p:nvSpPr>
        <p:spPr>
          <a:xfrm>
            <a:off x="2664704" y="4153133"/>
            <a:ext cx="425100" cy="3156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800" u="none" cap="none" strike="noStrike">
                <a:solidFill>
                  <a:srgbClr val="FFFFFF"/>
                </a:solidFill>
                <a:latin typeface="Courier New"/>
                <a:ea typeface="Courier New"/>
                <a:cs typeface="Courier New"/>
                <a:sym typeface="Courier New"/>
              </a:rPr>
              <a:t>2024+</a:t>
            </a:r>
            <a:endParaRPr sz="1100"/>
          </a:p>
        </p:txBody>
      </p:sp>
      <p:sp>
        <p:nvSpPr>
          <p:cNvPr id="1045" name="Google Shape;1045;p63"/>
          <p:cNvSpPr txBox="1"/>
          <p:nvPr/>
        </p:nvSpPr>
        <p:spPr>
          <a:xfrm>
            <a:off x="3281940" y="4125701"/>
            <a:ext cx="39093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384358"/>
                </a:solidFill>
                <a:latin typeface="Manrope"/>
                <a:ea typeface="Manrope"/>
                <a:cs typeface="Manrope"/>
                <a:sym typeface="Manrope"/>
              </a:rPr>
              <a:t>Agents, long context, multimodal</a:t>
            </a:r>
            <a:endParaRPr sz="1100"/>
          </a:p>
        </p:txBody>
      </p:sp>
      <p:sp>
        <p:nvSpPr>
          <p:cNvPr id="1046" name="Google Shape;1046;p63"/>
          <p:cNvSpPr txBox="1"/>
          <p:nvPr/>
        </p:nvSpPr>
        <p:spPr>
          <a:xfrm>
            <a:off x="3281940" y="4290293"/>
            <a:ext cx="3909300" cy="315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1M+ token windows, tool use, vision. Models that plan and act. The Transformer becomes the OS of enterprise AI.</a:t>
            </a:r>
            <a:endParaRPr sz="1100"/>
          </a:p>
        </p:txBody>
      </p:sp>
      <p:sp>
        <p:nvSpPr>
          <p:cNvPr id="1047" name="Google Shape;1047;p63"/>
          <p:cNvSpPr/>
          <p:nvPr/>
        </p:nvSpPr>
        <p:spPr>
          <a:xfrm>
            <a:off x="3124202" y="4187423"/>
            <a:ext cx="123300" cy="123300"/>
          </a:xfrm>
          <a:prstGeom prst="ellipse">
            <a:avLst/>
          </a:prstGeom>
          <a:solidFill>
            <a:srgbClr val="384358"/>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48" name="Google Shape;1048;p63"/>
          <p:cNvSpPr txBox="1"/>
          <p:nvPr/>
        </p:nvSpPr>
        <p:spPr>
          <a:xfrm>
            <a:off x="822982" y="192024"/>
            <a:ext cx="34290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GlobalLogic</a:t>
            </a:r>
            <a:endParaRPr sz="1100"/>
          </a:p>
        </p:txBody>
      </p:sp>
      <p:sp>
        <p:nvSpPr>
          <p:cNvPr id="1049" name="Google Shape;1049;p63"/>
          <p:cNvSpPr txBox="1"/>
          <p:nvPr/>
        </p:nvSpPr>
        <p:spPr>
          <a:xfrm>
            <a:off x="822982" y="370332"/>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1050" name="Google Shape;1050;p63"/>
          <p:cNvSpPr txBox="1"/>
          <p:nvPr/>
        </p:nvSpPr>
        <p:spPr>
          <a:xfrm>
            <a:off x="822982" y="562356"/>
            <a:ext cx="7887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 HOW LLMS WORK  ·  THE TRANSFORMER  ·  ORIGIN</a:t>
            </a:r>
            <a:endParaRPr sz="1100"/>
          </a:p>
        </p:txBody>
      </p:sp>
      <p:sp>
        <p:nvSpPr>
          <p:cNvPr id="1051" name="Google Shape;1051;p63"/>
          <p:cNvSpPr txBox="1"/>
          <p:nvPr/>
        </p:nvSpPr>
        <p:spPr>
          <a:xfrm>
            <a:off x="822982" y="754380"/>
            <a:ext cx="7887000" cy="330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700" u="none" cap="none" strike="noStrike">
                <a:solidFill>
                  <a:srgbClr val="1B1F2A"/>
                </a:solidFill>
                <a:latin typeface="Manrope"/>
                <a:ea typeface="Manrope"/>
                <a:cs typeface="Manrope"/>
                <a:sym typeface="Manrope"/>
              </a:rPr>
              <a:t>The Transformer — and how it came to be.</a:t>
            </a:r>
            <a:endParaRPr sz="11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5" name="Shape 1055"/>
        <p:cNvGrpSpPr/>
        <p:nvPr/>
      </p:nvGrpSpPr>
      <p:grpSpPr>
        <a:xfrm>
          <a:off x="0" y="0"/>
          <a:ext cx="0" cy="0"/>
          <a:chOff x="0" y="0"/>
          <a:chExt cx="0" cy="0"/>
        </a:xfrm>
      </p:grpSpPr>
      <p:sp>
        <p:nvSpPr>
          <p:cNvPr id="1056" name="Google Shape;1056;p64"/>
          <p:cNvSpPr/>
          <p:nvPr/>
        </p:nvSpPr>
        <p:spPr>
          <a:xfrm>
            <a:off x="0" y="0"/>
            <a:ext cx="9144000" cy="51435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57" name="Google Shape;1057;p64"/>
          <p:cNvSpPr txBox="1"/>
          <p:nvPr/>
        </p:nvSpPr>
        <p:spPr>
          <a:xfrm>
            <a:off x="822982" y="260604"/>
            <a:ext cx="3429091" cy="22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GlobalLogic</a:t>
            </a:r>
            <a:endParaRPr sz="1100"/>
          </a:p>
        </p:txBody>
      </p:sp>
      <p:sp>
        <p:nvSpPr>
          <p:cNvPr id="1058" name="Google Shape;1058;p64"/>
          <p:cNvSpPr txBox="1"/>
          <p:nvPr/>
        </p:nvSpPr>
        <p:spPr>
          <a:xfrm>
            <a:off x="822982" y="466344"/>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1059" name="Google Shape;1059;p64"/>
          <p:cNvSpPr txBox="1"/>
          <p:nvPr/>
        </p:nvSpPr>
        <p:spPr>
          <a:xfrm>
            <a:off x="822982" y="672084"/>
            <a:ext cx="7201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 HOW LLMS WORK  ·  THE TRANSFORMER  · </a:t>
            </a:r>
            <a:endParaRPr sz="1100"/>
          </a:p>
        </p:txBody>
      </p:sp>
      <p:sp>
        <p:nvSpPr>
          <p:cNvPr id="1060" name="Google Shape;1060;p64"/>
          <p:cNvSpPr txBox="1"/>
          <p:nvPr/>
        </p:nvSpPr>
        <p:spPr>
          <a:xfrm>
            <a:off x="822982" y="905256"/>
            <a:ext cx="7406837"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800" u="none" cap="none" strike="noStrike">
                <a:solidFill>
                  <a:srgbClr val="1B1F2A"/>
                </a:solidFill>
                <a:latin typeface="Manrope"/>
                <a:ea typeface="Manrope"/>
                <a:cs typeface="Manrope"/>
                <a:sym typeface="Manrope"/>
              </a:rPr>
              <a:t>What a Transformer actually does.</a:t>
            </a:r>
            <a:endParaRPr sz="1100"/>
          </a:p>
        </p:txBody>
      </p:sp>
      <p:sp>
        <p:nvSpPr>
          <p:cNvPr id="1061" name="Google Shape;1061;p64"/>
          <p:cNvSpPr txBox="1"/>
          <p:nvPr/>
        </p:nvSpPr>
        <p:spPr>
          <a:xfrm>
            <a:off x="822982" y="1234469"/>
            <a:ext cx="72012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8B95A6"/>
                </a:solidFill>
                <a:latin typeface="Manrope"/>
                <a:ea typeface="Manrope"/>
                <a:cs typeface="Manrope"/>
                <a:sym typeface="Manrope"/>
              </a:rPr>
              <a:t>The architecture under every modern LLM — and what it changed fundamentally.</a:t>
            </a:r>
            <a:endParaRPr sz="1100"/>
          </a:p>
        </p:txBody>
      </p:sp>
      <p:sp>
        <p:nvSpPr>
          <p:cNvPr id="1062" name="Google Shape;1062;p64"/>
          <p:cNvSpPr/>
          <p:nvPr/>
        </p:nvSpPr>
        <p:spPr>
          <a:xfrm>
            <a:off x="822982" y="1440180"/>
            <a:ext cx="7544001"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63" name="Google Shape;1063;p64"/>
          <p:cNvSpPr/>
          <p:nvPr/>
        </p:nvSpPr>
        <p:spPr>
          <a:xfrm>
            <a:off x="822982" y="1543050"/>
            <a:ext cx="3703419" cy="3099815"/>
          </a:xfrm>
          <a:prstGeom prst="rect">
            <a:avLst/>
          </a:prstGeom>
          <a:solidFill>
            <a:srgbClr val="F1F2F4"/>
          </a:solidFill>
          <a:ln cap="flat" cmpd="sng" w="12700">
            <a:solidFill>
              <a:srgbClr val="C9CF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64" name="Google Shape;1064;p64"/>
          <p:cNvSpPr/>
          <p:nvPr/>
        </p:nvSpPr>
        <p:spPr>
          <a:xfrm>
            <a:off x="822982" y="1543050"/>
            <a:ext cx="3703419" cy="329184"/>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65" name="Google Shape;1065;p64"/>
          <p:cNvSpPr txBox="1"/>
          <p:nvPr/>
        </p:nvSpPr>
        <p:spPr>
          <a:xfrm>
            <a:off x="946429" y="1611630"/>
            <a:ext cx="3456524" cy="2057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FFFF"/>
                </a:solidFill>
                <a:latin typeface="Courier New"/>
                <a:ea typeface="Courier New"/>
                <a:cs typeface="Courier New"/>
                <a:sym typeface="Courier New"/>
              </a:rPr>
              <a:t>BEFORE — Recurrent Neural Networks</a:t>
            </a:r>
            <a:endParaRPr sz="1100"/>
          </a:p>
        </p:txBody>
      </p:sp>
      <p:sp>
        <p:nvSpPr>
          <p:cNvPr id="1066" name="Google Shape;1066;p64"/>
          <p:cNvSpPr/>
          <p:nvPr/>
        </p:nvSpPr>
        <p:spPr>
          <a:xfrm>
            <a:off x="987578" y="2036826"/>
            <a:ext cx="534938" cy="356616"/>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47625" lIns="76200" spcFirstLastPara="1" rIns="76200" wrap="square" tIns="47625">
            <a:noAutofit/>
          </a:bodyPr>
          <a:lstStyle/>
          <a:p>
            <a:pPr indent="0" lvl="0" marL="0" marR="0" rtl="0" algn="ctr">
              <a:spcBef>
                <a:spcPts val="0"/>
              </a:spcBef>
              <a:spcAft>
                <a:spcPts val="0"/>
              </a:spcAft>
              <a:buNone/>
            </a:pPr>
            <a:r>
              <a:rPr b="1" i="0" lang="en-GB" sz="1000" u="none" cap="none" strike="noStrike">
                <a:solidFill>
                  <a:srgbClr val="FFFFFF"/>
                </a:solidFill>
                <a:latin typeface="Manrope"/>
                <a:ea typeface="Manrope"/>
                <a:cs typeface="Manrope"/>
                <a:sym typeface="Manrope"/>
              </a:rPr>
              <a:t>The</a:t>
            </a:r>
            <a:endParaRPr sz="1100"/>
          </a:p>
        </p:txBody>
      </p:sp>
      <p:sp>
        <p:nvSpPr>
          <p:cNvPr id="1067" name="Google Shape;1067;p64"/>
          <p:cNvSpPr/>
          <p:nvPr/>
        </p:nvSpPr>
        <p:spPr>
          <a:xfrm flipH="1">
            <a:off x="1527317" y="2180570"/>
            <a:ext cx="8915" cy="67894"/>
          </a:xfrm>
          <a:prstGeom prst="rect">
            <a:avLst/>
          </a:prstGeom>
          <a:solidFill>
            <a:srgbClr val="8B95A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68" name="Google Shape;1068;p64"/>
          <p:cNvSpPr/>
          <p:nvPr/>
        </p:nvSpPr>
        <p:spPr>
          <a:xfrm>
            <a:off x="1520459" y="2153412"/>
            <a:ext cx="104930" cy="123444"/>
          </a:xfrm>
          <a:prstGeom prst="roundRect">
            <a:avLst>
              <a:gd fmla="val 16667" name="adj"/>
            </a:avLst>
          </a:prstGeom>
          <a:solidFill>
            <a:srgbClr val="8B95A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69" name="Google Shape;1069;p64"/>
          <p:cNvSpPr/>
          <p:nvPr/>
        </p:nvSpPr>
        <p:spPr>
          <a:xfrm>
            <a:off x="1618531" y="2036826"/>
            <a:ext cx="534938" cy="356616"/>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47625" lIns="76200" spcFirstLastPara="1" rIns="76200" wrap="square" tIns="47625">
            <a:noAutofit/>
          </a:bodyPr>
          <a:lstStyle/>
          <a:p>
            <a:pPr indent="0" lvl="0" marL="0" marR="0" rtl="0" algn="ctr">
              <a:spcBef>
                <a:spcPts val="0"/>
              </a:spcBef>
              <a:spcAft>
                <a:spcPts val="0"/>
              </a:spcAft>
              <a:buNone/>
            </a:pPr>
            <a:r>
              <a:rPr b="1" i="0" lang="en-GB" sz="1000" u="none" cap="none" strike="noStrike">
                <a:solidFill>
                  <a:srgbClr val="FFFFFF"/>
                </a:solidFill>
                <a:latin typeface="Manrope"/>
                <a:ea typeface="Manrope"/>
                <a:cs typeface="Manrope"/>
                <a:sym typeface="Manrope"/>
              </a:rPr>
              <a:t>cat</a:t>
            </a:r>
            <a:endParaRPr sz="1100"/>
          </a:p>
        </p:txBody>
      </p:sp>
      <p:sp>
        <p:nvSpPr>
          <p:cNvPr id="1070" name="Google Shape;1070;p64"/>
          <p:cNvSpPr/>
          <p:nvPr/>
        </p:nvSpPr>
        <p:spPr>
          <a:xfrm flipH="1">
            <a:off x="2158270" y="2180570"/>
            <a:ext cx="8915" cy="67894"/>
          </a:xfrm>
          <a:prstGeom prst="rect">
            <a:avLst/>
          </a:prstGeom>
          <a:solidFill>
            <a:srgbClr val="8B95A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71" name="Google Shape;1071;p64"/>
          <p:cNvSpPr/>
          <p:nvPr/>
        </p:nvSpPr>
        <p:spPr>
          <a:xfrm>
            <a:off x="2151411" y="2153412"/>
            <a:ext cx="104930" cy="123444"/>
          </a:xfrm>
          <a:prstGeom prst="roundRect">
            <a:avLst>
              <a:gd fmla="val 16667" name="adj"/>
            </a:avLst>
          </a:prstGeom>
          <a:solidFill>
            <a:srgbClr val="8B95A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72" name="Google Shape;1072;p64"/>
          <p:cNvSpPr/>
          <p:nvPr/>
        </p:nvSpPr>
        <p:spPr>
          <a:xfrm>
            <a:off x="2249484" y="2036826"/>
            <a:ext cx="534938" cy="356616"/>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47625" lIns="76200" spcFirstLastPara="1" rIns="76200" wrap="square" tIns="47625">
            <a:noAutofit/>
          </a:bodyPr>
          <a:lstStyle/>
          <a:p>
            <a:pPr indent="0" lvl="0" marL="0" marR="0" rtl="0" algn="ctr">
              <a:spcBef>
                <a:spcPts val="0"/>
              </a:spcBef>
              <a:spcAft>
                <a:spcPts val="0"/>
              </a:spcAft>
              <a:buNone/>
            </a:pPr>
            <a:r>
              <a:rPr b="1" i="0" lang="en-GB" sz="1000" u="none" cap="none" strike="noStrike">
                <a:solidFill>
                  <a:srgbClr val="FFFFFF"/>
                </a:solidFill>
                <a:latin typeface="Manrope"/>
                <a:ea typeface="Manrope"/>
                <a:cs typeface="Manrope"/>
                <a:sym typeface="Manrope"/>
              </a:rPr>
              <a:t>sat</a:t>
            </a:r>
            <a:endParaRPr sz="1100"/>
          </a:p>
        </p:txBody>
      </p:sp>
      <p:sp>
        <p:nvSpPr>
          <p:cNvPr id="1073" name="Google Shape;1073;p64"/>
          <p:cNvSpPr/>
          <p:nvPr/>
        </p:nvSpPr>
        <p:spPr>
          <a:xfrm flipH="1">
            <a:off x="2789223" y="2180570"/>
            <a:ext cx="8915" cy="67894"/>
          </a:xfrm>
          <a:prstGeom prst="rect">
            <a:avLst/>
          </a:prstGeom>
          <a:solidFill>
            <a:srgbClr val="8B95A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74" name="Google Shape;1074;p64"/>
          <p:cNvSpPr/>
          <p:nvPr/>
        </p:nvSpPr>
        <p:spPr>
          <a:xfrm>
            <a:off x="2782364" y="2153412"/>
            <a:ext cx="104930" cy="123444"/>
          </a:xfrm>
          <a:prstGeom prst="roundRect">
            <a:avLst>
              <a:gd fmla="val 16667" name="adj"/>
            </a:avLst>
          </a:prstGeom>
          <a:solidFill>
            <a:srgbClr val="8B95A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75" name="Google Shape;1075;p64"/>
          <p:cNvSpPr/>
          <p:nvPr/>
        </p:nvSpPr>
        <p:spPr>
          <a:xfrm>
            <a:off x="2880437" y="2036826"/>
            <a:ext cx="534938" cy="356616"/>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47625" lIns="76200" spcFirstLastPara="1" rIns="76200" wrap="square" tIns="47625">
            <a:noAutofit/>
          </a:bodyPr>
          <a:lstStyle/>
          <a:p>
            <a:pPr indent="0" lvl="0" marL="0" marR="0" rtl="0" algn="ctr">
              <a:spcBef>
                <a:spcPts val="0"/>
              </a:spcBef>
              <a:spcAft>
                <a:spcPts val="0"/>
              </a:spcAft>
              <a:buNone/>
            </a:pPr>
            <a:r>
              <a:rPr b="1" i="0" lang="en-GB" sz="1000" u="none" cap="none" strike="noStrike">
                <a:solidFill>
                  <a:srgbClr val="FFFFFF"/>
                </a:solidFill>
                <a:latin typeface="Manrope"/>
                <a:ea typeface="Manrope"/>
                <a:cs typeface="Manrope"/>
                <a:sym typeface="Manrope"/>
              </a:rPr>
              <a:t>on</a:t>
            </a:r>
            <a:endParaRPr sz="1100"/>
          </a:p>
        </p:txBody>
      </p:sp>
      <p:sp>
        <p:nvSpPr>
          <p:cNvPr id="1076" name="Google Shape;1076;p64"/>
          <p:cNvSpPr/>
          <p:nvPr/>
        </p:nvSpPr>
        <p:spPr>
          <a:xfrm flipH="1">
            <a:off x="3420176" y="2180570"/>
            <a:ext cx="8915" cy="67894"/>
          </a:xfrm>
          <a:prstGeom prst="rect">
            <a:avLst/>
          </a:prstGeom>
          <a:solidFill>
            <a:srgbClr val="8B95A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77" name="Google Shape;1077;p64"/>
          <p:cNvSpPr/>
          <p:nvPr/>
        </p:nvSpPr>
        <p:spPr>
          <a:xfrm>
            <a:off x="3413317" y="2153412"/>
            <a:ext cx="104930" cy="123444"/>
          </a:xfrm>
          <a:prstGeom prst="roundRect">
            <a:avLst>
              <a:gd fmla="val 16667" name="adj"/>
            </a:avLst>
          </a:prstGeom>
          <a:solidFill>
            <a:srgbClr val="8B95A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78" name="Google Shape;1078;p64"/>
          <p:cNvSpPr/>
          <p:nvPr/>
        </p:nvSpPr>
        <p:spPr>
          <a:xfrm>
            <a:off x="3511390" y="2036826"/>
            <a:ext cx="534938" cy="356616"/>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47625" lIns="76200" spcFirstLastPara="1" rIns="76200" wrap="square" tIns="47625">
            <a:noAutofit/>
          </a:bodyPr>
          <a:lstStyle/>
          <a:p>
            <a:pPr indent="0" lvl="0" marL="0" marR="0" rtl="0" algn="ctr">
              <a:spcBef>
                <a:spcPts val="0"/>
              </a:spcBef>
              <a:spcAft>
                <a:spcPts val="0"/>
              </a:spcAft>
              <a:buNone/>
            </a:pPr>
            <a:r>
              <a:rPr b="1" i="0" lang="en-GB" sz="1000" u="none" cap="none" strike="noStrike">
                <a:solidFill>
                  <a:srgbClr val="FFFFFF"/>
                </a:solidFill>
                <a:latin typeface="Manrope"/>
                <a:ea typeface="Manrope"/>
                <a:cs typeface="Manrope"/>
                <a:sym typeface="Manrope"/>
              </a:rPr>
              <a:t>mat</a:t>
            </a:r>
            <a:endParaRPr sz="1100"/>
          </a:p>
        </p:txBody>
      </p:sp>
      <p:sp>
        <p:nvSpPr>
          <p:cNvPr id="1079" name="Google Shape;1079;p64"/>
          <p:cNvSpPr txBox="1"/>
          <p:nvPr/>
        </p:nvSpPr>
        <p:spPr>
          <a:xfrm>
            <a:off x="973862" y="2482596"/>
            <a:ext cx="3401659" cy="19202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000" u="none" cap="none" strike="noStrike">
                <a:solidFill>
                  <a:srgbClr val="1B1F2A"/>
                </a:solidFill>
                <a:latin typeface="Manrope"/>
                <a:ea typeface="Manrope"/>
                <a:cs typeface="Manrope"/>
                <a:sym typeface="Manrope"/>
              </a:rPr>
              <a:t>→  Processed one token at a time</a:t>
            </a:r>
            <a:endParaRPr sz="1100"/>
          </a:p>
        </p:txBody>
      </p:sp>
      <p:sp>
        <p:nvSpPr>
          <p:cNvPr id="1080" name="Google Shape;1080;p64"/>
          <p:cNvSpPr/>
          <p:nvPr/>
        </p:nvSpPr>
        <p:spPr>
          <a:xfrm>
            <a:off x="973862" y="2777490"/>
            <a:ext cx="27433" cy="534924"/>
          </a:xfrm>
          <a:prstGeom prst="rect">
            <a:avLst/>
          </a:prstGeom>
          <a:solidFill>
            <a:srgbClr val="8B95A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81" name="Google Shape;1081;p64"/>
          <p:cNvSpPr txBox="1"/>
          <p:nvPr/>
        </p:nvSpPr>
        <p:spPr>
          <a:xfrm>
            <a:off x="1069877" y="2777490"/>
            <a:ext cx="3305644" cy="19202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000" u="none" cap="none" strike="noStrike">
                <a:solidFill>
                  <a:srgbClr val="1B1F2A"/>
                </a:solidFill>
                <a:latin typeface="Manrope"/>
                <a:ea typeface="Manrope"/>
                <a:cs typeface="Manrope"/>
                <a:sym typeface="Manrope"/>
              </a:rPr>
              <a:t>✗  Cannot parallelise during training</a:t>
            </a:r>
            <a:endParaRPr sz="1100"/>
          </a:p>
        </p:txBody>
      </p:sp>
      <p:sp>
        <p:nvSpPr>
          <p:cNvPr id="1082" name="Google Shape;1082;p64"/>
          <p:cNvSpPr txBox="1"/>
          <p:nvPr/>
        </p:nvSpPr>
        <p:spPr>
          <a:xfrm>
            <a:off x="1069877" y="2969514"/>
            <a:ext cx="3305644" cy="32918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8B95A6"/>
                </a:solidFill>
                <a:latin typeface="Manrope"/>
                <a:ea typeface="Manrope"/>
                <a:cs typeface="Manrope"/>
                <a:sym typeface="Manrope"/>
              </a:rPr>
              <a:t>Each token depends on the previous one. Training on 1 trillion tokens becomes a serial bottleneck.</a:t>
            </a:r>
            <a:endParaRPr sz="1100"/>
          </a:p>
        </p:txBody>
      </p:sp>
      <p:sp>
        <p:nvSpPr>
          <p:cNvPr id="1083" name="Google Shape;1083;p64"/>
          <p:cNvSpPr/>
          <p:nvPr/>
        </p:nvSpPr>
        <p:spPr>
          <a:xfrm>
            <a:off x="973862" y="3394710"/>
            <a:ext cx="27433" cy="534924"/>
          </a:xfrm>
          <a:prstGeom prst="rect">
            <a:avLst/>
          </a:prstGeom>
          <a:solidFill>
            <a:srgbClr val="8B95A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84" name="Google Shape;1084;p64"/>
          <p:cNvSpPr txBox="1"/>
          <p:nvPr/>
        </p:nvSpPr>
        <p:spPr>
          <a:xfrm>
            <a:off x="1069877" y="3394710"/>
            <a:ext cx="3305644" cy="19202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000" u="none" cap="none" strike="noStrike">
                <a:solidFill>
                  <a:srgbClr val="1B1F2A"/>
                </a:solidFill>
                <a:latin typeface="Manrope"/>
                <a:ea typeface="Manrope"/>
                <a:cs typeface="Manrope"/>
                <a:sym typeface="Manrope"/>
              </a:rPr>
              <a:t>✗  Forgets distant context</a:t>
            </a:r>
            <a:endParaRPr sz="1100"/>
          </a:p>
        </p:txBody>
      </p:sp>
      <p:sp>
        <p:nvSpPr>
          <p:cNvPr id="1085" name="Google Shape;1085;p64"/>
          <p:cNvSpPr txBox="1"/>
          <p:nvPr/>
        </p:nvSpPr>
        <p:spPr>
          <a:xfrm>
            <a:off x="1069877" y="3586734"/>
            <a:ext cx="3305644" cy="32918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8B95A6"/>
                </a:solidFill>
                <a:latin typeface="Manrope"/>
                <a:ea typeface="Manrope"/>
                <a:cs typeface="Manrope"/>
                <a:sym typeface="Manrope"/>
              </a:rPr>
              <a:t>Information from early tokens dilutes through many recurrent steps. 'The cat … sat' loses 'cat' by the time it processes the verb.</a:t>
            </a:r>
            <a:endParaRPr sz="1100"/>
          </a:p>
        </p:txBody>
      </p:sp>
      <p:sp>
        <p:nvSpPr>
          <p:cNvPr id="1086" name="Google Shape;1086;p64"/>
          <p:cNvSpPr/>
          <p:nvPr/>
        </p:nvSpPr>
        <p:spPr>
          <a:xfrm>
            <a:off x="973862" y="4011930"/>
            <a:ext cx="27433" cy="534924"/>
          </a:xfrm>
          <a:prstGeom prst="rect">
            <a:avLst/>
          </a:prstGeom>
          <a:solidFill>
            <a:srgbClr val="8B95A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87" name="Google Shape;1087;p64"/>
          <p:cNvSpPr txBox="1"/>
          <p:nvPr/>
        </p:nvSpPr>
        <p:spPr>
          <a:xfrm>
            <a:off x="1069877" y="4011930"/>
            <a:ext cx="3305644" cy="19202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000" u="none" cap="none" strike="noStrike">
                <a:solidFill>
                  <a:srgbClr val="1B1F2A"/>
                </a:solidFill>
                <a:latin typeface="Manrope"/>
                <a:ea typeface="Manrope"/>
                <a:cs typeface="Manrope"/>
                <a:sym typeface="Manrope"/>
              </a:rPr>
              <a:t>✗  Cannot attend selectively</a:t>
            </a:r>
            <a:endParaRPr sz="1100"/>
          </a:p>
        </p:txBody>
      </p:sp>
      <p:sp>
        <p:nvSpPr>
          <p:cNvPr id="1088" name="Google Shape;1088;p64"/>
          <p:cNvSpPr txBox="1"/>
          <p:nvPr/>
        </p:nvSpPr>
        <p:spPr>
          <a:xfrm>
            <a:off x="1069877" y="4203954"/>
            <a:ext cx="3305644" cy="32918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8B95A6"/>
                </a:solidFill>
                <a:latin typeface="Manrope"/>
                <a:ea typeface="Manrope"/>
                <a:cs typeface="Manrope"/>
                <a:sym typeface="Manrope"/>
              </a:rPr>
              <a:t>Every token is weighted equally unless complex gating mechanisms (LSTM/GRU) are added on top.</a:t>
            </a:r>
            <a:endParaRPr sz="1100"/>
          </a:p>
        </p:txBody>
      </p:sp>
      <p:sp>
        <p:nvSpPr>
          <p:cNvPr id="1089" name="Google Shape;1089;p64"/>
          <p:cNvSpPr/>
          <p:nvPr/>
        </p:nvSpPr>
        <p:spPr>
          <a:xfrm>
            <a:off x="4718430" y="1543050"/>
            <a:ext cx="3621121" cy="3099815"/>
          </a:xfrm>
          <a:prstGeom prst="rect">
            <a:avLst/>
          </a:prstGeom>
          <a:solidFill>
            <a:srgbClr val="FFECE0"/>
          </a:solidFill>
          <a:ln cap="flat" cmpd="sng" w="19050">
            <a:solidFill>
              <a:srgbClr val="FF671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90" name="Google Shape;1090;p64"/>
          <p:cNvSpPr/>
          <p:nvPr/>
        </p:nvSpPr>
        <p:spPr>
          <a:xfrm>
            <a:off x="4718430" y="1543050"/>
            <a:ext cx="3621121" cy="329184"/>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91" name="Google Shape;1091;p64"/>
          <p:cNvSpPr txBox="1"/>
          <p:nvPr/>
        </p:nvSpPr>
        <p:spPr>
          <a:xfrm>
            <a:off x="4841877" y="1611630"/>
            <a:ext cx="3374226" cy="2057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FFFF"/>
                </a:solidFill>
                <a:latin typeface="Courier New"/>
                <a:ea typeface="Courier New"/>
                <a:cs typeface="Courier New"/>
                <a:sym typeface="Courier New"/>
              </a:rPr>
              <a:t>NOW — The Transformer</a:t>
            </a:r>
            <a:endParaRPr sz="1100"/>
          </a:p>
        </p:txBody>
      </p:sp>
      <p:sp>
        <p:nvSpPr>
          <p:cNvPr id="1092" name="Google Shape;1092;p64"/>
          <p:cNvSpPr/>
          <p:nvPr/>
        </p:nvSpPr>
        <p:spPr>
          <a:xfrm>
            <a:off x="4883026" y="2036826"/>
            <a:ext cx="534938" cy="356616"/>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47625" lIns="76200" spcFirstLastPara="1" rIns="76200" wrap="square" tIns="47625">
            <a:noAutofit/>
          </a:bodyPr>
          <a:lstStyle/>
          <a:p>
            <a:pPr indent="0" lvl="0" marL="0" marR="0" rtl="0" algn="ctr">
              <a:spcBef>
                <a:spcPts val="0"/>
              </a:spcBef>
              <a:spcAft>
                <a:spcPts val="0"/>
              </a:spcAft>
              <a:buNone/>
            </a:pPr>
            <a:r>
              <a:rPr b="1" i="0" lang="en-GB" sz="1000" u="none" cap="none" strike="noStrike">
                <a:solidFill>
                  <a:srgbClr val="FFFFFF"/>
                </a:solidFill>
                <a:latin typeface="Manrope"/>
                <a:ea typeface="Manrope"/>
                <a:cs typeface="Manrope"/>
                <a:sym typeface="Manrope"/>
              </a:rPr>
              <a:t>The</a:t>
            </a:r>
            <a:endParaRPr sz="1100"/>
          </a:p>
        </p:txBody>
      </p:sp>
      <p:sp>
        <p:nvSpPr>
          <p:cNvPr id="1093" name="Google Shape;1093;p64"/>
          <p:cNvSpPr/>
          <p:nvPr/>
        </p:nvSpPr>
        <p:spPr>
          <a:xfrm>
            <a:off x="5513979" y="2036826"/>
            <a:ext cx="534938" cy="356616"/>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47625" lIns="76200" spcFirstLastPara="1" rIns="76200" wrap="square" tIns="47625">
            <a:noAutofit/>
          </a:bodyPr>
          <a:lstStyle/>
          <a:p>
            <a:pPr indent="0" lvl="0" marL="0" marR="0" rtl="0" algn="ctr">
              <a:spcBef>
                <a:spcPts val="0"/>
              </a:spcBef>
              <a:spcAft>
                <a:spcPts val="0"/>
              </a:spcAft>
              <a:buNone/>
            </a:pPr>
            <a:r>
              <a:rPr b="1" i="0" lang="en-GB" sz="1000" u="none" cap="none" strike="noStrike">
                <a:solidFill>
                  <a:srgbClr val="FFFFFF"/>
                </a:solidFill>
                <a:latin typeface="Manrope"/>
                <a:ea typeface="Manrope"/>
                <a:cs typeface="Manrope"/>
                <a:sym typeface="Manrope"/>
              </a:rPr>
              <a:t>cat</a:t>
            </a:r>
            <a:endParaRPr sz="1100"/>
          </a:p>
        </p:txBody>
      </p:sp>
      <p:sp>
        <p:nvSpPr>
          <p:cNvPr id="1094" name="Google Shape;1094;p64"/>
          <p:cNvSpPr/>
          <p:nvPr/>
        </p:nvSpPr>
        <p:spPr>
          <a:xfrm>
            <a:off x="6144932" y="2036826"/>
            <a:ext cx="534938" cy="356616"/>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47625" lIns="76200" spcFirstLastPara="1" rIns="76200" wrap="square" tIns="47625">
            <a:noAutofit/>
          </a:bodyPr>
          <a:lstStyle/>
          <a:p>
            <a:pPr indent="0" lvl="0" marL="0" marR="0" rtl="0" algn="ctr">
              <a:spcBef>
                <a:spcPts val="0"/>
              </a:spcBef>
              <a:spcAft>
                <a:spcPts val="0"/>
              </a:spcAft>
              <a:buNone/>
            </a:pPr>
            <a:r>
              <a:rPr b="1" i="0" lang="en-GB" sz="1000" u="none" cap="none" strike="noStrike">
                <a:solidFill>
                  <a:srgbClr val="FFFFFF"/>
                </a:solidFill>
                <a:latin typeface="Manrope"/>
                <a:ea typeface="Manrope"/>
                <a:cs typeface="Manrope"/>
                <a:sym typeface="Manrope"/>
              </a:rPr>
              <a:t>sat</a:t>
            </a:r>
            <a:endParaRPr sz="1100"/>
          </a:p>
        </p:txBody>
      </p:sp>
      <p:sp>
        <p:nvSpPr>
          <p:cNvPr id="1095" name="Google Shape;1095;p64"/>
          <p:cNvSpPr/>
          <p:nvPr/>
        </p:nvSpPr>
        <p:spPr>
          <a:xfrm>
            <a:off x="6775885" y="2036826"/>
            <a:ext cx="534938" cy="356616"/>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47625" lIns="76200" spcFirstLastPara="1" rIns="76200" wrap="square" tIns="47625">
            <a:noAutofit/>
          </a:bodyPr>
          <a:lstStyle/>
          <a:p>
            <a:pPr indent="0" lvl="0" marL="0" marR="0" rtl="0" algn="ctr">
              <a:spcBef>
                <a:spcPts val="0"/>
              </a:spcBef>
              <a:spcAft>
                <a:spcPts val="0"/>
              </a:spcAft>
              <a:buNone/>
            </a:pPr>
            <a:r>
              <a:rPr b="1" i="0" lang="en-GB" sz="1000" u="none" cap="none" strike="noStrike">
                <a:solidFill>
                  <a:srgbClr val="FFFFFF"/>
                </a:solidFill>
                <a:latin typeface="Manrope"/>
                <a:ea typeface="Manrope"/>
                <a:cs typeface="Manrope"/>
                <a:sym typeface="Manrope"/>
              </a:rPr>
              <a:t>on</a:t>
            </a:r>
            <a:endParaRPr sz="1100"/>
          </a:p>
        </p:txBody>
      </p:sp>
      <p:sp>
        <p:nvSpPr>
          <p:cNvPr id="1096" name="Google Shape;1096;p64"/>
          <p:cNvSpPr/>
          <p:nvPr/>
        </p:nvSpPr>
        <p:spPr>
          <a:xfrm>
            <a:off x="7406837" y="2036826"/>
            <a:ext cx="534938" cy="356616"/>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47625" lIns="76200" spcFirstLastPara="1" rIns="76200" wrap="square" tIns="47625">
            <a:noAutofit/>
          </a:bodyPr>
          <a:lstStyle/>
          <a:p>
            <a:pPr indent="0" lvl="0" marL="0" marR="0" rtl="0" algn="ctr">
              <a:spcBef>
                <a:spcPts val="0"/>
              </a:spcBef>
              <a:spcAft>
                <a:spcPts val="0"/>
              </a:spcAft>
              <a:buNone/>
            </a:pPr>
            <a:r>
              <a:rPr b="1" i="0" lang="en-GB" sz="1000" u="none" cap="none" strike="noStrike">
                <a:solidFill>
                  <a:srgbClr val="FFFFFF"/>
                </a:solidFill>
                <a:latin typeface="Manrope"/>
                <a:ea typeface="Manrope"/>
                <a:cs typeface="Manrope"/>
                <a:sym typeface="Manrope"/>
              </a:rPr>
              <a:t>mat</a:t>
            </a:r>
            <a:endParaRPr sz="1100"/>
          </a:p>
        </p:txBody>
      </p:sp>
      <p:sp>
        <p:nvSpPr>
          <p:cNvPr id="1097" name="Google Shape;1097;p64"/>
          <p:cNvSpPr/>
          <p:nvPr/>
        </p:nvSpPr>
        <p:spPr>
          <a:xfrm>
            <a:off x="5150495" y="2448306"/>
            <a:ext cx="630953" cy="20574"/>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98" name="Google Shape;1098;p64"/>
          <p:cNvSpPr/>
          <p:nvPr/>
        </p:nvSpPr>
        <p:spPr>
          <a:xfrm>
            <a:off x="5150495" y="2448306"/>
            <a:ext cx="630953" cy="20574"/>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099" name="Google Shape;1099;p64"/>
          <p:cNvSpPr/>
          <p:nvPr/>
        </p:nvSpPr>
        <p:spPr>
          <a:xfrm>
            <a:off x="5781448" y="2448306"/>
            <a:ext cx="630953" cy="20574"/>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00" name="Google Shape;1100;p64"/>
          <p:cNvSpPr/>
          <p:nvPr/>
        </p:nvSpPr>
        <p:spPr>
          <a:xfrm>
            <a:off x="5781448" y="2448306"/>
            <a:ext cx="630953" cy="20574"/>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01" name="Google Shape;1101;p64"/>
          <p:cNvSpPr/>
          <p:nvPr/>
        </p:nvSpPr>
        <p:spPr>
          <a:xfrm>
            <a:off x="6412401" y="2448306"/>
            <a:ext cx="630953" cy="20574"/>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02" name="Google Shape;1102;p64"/>
          <p:cNvSpPr/>
          <p:nvPr/>
        </p:nvSpPr>
        <p:spPr>
          <a:xfrm>
            <a:off x="6412401" y="2448306"/>
            <a:ext cx="630953" cy="20574"/>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03" name="Google Shape;1103;p64"/>
          <p:cNvSpPr/>
          <p:nvPr/>
        </p:nvSpPr>
        <p:spPr>
          <a:xfrm>
            <a:off x="7043354" y="2448306"/>
            <a:ext cx="630953" cy="20574"/>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04" name="Google Shape;1104;p64"/>
          <p:cNvSpPr/>
          <p:nvPr/>
        </p:nvSpPr>
        <p:spPr>
          <a:xfrm>
            <a:off x="7043354" y="2448306"/>
            <a:ext cx="630953" cy="20574"/>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05" name="Google Shape;1105;p64"/>
          <p:cNvSpPr txBox="1"/>
          <p:nvPr/>
        </p:nvSpPr>
        <p:spPr>
          <a:xfrm>
            <a:off x="4869310" y="2482596"/>
            <a:ext cx="3319360" cy="19202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000" u="none" cap="none" strike="noStrike">
                <a:solidFill>
                  <a:srgbClr val="1B1F2A"/>
                </a:solidFill>
                <a:latin typeface="Manrope"/>
                <a:ea typeface="Manrope"/>
                <a:cs typeface="Manrope"/>
                <a:sym typeface="Manrope"/>
              </a:rPr>
              <a:t>→  ALL tokens processed simultaneously</a:t>
            </a:r>
            <a:endParaRPr sz="1100"/>
          </a:p>
        </p:txBody>
      </p:sp>
      <p:sp>
        <p:nvSpPr>
          <p:cNvPr id="1106" name="Google Shape;1106;p64"/>
          <p:cNvSpPr/>
          <p:nvPr/>
        </p:nvSpPr>
        <p:spPr>
          <a:xfrm>
            <a:off x="4869310" y="2777490"/>
            <a:ext cx="27433" cy="534924"/>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07" name="Google Shape;1107;p64"/>
          <p:cNvSpPr txBox="1"/>
          <p:nvPr/>
        </p:nvSpPr>
        <p:spPr>
          <a:xfrm>
            <a:off x="4965324" y="2777490"/>
            <a:ext cx="32232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000" u="none" cap="none" strike="noStrike">
                <a:solidFill>
                  <a:srgbClr val="1B1F2A"/>
                </a:solidFill>
                <a:latin typeface="Manrope"/>
                <a:ea typeface="Manrope"/>
                <a:cs typeface="Manrope"/>
                <a:sym typeface="Manrope"/>
              </a:rPr>
              <a:t>✓  Fully </a:t>
            </a:r>
            <a:r>
              <a:rPr b="1" lang="en-GB" sz="1000">
                <a:solidFill>
                  <a:srgbClr val="1B1F2A"/>
                </a:solidFill>
                <a:latin typeface="Manrope"/>
                <a:ea typeface="Manrope"/>
                <a:cs typeface="Manrope"/>
                <a:sym typeface="Manrope"/>
              </a:rPr>
              <a:t>parallelizable</a:t>
            </a:r>
            <a:endParaRPr sz="1100"/>
          </a:p>
        </p:txBody>
      </p:sp>
      <p:sp>
        <p:nvSpPr>
          <p:cNvPr id="1108" name="Google Shape;1108;p64"/>
          <p:cNvSpPr txBox="1"/>
          <p:nvPr/>
        </p:nvSpPr>
        <p:spPr>
          <a:xfrm>
            <a:off x="4965324" y="2969514"/>
            <a:ext cx="3223346" cy="32918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8B95A6"/>
                </a:solidFill>
                <a:latin typeface="Manrope"/>
                <a:ea typeface="Manrope"/>
                <a:cs typeface="Manrope"/>
                <a:sym typeface="Manrope"/>
              </a:rPr>
              <a:t>Every token is processed at the same time. Training on trillion-token datasets becomes feasible on GPU clusters.</a:t>
            </a:r>
            <a:endParaRPr sz="1100"/>
          </a:p>
        </p:txBody>
      </p:sp>
      <p:sp>
        <p:nvSpPr>
          <p:cNvPr id="1109" name="Google Shape;1109;p64"/>
          <p:cNvSpPr/>
          <p:nvPr/>
        </p:nvSpPr>
        <p:spPr>
          <a:xfrm>
            <a:off x="4869310" y="3394710"/>
            <a:ext cx="27433" cy="534924"/>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10" name="Google Shape;1110;p64"/>
          <p:cNvSpPr txBox="1"/>
          <p:nvPr/>
        </p:nvSpPr>
        <p:spPr>
          <a:xfrm>
            <a:off x="4965324" y="3394710"/>
            <a:ext cx="3223346" cy="19202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000" u="none" cap="none" strike="noStrike">
                <a:solidFill>
                  <a:srgbClr val="1B1F2A"/>
                </a:solidFill>
                <a:latin typeface="Manrope"/>
                <a:ea typeface="Manrope"/>
                <a:cs typeface="Manrope"/>
                <a:sym typeface="Manrope"/>
              </a:rPr>
              <a:t>✓  Selective attention over full context</a:t>
            </a:r>
            <a:endParaRPr sz="1100"/>
          </a:p>
        </p:txBody>
      </p:sp>
      <p:sp>
        <p:nvSpPr>
          <p:cNvPr id="1111" name="Google Shape;1111;p64"/>
          <p:cNvSpPr txBox="1"/>
          <p:nvPr/>
        </p:nvSpPr>
        <p:spPr>
          <a:xfrm>
            <a:off x="4965324" y="3586734"/>
            <a:ext cx="3223346" cy="32918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8B95A6"/>
                </a:solidFill>
                <a:latin typeface="Manrope"/>
                <a:ea typeface="Manrope"/>
                <a:cs typeface="Manrope"/>
                <a:sym typeface="Manrope"/>
              </a:rPr>
              <a:t>Each token can directly attend to any other token regardless of distance. 'mat' immediately connects to 'cat' and 'sat'.</a:t>
            </a:r>
            <a:endParaRPr sz="1100"/>
          </a:p>
        </p:txBody>
      </p:sp>
      <p:sp>
        <p:nvSpPr>
          <p:cNvPr id="1112" name="Google Shape;1112;p64"/>
          <p:cNvSpPr/>
          <p:nvPr/>
        </p:nvSpPr>
        <p:spPr>
          <a:xfrm>
            <a:off x="4869310" y="4011930"/>
            <a:ext cx="27433" cy="534924"/>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13" name="Google Shape;1113;p64"/>
          <p:cNvSpPr txBox="1"/>
          <p:nvPr/>
        </p:nvSpPr>
        <p:spPr>
          <a:xfrm>
            <a:off x="4965324" y="4011930"/>
            <a:ext cx="3223346" cy="19202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000" u="none" cap="none" strike="noStrike">
                <a:solidFill>
                  <a:srgbClr val="1B1F2A"/>
                </a:solidFill>
                <a:latin typeface="Manrope"/>
                <a:ea typeface="Manrope"/>
                <a:cs typeface="Manrope"/>
                <a:sym typeface="Manrope"/>
              </a:rPr>
              <a:t>✓  Scales with compute</a:t>
            </a:r>
            <a:endParaRPr sz="1100"/>
          </a:p>
        </p:txBody>
      </p:sp>
      <p:sp>
        <p:nvSpPr>
          <p:cNvPr id="1114" name="Google Shape;1114;p64"/>
          <p:cNvSpPr txBox="1"/>
          <p:nvPr/>
        </p:nvSpPr>
        <p:spPr>
          <a:xfrm>
            <a:off x="4965324" y="4203954"/>
            <a:ext cx="3223346" cy="32918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8B95A6"/>
                </a:solidFill>
                <a:latin typeface="Manrope"/>
                <a:ea typeface="Manrope"/>
                <a:cs typeface="Manrope"/>
                <a:sym typeface="Manrope"/>
              </a:rPr>
              <a:t>Bigger model + more data + more compute = reliably better. The scaling laws that drove GPT-3, GPT-4, and every frontier model.</a:t>
            </a:r>
            <a:endParaRPr sz="1100"/>
          </a:p>
        </p:txBody>
      </p:sp>
      <p:sp>
        <p:nvSpPr>
          <p:cNvPr id="1115" name="Google Shape;1115;p64"/>
          <p:cNvSpPr/>
          <p:nvPr/>
        </p:nvSpPr>
        <p:spPr>
          <a:xfrm>
            <a:off x="822975" y="4402825"/>
            <a:ext cx="7887000" cy="510300"/>
          </a:xfrm>
          <a:prstGeom prst="rect">
            <a:avLst/>
          </a:prstGeom>
          <a:solidFill>
            <a:srgbClr val="1B1F2A"/>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16" name="Google Shape;1116;p64"/>
          <p:cNvSpPr/>
          <p:nvPr/>
        </p:nvSpPr>
        <p:spPr>
          <a:xfrm>
            <a:off x="822982" y="4334256"/>
            <a:ext cx="41149" cy="356616"/>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17" name="Google Shape;1117;p64"/>
          <p:cNvSpPr txBox="1"/>
          <p:nvPr/>
        </p:nvSpPr>
        <p:spPr>
          <a:xfrm>
            <a:off x="946429" y="4402836"/>
            <a:ext cx="7681165" cy="260604"/>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FFFFFF"/>
                </a:solidFill>
                <a:latin typeface="Courier New"/>
                <a:ea typeface="Courier New"/>
                <a:cs typeface="Courier New"/>
                <a:sym typeface="Courier New"/>
              </a:rPr>
              <a:t>DEVELOPER INSIGHT:  Context placement is an engineering decision. Critical instructions at START and END of context get the most reliable attention. 'Lost in the middle' is real — model attention degrades on tokens buried in the centre of very long prompts.</a:t>
            </a:r>
            <a:endParaRPr sz="1100"/>
          </a:p>
        </p:txBody>
      </p:sp>
      <p:sp>
        <p:nvSpPr>
          <p:cNvPr id="1118" name="Google Shape;1118;p64"/>
          <p:cNvSpPr txBox="1"/>
          <p:nvPr/>
        </p:nvSpPr>
        <p:spPr>
          <a:xfrm>
            <a:off x="822982" y="4885557"/>
            <a:ext cx="274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
        <p:nvSpPr>
          <p:cNvPr id="1119" name="Google Shape;1119;p64"/>
          <p:cNvSpPr txBox="1"/>
          <p:nvPr/>
        </p:nvSpPr>
        <p:spPr>
          <a:xfrm>
            <a:off x="7201092" y="4732020"/>
            <a:ext cx="1371637" cy="13335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0" i="0" lang="en-GB" sz="800" u="none" cap="none" strike="noStrike">
                <a:solidFill>
                  <a:srgbClr val="8B95A6"/>
                </a:solidFill>
                <a:latin typeface="Courier New"/>
                <a:ea typeface="Courier New"/>
                <a:cs typeface="Courier New"/>
                <a:sym typeface="Courier New"/>
              </a:rPr>
              <a:t>01 / 5</a:t>
            </a:r>
            <a:endParaRPr sz="11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65"/>
          <p:cNvSpPr/>
          <p:nvPr/>
        </p:nvSpPr>
        <p:spPr>
          <a:xfrm>
            <a:off x="10967" y="21934"/>
            <a:ext cx="9144000" cy="51435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25" name="Google Shape;1125;p65"/>
          <p:cNvSpPr txBox="1"/>
          <p:nvPr/>
        </p:nvSpPr>
        <p:spPr>
          <a:xfrm>
            <a:off x="822982" y="260604"/>
            <a:ext cx="3429091" cy="22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GlobalLogic</a:t>
            </a:r>
            <a:endParaRPr sz="1100"/>
          </a:p>
        </p:txBody>
      </p:sp>
      <p:sp>
        <p:nvSpPr>
          <p:cNvPr id="1126" name="Google Shape;1126;p65"/>
          <p:cNvSpPr txBox="1"/>
          <p:nvPr/>
        </p:nvSpPr>
        <p:spPr>
          <a:xfrm>
            <a:off x="822982" y="466344"/>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1127" name="Google Shape;1127;p65"/>
          <p:cNvSpPr txBox="1"/>
          <p:nvPr/>
        </p:nvSpPr>
        <p:spPr>
          <a:xfrm>
            <a:off x="822982" y="672084"/>
            <a:ext cx="7201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 HOW LLMS WORK  ·  THE TRANSFORMER  </a:t>
            </a:r>
            <a:endParaRPr sz="1100"/>
          </a:p>
        </p:txBody>
      </p:sp>
      <p:sp>
        <p:nvSpPr>
          <p:cNvPr id="1128" name="Google Shape;1128;p65"/>
          <p:cNvSpPr txBox="1"/>
          <p:nvPr/>
        </p:nvSpPr>
        <p:spPr>
          <a:xfrm>
            <a:off x="822982" y="905256"/>
            <a:ext cx="7406837"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800" u="none" cap="none" strike="noStrike">
                <a:solidFill>
                  <a:srgbClr val="1B1F2A"/>
                </a:solidFill>
                <a:latin typeface="Manrope"/>
                <a:ea typeface="Manrope"/>
                <a:cs typeface="Manrope"/>
                <a:sym typeface="Manrope"/>
              </a:rPr>
              <a:t>The attention heatmap.</a:t>
            </a:r>
            <a:endParaRPr sz="1100"/>
          </a:p>
        </p:txBody>
      </p:sp>
      <p:sp>
        <p:nvSpPr>
          <p:cNvPr id="1129" name="Google Shape;1129;p65"/>
          <p:cNvSpPr/>
          <p:nvPr/>
        </p:nvSpPr>
        <p:spPr>
          <a:xfrm>
            <a:off x="1783128" y="1296162"/>
            <a:ext cx="548655" cy="301752"/>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30" name="Google Shape;1130;p65"/>
          <p:cNvSpPr txBox="1"/>
          <p:nvPr/>
        </p:nvSpPr>
        <p:spPr>
          <a:xfrm>
            <a:off x="1783128" y="1296162"/>
            <a:ext cx="548655" cy="301752"/>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u="none" cap="none" strike="noStrike">
                <a:solidFill>
                  <a:srgbClr val="FFFFFF"/>
                </a:solidFill>
                <a:latin typeface="Manrope"/>
                <a:ea typeface="Manrope"/>
                <a:cs typeface="Manrope"/>
                <a:sym typeface="Manrope"/>
              </a:rPr>
              <a:t>The</a:t>
            </a:r>
            <a:endParaRPr sz="1100"/>
          </a:p>
        </p:txBody>
      </p:sp>
      <p:sp>
        <p:nvSpPr>
          <p:cNvPr id="1131" name="Google Shape;1131;p65"/>
          <p:cNvSpPr/>
          <p:nvPr/>
        </p:nvSpPr>
        <p:spPr>
          <a:xfrm>
            <a:off x="2372931" y="1296162"/>
            <a:ext cx="548655" cy="301752"/>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32" name="Google Shape;1132;p65"/>
          <p:cNvSpPr txBox="1"/>
          <p:nvPr/>
        </p:nvSpPr>
        <p:spPr>
          <a:xfrm>
            <a:off x="2372931" y="1296162"/>
            <a:ext cx="548655" cy="301752"/>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u="none" cap="none" strike="noStrike">
                <a:solidFill>
                  <a:srgbClr val="FFFFFF"/>
                </a:solidFill>
                <a:latin typeface="Manrope"/>
                <a:ea typeface="Manrope"/>
                <a:cs typeface="Manrope"/>
                <a:sym typeface="Manrope"/>
              </a:rPr>
              <a:t>cat</a:t>
            </a:r>
            <a:endParaRPr sz="1100"/>
          </a:p>
        </p:txBody>
      </p:sp>
      <p:sp>
        <p:nvSpPr>
          <p:cNvPr id="1133" name="Google Shape;1133;p65"/>
          <p:cNvSpPr/>
          <p:nvPr/>
        </p:nvSpPr>
        <p:spPr>
          <a:xfrm>
            <a:off x="2962735" y="1296162"/>
            <a:ext cx="548655" cy="301752"/>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34" name="Google Shape;1134;p65"/>
          <p:cNvSpPr txBox="1"/>
          <p:nvPr/>
        </p:nvSpPr>
        <p:spPr>
          <a:xfrm>
            <a:off x="2962735" y="1296162"/>
            <a:ext cx="548655" cy="301752"/>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u="none" cap="none" strike="noStrike">
                <a:solidFill>
                  <a:srgbClr val="FFFFFF"/>
                </a:solidFill>
                <a:latin typeface="Manrope"/>
                <a:ea typeface="Manrope"/>
                <a:cs typeface="Manrope"/>
                <a:sym typeface="Manrope"/>
              </a:rPr>
              <a:t>sat</a:t>
            </a:r>
            <a:endParaRPr sz="1100"/>
          </a:p>
        </p:txBody>
      </p:sp>
      <p:sp>
        <p:nvSpPr>
          <p:cNvPr id="1135" name="Google Shape;1135;p65"/>
          <p:cNvSpPr/>
          <p:nvPr/>
        </p:nvSpPr>
        <p:spPr>
          <a:xfrm>
            <a:off x="3552539" y="1296162"/>
            <a:ext cx="548655" cy="301752"/>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36" name="Google Shape;1136;p65"/>
          <p:cNvSpPr txBox="1"/>
          <p:nvPr/>
        </p:nvSpPr>
        <p:spPr>
          <a:xfrm>
            <a:off x="3552539" y="1296162"/>
            <a:ext cx="548655" cy="301752"/>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u="none" cap="none" strike="noStrike">
                <a:solidFill>
                  <a:srgbClr val="FFFFFF"/>
                </a:solidFill>
                <a:latin typeface="Manrope"/>
                <a:ea typeface="Manrope"/>
                <a:cs typeface="Manrope"/>
                <a:sym typeface="Manrope"/>
              </a:rPr>
              <a:t>on</a:t>
            </a:r>
            <a:endParaRPr sz="1100"/>
          </a:p>
        </p:txBody>
      </p:sp>
      <p:sp>
        <p:nvSpPr>
          <p:cNvPr id="1137" name="Google Shape;1137;p65"/>
          <p:cNvSpPr/>
          <p:nvPr/>
        </p:nvSpPr>
        <p:spPr>
          <a:xfrm>
            <a:off x="4142342" y="1296162"/>
            <a:ext cx="548655" cy="301752"/>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38" name="Google Shape;1138;p65"/>
          <p:cNvSpPr txBox="1"/>
          <p:nvPr/>
        </p:nvSpPr>
        <p:spPr>
          <a:xfrm>
            <a:off x="4142342" y="1296162"/>
            <a:ext cx="548655" cy="301752"/>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u="none" cap="none" strike="noStrike">
                <a:solidFill>
                  <a:srgbClr val="FFFFFF"/>
                </a:solidFill>
                <a:latin typeface="Manrope"/>
                <a:ea typeface="Manrope"/>
                <a:cs typeface="Manrope"/>
                <a:sym typeface="Manrope"/>
              </a:rPr>
              <a:t>mat</a:t>
            </a:r>
            <a:endParaRPr sz="1100"/>
          </a:p>
        </p:txBody>
      </p:sp>
      <p:sp>
        <p:nvSpPr>
          <p:cNvPr id="1139" name="Google Shape;1139;p65"/>
          <p:cNvSpPr/>
          <p:nvPr/>
        </p:nvSpPr>
        <p:spPr>
          <a:xfrm>
            <a:off x="1001295" y="1611630"/>
            <a:ext cx="740684" cy="548640"/>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40" name="Google Shape;1140;p65"/>
          <p:cNvSpPr txBox="1"/>
          <p:nvPr/>
        </p:nvSpPr>
        <p:spPr>
          <a:xfrm>
            <a:off x="1001295" y="1611630"/>
            <a:ext cx="740684" cy="54864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u="none" cap="none" strike="noStrike">
                <a:solidFill>
                  <a:srgbClr val="FFFFFF"/>
                </a:solidFill>
                <a:latin typeface="Manrope"/>
                <a:ea typeface="Manrope"/>
                <a:cs typeface="Manrope"/>
                <a:sym typeface="Manrope"/>
              </a:rPr>
              <a:t>The</a:t>
            </a:r>
            <a:endParaRPr sz="1100"/>
          </a:p>
        </p:txBody>
      </p:sp>
      <p:sp>
        <p:nvSpPr>
          <p:cNvPr id="1141" name="Google Shape;1141;p65"/>
          <p:cNvSpPr/>
          <p:nvPr/>
        </p:nvSpPr>
        <p:spPr>
          <a:xfrm>
            <a:off x="1001295" y="2201418"/>
            <a:ext cx="740684" cy="548640"/>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42" name="Google Shape;1142;p65"/>
          <p:cNvSpPr txBox="1"/>
          <p:nvPr/>
        </p:nvSpPr>
        <p:spPr>
          <a:xfrm>
            <a:off x="1001295" y="2201418"/>
            <a:ext cx="740684" cy="54864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u="none" cap="none" strike="noStrike">
                <a:solidFill>
                  <a:srgbClr val="FFFFFF"/>
                </a:solidFill>
                <a:latin typeface="Manrope"/>
                <a:ea typeface="Manrope"/>
                <a:cs typeface="Manrope"/>
                <a:sym typeface="Manrope"/>
              </a:rPr>
              <a:t>cat</a:t>
            </a:r>
            <a:endParaRPr sz="1100"/>
          </a:p>
        </p:txBody>
      </p:sp>
      <p:sp>
        <p:nvSpPr>
          <p:cNvPr id="1143" name="Google Shape;1143;p65"/>
          <p:cNvSpPr/>
          <p:nvPr/>
        </p:nvSpPr>
        <p:spPr>
          <a:xfrm>
            <a:off x="1001295" y="2791206"/>
            <a:ext cx="740684" cy="548640"/>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44" name="Google Shape;1144;p65"/>
          <p:cNvSpPr txBox="1"/>
          <p:nvPr/>
        </p:nvSpPr>
        <p:spPr>
          <a:xfrm>
            <a:off x="1001295" y="2791206"/>
            <a:ext cx="740684" cy="54864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u="none" cap="none" strike="noStrike">
                <a:solidFill>
                  <a:srgbClr val="FFFFFF"/>
                </a:solidFill>
                <a:latin typeface="Manrope"/>
                <a:ea typeface="Manrope"/>
                <a:cs typeface="Manrope"/>
                <a:sym typeface="Manrope"/>
              </a:rPr>
              <a:t>sat</a:t>
            </a:r>
            <a:endParaRPr sz="1100"/>
          </a:p>
        </p:txBody>
      </p:sp>
      <p:sp>
        <p:nvSpPr>
          <p:cNvPr id="1145" name="Google Shape;1145;p65"/>
          <p:cNvSpPr/>
          <p:nvPr/>
        </p:nvSpPr>
        <p:spPr>
          <a:xfrm>
            <a:off x="1001295" y="3380994"/>
            <a:ext cx="740684" cy="548640"/>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46" name="Google Shape;1146;p65"/>
          <p:cNvSpPr txBox="1"/>
          <p:nvPr/>
        </p:nvSpPr>
        <p:spPr>
          <a:xfrm>
            <a:off x="1001295" y="3380994"/>
            <a:ext cx="740684" cy="54864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u="none" cap="none" strike="noStrike">
                <a:solidFill>
                  <a:srgbClr val="FFFFFF"/>
                </a:solidFill>
                <a:latin typeface="Manrope"/>
                <a:ea typeface="Manrope"/>
                <a:cs typeface="Manrope"/>
                <a:sym typeface="Manrope"/>
              </a:rPr>
              <a:t>on</a:t>
            </a:r>
            <a:endParaRPr sz="1100"/>
          </a:p>
        </p:txBody>
      </p:sp>
      <p:sp>
        <p:nvSpPr>
          <p:cNvPr id="1147" name="Google Shape;1147;p65"/>
          <p:cNvSpPr/>
          <p:nvPr/>
        </p:nvSpPr>
        <p:spPr>
          <a:xfrm>
            <a:off x="1001295" y="3970782"/>
            <a:ext cx="740684" cy="548640"/>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48" name="Google Shape;1148;p65"/>
          <p:cNvSpPr txBox="1"/>
          <p:nvPr/>
        </p:nvSpPr>
        <p:spPr>
          <a:xfrm>
            <a:off x="1001295" y="3970782"/>
            <a:ext cx="740684" cy="54864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u="none" cap="none" strike="noStrike">
                <a:solidFill>
                  <a:srgbClr val="FFFFFF"/>
                </a:solidFill>
                <a:latin typeface="Manrope"/>
                <a:ea typeface="Manrope"/>
                <a:cs typeface="Manrope"/>
                <a:sym typeface="Manrope"/>
              </a:rPr>
              <a:t>mat</a:t>
            </a:r>
            <a:endParaRPr sz="1100"/>
          </a:p>
        </p:txBody>
      </p:sp>
      <p:sp>
        <p:nvSpPr>
          <p:cNvPr id="1149" name="Google Shape;1149;p65"/>
          <p:cNvSpPr/>
          <p:nvPr/>
        </p:nvSpPr>
        <p:spPr>
          <a:xfrm>
            <a:off x="1783128" y="1611630"/>
            <a:ext cx="548655" cy="548640"/>
          </a:xfrm>
          <a:prstGeom prst="rect">
            <a:avLst/>
          </a:prstGeom>
          <a:solidFill>
            <a:srgbClr val="FF671F"/>
          </a:solidFill>
          <a:ln cap="flat" cmpd="sng" w="9525">
            <a:solidFill>
              <a:srgbClr val="C9CF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50" name="Google Shape;1150;p65"/>
          <p:cNvSpPr txBox="1"/>
          <p:nvPr/>
        </p:nvSpPr>
        <p:spPr>
          <a:xfrm>
            <a:off x="1851709" y="1831086"/>
            <a:ext cx="452640" cy="26060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u="none" cap="none" strike="noStrike">
                <a:solidFill>
                  <a:srgbClr val="FFFFFF"/>
                </a:solidFill>
                <a:latin typeface="Courier New"/>
                <a:ea typeface="Courier New"/>
                <a:cs typeface="Courier New"/>
                <a:sym typeface="Courier New"/>
              </a:rPr>
              <a:t>0.92</a:t>
            </a:r>
            <a:endParaRPr sz="1100"/>
          </a:p>
        </p:txBody>
      </p:sp>
      <p:sp>
        <p:nvSpPr>
          <p:cNvPr id="1151" name="Google Shape;1151;p65"/>
          <p:cNvSpPr/>
          <p:nvPr/>
        </p:nvSpPr>
        <p:spPr>
          <a:xfrm>
            <a:off x="2372931" y="1611630"/>
            <a:ext cx="548655" cy="548640"/>
          </a:xfrm>
          <a:prstGeom prst="rect">
            <a:avLst/>
          </a:prstGeom>
          <a:solidFill>
            <a:srgbClr val="F1F2F4"/>
          </a:solidFill>
          <a:ln cap="flat" cmpd="sng" w="9525">
            <a:solidFill>
              <a:srgbClr val="C9CF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52" name="Google Shape;1152;p65"/>
          <p:cNvSpPr txBox="1"/>
          <p:nvPr/>
        </p:nvSpPr>
        <p:spPr>
          <a:xfrm>
            <a:off x="2441513" y="1831086"/>
            <a:ext cx="452640" cy="26060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GB" sz="1100" u="none" cap="none" strike="noStrike">
                <a:solidFill>
                  <a:srgbClr val="8B95A6"/>
                </a:solidFill>
                <a:latin typeface="Courier New"/>
                <a:ea typeface="Courier New"/>
                <a:cs typeface="Courier New"/>
                <a:sym typeface="Courier New"/>
              </a:rPr>
              <a:t>0.04</a:t>
            </a:r>
            <a:endParaRPr sz="1100"/>
          </a:p>
        </p:txBody>
      </p:sp>
      <p:sp>
        <p:nvSpPr>
          <p:cNvPr id="1153" name="Google Shape;1153;p65"/>
          <p:cNvSpPr/>
          <p:nvPr/>
        </p:nvSpPr>
        <p:spPr>
          <a:xfrm>
            <a:off x="2962735" y="1611630"/>
            <a:ext cx="548655" cy="548640"/>
          </a:xfrm>
          <a:prstGeom prst="rect">
            <a:avLst/>
          </a:prstGeom>
          <a:solidFill>
            <a:srgbClr val="F1F2F4"/>
          </a:solidFill>
          <a:ln cap="flat" cmpd="sng" w="9525">
            <a:solidFill>
              <a:srgbClr val="C9CF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54" name="Google Shape;1154;p65"/>
          <p:cNvSpPr txBox="1"/>
          <p:nvPr/>
        </p:nvSpPr>
        <p:spPr>
          <a:xfrm>
            <a:off x="3031317" y="1831086"/>
            <a:ext cx="452640" cy="26060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GB" sz="1100" u="none" cap="none" strike="noStrike">
                <a:solidFill>
                  <a:srgbClr val="8B95A6"/>
                </a:solidFill>
                <a:latin typeface="Courier New"/>
                <a:ea typeface="Courier New"/>
                <a:cs typeface="Courier New"/>
                <a:sym typeface="Courier New"/>
              </a:rPr>
              <a:t>0.02</a:t>
            </a:r>
            <a:endParaRPr sz="1100"/>
          </a:p>
        </p:txBody>
      </p:sp>
      <p:sp>
        <p:nvSpPr>
          <p:cNvPr id="1155" name="Google Shape;1155;p65"/>
          <p:cNvSpPr/>
          <p:nvPr/>
        </p:nvSpPr>
        <p:spPr>
          <a:xfrm>
            <a:off x="3552539" y="1611630"/>
            <a:ext cx="548655" cy="548640"/>
          </a:xfrm>
          <a:prstGeom prst="rect">
            <a:avLst/>
          </a:prstGeom>
          <a:solidFill>
            <a:srgbClr val="F1F2F4"/>
          </a:solidFill>
          <a:ln cap="flat" cmpd="sng" w="9525">
            <a:solidFill>
              <a:srgbClr val="C9CF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56" name="Google Shape;1156;p65"/>
          <p:cNvSpPr txBox="1"/>
          <p:nvPr/>
        </p:nvSpPr>
        <p:spPr>
          <a:xfrm>
            <a:off x="3621121" y="1831086"/>
            <a:ext cx="452640" cy="26060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GB" sz="1100" u="none" cap="none" strike="noStrike">
                <a:solidFill>
                  <a:srgbClr val="8B95A6"/>
                </a:solidFill>
                <a:latin typeface="Courier New"/>
                <a:ea typeface="Courier New"/>
                <a:cs typeface="Courier New"/>
                <a:sym typeface="Courier New"/>
              </a:rPr>
              <a:t>0.01</a:t>
            </a:r>
            <a:endParaRPr sz="1100"/>
          </a:p>
        </p:txBody>
      </p:sp>
      <p:sp>
        <p:nvSpPr>
          <p:cNvPr id="1157" name="Google Shape;1157;p65"/>
          <p:cNvSpPr/>
          <p:nvPr/>
        </p:nvSpPr>
        <p:spPr>
          <a:xfrm>
            <a:off x="4142342" y="1611630"/>
            <a:ext cx="548655" cy="548640"/>
          </a:xfrm>
          <a:prstGeom prst="rect">
            <a:avLst/>
          </a:prstGeom>
          <a:solidFill>
            <a:srgbClr val="F1F2F4"/>
          </a:solidFill>
          <a:ln cap="flat" cmpd="sng" w="9525">
            <a:solidFill>
              <a:srgbClr val="C9CF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58" name="Google Shape;1158;p65"/>
          <p:cNvSpPr txBox="1"/>
          <p:nvPr/>
        </p:nvSpPr>
        <p:spPr>
          <a:xfrm>
            <a:off x="4210924" y="1831086"/>
            <a:ext cx="452640" cy="26060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GB" sz="1100" u="none" cap="none" strike="noStrike">
                <a:solidFill>
                  <a:srgbClr val="8B95A6"/>
                </a:solidFill>
                <a:latin typeface="Courier New"/>
                <a:ea typeface="Courier New"/>
                <a:cs typeface="Courier New"/>
                <a:sym typeface="Courier New"/>
              </a:rPr>
              <a:t>0.01</a:t>
            </a:r>
            <a:endParaRPr sz="1100"/>
          </a:p>
        </p:txBody>
      </p:sp>
      <p:sp>
        <p:nvSpPr>
          <p:cNvPr id="1159" name="Google Shape;1159;p65"/>
          <p:cNvSpPr/>
          <p:nvPr/>
        </p:nvSpPr>
        <p:spPr>
          <a:xfrm>
            <a:off x="1783128" y="2201418"/>
            <a:ext cx="548655" cy="548640"/>
          </a:xfrm>
          <a:prstGeom prst="rect">
            <a:avLst/>
          </a:prstGeom>
          <a:solidFill>
            <a:srgbClr val="F1F2F4"/>
          </a:solidFill>
          <a:ln cap="flat" cmpd="sng" w="9525">
            <a:solidFill>
              <a:srgbClr val="C9CF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60" name="Google Shape;1160;p65"/>
          <p:cNvSpPr txBox="1"/>
          <p:nvPr/>
        </p:nvSpPr>
        <p:spPr>
          <a:xfrm>
            <a:off x="1851709" y="2420874"/>
            <a:ext cx="452640" cy="26060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GB" sz="1100" u="none" cap="none" strike="noStrike">
                <a:solidFill>
                  <a:srgbClr val="8B95A6"/>
                </a:solidFill>
                <a:latin typeface="Courier New"/>
                <a:ea typeface="Courier New"/>
                <a:cs typeface="Courier New"/>
                <a:sym typeface="Courier New"/>
              </a:rPr>
              <a:t>0.08</a:t>
            </a:r>
            <a:endParaRPr sz="1100"/>
          </a:p>
        </p:txBody>
      </p:sp>
      <p:sp>
        <p:nvSpPr>
          <p:cNvPr id="1161" name="Google Shape;1161;p65"/>
          <p:cNvSpPr/>
          <p:nvPr/>
        </p:nvSpPr>
        <p:spPr>
          <a:xfrm>
            <a:off x="2372931" y="2201418"/>
            <a:ext cx="548655" cy="548640"/>
          </a:xfrm>
          <a:prstGeom prst="rect">
            <a:avLst/>
          </a:prstGeom>
          <a:solidFill>
            <a:srgbClr val="FF671F"/>
          </a:solidFill>
          <a:ln cap="flat" cmpd="sng" w="9525">
            <a:solidFill>
              <a:srgbClr val="C9CF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62" name="Google Shape;1162;p65"/>
          <p:cNvSpPr txBox="1"/>
          <p:nvPr/>
        </p:nvSpPr>
        <p:spPr>
          <a:xfrm>
            <a:off x="2441513" y="2420874"/>
            <a:ext cx="452640" cy="26060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u="none" cap="none" strike="noStrike">
                <a:solidFill>
                  <a:srgbClr val="FFFFFF"/>
                </a:solidFill>
                <a:latin typeface="Courier New"/>
                <a:ea typeface="Courier New"/>
                <a:cs typeface="Courier New"/>
                <a:sym typeface="Courier New"/>
              </a:rPr>
              <a:t>0.82</a:t>
            </a:r>
            <a:endParaRPr sz="1100"/>
          </a:p>
        </p:txBody>
      </p:sp>
      <p:sp>
        <p:nvSpPr>
          <p:cNvPr id="1163" name="Google Shape;1163;p65"/>
          <p:cNvSpPr/>
          <p:nvPr/>
        </p:nvSpPr>
        <p:spPr>
          <a:xfrm>
            <a:off x="2962735" y="2201418"/>
            <a:ext cx="548655" cy="548640"/>
          </a:xfrm>
          <a:prstGeom prst="rect">
            <a:avLst/>
          </a:prstGeom>
          <a:solidFill>
            <a:srgbClr val="F1F2F4"/>
          </a:solidFill>
          <a:ln cap="flat" cmpd="sng" w="9525">
            <a:solidFill>
              <a:srgbClr val="C9CF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64" name="Google Shape;1164;p65"/>
          <p:cNvSpPr txBox="1"/>
          <p:nvPr/>
        </p:nvSpPr>
        <p:spPr>
          <a:xfrm>
            <a:off x="3031317" y="2420874"/>
            <a:ext cx="452640" cy="26060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GB" sz="1100" u="none" cap="none" strike="noStrike">
                <a:solidFill>
                  <a:srgbClr val="8B95A6"/>
                </a:solidFill>
                <a:latin typeface="Courier New"/>
                <a:ea typeface="Courier New"/>
                <a:cs typeface="Courier New"/>
                <a:sym typeface="Courier New"/>
              </a:rPr>
              <a:t>0.05</a:t>
            </a:r>
            <a:endParaRPr sz="1100"/>
          </a:p>
        </p:txBody>
      </p:sp>
      <p:sp>
        <p:nvSpPr>
          <p:cNvPr id="1165" name="Google Shape;1165;p65"/>
          <p:cNvSpPr/>
          <p:nvPr/>
        </p:nvSpPr>
        <p:spPr>
          <a:xfrm>
            <a:off x="3552539" y="2201418"/>
            <a:ext cx="548655" cy="548640"/>
          </a:xfrm>
          <a:prstGeom prst="rect">
            <a:avLst/>
          </a:prstGeom>
          <a:solidFill>
            <a:srgbClr val="F1F2F4"/>
          </a:solidFill>
          <a:ln cap="flat" cmpd="sng" w="9525">
            <a:solidFill>
              <a:srgbClr val="C9CF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66" name="Google Shape;1166;p65"/>
          <p:cNvSpPr txBox="1"/>
          <p:nvPr/>
        </p:nvSpPr>
        <p:spPr>
          <a:xfrm>
            <a:off x="3621121" y="2420874"/>
            <a:ext cx="452640" cy="26060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GB" sz="1100" u="none" cap="none" strike="noStrike">
                <a:solidFill>
                  <a:srgbClr val="8B95A6"/>
                </a:solidFill>
                <a:latin typeface="Courier New"/>
                <a:ea typeface="Courier New"/>
                <a:cs typeface="Courier New"/>
                <a:sym typeface="Courier New"/>
              </a:rPr>
              <a:t>0.02</a:t>
            </a:r>
            <a:endParaRPr sz="1100"/>
          </a:p>
        </p:txBody>
      </p:sp>
      <p:sp>
        <p:nvSpPr>
          <p:cNvPr id="1167" name="Google Shape;1167;p65"/>
          <p:cNvSpPr/>
          <p:nvPr/>
        </p:nvSpPr>
        <p:spPr>
          <a:xfrm>
            <a:off x="4142342" y="2201418"/>
            <a:ext cx="548655" cy="548640"/>
          </a:xfrm>
          <a:prstGeom prst="rect">
            <a:avLst/>
          </a:prstGeom>
          <a:solidFill>
            <a:srgbClr val="F1F2F4"/>
          </a:solidFill>
          <a:ln cap="flat" cmpd="sng" w="9525">
            <a:solidFill>
              <a:srgbClr val="C9CF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68" name="Google Shape;1168;p65"/>
          <p:cNvSpPr txBox="1"/>
          <p:nvPr/>
        </p:nvSpPr>
        <p:spPr>
          <a:xfrm>
            <a:off x="4210924" y="2420874"/>
            <a:ext cx="452640" cy="26060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GB" sz="1100" u="none" cap="none" strike="noStrike">
                <a:solidFill>
                  <a:srgbClr val="8B95A6"/>
                </a:solidFill>
                <a:latin typeface="Courier New"/>
                <a:ea typeface="Courier New"/>
                <a:cs typeface="Courier New"/>
                <a:sym typeface="Courier New"/>
              </a:rPr>
              <a:t>0.03</a:t>
            </a:r>
            <a:endParaRPr sz="1100"/>
          </a:p>
        </p:txBody>
      </p:sp>
      <p:sp>
        <p:nvSpPr>
          <p:cNvPr id="1169" name="Google Shape;1169;p65"/>
          <p:cNvSpPr/>
          <p:nvPr/>
        </p:nvSpPr>
        <p:spPr>
          <a:xfrm>
            <a:off x="1783128" y="2791206"/>
            <a:ext cx="548655" cy="548640"/>
          </a:xfrm>
          <a:prstGeom prst="rect">
            <a:avLst/>
          </a:prstGeom>
          <a:solidFill>
            <a:srgbClr val="F1F2F4"/>
          </a:solidFill>
          <a:ln cap="flat" cmpd="sng" w="9525">
            <a:solidFill>
              <a:srgbClr val="C9CF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70" name="Google Shape;1170;p65"/>
          <p:cNvSpPr txBox="1"/>
          <p:nvPr/>
        </p:nvSpPr>
        <p:spPr>
          <a:xfrm>
            <a:off x="1851709" y="3010662"/>
            <a:ext cx="452640" cy="26060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GB" sz="1100" u="none" cap="none" strike="noStrike">
                <a:solidFill>
                  <a:srgbClr val="8B95A6"/>
                </a:solidFill>
                <a:latin typeface="Courier New"/>
                <a:ea typeface="Courier New"/>
                <a:cs typeface="Courier New"/>
                <a:sym typeface="Courier New"/>
              </a:rPr>
              <a:t>0.04</a:t>
            </a:r>
            <a:endParaRPr sz="1100"/>
          </a:p>
        </p:txBody>
      </p:sp>
      <p:sp>
        <p:nvSpPr>
          <p:cNvPr id="1171" name="Google Shape;1171;p65"/>
          <p:cNvSpPr/>
          <p:nvPr/>
        </p:nvSpPr>
        <p:spPr>
          <a:xfrm>
            <a:off x="2372931" y="2791206"/>
            <a:ext cx="548655" cy="548640"/>
          </a:xfrm>
          <a:prstGeom prst="rect">
            <a:avLst/>
          </a:prstGeom>
          <a:solidFill>
            <a:srgbClr val="EBD8CC"/>
          </a:solidFill>
          <a:ln cap="flat" cmpd="sng" w="9525">
            <a:solidFill>
              <a:srgbClr val="C9CF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72" name="Google Shape;1172;p65"/>
          <p:cNvSpPr txBox="1"/>
          <p:nvPr/>
        </p:nvSpPr>
        <p:spPr>
          <a:xfrm>
            <a:off x="2441513" y="3010662"/>
            <a:ext cx="452640" cy="26060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GB" sz="1100" u="none" cap="none" strike="noStrike">
                <a:solidFill>
                  <a:srgbClr val="8B95A6"/>
                </a:solidFill>
                <a:latin typeface="Courier New"/>
                <a:ea typeface="Courier New"/>
                <a:cs typeface="Courier New"/>
                <a:sym typeface="Courier New"/>
              </a:rPr>
              <a:t>0.22</a:t>
            </a:r>
            <a:endParaRPr sz="1100"/>
          </a:p>
        </p:txBody>
      </p:sp>
      <p:sp>
        <p:nvSpPr>
          <p:cNvPr id="1173" name="Google Shape;1173;p65"/>
          <p:cNvSpPr/>
          <p:nvPr/>
        </p:nvSpPr>
        <p:spPr>
          <a:xfrm>
            <a:off x="2962735" y="2791206"/>
            <a:ext cx="548655" cy="548640"/>
          </a:xfrm>
          <a:prstGeom prst="rect">
            <a:avLst/>
          </a:prstGeom>
          <a:solidFill>
            <a:srgbClr val="FF671F"/>
          </a:solidFill>
          <a:ln cap="flat" cmpd="sng" w="9525">
            <a:solidFill>
              <a:srgbClr val="C9CF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74" name="Google Shape;1174;p65"/>
          <p:cNvSpPr txBox="1"/>
          <p:nvPr/>
        </p:nvSpPr>
        <p:spPr>
          <a:xfrm>
            <a:off x="3031317" y="3010662"/>
            <a:ext cx="452640" cy="26060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u="none" cap="none" strike="noStrike">
                <a:solidFill>
                  <a:srgbClr val="FFFFFF"/>
                </a:solidFill>
                <a:latin typeface="Courier New"/>
                <a:ea typeface="Courier New"/>
                <a:cs typeface="Courier New"/>
                <a:sym typeface="Courier New"/>
              </a:rPr>
              <a:t>0.88</a:t>
            </a:r>
            <a:endParaRPr sz="1100"/>
          </a:p>
        </p:txBody>
      </p:sp>
      <p:sp>
        <p:nvSpPr>
          <p:cNvPr id="1175" name="Google Shape;1175;p65"/>
          <p:cNvSpPr/>
          <p:nvPr/>
        </p:nvSpPr>
        <p:spPr>
          <a:xfrm>
            <a:off x="3552539" y="2791206"/>
            <a:ext cx="548655" cy="548640"/>
          </a:xfrm>
          <a:prstGeom prst="rect">
            <a:avLst/>
          </a:prstGeom>
          <a:solidFill>
            <a:srgbClr val="F1F2F4"/>
          </a:solidFill>
          <a:ln cap="flat" cmpd="sng" w="9525">
            <a:solidFill>
              <a:srgbClr val="C9CF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76" name="Google Shape;1176;p65"/>
          <p:cNvSpPr txBox="1"/>
          <p:nvPr/>
        </p:nvSpPr>
        <p:spPr>
          <a:xfrm>
            <a:off x="3621121" y="3010662"/>
            <a:ext cx="452640" cy="26060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GB" sz="1100" u="none" cap="none" strike="noStrike">
                <a:solidFill>
                  <a:srgbClr val="8B95A6"/>
                </a:solidFill>
                <a:latin typeface="Courier New"/>
                <a:ea typeface="Courier New"/>
                <a:cs typeface="Courier New"/>
                <a:sym typeface="Courier New"/>
              </a:rPr>
              <a:t>0.08</a:t>
            </a:r>
            <a:endParaRPr sz="1100"/>
          </a:p>
        </p:txBody>
      </p:sp>
      <p:sp>
        <p:nvSpPr>
          <p:cNvPr id="1177" name="Google Shape;1177;p65"/>
          <p:cNvSpPr/>
          <p:nvPr/>
        </p:nvSpPr>
        <p:spPr>
          <a:xfrm>
            <a:off x="4142342" y="2791206"/>
            <a:ext cx="548655" cy="548640"/>
          </a:xfrm>
          <a:prstGeom prst="rect">
            <a:avLst/>
          </a:prstGeom>
          <a:solidFill>
            <a:srgbClr val="FF932F"/>
          </a:solidFill>
          <a:ln cap="flat" cmpd="sng" w="9525">
            <a:solidFill>
              <a:srgbClr val="C9CF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78" name="Google Shape;1178;p65"/>
          <p:cNvSpPr txBox="1"/>
          <p:nvPr/>
        </p:nvSpPr>
        <p:spPr>
          <a:xfrm>
            <a:off x="4210924" y="3010662"/>
            <a:ext cx="452640" cy="26060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GB" sz="1100" u="none" cap="none" strike="noStrike">
                <a:solidFill>
                  <a:srgbClr val="FFFFFF"/>
                </a:solidFill>
                <a:latin typeface="Courier New"/>
                <a:ea typeface="Courier New"/>
                <a:cs typeface="Courier New"/>
                <a:sym typeface="Courier New"/>
              </a:rPr>
              <a:t>0.55</a:t>
            </a:r>
            <a:endParaRPr sz="1100"/>
          </a:p>
        </p:txBody>
      </p:sp>
      <p:sp>
        <p:nvSpPr>
          <p:cNvPr id="1179" name="Google Shape;1179;p65"/>
          <p:cNvSpPr/>
          <p:nvPr/>
        </p:nvSpPr>
        <p:spPr>
          <a:xfrm>
            <a:off x="1783128" y="3380994"/>
            <a:ext cx="548655" cy="548640"/>
          </a:xfrm>
          <a:prstGeom prst="rect">
            <a:avLst/>
          </a:prstGeom>
          <a:solidFill>
            <a:srgbClr val="F1F2F4"/>
          </a:solidFill>
          <a:ln cap="flat" cmpd="sng" w="9525">
            <a:solidFill>
              <a:srgbClr val="C9CF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80" name="Google Shape;1180;p65"/>
          <p:cNvSpPr txBox="1"/>
          <p:nvPr/>
        </p:nvSpPr>
        <p:spPr>
          <a:xfrm>
            <a:off x="1851709" y="3600450"/>
            <a:ext cx="452640" cy="26060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GB" sz="1100" u="none" cap="none" strike="noStrike">
                <a:solidFill>
                  <a:srgbClr val="8B95A6"/>
                </a:solidFill>
                <a:latin typeface="Courier New"/>
                <a:ea typeface="Courier New"/>
                <a:cs typeface="Courier New"/>
                <a:sym typeface="Courier New"/>
              </a:rPr>
              <a:t>0.02</a:t>
            </a:r>
            <a:endParaRPr sz="1100"/>
          </a:p>
        </p:txBody>
      </p:sp>
      <p:sp>
        <p:nvSpPr>
          <p:cNvPr id="1181" name="Google Shape;1181;p65"/>
          <p:cNvSpPr/>
          <p:nvPr/>
        </p:nvSpPr>
        <p:spPr>
          <a:xfrm>
            <a:off x="2372931" y="3380994"/>
            <a:ext cx="548655" cy="548640"/>
          </a:xfrm>
          <a:prstGeom prst="rect">
            <a:avLst/>
          </a:prstGeom>
          <a:solidFill>
            <a:srgbClr val="F1F2F4"/>
          </a:solidFill>
          <a:ln cap="flat" cmpd="sng" w="9525">
            <a:solidFill>
              <a:srgbClr val="C9CF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82" name="Google Shape;1182;p65"/>
          <p:cNvSpPr txBox="1"/>
          <p:nvPr/>
        </p:nvSpPr>
        <p:spPr>
          <a:xfrm>
            <a:off x="2441513" y="3600450"/>
            <a:ext cx="452640" cy="26060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GB" sz="1100" u="none" cap="none" strike="noStrike">
                <a:solidFill>
                  <a:srgbClr val="8B95A6"/>
                </a:solidFill>
                <a:latin typeface="Courier New"/>
                <a:ea typeface="Courier New"/>
                <a:cs typeface="Courier New"/>
                <a:sym typeface="Courier New"/>
              </a:rPr>
              <a:t>0.06</a:t>
            </a:r>
            <a:endParaRPr sz="1100"/>
          </a:p>
        </p:txBody>
      </p:sp>
      <p:sp>
        <p:nvSpPr>
          <p:cNvPr id="1183" name="Google Shape;1183;p65"/>
          <p:cNvSpPr/>
          <p:nvPr/>
        </p:nvSpPr>
        <p:spPr>
          <a:xfrm>
            <a:off x="2962735" y="3380994"/>
            <a:ext cx="548655" cy="548640"/>
          </a:xfrm>
          <a:prstGeom prst="rect">
            <a:avLst/>
          </a:prstGeom>
          <a:solidFill>
            <a:srgbClr val="F1F2F4"/>
          </a:solidFill>
          <a:ln cap="flat" cmpd="sng" w="9525">
            <a:solidFill>
              <a:srgbClr val="C9CF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84" name="Google Shape;1184;p65"/>
          <p:cNvSpPr txBox="1"/>
          <p:nvPr/>
        </p:nvSpPr>
        <p:spPr>
          <a:xfrm>
            <a:off x="3031317" y="3600450"/>
            <a:ext cx="452640" cy="26060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GB" sz="1100" u="none" cap="none" strike="noStrike">
                <a:solidFill>
                  <a:srgbClr val="8B95A6"/>
                </a:solidFill>
                <a:latin typeface="Courier New"/>
                <a:ea typeface="Courier New"/>
                <a:cs typeface="Courier New"/>
                <a:sym typeface="Courier New"/>
              </a:rPr>
              <a:t>0.12</a:t>
            </a:r>
            <a:endParaRPr sz="1100"/>
          </a:p>
        </p:txBody>
      </p:sp>
      <p:sp>
        <p:nvSpPr>
          <p:cNvPr id="1185" name="Google Shape;1185;p65"/>
          <p:cNvSpPr/>
          <p:nvPr/>
        </p:nvSpPr>
        <p:spPr>
          <a:xfrm>
            <a:off x="3552539" y="3380994"/>
            <a:ext cx="548655" cy="548640"/>
          </a:xfrm>
          <a:prstGeom prst="rect">
            <a:avLst/>
          </a:prstGeom>
          <a:solidFill>
            <a:srgbClr val="FF671F"/>
          </a:solidFill>
          <a:ln cap="flat" cmpd="sng" w="9525">
            <a:solidFill>
              <a:srgbClr val="C9CF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86" name="Google Shape;1186;p65"/>
          <p:cNvSpPr txBox="1"/>
          <p:nvPr/>
        </p:nvSpPr>
        <p:spPr>
          <a:xfrm>
            <a:off x="3621121" y="3600450"/>
            <a:ext cx="452640" cy="26060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u="none" cap="none" strike="noStrike">
                <a:solidFill>
                  <a:srgbClr val="FFFFFF"/>
                </a:solidFill>
                <a:latin typeface="Courier New"/>
                <a:ea typeface="Courier New"/>
                <a:cs typeface="Courier New"/>
                <a:sym typeface="Courier New"/>
              </a:rPr>
              <a:t>0.90</a:t>
            </a:r>
            <a:endParaRPr sz="1100"/>
          </a:p>
        </p:txBody>
      </p:sp>
      <p:sp>
        <p:nvSpPr>
          <p:cNvPr id="1187" name="Google Shape;1187;p65"/>
          <p:cNvSpPr/>
          <p:nvPr/>
        </p:nvSpPr>
        <p:spPr>
          <a:xfrm>
            <a:off x="4142342" y="3380994"/>
            <a:ext cx="548655" cy="548640"/>
          </a:xfrm>
          <a:prstGeom prst="rect">
            <a:avLst/>
          </a:prstGeom>
          <a:solidFill>
            <a:srgbClr val="F1F2F4"/>
          </a:solidFill>
          <a:ln cap="flat" cmpd="sng" w="9525">
            <a:solidFill>
              <a:srgbClr val="C9CF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88" name="Google Shape;1188;p65"/>
          <p:cNvSpPr txBox="1"/>
          <p:nvPr/>
        </p:nvSpPr>
        <p:spPr>
          <a:xfrm>
            <a:off x="4210924" y="3600450"/>
            <a:ext cx="452640" cy="26060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GB" sz="1100" u="none" cap="none" strike="noStrike">
                <a:solidFill>
                  <a:srgbClr val="8B95A6"/>
                </a:solidFill>
                <a:latin typeface="Courier New"/>
                <a:ea typeface="Courier New"/>
                <a:cs typeface="Courier New"/>
                <a:sym typeface="Courier New"/>
              </a:rPr>
              <a:t>0.04</a:t>
            </a:r>
            <a:endParaRPr sz="1100"/>
          </a:p>
        </p:txBody>
      </p:sp>
      <p:sp>
        <p:nvSpPr>
          <p:cNvPr id="1189" name="Google Shape;1189;p65"/>
          <p:cNvSpPr/>
          <p:nvPr/>
        </p:nvSpPr>
        <p:spPr>
          <a:xfrm>
            <a:off x="1783128" y="3970782"/>
            <a:ext cx="548655" cy="548640"/>
          </a:xfrm>
          <a:prstGeom prst="rect">
            <a:avLst/>
          </a:prstGeom>
          <a:solidFill>
            <a:srgbClr val="F1F2F4"/>
          </a:solidFill>
          <a:ln cap="flat" cmpd="sng" w="9525">
            <a:solidFill>
              <a:srgbClr val="C9CF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90" name="Google Shape;1190;p65"/>
          <p:cNvSpPr txBox="1"/>
          <p:nvPr/>
        </p:nvSpPr>
        <p:spPr>
          <a:xfrm>
            <a:off x="1851709" y="4190238"/>
            <a:ext cx="452640" cy="26060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GB" sz="1100" u="none" cap="none" strike="noStrike">
                <a:solidFill>
                  <a:srgbClr val="8B95A6"/>
                </a:solidFill>
                <a:latin typeface="Courier New"/>
                <a:ea typeface="Courier New"/>
                <a:cs typeface="Courier New"/>
                <a:sym typeface="Courier New"/>
              </a:rPr>
              <a:t>0.05</a:t>
            </a:r>
            <a:endParaRPr sz="1100"/>
          </a:p>
        </p:txBody>
      </p:sp>
      <p:sp>
        <p:nvSpPr>
          <p:cNvPr id="1191" name="Google Shape;1191;p65"/>
          <p:cNvSpPr/>
          <p:nvPr/>
        </p:nvSpPr>
        <p:spPr>
          <a:xfrm>
            <a:off x="2372931" y="3970782"/>
            <a:ext cx="548655" cy="548640"/>
          </a:xfrm>
          <a:prstGeom prst="rect">
            <a:avLst/>
          </a:prstGeom>
          <a:solidFill>
            <a:srgbClr val="EEDCCF"/>
          </a:solidFill>
          <a:ln cap="flat" cmpd="sng" w="9525">
            <a:solidFill>
              <a:srgbClr val="C9CF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92" name="Google Shape;1192;p65"/>
          <p:cNvSpPr txBox="1"/>
          <p:nvPr/>
        </p:nvSpPr>
        <p:spPr>
          <a:xfrm>
            <a:off x="2441513" y="4190238"/>
            <a:ext cx="452640" cy="26060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GB" sz="1100" u="none" cap="none" strike="noStrike">
                <a:solidFill>
                  <a:srgbClr val="8B95A6"/>
                </a:solidFill>
                <a:latin typeface="Courier New"/>
                <a:ea typeface="Courier New"/>
                <a:cs typeface="Courier New"/>
                <a:sym typeface="Courier New"/>
              </a:rPr>
              <a:t>0.35</a:t>
            </a:r>
            <a:endParaRPr sz="1100"/>
          </a:p>
        </p:txBody>
      </p:sp>
      <p:sp>
        <p:nvSpPr>
          <p:cNvPr id="1193" name="Google Shape;1193;p65"/>
          <p:cNvSpPr/>
          <p:nvPr/>
        </p:nvSpPr>
        <p:spPr>
          <a:xfrm>
            <a:off x="2962735" y="3970782"/>
            <a:ext cx="548655" cy="548640"/>
          </a:xfrm>
          <a:prstGeom prst="rect">
            <a:avLst/>
          </a:prstGeom>
          <a:solidFill>
            <a:srgbClr val="FF9530"/>
          </a:solidFill>
          <a:ln cap="flat" cmpd="sng" w="9525">
            <a:solidFill>
              <a:srgbClr val="C9CF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94" name="Google Shape;1194;p65"/>
          <p:cNvSpPr txBox="1"/>
          <p:nvPr/>
        </p:nvSpPr>
        <p:spPr>
          <a:xfrm>
            <a:off x="3031317" y="4190238"/>
            <a:ext cx="452640" cy="26060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GB" sz="1100" u="none" cap="none" strike="noStrike">
                <a:solidFill>
                  <a:srgbClr val="FFFFFF"/>
                </a:solidFill>
                <a:latin typeface="Courier New"/>
                <a:ea typeface="Courier New"/>
                <a:cs typeface="Courier New"/>
                <a:sym typeface="Courier New"/>
              </a:rPr>
              <a:t>0.58</a:t>
            </a:r>
            <a:endParaRPr sz="1100"/>
          </a:p>
        </p:txBody>
      </p:sp>
      <p:sp>
        <p:nvSpPr>
          <p:cNvPr id="1195" name="Google Shape;1195;p65"/>
          <p:cNvSpPr/>
          <p:nvPr/>
        </p:nvSpPr>
        <p:spPr>
          <a:xfrm>
            <a:off x="3552539" y="3970782"/>
            <a:ext cx="548655" cy="548640"/>
          </a:xfrm>
          <a:prstGeom prst="rect">
            <a:avLst/>
          </a:prstGeom>
          <a:solidFill>
            <a:srgbClr val="F1F2F4"/>
          </a:solidFill>
          <a:ln cap="flat" cmpd="sng" w="9525">
            <a:solidFill>
              <a:srgbClr val="C9CF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96" name="Google Shape;1196;p65"/>
          <p:cNvSpPr txBox="1"/>
          <p:nvPr/>
        </p:nvSpPr>
        <p:spPr>
          <a:xfrm>
            <a:off x="3621121" y="4190238"/>
            <a:ext cx="452640" cy="26060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GB" sz="1100" u="none" cap="none" strike="noStrike">
                <a:solidFill>
                  <a:srgbClr val="8B95A6"/>
                </a:solidFill>
                <a:latin typeface="Courier New"/>
                <a:ea typeface="Courier New"/>
                <a:cs typeface="Courier New"/>
                <a:sym typeface="Courier New"/>
              </a:rPr>
              <a:t>0.06</a:t>
            </a:r>
            <a:endParaRPr sz="1100"/>
          </a:p>
        </p:txBody>
      </p:sp>
      <p:sp>
        <p:nvSpPr>
          <p:cNvPr id="1197" name="Google Shape;1197;p65"/>
          <p:cNvSpPr/>
          <p:nvPr/>
        </p:nvSpPr>
        <p:spPr>
          <a:xfrm>
            <a:off x="4142342" y="3970782"/>
            <a:ext cx="548655" cy="548640"/>
          </a:xfrm>
          <a:prstGeom prst="rect">
            <a:avLst/>
          </a:prstGeom>
          <a:solidFill>
            <a:srgbClr val="FF671F"/>
          </a:solidFill>
          <a:ln cap="flat" cmpd="sng" w="9525">
            <a:solidFill>
              <a:srgbClr val="C9CF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198" name="Google Shape;1198;p65"/>
          <p:cNvSpPr txBox="1"/>
          <p:nvPr/>
        </p:nvSpPr>
        <p:spPr>
          <a:xfrm>
            <a:off x="4210924" y="4190238"/>
            <a:ext cx="452640" cy="260604"/>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u="none" cap="none" strike="noStrike">
                <a:solidFill>
                  <a:srgbClr val="FFFFFF"/>
                </a:solidFill>
                <a:latin typeface="Courier New"/>
                <a:ea typeface="Courier New"/>
                <a:cs typeface="Courier New"/>
                <a:sym typeface="Courier New"/>
              </a:rPr>
              <a:t>0.88</a:t>
            </a:r>
            <a:endParaRPr sz="1100"/>
          </a:p>
        </p:txBody>
      </p:sp>
      <p:sp>
        <p:nvSpPr>
          <p:cNvPr id="1199" name="Google Shape;1199;p65"/>
          <p:cNvSpPr txBox="1"/>
          <p:nvPr/>
        </p:nvSpPr>
        <p:spPr>
          <a:xfrm>
            <a:off x="720109" y="1611630"/>
            <a:ext cx="260611" cy="294894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800" u="none" cap="none" strike="noStrike">
                <a:solidFill>
                  <a:srgbClr val="8B95A6"/>
                </a:solidFill>
                <a:latin typeface="Courier New"/>
                <a:ea typeface="Courier New"/>
                <a:cs typeface="Courier New"/>
                <a:sym typeface="Courier New"/>
              </a:rPr>
              <a:t>Q</a:t>
            </a:r>
            <a:br>
              <a:rPr b="1" i="0" lang="en-GB" sz="800" u="none" cap="none" strike="noStrike">
                <a:solidFill>
                  <a:srgbClr val="8B95A6"/>
                </a:solidFill>
                <a:latin typeface="Courier New"/>
                <a:ea typeface="Courier New"/>
                <a:cs typeface="Courier New"/>
                <a:sym typeface="Courier New"/>
              </a:rPr>
            </a:br>
            <a:r>
              <a:rPr b="1" i="0" lang="en-GB" sz="800" u="none" cap="none" strike="noStrike">
                <a:solidFill>
                  <a:srgbClr val="8B95A6"/>
                </a:solidFill>
                <a:latin typeface="Courier New"/>
                <a:ea typeface="Courier New"/>
                <a:cs typeface="Courier New"/>
                <a:sym typeface="Courier New"/>
              </a:rPr>
              <a:t>U</a:t>
            </a:r>
            <a:br>
              <a:rPr b="1" i="0" lang="en-GB" sz="800" u="none" cap="none" strike="noStrike">
                <a:solidFill>
                  <a:srgbClr val="8B95A6"/>
                </a:solidFill>
                <a:latin typeface="Courier New"/>
                <a:ea typeface="Courier New"/>
                <a:cs typeface="Courier New"/>
                <a:sym typeface="Courier New"/>
              </a:rPr>
            </a:br>
            <a:r>
              <a:rPr b="1" i="0" lang="en-GB" sz="800" u="none" cap="none" strike="noStrike">
                <a:solidFill>
                  <a:srgbClr val="8B95A6"/>
                </a:solidFill>
                <a:latin typeface="Courier New"/>
                <a:ea typeface="Courier New"/>
                <a:cs typeface="Courier New"/>
                <a:sym typeface="Courier New"/>
              </a:rPr>
              <a:t>E</a:t>
            </a:r>
            <a:br>
              <a:rPr b="1" i="0" lang="en-GB" sz="800" u="none" cap="none" strike="noStrike">
                <a:solidFill>
                  <a:srgbClr val="8B95A6"/>
                </a:solidFill>
                <a:latin typeface="Courier New"/>
                <a:ea typeface="Courier New"/>
                <a:cs typeface="Courier New"/>
                <a:sym typeface="Courier New"/>
              </a:rPr>
            </a:br>
            <a:r>
              <a:rPr b="1" i="0" lang="en-GB" sz="800" u="none" cap="none" strike="noStrike">
                <a:solidFill>
                  <a:srgbClr val="8B95A6"/>
                </a:solidFill>
                <a:latin typeface="Courier New"/>
                <a:ea typeface="Courier New"/>
                <a:cs typeface="Courier New"/>
                <a:sym typeface="Courier New"/>
              </a:rPr>
              <a:t>R</a:t>
            </a:r>
            <a:br>
              <a:rPr b="1" i="0" lang="en-GB" sz="800" u="none" cap="none" strike="noStrike">
                <a:solidFill>
                  <a:srgbClr val="8B95A6"/>
                </a:solidFill>
                <a:latin typeface="Courier New"/>
                <a:ea typeface="Courier New"/>
                <a:cs typeface="Courier New"/>
                <a:sym typeface="Courier New"/>
              </a:rPr>
            </a:br>
            <a:r>
              <a:rPr b="1" i="0" lang="en-GB" sz="800" u="none" cap="none" strike="noStrike">
                <a:solidFill>
                  <a:srgbClr val="8B95A6"/>
                </a:solidFill>
                <a:latin typeface="Courier New"/>
                <a:ea typeface="Courier New"/>
                <a:cs typeface="Courier New"/>
                <a:sym typeface="Courier New"/>
              </a:rPr>
              <a:t>Y</a:t>
            </a:r>
            <a:br>
              <a:rPr b="1" i="0" lang="en-GB" sz="800" u="none" cap="none" strike="noStrike">
                <a:solidFill>
                  <a:srgbClr val="8B95A6"/>
                </a:solidFill>
                <a:latin typeface="Courier New"/>
                <a:ea typeface="Courier New"/>
                <a:cs typeface="Courier New"/>
                <a:sym typeface="Courier New"/>
              </a:rPr>
            </a:br>
            <a:r>
              <a:rPr b="1" i="0" lang="en-GB" sz="800" u="none" cap="none" strike="noStrike">
                <a:solidFill>
                  <a:srgbClr val="8B95A6"/>
                </a:solidFill>
                <a:latin typeface="Courier New"/>
                <a:ea typeface="Courier New"/>
                <a:cs typeface="Courier New"/>
                <a:sym typeface="Courier New"/>
              </a:rPr>
              <a:t>↓</a:t>
            </a:r>
            <a:endParaRPr sz="1100"/>
          </a:p>
        </p:txBody>
      </p:sp>
      <p:sp>
        <p:nvSpPr>
          <p:cNvPr id="1200" name="Google Shape;1200;p65"/>
          <p:cNvSpPr/>
          <p:nvPr/>
        </p:nvSpPr>
        <p:spPr>
          <a:xfrm>
            <a:off x="5321946" y="1039938"/>
            <a:ext cx="3394800" cy="273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01" name="Google Shape;1201;p65"/>
          <p:cNvSpPr txBox="1"/>
          <p:nvPr/>
        </p:nvSpPr>
        <p:spPr>
          <a:xfrm>
            <a:off x="5321946" y="1108518"/>
            <a:ext cx="33948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000" u="none" cap="none" strike="noStrike">
                <a:solidFill>
                  <a:srgbClr val="FF671F"/>
                </a:solidFill>
                <a:latin typeface="Manrope"/>
                <a:ea typeface="Manrope"/>
                <a:cs typeface="Manrope"/>
                <a:sym typeface="Manrope"/>
              </a:rPr>
              <a:t>Strong self-attention (diagonal)</a:t>
            </a:r>
            <a:endParaRPr sz="1100"/>
          </a:p>
        </p:txBody>
      </p:sp>
      <p:sp>
        <p:nvSpPr>
          <p:cNvPr id="1202" name="Google Shape;1202;p65"/>
          <p:cNvSpPr/>
          <p:nvPr/>
        </p:nvSpPr>
        <p:spPr>
          <a:xfrm>
            <a:off x="5321946" y="1862898"/>
            <a:ext cx="3394800" cy="27300"/>
          </a:xfrm>
          <a:prstGeom prst="rect">
            <a:avLst/>
          </a:prstGeom>
          <a:solidFill>
            <a:srgbClr val="2BB1A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03" name="Google Shape;1203;p65"/>
          <p:cNvSpPr txBox="1"/>
          <p:nvPr/>
        </p:nvSpPr>
        <p:spPr>
          <a:xfrm>
            <a:off x="5321946" y="1931478"/>
            <a:ext cx="33948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000" u="none" cap="none" strike="noStrike">
                <a:solidFill>
                  <a:srgbClr val="2BB1A6"/>
                </a:solidFill>
                <a:latin typeface="Manrope"/>
                <a:ea typeface="Manrope"/>
                <a:cs typeface="Manrope"/>
                <a:sym typeface="Manrope"/>
              </a:rPr>
              <a:t>'sat' attends to 'cat' and 'mat'</a:t>
            </a:r>
            <a:endParaRPr sz="1100"/>
          </a:p>
        </p:txBody>
      </p:sp>
      <p:sp>
        <p:nvSpPr>
          <p:cNvPr id="1204" name="Google Shape;1204;p65"/>
          <p:cNvSpPr txBox="1"/>
          <p:nvPr/>
        </p:nvSpPr>
        <p:spPr>
          <a:xfrm>
            <a:off x="5321946" y="1314258"/>
            <a:ext cx="3394800" cy="48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8B95A6"/>
                </a:solidFill>
                <a:latin typeface="Manrope"/>
                <a:ea typeface="Manrope"/>
                <a:cs typeface="Manrope"/>
                <a:sym typeface="Manrope"/>
              </a:rPr>
              <a:t>Every token attends strongly to itself — the diagonal values are all &gt; 0.8. This is the token's own identity signal, retained through every layer.</a:t>
            </a:r>
            <a:endParaRPr sz="1100"/>
          </a:p>
        </p:txBody>
      </p:sp>
      <p:sp>
        <p:nvSpPr>
          <p:cNvPr id="1205" name="Google Shape;1205;p65"/>
          <p:cNvSpPr txBox="1"/>
          <p:nvPr/>
        </p:nvSpPr>
        <p:spPr>
          <a:xfrm>
            <a:off x="5321946" y="2137218"/>
            <a:ext cx="3394800" cy="48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8B95A6"/>
                </a:solidFill>
                <a:latin typeface="Manrope"/>
                <a:ea typeface="Manrope"/>
                <a:cs typeface="Manrope"/>
                <a:sym typeface="Manrope"/>
              </a:rPr>
              <a:t>Row 3 (sat): high weights for 'cat' (0.22) and 'mat' (0.55). The model links the verb to both subject and object — purely through learned attention.</a:t>
            </a:r>
            <a:endParaRPr sz="1100"/>
          </a:p>
        </p:txBody>
      </p:sp>
      <p:sp>
        <p:nvSpPr>
          <p:cNvPr id="1206" name="Google Shape;1206;p65"/>
          <p:cNvSpPr/>
          <p:nvPr/>
        </p:nvSpPr>
        <p:spPr>
          <a:xfrm>
            <a:off x="5321946" y="2685858"/>
            <a:ext cx="3394800" cy="27300"/>
          </a:xfrm>
          <a:prstGeom prst="rect">
            <a:avLst/>
          </a:prstGeom>
          <a:solidFill>
            <a:srgbClr val="7B5BD9"/>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07" name="Google Shape;1207;p65"/>
          <p:cNvSpPr txBox="1"/>
          <p:nvPr/>
        </p:nvSpPr>
        <p:spPr>
          <a:xfrm>
            <a:off x="5321946" y="2754438"/>
            <a:ext cx="33948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000" u="none" cap="none" strike="noStrike">
                <a:solidFill>
                  <a:srgbClr val="7B5BD9"/>
                </a:solidFill>
                <a:latin typeface="Manrope"/>
                <a:ea typeface="Manrope"/>
                <a:cs typeface="Manrope"/>
                <a:sym typeface="Manrope"/>
              </a:rPr>
              <a:t>'mat' attends to 'sat' (0.58)</a:t>
            </a:r>
            <a:endParaRPr sz="1100"/>
          </a:p>
        </p:txBody>
      </p:sp>
      <p:sp>
        <p:nvSpPr>
          <p:cNvPr id="1208" name="Google Shape;1208;p65"/>
          <p:cNvSpPr txBox="1"/>
          <p:nvPr/>
        </p:nvSpPr>
        <p:spPr>
          <a:xfrm>
            <a:off x="5321946" y="2960178"/>
            <a:ext cx="3394800" cy="48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8B95A6"/>
                </a:solidFill>
                <a:latin typeface="Manrope"/>
                <a:ea typeface="Manrope"/>
                <a:cs typeface="Manrope"/>
                <a:sym typeface="Manrope"/>
              </a:rPr>
              <a:t>Row 5 (mat): high weight for 'sat'. The model infers that 'mat' is where the 'sitting' happens — semantic proximity, not word proximity.</a:t>
            </a:r>
            <a:endParaRPr sz="1100"/>
          </a:p>
        </p:txBody>
      </p:sp>
      <p:sp>
        <p:nvSpPr>
          <p:cNvPr id="1209" name="Google Shape;1209;p65"/>
          <p:cNvSpPr/>
          <p:nvPr/>
        </p:nvSpPr>
        <p:spPr>
          <a:xfrm>
            <a:off x="5321946" y="3508818"/>
            <a:ext cx="3394800" cy="27300"/>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10" name="Google Shape;1210;p65"/>
          <p:cNvSpPr txBox="1"/>
          <p:nvPr/>
        </p:nvSpPr>
        <p:spPr>
          <a:xfrm>
            <a:off x="5321946" y="3639978"/>
            <a:ext cx="33948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000" u="none" cap="none" strike="noStrike">
                <a:solidFill>
                  <a:srgbClr val="384358"/>
                </a:solidFill>
                <a:latin typeface="Manrope"/>
                <a:ea typeface="Manrope"/>
                <a:cs typeface="Manrope"/>
                <a:sym typeface="Manrope"/>
              </a:rPr>
              <a:t>'The' ignores most tokens</a:t>
            </a:r>
            <a:endParaRPr sz="1100"/>
          </a:p>
        </p:txBody>
      </p:sp>
      <p:sp>
        <p:nvSpPr>
          <p:cNvPr id="1211" name="Google Shape;1211;p65"/>
          <p:cNvSpPr txBox="1"/>
          <p:nvPr/>
        </p:nvSpPr>
        <p:spPr>
          <a:xfrm>
            <a:off x="5321946" y="3845718"/>
            <a:ext cx="3394800" cy="48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8B95A6"/>
                </a:solidFill>
                <a:latin typeface="Manrope"/>
                <a:ea typeface="Manrope"/>
                <a:cs typeface="Manrope"/>
                <a:sym typeface="Manrope"/>
              </a:rPr>
              <a:t>Definite articles carry little semantic content. The model learns to keep their attention local — an emergent linguistic insight, not hand-coded.</a:t>
            </a:r>
            <a:endParaRPr sz="1100"/>
          </a:p>
        </p:txBody>
      </p:sp>
      <p:sp>
        <p:nvSpPr>
          <p:cNvPr id="1212" name="Google Shape;1212;p65"/>
          <p:cNvSpPr/>
          <p:nvPr/>
        </p:nvSpPr>
        <p:spPr>
          <a:xfrm>
            <a:off x="822982" y="4423410"/>
            <a:ext cx="2560388" cy="329184"/>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13" name="Google Shape;1213;p65"/>
          <p:cNvSpPr/>
          <p:nvPr/>
        </p:nvSpPr>
        <p:spPr>
          <a:xfrm>
            <a:off x="822982" y="4423410"/>
            <a:ext cx="41149" cy="329184"/>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14" name="Google Shape;1214;p65"/>
          <p:cNvSpPr txBox="1"/>
          <p:nvPr/>
        </p:nvSpPr>
        <p:spPr>
          <a:xfrm>
            <a:off x="918996" y="4464558"/>
            <a:ext cx="2436941" cy="1371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671F"/>
                </a:solidFill>
                <a:latin typeface="Manrope"/>
                <a:ea typeface="Manrope"/>
                <a:cs typeface="Manrope"/>
                <a:sym typeface="Manrope"/>
              </a:rPr>
              <a:t>Parallel</a:t>
            </a:r>
            <a:endParaRPr sz="1100"/>
          </a:p>
        </p:txBody>
      </p:sp>
      <p:sp>
        <p:nvSpPr>
          <p:cNvPr id="1215" name="Google Shape;1215;p65"/>
          <p:cNvSpPr txBox="1"/>
          <p:nvPr/>
        </p:nvSpPr>
        <p:spPr>
          <a:xfrm>
            <a:off x="918996" y="4601718"/>
            <a:ext cx="2436941" cy="15087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All pairs computed simultaneously</a:t>
            </a:r>
            <a:endParaRPr sz="1100"/>
          </a:p>
        </p:txBody>
      </p:sp>
      <p:sp>
        <p:nvSpPr>
          <p:cNvPr id="1216" name="Google Shape;1216;p65"/>
          <p:cNvSpPr/>
          <p:nvPr/>
        </p:nvSpPr>
        <p:spPr>
          <a:xfrm>
            <a:off x="3451952" y="4434377"/>
            <a:ext cx="2560500" cy="3291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17" name="Google Shape;1217;p65"/>
          <p:cNvSpPr/>
          <p:nvPr/>
        </p:nvSpPr>
        <p:spPr>
          <a:xfrm>
            <a:off x="3451952" y="4423410"/>
            <a:ext cx="41149" cy="329184"/>
          </a:xfrm>
          <a:prstGeom prst="rect">
            <a:avLst/>
          </a:prstGeom>
          <a:solidFill>
            <a:srgbClr val="2BB1A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18" name="Google Shape;1218;p65"/>
          <p:cNvSpPr txBox="1"/>
          <p:nvPr/>
        </p:nvSpPr>
        <p:spPr>
          <a:xfrm>
            <a:off x="3547967" y="4475525"/>
            <a:ext cx="24369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2BB1A6"/>
                </a:solidFill>
                <a:latin typeface="Manrope"/>
                <a:ea typeface="Manrope"/>
                <a:cs typeface="Manrope"/>
                <a:sym typeface="Manrope"/>
              </a:rPr>
              <a:t>Contextual</a:t>
            </a:r>
            <a:endParaRPr sz="1100"/>
          </a:p>
        </p:txBody>
      </p:sp>
      <p:sp>
        <p:nvSpPr>
          <p:cNvPr id="1219" name="Google Shape;1219;p65"/>
          <p:cNvSpPr txBox="1"/>
          <p:nvPr/>
        </p:nvSpPr>
        <p:spPr>
          <a:xfrm>
            <a:off x="3547975" y="4612680"/>
            <a:ext cx="2436900" cy="315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Same word → different weights in different sentences</a:t>
            </a:r>
            <a:endParaRPr sz="1100"/>
          </a:p>
        </p:txBody>
      </p:sp>
      <p:sp>
        <p:nvSpPr>
          <p:cNvPr id="1220" name="Google Shape;1220;p65"/>
          <p:cNvSpPr/>
          <p:nvPr/>
        </p:nvSpPr>
        <p:spPr>
          <a:xfrm>
            <a:off x="6080922" y="4434377"/>
            <a:ext cx="2560500" cy="3291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21" name="Google Shape;1221;p65"/>
          <p:cNvSpPr/>
          <p:nvPr/>
        </p:nvSpPr>
        <p:spPr>
          <a:xfrm>
            <a:off x="6080922" y="4434377"/>
            <a:ext cx="41100" cy="329100"/>
          </a:xfrm>
          <a:prstGeom prst="rect">
            <a:avLst/>
          </a:prstGeom>
          <a:solidFill>
            <a:srgbClr val="7B5BD9"/>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22" name="Google Shape;1222;p65"/>
          <p:cNvSpPr txBox="1"/>
          <p:nvPr/>
        </p:nvSpPr>
        <p:spPr>
          <a:xfrm>
            <a:off x="6176937" y="4475525"/>
            <a:ext cx="24369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7B5BD9"/>
                </a:solidFill>
                <a:latin typeface="Manrope"/>
                <a:ea typeface="Manrope"/>
                <a:cs typeface="Manrope"/>
                <a:sym typeface="Manrope"/>
              </a:rPr>
              <a:t>Learnable</a:t>
            </a:r>
            <a:endParaRPr sz="1100"/>
          </a:p>
        </p:txBody>
      </p:sp>
      <p:sp>
        <p:nvSpPr>
          <p:cNvPr id="1223" name="Google Shape;1223;p65"/>
          <p:cNvSpPr txBox="1"/>
          <p:nvPr/>
        </p:nvSpPr>
        <p:spPr>
          <a:xfrm>
            <a:off x="6176937" y="4612685"/>
            <a:ext cx="24369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Weights emerge from training, not rules</a:t>
            </a:r>
            <a:endParaRPr sz="1100"/>
          </a:p>
        </p:txBody>
      </p:sp>
      <p:sp>
        <p:nvSpPr>
          <p:cNvPr id="1224" name="Google Shape;1224;p65"/>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
        <p:nvSpPr>
          <p:cNvPr id="1225" name="Google Shape;1225;p65"/>
          <p:cNvSpPr txBox="1"/>
          <p:nvPr/>
        </p:nvSpPr>
        <p:spPr>
          <a:xfrm>
            <a:off x="7201092" y="4742987"/>
            <a:ext cx="1371600" cy="19230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0" i="0" lang="en-GB" sz="800" u="none" cap="none" strike="noStrike">
                <a:solidFill>
                  <a:srgbClr val="8B95A6"/>
                </a:solidFill>
                <a:latin typeface="Courier New"/>
                <a:ea typeface="Courier New"/>
                <a:cs typeface="Courier New"/>
                <a:sym typeface="Courier New"/>
              </a:rPr>
              <a:t>02 / 5</a:t>
            </a:r>
            <a:endParaRPr sz="11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9" name="Shape 1229"/>
        <p:cNvGrpSpPr/>
        <p:nvPr/>
      </p:nvGrpSpPr>
      <p:grpSpPr>
        <a:xfrm>
          <a:off x="0" y="0"/>
          <a:ext cx="0" cy="0"/>
          <a:chOff x="0" y="0"/>
          <a:chExt cx="0" cy="0"/>
        </a:xfrm>
      </p:grpSpPr>
      <p:sp>
        <p:nvSpPr>
          <p:cNvPr id="1230" name="Google Shape;1230;p66"/>
          <p:cNvSpPr/>
          <p:nvPr/>
        </p:nvSpPr>
        <p:spPr>
          <a:xfrm>
            <a:off x="0" y="-274174"/>
            <a:ext cx="9144000" cy="51435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100" u="none" cap="none" strike="noStrike">
              <a:solidFill>
                <a:schemeClr val="dk1"/>
              </a:solidFill>
              <a:latin typeface="Calibri"/>
              <a:ea typeface="Calibri"/>
              <a:cs typeface="Calibri"/>
              <a:sym typeface="Calibri"/>
            </a:endParaRPr>
          </a:p>
        </p:txBody>
      </p:sp>
      <p:sp>
        <p:nvSpPr>
          <p:cNvPr id="1231" name="Google Shape;1231;p66"/>
          <p:cNvSpPr txBox="1"/>
          <p:nvPr/>
        </p:nvSpPr>
        <p:spPr>
          <a:xfrm>
            <a:off x="822982" y="-210975"/>
            <a:ext cx="34290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GlobalLogic</a:t>
            </a:r>
            <a:endParaRPr sz="1100"/>
          </a:p>
        </p:txBody>
      </p:sp>
      <p:sp>
        <p:nvSpPr>
          <p:cNvPr id="1232" name="Google Shape;1232;p66"/>
          <p:cNvSpPr txBox="1"/>
          <p:nvPr/>
        </p:nvSpPr>
        <p:spPr>
          <a:xfrm>
            <a:off x="822982" y="-5235"/>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1233" name="Google Shape;1233;p66"/>
          <p:cNvSpPr txBox="1"/>
          <p:nvPr/>
        </p:nvSpPr>
        <p:spPr>
          <a:xfrm>
            <a:off x="822982" y="200505"/>
            <a:ext cx="7201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HOW LLMS WOR</a:t>
            </a:r>
            <a:r>
              <a:rPr b="1" lang="en-GB" sz="800">
                <a:solidFill>
                  <a:srgbClr val="FF671F"/>
                </a:solidFill>
                <a:latin typeface="Courier New"/>
                <a:ea typeface="Courier New"/>
                <a:cs typeface="Courier New"/>
                <a:sym typeface="Courier New"/>
              </a:rPr>
              <a:t>K</a:t>
            </a:r>
            <a:r>
              <a:rPr b="1" i="0" lang="en-GB" sz="800" u="none" cap="none" strike="noStrike">
                <a:solidFill>
                  <a:srgbClr val="FF671F"/>
                </a:solidFill>
                <a:latin typeface="Courier New"/>
                <a:ea typeface="Courier New"/>
                <a:cs typeface="Courier New"/>
                <a:sym typeface="Courier New"/>
              </a:rPr>
              <a:t>  ·  THE TRANSFORMER  </a:t>
            </a:r>
            <a:endParaRPr sz="1100"/>
          </a:p>
        </p:txBody>
      </p:sp>
      <p:sp>
        <p:nvSpPr>
          <p:cNvPr id="1234" name="Google Shape;1234;p66"/>
          <p:cNvSpPr txBox="1"/>
          <p:nvPr/>
        </p:nvSpPr>
        <p:spPr>
          <a:xfrm>
            <a:off x="822982" y="367875"/>
            <a:ext cx="7406700" cy="300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u="none" cap="none" strike="noStrike">
                <a:solidFill>
                  <a:srgbClr val="1B1F2A"/>
                </a:solidFill>
                <a:latin typeface="Manrope"/>
                <a:ea typeface="Manrope"/>
                <a:cs typeface="Manrope"/>
                <a:sym typeface="Manrope"/>
              </a:rPr>
              <a:t>Transformer Encoder Block — Architecture Diagram.</a:t>
            </a:r>
            <a:endParaRPr sz="800"/>
          </a:p>
        </p:txBody>
      </p:sp>
      <p:sp>
        <p:nvSpPr>
          <p:cNvPr id="1235" name="Google Shape;1235;p66"/>
          <p:cNvSpPr txBox="1"/>
          <p:nvPr/>
        </p:nvSpPr>
        <p:spPr>
          <a:xfrm>
            <a:off x="822982" y="642254"/>
            <a:ext cx="72012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8B95A6"/>
                </a:solidFill>
                <a:latin typeface="Manrope"/>
                <a:ea typeface="Manrope"/>
                <a:cs typeface="Manrope"/>
                <a:sym typeface="Manrope"/>
              </a:rPr>
              <a:t>One encoder layer, stacked N× (GPT-4: 96 layers · BERT-base: 12 layers · LLaMA-3: 32 layers).</a:t>
            </a:r>
            <a:endParaRPr sz="1100"/>
          </a:p>
        </p:txBody>
      </p:sp>
      <p:sp>
        <p:nvSpPr>
          <p:cNvPr id="1236" name="Google Shape;1236;p66"/>
          <p:cNvSpPr/>
          <p:nvPr/>
        </p:nvSpPr>
        <p:spPr>
          <a:xfrm>
            <a:off x="822982" y="869899"/>
            <a:ext cx="7544100" cy="273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37" name="Google Shape;1237;p66"/>
          <p:cNvSpPr/>
          <p:nvPr/>
        </p:nvSpPr>
        <p:spPr>
          <a:xfrm>
            <a:off x="857273" y="1071471"/>
            <a:ext cx="3326100" cy="397800"/>
          </a:xfrm>
          <a:prstGeom prst="roundRect">
            <a:avLst>
              <a:gd fmla="val 16667" name="adj"/>
            </a:avLst>
          </a:prstGeom>
          <a:solidFill>
            <a:srgbClr val="F1F2F4"/>
          </a:solidFill>
          <a:ln cap="flat" cmpd="sng" w="15225">
            <a:solidFill>
              <a:srgbClr val="C9CF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38" name="Google Shape;1238;p66"/>
          <p:cNvSpPr txBox="1"/>
          <p:nvPr/>
        </p:nvSpPr>
        <p:spPr>
          <a:xfrm>
            <a:off x="967004" y="1126335"/>
            <a:ext cx="3106800" cy="177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700" u="none" cap="none" strike="noStrike">
                <a:solidFill>
                  <a:srgbClr val="1B1F2A"/>
                </a:solidFill>
                <a:latin typeface="Manrope"/>
                <a:ea typeface="Manrope"/>
                <a:cs typeface="Manrope"/>
                <a:sym typeface="Manrope"/>
              </a:rPr>
              <a:t>INPUT TOKENS</a:t>
            </a:r>
            <a:endParaRPr sz="900"/>
          </a:p>
        </p:txBody>
      </p:sp>
      <p:sp>
        <p:nvSpPr>
          <p:cNvPr id="1239" name="Google Shape;1239;p66"/>
          <p:cNvSpPr txBox="1"/>
          <p:nvPr/>
        </p:nvSpPr>
        <p:spPr>
          <a:xfrm>
            <a:off x="967004" y="1260775"/>
            <a:ext cx="31068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'The cat sat on the mat'</a:t>
            </a:r>
            <a:endParaRPr sz="1100"/>
          </a:p>
        </p:txBody>
      </p:sp>
      <p:sp>
        <p:nvSpPr>
          <p:cNvPr id="1240" name="Google Shape;1240;p66"/>
          <p:cNvSpPr/>
          <p:nvPr/>
        </p:nvSpPr>
        <p:spPr>
          <a:xfrm>
            <a:off x="2489657" y="1482951"/>
            <a:ext cx="60300" cy="165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41" name="Google Shape;1241;p66"/>
          <p:cNvSpPr/>
          <p:nvPr/>
        </p:nvSpPr>
        <p:spPr>
          <a:xfrm>
            <a:off x="2465517" y="1492552"/>
            <a:ext cx="109800" cy="93300"/>
          </a:xfrm>
          <a:prstGeom prst="triangle">
            <a:avLst>
              <a:gd fmla="val 50000" name="adj"/>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42" name="Google Shape;1242;p66"/>
          <p:cNvSpPr/>
          <p:nvPr/>
        </p:nvSpPr>
        <p:spPr>
          <a:xfrm>
            <a:off x="857273" y="1592679"/>
            <a:ext cx="3326100" cy="425100"/>
          </a:xfrm>
          <a:prstGeom prst="roundRect">
            <a:avLst>
              <a:gd fmla="val 16667" name="adj"/>
            </a:avLst>
          </a:prstGeom>
          <a:solidFill>
            <a:srgbClr val="E8F4FD"/>
          </a:solidFill>
          <a:ln cap="flat" cmpd="sng" w="15225">
            <a:solidFill>
              <a:srgbClr val="2BB1A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43" name="Google Shape;1243;p66"/>
          <p:cNvSpPr txBox="1"/>
          <p:nvPr/>
        </p:nvSpPr>
        <p:spPr>
          <a:xfrm>
            <a:off x="967004" y="1647543"/>
            <a:ext cx="31068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600" u="none" cap="none" strike="noStrike">
                <a:solidFill>
                  <a:srgbClr val="384358"/>
                </a:solidFill>
                <a:latin typeface="Manrope"/>
                <a:ea typeface="Manrope"/>
                <a:cs typeface="Manrope"/>
                <a:sym typeface="Manrope"/>
              </a:rPr>
              <a:t>EMBEDDING + POSITIONAL ENCODING</a:t>
            </a:r>
            <a:endParaRPr sz="800"/>
          </a:p>
        </p:txBody>
      </p:sp>
      <p:sp>
        <p:nvSpPr>
          <p:cNvPr id="1244" name="Google Shape;1244;p66"/>
          <p:cNvSpPr txBox="1"/>
          <p:nvPr/>
        </p:nvSpPr>
        <p:spPr>
          <a:xfrm>
            <a:off x="967000" y="1806845"/>
            <a:ext cx="30030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600" u="none" cap="none" strike="noStrike">
                <a:solidFill>
                  <a:srgbClr val="8B95A6"/>
                </a:solidFill>
                <a:latin typeface="Courier New"/>
                <a:ea typeface="Courier New"/>
                <a:cs typeface="Courier New"/>
                <a:sym typeface="Courier New"/>
              </a:rPr>
              <a:t>token ID → 768-dim vector  +  sin/cos(position) signal</a:t>
            </a:r>
            <a:endParaRPr sz="900"/>
          </a:p>
        </p:txBody>
      </p:sp>
      <p:sp>
        <p:nvSpPr>
          <p:cNvPr id="1245" name="Google Shape;1245;p66"/>
          <p:cNvSpPr/>
          <p:nvPr/>
        </p:nvSpPr>
        <p:spPr>
          <a:xfrm>
            <a:off x="2489657" y="2031591"/>
            <a:ext cx="60300" cy="165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46" name="Google Shape;1246;p66"/>
          <p:cNvSpPr/>
          <p:nvPr/>
        </p:nvSpPr>
        <p:spPr>
          <a:xfrm>
            <a:off x="2465517" y="2041192"/>
            <a:ext cx="109800" cy="93300"/>
          </a:xfrm>
          <a:prstGeom prst="triangle">
            <a:avLst>
              <a:gd fmla="val 50000" name="adj"/>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47" name="Google Shape;1247;p66"/>
          <p:cNvSpPr/>
          <p:nvPr/>
        </p:nvSpPr>
        <p:spPr>
          <a:xfrm>
            <a:off x="857273" y="2141319"/>
            <a:ext cx="3326100" cy="452700"/>
          </a:xfrm>
          <a:prstGeom prst="roundRect">
            <a:avLst>
              <a:gd fmla="val 16667" name="adj"/>
            </a:avLst>
          </a:prstGeom>
          <a:solidFill>
            <a:srgbClr val="FFF0E6"/>
          </a:solidFill>
          <a:ln cap="flat" cmpd="sng" w="15225">
            <a:solidFill>
              <a:srgbClr val="FF671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48" name="Google Shape;1248;p66"/>
          <p:cNvSpPr txBox="1"/>
          <p:nvPr/>
        </p:nvSpPr>
        <p:spPr>
          <a:xfrm>
            <a:off x="967004" y="2196183"/>
            <a:ext cx="31068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600" u="none" cap="none" strike="noStrike">
                <a:solidFill>
                  <a:srgbClr val="FF671F"/>
                </a:solidFill>
                <a:latin typeface="Manrope"/>
                <a:ea typeface="Manrope"/>
                <a:cs typeface="Manrope"/>
                <a:sym typeface="Manrope"/>
              </a:rPr>
              <a:t>MULTI-HEAD SELF-ATTENTION</a:t>
            </a:r>
            <a:endParaRPr sz="800"/>
          </a:p>
        </p:txBody>
      </p:sp>
      <p:sp>
        <p:nvSpPr>
          <p:cNvPr id="1249" name="Google Shape;1249;p66"/>
          <p:cNvSpPr txBox="1"/>
          <p:nvPr/>
        </p:nvSpPr>
        <p:spPr>
          <a:xfrm>
            <a:off x="967004" y="2374491"/>
            <a:ext cx="31068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600" u="none" cap="none" strike="noStrike">
                <a:solidFill>
                  <a:srgbClr val="8B95A6"/>
                </a:solidFill>
                <a:latin typeface="Courier New"/>
                <a:ea typeface="Courier New"/>
                <a:cs typeface="Courier New"/>
                <a:sym typeface="Courier New"/>
              </a:rPr>
              <a:t>Q · Kᵀ / √dₖ  →  softmax  →  · V   ×  H heads   →  Wo projection</a:t>
            </a:r>
            <a:endParaRPr sz="900"/>
          </a:p>
        </p:txBody>
      </p:sp>
      <p:sp>
        <p:nvSpPr>
          <p:cNvPr id="1250" name="Google Shape;1250;p66"/>
          <p:cNvSpPr/>
          <p:nvPr/>
        </p:nvSpPr>
        <p:spPr>
          <a:xfrm>
            <a:off x="2489657" y="2607663"/>
            <a:ext cx="60300" cy="165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51" name="Google Shape;1251;p66"/>
          <p:cNvSpPr/>
          <p:nvPr/>
        </p:nvSpPr>
        <p:spPr>
          <a:xfrm>
            <a:off x="2465517" y="2617264"/>
            <a:ext cx="109800" cy="93300"/>
          </a:xfrm>
          <a:prstGeom prst="triangle">
            <a:avLst>
              <a:gd fmla="val 50000" name="adj"/>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52" name="Google Shape;1252;p66"/>
          <p:cNvSpPr/>
          <p:nvPr/>
        </p:nvSpPr>
        <p:spPr>
          <a:xfrm>
            <a:off x="857273" y="2717391"/>
            <a:ext cx="3326100" cy="397800"/>
          </a:xfrm>
          <a:prstGeom prst="roundRect">
            <a:avLst>
              <a:gd fmla="val 16667" name="adj"/>
            </a:avLst>
          </a:prstGeom>
          <a:solidFill>
            <a:srgbClr val="E0F5F2"/>
          </a:solidFill>
          <a:ln cap="flat" cmpd="sng" w="15225">
            <a:solidFill>
              <a:srgbClr val="2BB1A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53" name="Google Shape;1253;p66"/>
          <p:cNvSpPr txBox="1"/>
          <p:nvPr/>
        </p:nvSpPr>
        <p:spPr>
          <a:xfrm>
            <a:off x="967004" y="2772255"/>
            <a:ext cx="3106800" cy="177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700" u="none" cap="none" strike="noStrike">
                <a:solidFill>
                  <a:srgbClr val="2BB1A6"/>
                </a:solidFill>
                <a:latin typeface="Manrope"/>
                <a:ea typeface="Manrope"/>
                <a:cs typeface="Manrope"/>
                <a:sym typeface="Manrope"/>
              </a:rPr>
              <a:t>ADD &amp; NORM  ①   (Residual + Layer Norm)</a:t>
            </a:r>
            <a:endParaRPr sz="900"/>
          </a:p>
        </p:txBody>
      </p:sp>
      <p:sp>
        <p:nvSpPr>
          <p:cNvPr id="1254" name="Google Shape;1254;p66"/>
          <p:cNvSpPr txBox="1"/>
          <p:nvPr/>
        </p:nvSpPr>
        <p:spPr>
          <a:xfrm>
            <a:off x="967004" y="2950563"/>
            <a:ext cx="31068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500" u="none" cap="none" strike="noStrike">
                <a:solidFill>
                  <a:srgbClr val="8B95A6"/>
                </a:solidFill>
                <a:latin typeface="Courier New"/>
                <a:ea typeface="Courier New"/>
                <a:cs typeface="Courier New"/>
                <a:sym typeface="Courier New"/>
              </a:rPr>
              <a:t>Output = LayerNorm( x + Attention(x) )   ← skip connection preserves gradient flow</a:t>
            </a:r>
            <a:endParaRPr sz="800"/>
          </a:p>
        </p:txBody>
      </p:sp>
      <p:sp>
        <p:nvSpPr>
          <p:cNvPr id="1255" name="Google Shape;1255;p66"/>
          <p:cNvSpPr/>
          <p:nvPr/>
        </p:nvSpPr>
        <p:spPr>
          <a:xfrm>
            <a:off x="2489657" y="3128871"/>
            <a:ext cx="60300" cy="165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56" name="Google Shape;1256;p66"/>
          <p:cNvSpPr/>
          <p:nvPr/>
        </p:nvSpPr>
        <p:spPr>
          <a:xfrm>
            <a:off x="2465517" y="3138472"/>
            <a:ext cx="109800" cy="93300"/>
          </a:xfrm>
          <a:prstGeom prst="triangle">
            <a:avLst>
              <a:gd fmla="val 50000" name="adj"/>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57" name="Google Shape;1257;p66"/>
          <p:cNvSpPr/>
          <p:nvPr/>
        </p:nvSpPr>
        <p:spPr>
          <a:xfrm>
            <a:off x="857273" y="3183764"/>
            <a:ext cx="3326100" cy="425100"/>
          </a:xfrm>
          <a:prstGeom prst="roundRect">
            <a:avLst>
              <a:gd fmla="val 16667" name="adj"/>
            </a:avLst>
          </a:prstGeom>
          <a:solidFill>
            <a:srgbClr val="EEE8FD"/>
          </a:solidFill>
          <a:ln cap="flat" cmpd="sng" w="15225">
            <a:solidFill>
              <a:srgbClr val="7B5BD9"/>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58" name="Google Shape;1258;p66"/>
          <p:cNvSpPr txBox="1"/>
          <p:nvPr/>
        </p:nvSpPr>
        <p:spPr>
          <a:xfrm>
            <a:off x="967004" y="3227661"/>
            <a:ext cx="3106800" cy="177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700" u="none" cap="none" strike="noStrike">
                <a:solidFill>
                  <a:srgbClr val="7B5BD9"/>
                </a:solidFill>
                <a:latin typeface="Manrope"/>
                <a:ea typeface="Manrope"/>
                <a:cs typeface="Manrope"/>
                <a:sym typeface="Manrope"/>
              </a:rPr>
              <a:t>FEED-FORWARD NETWORK</a:t>
            </a:r>
            <a:endParaRPr sz="900"/>
          </a:p>
        </p:txBody>
      </p:sp>
      <p:sp>
        <p:nvSpPr>
          <p:cNvPr id="1259" name="Google Shape;1259;p66"/>
          <p:cNvSpPr txBox="1"/>
          <p:nvPr/>
        </p:nvSpPr>
        <p:spPr>
          <a:xfrm>
            <a:off x="967004" y="3351135"/>
            <a:ext cx="31068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600" u="none" cap="none" strike="noStrike">
                <a:solidFill>
                  <a:srgbClr val="8B95A6"/>
                </a:solidFill>
                <a:latin typeface="Courier New"/>
                <a:ea typeface="Courier New"/>
                <a:cs typeface="Courier New"/>
                <a:sym typeface="Courier New"/>
              </a:rPr>
              <a:t>Linear(d_model → 4·d_model)  →  GELU  →  Linear(4·d_model → d_model)</a:t>
            </a:r>
            <a:endParaRPr sz="900"/>
          </a:p>
        </p:txBody>
      </p:sp>
      <p:sp>
        <p:nvSpPr>
          <p:cNvPr id="1260" name="Google Shape;1260;p66"/>
          <p:cNvSpPr/>
          <p:nvPr/>
        </p:nvSpPr>
        <p:spPr>
          <a:xfrm>
            <a:off x="2489657" y="3677511"/>
            <a:ext cx="60300" cy="165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61" name="Google Shape;1261;p66"/>
          <p:cNvSpPr/>
          <p:nvPr/>
        </p:nvSpPr>
        <p:spPr>
          <a:xfrm>
            <a:off x="2465517" y="3687112"/>
            <a:ext cx="109800" cy="93300"/>
          </a:xfrm>
          <a:prstGeom prst="triangle">
            <a:avLst>
              <a:gd fmla="val 50000" name="adj"/>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62" name="Google Shape;1262;p66"/>
          <p:cNvSpPr/>
          <p:nvPr/>
        </p:nvSpPr>
        <p:spPr>
          <a:xfrm>
            <a:off x="857273" y="3732404"/>
            <a:ext cx="3326100" cy="397800"/>
          </a:xfrm>
          <a:prstGeom prst="roundRect">
            <a:avLst>
              <a:gd fmla="val 16667" name="adj"/>
            </a:avLst>
          </a:prstGeom>
          <a:solidFill>
            <a:srgbClr val="E0F5F2"/>
          </a:solidFill>
          <a:ln cap="flat" cmpd="sng" w="15225">
            <a:solidFill>
              <a:srgbClr val="2BB1A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63" name="Google Shape;1263;p66"/>
          <p:cNvSpPr txBox="1"/>
          <p:nvPr/>
        </p:nvSpPr>
        <p:spPr>
          <a:xfrm>
            <a:off x="967004" y="3787268"/>
            <a:ext cx="3106800" cy="177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700" u="none" cap="none" strike="noStrike">
                <a:solidFill>
                  <a:srgbClr val="2BB1A6"/>
                </a:solidFill>
                <a:latin typeface="Manrope"/>
                <a:ea typeface="Manrope"/>
                <a:cs typeface="Manrope"/>
                <a:sym typeface="Manrope"/>
              </a:rPr>
              <a:t>ADD &amp; NORM  ②   (Residual + Layer Norm)</a:t>
            </a:r>
            <a:endParaRPr sz="900"/>
          </a:p>
        </p:txBody>
      </p:sp>
      <p:sp>
        <p:nvSpPr>
          <p:cNvPr id="1264" name="Google Shape;1264;p66"/>
          <p:cNvSpPr txBox="1"/>
          <p:nvPr/>
        </p:nvSpPr>
        <p:spPr>
          <a:xfrm>
            <a:off x="967004" y="3965576"/>
            <a:ext cx="31068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600" u="none" cap="none" strike="noStrike">
                <a:solidFill>
                  <a:srgbClr val="8B95A6"/>
                </a:solidFill>
                <a:latin typeface="Courier New"/>
                <a:ea typeface="Courier New"/>
                <a:cs typeface="Courier New"/>
                <a:sym typeface="Courier New"/>
              </a:rPr>
              <a:t>Output = LayerNorm( x + FFN(x) )   ← second skip connection</a:t>
            </a:r>
            <a:endParaRPr sz="900"/>
          </a:p>
        </p:txBody>
      </p:sp>
      <p:sp>
        <p:nvSpPr>
          <p:cNvPr id="1265" name="Google Shape;1265;p66"/>
          <p:cNvSpPr/>
          <p:nvPr/>
        </p:nvSpPr>
        <p:spPr>
          <a:xfrm>
            <a:off x="2489657" y="4198719"/>
            <a:ext cx="60300" cy="165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66" name="Google Shape;1266;p66"/>
          <p:cNvSpPr/>
          <p:nvPr/>
        </p:nvSpPr>
        <p:spPr>
          <a:xfrm>
            <a:off x="2465517" y="4208320"/>
            <a:ext cx="109800" cy="93300"/>
          </a:xfrm>
          <a:prstGeom prst="triangle">
            <a:avLst>
              <a:gd fmla="val 50000" name="adj"/>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67" name="Google Shape;1267;p66"/>
          <p:cNvSpPr/>
          <p:nvPr/>
        </p:nvSpPr>
        <p:spPr>
          <a:xfrm>
            <a:off x="857273" y="4264579"/>
            <a:ext cx="3326100" cy="356700"/>
          </a:xfrm>
          <a:prstGeom prst="roundRect">
            <a:avLst>
              <a:gd fmla="val 16667" name="adj"/>
            </a:avLst>
          </a:prstGeom>
          <a:solidFill>
            <a:srgbClr val="384358"/>
          </a:solidFill>
          <a:ln cap="flat" cmpd="sng" w="15225">
            <a:solidFill>
              <a:srgbClr val="38435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68" name="Google Shape;1268;p66"/>
          <p:cNvSpPr txBox="1"/>
          <p:nvPr/>
        </p:nvSpPr>
        <p:spPr>
          <a:xfrm>
            <a:off x="967004" y="4308476"/>
            <a:ext cx="3106800" cy="146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500" u="none" cap="none" strike="noStrike">
                <a:solidFill>
                  <a:srgbClr val="FFFFFF"/>
                </a:solidFill>
                <a:latin typeface="Manrope"/>
                <a:ea typeface="Manrope"/>
                <a:cs typeface="Manrope"/>
                <a:sym typeface="Manrope"/>
              </a:rPr>
              <a:t>OUTPUT: CONTEXTUALISED REPRESENTATION</a:t>
            </a:r>
            <a:endParaRPr sz="700"/>
          </a:p>
        </p:txBody>
      </p:sp>
      <p:sp>
        <p:nvSpPr>
          <p:cNvPr id="1269" name="Google Shape;1269;p66"/>
          <p:cNvSpPr txBox="1"/>
          <p:nvPr/>
        </p:nvSpPr>
        <p:spPr>
          <a:xfrm>
            <a:off x="967004" y="4399049"/>
            <a:ext cx="31068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600" u="none" cap="none" strike="noStrike">
                <a:solidFill>
                  <a:srgbClr val="FFFFFF"/>
                </a:solidFill>
                <a:latin typeface="Courier New"/>
                <a:ea typeface="Courier New"/>
                <a:cs typeface="Courier New"/>
                <a:sym typeface="Courier New"/>
              </a:rPr>
              <a:t>One vector per token. Fed to the next encoder layer (or to the decoder/LM head).</a:t>
            </a:r>
            <a:endParaRPr sz="900"/>
          </a:p>
        </p:txBody>
      </p:sp>
      <p:sp>
        <p:nvSpPr>
          <p:cNvPr id="1270" name="Google Shape;1270;p66"/>
          <p:cNvSpPr/>
          <p:nvPr/>
        </p:nvSpPr>
        <p:spPr>
          <a:xfrm>
            <a:off x="480073" y="2017875"/>
            <a:ext cx="27300" cy="884700"/>
          </a:xfrm>
          <a:prstGeom prst="rect">
            <a:avLst/>
          </a:prstGeom>
          <a:solidFill>
            <a:srgbClr val="2BB1A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71" name="Google Shape;1271;p66"/>
          <p:cNvSpPr/>
          <p:nvPr/>
        </p:nvSpPr>
        <p:spPr>
          <a:xfrm>
            <a:off x="480073" y="2017875"/>
            <a:ext cx="377100" cy="27300"/>
          </a:xfrm>
          <a:prstGeom prst="rect">
            <a:avLst/>
          </a:prstGeom>
          <a:solidFill>
            <a:srgbClr val="2BB1A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72" name="Google Shape;1272;p66"/>
          <p:cNvSpPr/>
          <p:nvPr/>
        </p:nvSpPr>
        <p:spPr>
          <a:xfrm>
            <a:off x="480073" y="2902557"/>
            <a:ext cx="377100" cy="27300"/>
          </a:xfrm>
          <a:prstGeom prst="rect">
            <a:avLst/>
          </a:prstGeom>
          <a:solidFill>
            <a:srgbClr val="2BB1A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73" name="Google Shape;1273;p66"/>
          <p:cNvSpPr txBox="1"/>
          <p:nvPr/>
        </p:nvSpPr>
        <p:spPr>
          <a:xfrm>
            <a:off x="54865" y="2429355"/>
            <a:ext cx="397800" cy="2847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GB" sz="700" u="none" cap="none" strike="noStrike">
                <a:solidFill>
                  <a:srgbClr val="2BB1A6"/>
                </a:solidFill>
                <a:latin typeface="Courier New"/>
                <a:ea typeface="Courier New"/>
                <a:cs typeface="Courier New"/>
                <a:sym typeface="Courier New"/>
              </a:rPr>
              <a:t>skip①</a:t>
            </a:r>
            <a:endParaRPr sz="1100"/>
          </a:p>
        </p:txBody>
      </p:sp>
      <p:sp>
        <p:nvSpPr>
          <p:cNvPr id="1274" name="Google Shape;1274;p66"/>
          <p:cNvSpPr/>
          <p:nvPr/>
        </p:nvSpPr>
        <p:spPr>
          <a:xfrm>
            <a:off x="480073" y="3115155"/>
            <a:ext cx="27300" cy="857400"/>
          </a:xfrm>
          <a:prstGeom prst="rect">
            <a:avLst/>
          </a:prstGeom>
          <a:solidFill>
            <a:srgbClr val="7B5BD9"/>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75" name="Google Shape;1275;p66"/>
          <p:cNvSpPr/>
          <p:nvPr/>
        </p:nvSpPr>
        <p:spPr>
          <a:xfrm>
            <a:off x="480073" y="3115155"/>
            <a:ext cx="377100" cy="27300"/>
          </a:xfrm>
          <a:prstGeom prst="rect">
            <a:avLst/>
          </a:prstGeom>
          <a:solidFill>
            <a:srgbClr val="7B5BD9"/>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76" name="Google Shape;1276;p66"/>
          <p:cNvSpPr/>
          <p:nvPr/>
        </p:nvSpPr>
        <p:spPr>
          <a:xfrm>
            <a:off x="480073" y="3972405"/>
            <a:ext cx="377100" cy="27300"/>
          </a:xfrm>
          <a:prstGeom prst="rect">
            <a:avLst/>
          </a:prstGeom>
          <a:solidFill>
            <a:srgbClr val="7B5BD9"/>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77" name="Google Shape;1277;p66"/>
          <p:cNvSpPr txBox="1"/>
          <p:nvPr/>
        </p:nvSpPr>
        <p:spPr>
          <a:xfrm>
            <a:off x="54865" y="3423765"/>
            <a:ext cx="397800" cy="2847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i="0" lang="en-GB" sz="700" u="none" cap="none" strike="noStrike">
                <a:solidFill>
                  <a:srgbClr val="7B5BD9"/>
                </a:solidFill>
                <a:latin typeface="Courier New"/>
                <a:ea typeface="Courier New"/>
                <a:cs typeface="Courier New"/>
                <a:sym typeface="Courier New"/>
              </a:rPr>
              <a:t>skip②</a:t>
            </a:r>
            <a:endParaRPr sz="1100"/>
          </a:p>
        </p:txBody>
      </p:sp>
      <p:sp>
        <p:nvSpPr>
          <p:cNvPr id="1278" name="Google Shape;1278;p66"/>
          <p:cNvSpPr/>
          <p:nvPr/>
        </p:nvSpPr>
        <p:spPr>
          <a:xfrm>
            <a:off x="4492110" y="1071471"/>
            <a:ext cx="4423500" cy="2126100"/>
          </a:xfrm>
          <a:prstGeom prst="rect">
            <a:avLst/>
          </a:prstGeom>
          <a:solidFill>
            <a:srgbClr val="FBFBFB"/>
          </a:solidFill>
          <a:ln cap="flat" cmpd="sng" w="12700">
            <a:solidFill>
              <a:srgbClr val="C9CFD8"/>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79" name="Google Shape;1279;p66"/>
          <p:cNvSpPr/>
          <p:nvPr/>
        </p:nvSpPr>
        <p:spPr>
          <a:xfrm>
            <a:off x="4492110" y="1071471"/>
            <a:ext cx="4423500" cy="2607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80" name="Google Shape;1280;p66"/>
          <p:cNvSpPr txBox="1"/>
          <p:nvPr/>
        </p:nvSpPr>
        <p:spPr>
          <a:xfrm>
            <a:off x="4615557" y="1119477"/>
            <a:ext cx="41766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FFFF"/>
                </a:solidFill>
                <a:latin typeface="Courier New"/>
                <a:ea typeface="Courier New"/>
                <a:cs typeface="Courier New"/>
                <a:sym typeface="Courier New"/>
              </a:rPr>
              <a:t>SELF-ATTENTION — ONE HEAD (simplified)</a:t>
            </a:r>
            <a:endParaRPr sz="1100"/>
          </a:p>
        </p:txBody>
      </p:sp>
      <p:sp>
        <p:nvSpPr>
          <p:cNvPr id="1281" name="Google Shape;1281;p66"/>
          <p:cNvSpPr/>
          <p:nvPr/>
        </p:nvSpPr>
        <p:spPr>
          <a:xfrm>
            <a:off x="4629273" y="1448661"/>
            <a:ext cx="822900" cy="315600"/>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47625" lIns="76200" spcFirstLastPara="1" rIns="76200" wrap="square" tIns="47625">
            <a:noAutofit/>
          </a:bodyPr>
          <a:lstStyle/>
          <a:p>
            <a:pPr indent="0" lvl="0" marL="0" marR="0" rtl="0" algn="ctr">
              <a:spcBef>
                <a:spcPts val="0"/>
              </a:spcBef>
              <a:spcAft>
                <a:spcPts val="0"/>
              </a:spcAft>
              <a:buNone/>
            </a:pPr>
            <a:r>
              <a:rPr b="1" i="0" lang="en-GB" sz="900" u="none" cap="none" strike="noStrike">
                <a:solidFill>
                  <a:srgbClr val="FFFFFF"/>
                </a:solidFill>
                <a:latin typeface="Manrope"/>
                <a:ea typeface="Manrope"/>
                <a:cs typeface="Manrope"/>
                <a:sym typeface="Manrope"/>
              </a:rPr>
              <a:t>Input x</a:t>
            </a:r>
            <a:endParaRPr sz="1100"/>
          </a:p>
        </p:txBody>
      </p:sp>
      <p:sp>
        <p:nvSpPr>
          <p:cNvPr id="1282" name="Google Shape;1282;p66"/>
          <p:cNvSpPr/>
          <p:nvPr/>
        </p:nvSpPr>
        <p:spPr>
          <a:xfrm>
            <a:off x="5479688" y="1571831"/>
            <a:ext cx="107700" cy="67800"/>
          </a:xfrm>
          <a:prstGeom prst="rect">
            <a:avLst/>
          </a:prstGeom>
          <a:solidFill>
            <a:srgbClr val="C9CFD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83" name="Google Shape;1283;p66"/>
          <p:cNvSpPr/>
          <p:nvPr/>
        </p:nvSpPr>
        <p:spPr>
          <a:xfrm>
            <a:off x="5580503" y="1544673"/>
            <a:ext cx="105000" cy="123300"/>
          </a:xfrm>
          <a:prstGeom prst="roundRect">
            <a:avLst>
              <a:gd fmla="val 16667" name="adj"/>
            </a:avLst>
          </a:prstGeom>
          <a:solidFill>
            <a:srgbClr val="C9CFD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84" name="Google Shape;1284;p66"/>
          <p:cNvSpPr/>
          <p:nvPr/>
        </p:nvSpPr>
        <p:spPr>
          <a:xfrm>
            <a:off x="5692292" y="1448661"/>
            <a:ext cx="754500" cy="315600"/>
          </a:xfrm>
          <a:prstGeom prst="rect">
            <a:avLst/>
          </a:prstGeom>
          <a:solidFill>
            <a:srgbClr val="2BB1A6"/>
          </a:solidFill>
          <a:ln>
            <a:noFill/>
          </a:ln>
          <a:effectLst>
            <a:outerShdw blurRad="40000" rotWithShape="0" dir="5400000" dist="23000">
              <a:srgbClr val="000000">
                <a:alpha val="34901"/>
              </a:srgbClr>
            </a:outerShdw>
          </a:effectLst>
        </p:spPr>
        <p:txBody>
          <a:bodyPr anchorCtr="0" anchor="ctr" bIns="47625" lIns="76200" spcFirstLastPara="1" rIns="76200" wrap="square" tIns="47625">
            <a:noAutofit/>
          </a:bodyPr>
          <a:lstStyle/>
          <a:p>
            <a:pPr indent="0" lvl="0" marL="0" marR="0" rtl="0" algn="ctr">
              <a:spcBef>
                <a:spcPts val="0"/>
              </a:spcBef>
              <a:spcAft>
                <a:spcPts val="0"/>
              </a:spcAft>
              <a:buNone/>
            </a:pPr>
            <a:r>
              <a:rPr b="1" i="0" lang="en-GB" sz="800" u="none" cap="none" strike="noStrike">
                <a:solidFill>
                  <a:srgbClr val="FFFFFF"/>
                </a:solidFill>
                <a:latin typeface="Manrope"/>
                <a:ea typeface="Manrope"/>
                <a:cs typeface="Manrope"/>
                <a:sym typeface="Manrope"/>
              </a:rPr>
              <a:t>Q = x·Wq</a:t>
            </a:r>
            <a:endParaRPr sz="1100"/>
          </a:p>
        </p:txBody>
      </p:sp>
      <p:sp>
        <p:nvSpPr>
          <p:cNvPr id="1285" name="Google Shape;1285;p66"/>
          <p:cNvSpPr/>
          <p:nvPr/>
        </p:nvSpPr>
        <p:spPr>
          <a:xfrm>
            <a:off x="5479688" y="1571831"/>
            <a:ext cx="964800" cy="67800"/>
          </a:xfrm>
          <a:prstGeom prst="rect">
            <a:avLst/>
          </a:prstGeom>
          <a:solidFill>
            <a:srgbClr val="C9CFD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86" name="Google Shape;1286;p66"/>
          <p:cNvSpPr/>
          <p:nvPr/>
        </p:nvSpPr>
        <p:spPr>
          <a:xfrm>
            <a:off x="6437776" y="1544673"/>
            <a:ext cx="105000" cy="123300"/>
          </a:xfrm>
          <a:prstGeom prst="roundRect">
            <a:avLst>
              <a:gd fmla="val 16667" name="adj"/>
            </a:avLst>
          </a:prstGeom>
          <a:solidFill>
            <a:srgbClr val="C9CFD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87" name="Google Shape;1287;p66"/>
          <p:cNvSpPr/>
          <p:nvPr/>
        </p:nvSpPr>
        <p:spPr>
          <a:xfrm>
            <a:off x="6549565" y="1448661"/>
            <a:ext cx="754500" cy="3156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47625" lIns="76200" spcFirstLastPara="1" rIns="76200" wrap="square" tIns="47625">
            <a:noAutofit/>
          </a:bodyPr>
          <a:lstStyle/>
          <a:p>
            <a:pPr indent="0" lvl="0" marL="0" marR="0" rtl="0" algn="ctr">
              <a:spcBef>
                <a:spcPts val="0"/>
              </a:spcBef>
              <a:spcAft>
                <a:spcPts val="0"/>
              </a:spcAft>
              <a:buNone/>
            </a:pPr>
            <a:r>
              <a:rPr b="1" i="0" lang="en-GB" sz="800" u="none" cap="none" strike="noStrike">
                <a:solidFill>
                  <a:srgbClr val="FFFFFF"/>
                </a:solidFill>
                <a:latin typeface="Manrope"/>
                <a:ea typeface="Manrope"/>
                <a:cs typeface="Manrope"/>
                <a:sym typeface="Manrope"/>
              </a:rPr>
              <a:t>K = x·Wk</a:t>
            </a:r>
            <a:endParaRPr sz="1100"/>
          </a:p>
        </p:txBody>
      </p:sp>
      <p:sp>
        <p:nvSpPr>
          <p:cNvPr id="1288" name="Google Shape;1288;p66"/>
          <p:cNvSpPr/>
          <p:nvPr/>
        </p:nvSpPr>
        <p:spPr>
          <a:xfrm>
            <a:off x="5479688" y="1571831"/>
            <a:ext cx="1822200" cy="67800"/>
          </a:xfrm>
          <a:prstGeom prst="rect">
            <a:avLst/>
          </a:prstGeom>
          <a:solidFill>
            <a:srgbClr val="C9CFD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89" name="Google Shape;1289;p66"/>
          <p:cNvSpPr/>
          <p:nvPr/>
        </p:nvSpPr>
        <p:spPr>
          <a:xfrm>
            <a:off x="7295048" y="1544673"/>
            <a:ext cx="105000" cy="123300"/>
          </a:xfrm>
          <a:prstGeom prst="roundRect">
            <a:avLst>
              <a:gd fmla="val 16667" name="adj"/>
            </a:avLst>
          </a:prstGeom>
          <a:solidFill>
            <a:srgbClr val="C9CFD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90" name="Google Shape;1290;p66"/>
          <p:cNvSpPr/>
          <p:nvPr/>
        </p:nvSpPr>
        <p:spPr>
          <a:xfrm>
            <a:off x="7406837" y="1448661"/>
            <a:ext cx="754500" cy="315600"/>
          </a:xfrm>
          <a:prstGeom prst="rect">
            <a:avLst/>
          </a:prstGeom>
          <a:solidFill>
            <a:srgbClr val="7B5BD9"/>
          </a:solidFill>
          <a:ln>
            <a:noFill/>
          </a:ln>
          <a:effectLst>
            <a:outerShdw blurRad="40000" rotWithShape="0" dir="5400000" dist="23000">
              <a:srgbClr val="000000">
                <a:alpha val="34901"/>
              </a:srgbClr>
            </a:outerShdw>
          </a:effectLst>
        </p:spPr>
        <p:txBody>
          <a:bodyPr anchorCtr="0" anchor="ctr" bIns="47625" lIns="76200" spcFirstLastPara="1" rIns="76200" wrap="square" tIns="47625">
            <a:noAutofit/>
          </a:bodyPr>
          <a:lstStyle/>
          <a:p>
            <a:pPr indent="0" lvl="0" marL="0" marR="0" rtl="0" algn="ctr">
              <a:spcBef>
                <a:spcPts val="0"/>
              </a:spcBef>
              <a:spcAft>
                <a:spcPts val="0"/>
              </a:spcAft>
              <a:buNone/>
            </a:pPr>
            <a:r>
              <a:rPr b="1" i="0" lang="en-GB" sz="800" u="none" cap="none" strike="noStrike">
                <a:solidFill>
                  <a:srgbClr val="FFFFFF"/>
                </a:solidFill>
                <a:latin typeface="Manrope"/>
                <a:ea typeface="Manrope"/>
                <a:cs typeface="Manrope"/>
                <a:sym typeface="Manrope"/>
              </a:rPr>
              <a:t>V = x·Wv</a:t>
            </a:r>
            <a:endParaRPr sz="1100"/>
          </a:p>
        </p:txBody>
      </p:sp>
      <p:sp>
        <p:nvSpPr>
          <p:cNvPr id="1291" name="Google Shape;1291;p66"/>
          <p:cNvSpPr/>
          <p:nvPr/>
        </p:nvSpPr>
        <p:spPr>
          <a:xfrm>
            <a:off x="4629273" y="1921863"/>
            <a:ext cx="4149300" cy="301800"/>
          </a:xfrm>
          <a:prstGeom prst="roundRect">
            <a:avLst>
              <a:gd fmla="val 16667" name="adj"/>
            </a:avLst>
          </a:prstGeom>
          <a:solidFill>
            <a:srgbClr val="F1F2F4"/>
          </a:solidFill>
          <a:ln cap="flat" cmpd="sng" w="15225">
            <a:solidFill>
              <a:srgbClr val="2BB1A6"/>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7625" lIns="76200" spcFirstLastPara="1" rIns="76200" wrap="square" tIns="47625">
            <a:noAutofit/>
          </a:bodyPr>
          <a:lstStyle/>
          <a:p>
            <a:pPr indent="0" lvl="0" marL="0" marR="0" rtl="0" algn="ctr">
              <a:spcBef>
                <a:spcPts val="0"/>
              </a:spcBef>
              <a:spcAft>
                <a:spcPts val="0"/>
              </a:spcAft>
              <a:buNone/>
            </a:pPr>
            <a:r>
              <a:rPr b="1" i="0" lang="en-GB" sz="900" u="none" cap="none" strike="noStrike">
                <a:solidFill>
                  <a:srgbClr val="2BB1A6"/>
                </a:solidFill>
                <a:latin typeface="Courier New"/>
                <a:ea typeface="Courier New"/>
                <a:cs typeface="Courier New"/>
                <a:sym typeface="Courier New"/>
              </a:rPr>
              <a:t>Scores = Q · Kᵀ / √dₖ</a:t>
            </a:r>
            <a:endParaRPr sz="1100"/>
          </a:p>
        </p:txBody>
      </p:sp>
      <p:sp>
        <p:nvSpPr>
          <p:cNvPr id="1292" name="Google Shape;1292;p66"/>
          <p:cNvSpPr/>
          <p:nvPr/>
        </p:nvSpPr>
        <p:spPr>
          <a:xfrm>
            <a:off x="6666290" y="2223615"/>
            <a:ext cx="60300" cy="30300"/>
          </a:xfrm>
          <a:prstGeom prst="rect">
            <a:avLst/>
          </a:prstGeom>
          <a:solidFill>
            <a:srgbClr val="8B95A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93" name="Google Shape;1293;p66"/>
          <p:cNvSpPr/>
          <p:nvPr/>
        </p:nvSpPr>
        <p:spPr>
          <a:xfrm>
            <a:off x="6642150" y="2246932"/>
            <a:ext cx="109800" cy="93300"/>
          </a:xfrm>
          <a:prstGeom prst="triangle">
            <a:avLst>
              <a:gd fmla="val 50000" name="adj"/>
            </a:avLst>
          </a:prstGeom>
          <a:solidFill>
            <a:srgbClr val="8B95A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94" name="Google Shape;1294;p66"/>
          <p:cNvSpPr/>
          <p:nvPr/>
        </p:nvSpPr>
        <p:spPr>
          <a:xfrm>
            <a:off x="4629273" y="2347059"/>
            <a:ext cx="4149300" cy="301800"/>
          </a:xfrm>
          <a:prstGeom prst="roundRect">
            <a:avLst>
              <a:gd fmla="val 16667" name="adj"/>
            </a:avLst>
          </a:prstGeom>
          <a:solidFill>
            <a:srgbClr val="F1F2F4"/>
          </a:solidFill>
          <a:ln cap="flat" cmpd="sng" w="15225">
            <a:solidFill>
              <a:srgbClr val="FF671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7625" lIns="76200" spcFirstLastPara="1" rIns="76200" wrap="square" tIns="47625">
            <a:noAutofit/>
          </a:bodyPr>
          <a:lstStyle/>
          <a:p>
            <a:pPr indent="0" lvl="0" marL="0" marR="0" rtl="0" algn="ctr">
              <a:spcBef>
                <a:spcPts val="0"/>
              </a:spcBef>
              <a:spcAft>
                <a:spcPts val="0"/>
              </a:spcAft>
              <a:buNone/>
            </a:pPr>
            <a:r>
              <a:rPr b="1" i="0" lang="en-GB" sz="900" u="none" cap="none" strike="noStrike">
                <a:solidFill>
                  <a:srgbClr val="FF671F"/>
                </a:solidFill>
                <a:latin typeface="Courier New"/>
                <a:ea typeface="Courier New"/>
                <a:cs typeface="Courier New"/>
                <a:sym typeface="Courier New"/>
              </a:rPr>
              <a:t>Weights = softmax(Scores)</a:t>
            </a:r>
            <a:endParaRPr sz="1100"/>
          </a:p>
        </p:txBody>
      </p:sp>
      <p:sp>
        <p:nvSpPr>
          <p:cNvPr id="1295" name="Google Shape;1295;p66"/>
          <p:cNvSpPr/>
          <p:nvPr/>
        </p:nvSpPr>
        <p:spPr>
          <a:xfrm>
            <a:off x="6666290" y="2648811"/>
            <a:ext cx="60300" cy="30300"/>
          </a:xfrm>
          <a:prstGeom prst="rect">
            <a:avLst/>
          </a:prstGeom>
          <a:solidFill>
            <a:srgbClr val="8B95A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96" name="Google Shape;1296;p66"/>
          <p:cNvSpPr/>
          <p:nvPr/>
        </p:nvSpPr>
        <p:spPr>
          <a:xfrm>
            <a:off x="6642150" y="2672128"/>
            <a:ext cx="109800" cy="93300"/>
          </a:xfrm>
          <a:prstGeom prst="triangle">
            <a:avLst>
              <a:gd fmla="val 50000" name="adj"/>
            </a:avLst>
          </a:prstGeom>
          <a:solidFill>
            <a:srgbClr val="8B95A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97" name="Google Shape;1297;p66"/>
          <p:cNvSpPr/>
          <p:nvPr/>
        </p:nvSpPr>
        <p:spPr>
          <a:xfrm>
            <a:off x="4629273" y="2772255"/>
            <a:ext cx="4149300" cy="301800"/>
          </a:xfrm>
          <a:prstGeom prst="roundRect">
            <a:avLst>
              <a:gd fmla="val 16667" name="adj"/>
            </a:avLst>
          </a:prstGeom>
          <a:solidFill>
            <a:srgbClr val="F1F2F4"/>
          </a:solidFill>
          <a:ln cap="flat" cmpd="sng" w="15225">
            <a:solidFill>
              <a:srgbClr val="7B5BD9"/>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7625" lIns="76200" spcFirstLastPara="1" rIns="76200" wrap="square" tIns="47625">
            <a:noAutofit/>
          </a:bodyPr>
          <a:lstStyle/>
          <a:p>
            <a:pPr indent="0" lvl="0" marL="0" marR="0" rtl="0" algn="ctr">
              <a:spcBef>
                <a:spcPts val="0"/>
              </a:spcBef>
              <a:spcAft>
                <a:spcPts val="0"/>
              </a:spcAft>
              <a:buNone/>
            </a:pPr>
            <a:r>
              <a:rPr b="1" i="0" lang="en-GB" sz="900" u="none" cap="none" strike="noStrike">
                <a:solidFill>
                  <a:srgbClr val="7B5BD9"/>
                </a:solidFill>
                <a:latin typeface="Courier New"/>
                <a:ea typeface="Courier New"/>
                <a:cs typeface="Courier New"/>
                <a:sym typeface="Courier New"/>
              </a:rPr>
              <a:t>Output = Σ weights · V</a:t>
            </a:r>
            <a:endParaRPr sz="1100"/>
          </a:p>
        </p:txBody>
      </p:sp>
      <p:sp>
        <p:nvSpPr>
          <p:cNvPr id="1298" name="Google Shape;1298;p66"/>
          <p:cNvSpPr/>
          <p:nvPr/>
        </p:nvSpPr>
        <p:spPr>
          <a:xfrm>
            <a:off x="6666290" y="3074007"/>
            <a:ext cx="60300" cy="30300"/>
          </a:xfrm>
          <a:prstGeom prst="rect">
            <a:avLst/>
          </a:prstGeom>
          <a:solidFill>
            <a:srgbClr val="8B95A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299" name="Google Shape;1299;p66"/>
          <p:cNvSpPr/>
          <p:nvPr/>
        </p:nvSpPr>
        <p:spPr>
          <a:xfrm>
            <a:off x="6642150" y="3097324"/>
            <a:ext cx="109800" cy="93300"/>
          </a:xfrm>
          <a:prstGeom prst="triangle">
            <a:avLst>
              <a:gd fmla="val 50000" name="adj"/>
            </a:avLst>
          </a:prstGeom>
          <a:solidFill>
            <a:srgbClr val="8B95A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00" name="Google Shape;1300;p66"/>
          <p:cNvSpPr/>
          <p:nvPr/>
        </p:nvSpPr>
        <p:spPr>
          <a:xfrm>
            <a:off x="4492110" y="3307179"/>
            <a:ext cx="2157000" cy="5625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01" name="Google Shape;1301;p66"/>
          <p:cNvSpPr/>
          <p:nvPr/>
        </p:nvSpPr>
        <p:spPr>
          <a:xfrm>
            <a:off x="4492110" y="3307179"/>
            <a:ext cx="41100" cy="5625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02" name="Google Shape;1302;p66"/>
          <p:cNvSpPr txBox="1"/>
          <p:nvPr/>
        </p:nvSpPr>
        <p:spPr>
          <a:xfrm>
            <a:off x="4588124" y="3362043"/>
            <a:ext cx="2019600" cy="177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700" u="none" cap="none" strike="noStrike">
                <a:solidFill>
                  <a:srgbClr val="1B1F2A"/>
                </a:solidFill>
                <a:latin typeface="Manrope"/>
                <a:ea typeface="Manrope"/>
                <a:cs typeface="Manrope"/>
                <a:sym typeface="Manrope"/>
              </a:rPr>
              <a:t>Attention is O(n²) in sequence length</a:t>
            </a:r>
            <a:endParaRPr sz="900"/>
          </a:p>
        </p:txBody>
      </p:sp>
      <p:sp>
        <p:nvSpPr>
          <p:cNvPr id="1303" name="Google Shape;1303;p66"/>
          <p:cNvSpPr txBox="1"/>
          <p:nvPr/>
        </p:nvSpPr>
        <p:spPr>
          <a:xfrm>
            <a:off x="4588124" y="3567783"/>
            <a:ext cx="20196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600" u="none" cap="none" strike="noStrike">
                <a:solidFill>
                  <a:srgbClr val="8B95A6"/>
                </a:solidFill>
                <a:latin typeface="Manrope"/>
                <a:ea typeface="Manrope"/>
                <a:cs typeface="Manrope"/>
                <a:sym typeface="Manrope"/>
              </a:rPr>
              <a:t>Doubling context → 4× attention compute. This is why frontier 1M-token models require specialised hardware.</a:t>
            </a:r>
            <a:endParaRPr sz="900"/>
          </a:p>
        </p:txBody>
      </p:sp>
      <p:sp>
        <p:nvSpPr>
          <p:cNvPr id="1304" name="Google Shape;1304;p66"/>
          <p:cNvSpPr/>
          <p:nvPr/>
        </p:nvSpPr>
        <p:spPr>
          <a:xfrm>
            <a:off x="6758739" y="3307179"/>
            <a:ext cx="2157000" cy="5625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05" name="Google Shape;1305;p66"/>
          <p:cNvSpPr/>
          <p:nvPr/>
        </p:nvSpPr>
        <p:spPr>
          <a:xfrm>
            <a:off x="6758739" y="3307179"/>
            <a:ext cx="41100" cy="562500"/>
          </a:xfrm>
          <a:prstGeom prst="rect">
            <a:avLst/>
          </a:prstGeom>
          <a:solidFill>
            <a:srgbClr val="2BB1A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06" name="Google Shape;1306;p66"/>
          <p:cNvSpPr txBox="1"/>
          <p:nvPr/>
        </p:nvSpPr>
        <p:spPr>
          <a:xfrm>
            <a:off x="6854754" y="3362043"/>
            <a:ext cx="20196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600" u="none" cap="none" strike="noStrike">
                <a:solidFill>
                  <a:srgbClr val="1B1F2A"/>
                </a:solidFill>
                <a:latin typeface="Manrope"/>
                <a:ea typeface="Manrope"/>
                <a:cs typeface="Manrope"/>
                <a:sym typeface="Manrope"/>
              </a:rPr>
              <a:t>Residual connections enable depth</a:t>
            </a:r>
            <a:endParaRPr sz="800"/>
          </a:p>
        </p:txBody>
      </p:sp>
      <p:sp>
        <p:nvSpPr>
          <p:cNvPr id="1307" name="Google Shape;1307;p66"/>
          <p:cNvSpPr txBox="1"/>
          <p:nvPr/>
        </p:nvSpPr>
        <p:spPr>
          <a:xfrm>
            <a:off x="6854754" y="3567783"/>
            <a:ext cx="20196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500" u="none" cap="none" strike="noStrike">
                <a:solidFill>
                  <a:srgbClr val="8B95A6"/>
                </a:solidFill>
                <a:latin typeface="Manrope"/>
                <a:ea typeface="Manrope"/>
                <a:cs typeface="Manrope"/>
                <a:sym typeface="Manrope"/>
              </a:rPr>
              <a:t>Skip connections let gradients bypass each layer. Without them, 96-layer networks cannot be trained — gradients vanish.</a:t>
            </a:r>
            <a:endParaRPr sz="800"/>
          </a:p>
        </p:txBody>
      </p:sp>
      <p:sp>
        <p:nvSpPr>
          <p:cNvPr id="1308" name="Google Shape;1308;p66"/>
          <p:cNvSpPr/>
          <p:nvPr/>
        </p:nvSpPr>
        <p:spPr>
          <a:xfrm>
            <a:off x="4492110" y="3938115"/>
            <a:ext cx="2157000" cy="5625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09" name="Google Shape;1309;p66"/>
          <p:cNvSpPr/>
          <p:nvPr/>
        </p:nvSpPr>
        <p:spPr>
          <a:xfrm>
            <a:off x="4492110" y="3938115"/>
            <a:ext cx="41100" cy="562500"/>
          </a:xfrm>
          <a:prstGeom prst="rect">
            <a:avLst/>
          </a:prstGeom>
          <a:solidFill>
            <a:srgbClr val="7B5BD9"/>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10" name="Google Shape;1310;p66"/>
          <p:cNvSpPr txBox="1"/>
          <p:nvPr/>
        </p:nvSpPr>
        <p:spPr>
          <a:xfrm>
            <a:off x="4588124" y="3992979"/>
            <a:ext cx="20196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600" u="none" cap="none" strike="noStrike">
                <a:solidFill>
                  <a:srgbClr val="1B1F2A"/>
                </a:solidFill>
                <a:latin typeface="Manrope"/>
                <a:ea typeface="Manrope"/>
                <a:cs typeface="Manrope"/>
                <a:sym typeface="Manrope"/>
              </a:rPr>
              <a:t>Layer Norm stabilises training</a:t>
            </a:r>
            <a:endParaRPr sz="800"/>
          </a:p>
        </p:txBody>
      </p:sp>
      <p:sp>
        <p:nvSpPr>
          <p:cNvPr id="1311" name="Google Shape;1311;p66"/>
          <p:cNvSpPr txBox="1"/>
          <p:nvPr/>
        </p:nvSpPr>
        <p:spPr>
          <a:xfrm>
            <a:off x="4588124" y="4198719"/>
            <a:ext cx="20196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500" u="none" cap="none" strike="noStrike">
                <a:solidFill>
                  <a:srgbClr val="8B95A6"/>
                </a:solidFill>
                <a:latin typeface="Manrope"/>
                <a:ea typeface="Manrope"/>
                <a:cs typeface="Manrope"/>
                <a:sym typeface="Manrope"/>
              </a:rPr>
              <a:t>Normalises activations at each layer. Critical for stable training at scale — prevents exploding/vanishing activations.</a:t>
            </a:r>
            <a:endParaRPr sz="800"/>
          </a:p>
        </p:txBody>
      </p:sp>
      <p:sp>
        <p:nvSpPr>
          <p:cNvPr id="1312" name="Google Shape;1312;p66"/>
          <p:cNvSpPr/>
          <p:nvPr/>
        </p:nvSpPr>
        <p:spPr>
          <a:xfrm>
            <a:off x="6758739" y="3938115"/>
            <a:ext cx="2157000" cy="5625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13" name="Google Shape;1313;p66"/>
          <p:cNvSpPr/>
          <p:nvPr/>
        </p:nvSpPr>
        <p:spPr>
          <a:xfrm>
            <a:off x="6758739" y="3938115"/>
            <a:ext cx="41100" cy="562500"/>
          </a:xfrm>
          <a:prstGeom prst="rect">
            <a:avLst/>
          </a:prstGeom>
          <a:solidFill>
            <a:srgbClr val="F2A93B"/>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314" name="Google Shape;1314;p66"/>
          <p:cNvSpPr txBox="1"/>
          <p:nvPr/>
        </p:nvSpPr>
        <p:spPr>
          <a:xfrm>
            <a:off x="6854754" y="3992979"/>
            <a:ext cx="2019600" cy="161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600" u="none" cap="none" strike="noStrike">
                <a:solidFill>
                  <a:srgbClr val="1B1F2A"/>
                </a:solidFill>
                <a:latin typeface="Manrope"/>
                <a:ea typeface="Manrope"/>
                <a:cs typeface="Manrope"/>
                <a:sym typeface="Manrope"/>
              </a:rPr>
              <a:t>Heads specialise without labels</a:t>
            </a:r>
            <a:endParaRPr sz="800"/>
          </a:p>
        </p:txBody>
      </p:sp>
      <p:sp>
        <p:nvSpPr>
          <p:cNvPr id="1315" name="Google Shape;1315;p66"/>
          <p:cNvSpPr txBox="1"/>
          <p:nvPr/>
        </p:nvSpPr>
        <p:spPr>
          <a:xfrm>
            <a:off x="6854754" y="4198719"/>
            <a:ext cx="20196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500" u="none" cap="none" strike="noStrike">
                <a:solidFill>
                  <a:srgbClr val="8B95A6"/>
                </a:solidFill>
                <a:latin typeface="Manrope"/>
                <a:ea typeface="Manrope"/>
                <a:cs typeface="Manrope"/>
                <a:sym typeface="Manrope"/>
              </a:rPr>
              <a:t>Each head learns syntax, coreference, or semantics purely from predicting the next token. No human annotation required.</a:t>
            </a:r>
            <a:endParaRPr sz="800"/>
          </a:p>
        </p:txBody>
      </p:sp>
      <p:sp>
        <p:nvSpPr>
          <p:cNvPr id="1316" name="Google Shape;1316;p66"/>
          <p:cNvSpPr txBox="1"/>
          <p:nvPr/>
        </p:nvSpPr>
        <p:spPr>
          <a:xfrm>
            <a:off x="7201092" y="4260441"/>
            <a:ext cx="1371600" cy="14610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0" i="0" lang="en-GB" sz="500" u="none" cap="none" strike="noStrike">
                <a:solidFill>
                  <a:srgbClr val="8B95A6"/>
                </a:solidFill>
                <a:latin typeface="Courier New"/>
                <a:ea typeface="Courier New"/>
                <a:cs typeface="Courier New"/>
                <a:sym typeface="Courier New"/>
              </a:rPr>
              <a:t>05 / 5</a:t>
            </a:r>
            <a:endParaRPr sz="8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0" name="Shape 1320"/>
        <p:cNvGrpSpPr/>
        <p:nvPr/>
      </p:nvGrpSpPr>
      <p:grpSpPr>
        <a:xfrm>
          <a:off x="0" y="0"/>
          <a:ext cx="0" cy="0"/>
          <a:chOff x="0" y="0"/>
          <a:chExt cx="0" cy="0"/>
        </a:xfrm>
      </p:grpSpPr>
      <p:sp>
        <p:nvSpPr>
          <p:cNvPr id="1321" name="Google Shape;1321;p67"/>
          <p:cNvSpPr/>
          <p:nvPr/>
        </p:nvSpPr>
        <p:spPr>
          <a:xfrm>
            <a:off x="0" y="0"/>
            <a:ext cx="9144015" cy="5143500"/>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322" name="Google Shape;1322;p67"/>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FFFFFF"/>
                </a:solidFill>
                <a:latin typeface="Manrope"/>
                <a:ea typeface="Manrope"/>
                <a:cs typeface="Manrope"/>
                <a:sym typeface="Manrope"/>
              </a:rPr>
              <a:t>GlobalLogic</a:t>
            </a:r>
            <a:endParaRPr sz="1100"/>
          </a:p>
        </p:txBody>
      </p:sp>
      <p:sp>
        <p:nvSpPr>
          <p:cNvPr id="1323" name="Google Shape;1323;p67"/>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C9CFD8"/>
                </a:solidFill>
                <a:latin typeface="Manrope"/>
                <a:ea typeface="Manrope"/>
                <a:cs typeface="Manrope"/>
                <a:sym typeface="Manrope"/>
              </a:rPr>
              <a:t>A Hitachi Group Company</a:t>
            </a:r>
            <a:endParaRPr sz="1100"/>
          </a:p>
        </p:txBody>
      </p:sp>
      <p:sp>
        <p:nvSpPr>
          <p:cNvPr id="1324" name="Google Shape;1324;p67"/>
          <p:cNvSpPr txBox="1"/>
          <p:nvPr/>
        </p:nvSpPr>
        <p:spPr>
          <a:xfrm>
            <a:off x="822982" y="1714500"/>
            <a:ext cx="6172500" cy="1670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5200">
                <a:solidFill>
                  <a:srgbClr val="FFFFFF"/>
                </a:solidFill>
                <a:latin typeface="Manrope"/>
                <a:ea typeface="Manrope"/>
                <a:cs typeface="Manrope"/>
                <a:sym typeface="Manrope"/>
              </a:rPr>
              <a:t>The Developer</a:t>
            </a:r>
            <a:br>
              <a:rPr b="1" i="0" lang="en-GB" sz="5200">
                <a:solidFill>
                  <a:srgbClr val="FFFFFF"/>
                </a:solidFill>
                <a:latin typeface="Manrope"/>
                <a:ea typeface="Manrope"/>
                <a:cs typeface="Manrope"/>
                <a:sym typeface="Manrope"/>
              </a:rPr>
            </a:br>
            <a:r>
              <a:rPr b="1" i="0" lang="en-GB" sz="5200">
                <a:solidFill>
                  <a:srgbClr val="FFFFFF"/>
                </a:solidFill>
                <a:latin typeface="Manrope"/>
                <a:ea typeface="Manrope"/>
                <a:cs typeface="Manrope"/>
                <a:sym typeface="Manrope"/>
              </a:rPr>
              <a:t>Toolkit.</a:t>
            </a:r>
            <a:endParaRPr sz="300"/>
          </a:p>
        </p:txBody>
      </p:sp>
      <p:sp>
        <p:nvSpPr>
          <p:cNvPr id="1325" name="Google Shape;1325;p67"/>
          <p:cNvSpPr txBox="1"/>
          <p:nvPr/>
        </p:nvSpPr>
        <p:spPr>
          <a:xfrm>
            <a:off x="822982" y="3429000"/>
            <a:ext cx="6172365" cy="8229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700">
                <a:solidFill>
                  <a:srgbClr val="C9CFD8"/>
                </a:solidFill>
                <a:latin typeface="Manrope"/>
                <a:ea typeface="Manrope"/>
                <a:cs typeface="Manrope"/>
                <a:sym typeface="Manrope"/>
              </a:rPr>
              <a:t>A field guide to the categories of AI tools that matter — and which one to reach for when.</a:t>
            </a:r>
            <a:endParaRPr sz="1100"/>
          </a:p>
        </p:txBody>
      </p:sp>
      <p:sp>
        <p:nvSpPr>
          <p:cNvPr id="1326" name="Google Shape;1326;p67"/>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FFFFFF"/>
                </a:solidFill>
                <a:latin typeface="Courier New"/>
                <a:ea typeface="Courier New"/>
                <a:cs typeface="Courier New"/>
                <a:sym typeface="Courier New"/>
              </a:rPr>
              <a:t>globallogic.com</a:t>
            </a:r>
            <a:endParaRPr sz="11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0" name="Shape 1330"/>
        <p:cNvGrpSpPr/>
        <p:nvPr/>
      </p:nvGrpSpPr>
      <p:grpSpPr>
        <a:xfrm>
          <a:off x="0" y="0"/>
          <a:ext cx="0" cy="0"/>
          <a:chOff x="0" y="0"/>
          <a:chExt cx="0" cy="0"/>
        </a:xfrm>
      </p:grpSpPr>
      <p:sp>
        <p:nvSpPr>
          <p:cNvPr id="1331" name="Google Shape;1331;p68"/>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1332" name="Google Shape;1332;p68"/>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1333" name="Google Shape;1333;p68"/>
          <p:cNvSpPr txBox="1"/>
          <p:nvPr/>
        </p:nvSpPr>
        <p:spPr>
          <a:xfrm>
            <a:off x="822982" y="946404"/>
            <a:ext cx="7406837"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a:solidFill>
                  <a:srgbClr val="1B1F2A"/>
                </a:solidFill>
                <a:latin typeface="Manrope"/>
                <a:ea typeface="Manrope"/>
                <a:cs typeface="Manrope"/>
                <a:sym typeface="Manrope"/>
              </a:rPr>
              <a:t>Every AI dev tool is one of four shapes.</a:t>
            </a:r>
            <a:endParaRPr sz="1100"/>
          </a:p>
        </p:txBody>
      </p:sp>
      <p:sp>
        <p:nvSpPr>
          <p:cNvPr id="1334" name="Google Shape;1334;p68"/>
          <p:cNvSpPr txBox="1"/>
          <p:nvPr/>
        </p:nvSpPr>
        <p:spPr>
          <a:xfrm>
            <a:off x="822982" y="1426464"/>
            <a:ext cx="7406837" cy="22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The marketing varies endlessly. The underlying shape is consistent. Know the shape; evaluate the tool.</a:t>
            </a:r>
            <a:endParaRPr sz="1100"/>
          </a:p>
        </p:txBody>
      </p:sp>
      <p:sp>
        <p:nvSpPr>
          <p:cNvPr id="1335" name="Google Shape;1335;p68"/>
          <p:cNvSpPr/>
          <p:nvPr/>
        </p:nvSpPr>
        <p:spPr>
          <a:xfrm>
            <a:off x="822982" y="1885950"/>
            <a:ext cx="1920291" cy="20574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336" name="Google Shape;1336;p68"/>
          <p:cNvSpPr txBox="1"/>
          <p:nvPr/>
        </p:nvSpPr>
        <p:spPr>
          <a:xfrm>
            <a:off x="960146" y="2009394"/>
            <a:ext cx="1645964"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01 · INLINE COMPLETER</a:t>
            </a:r>
            <a:endParaRPr sz="1100"/>
          </a:p>
        </p:txBody>
      </p:sp>
      <p:sp>
        <p:nvSpPr>
          <p:cNvPr id="1337" name="Google Shape;1337;p68"/>
          <p:cNvSpPr txBox="1"/>
          <p:nvPr/>
        </p:nvSpPr>
        <p:spPr>
          <a:xfrm>
            <a:off x="960146" y="2208276"/>
            <a:ext cx="1645964"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Ghost text in the editor</a:t>
            </a:r>
            <a:endParaRPr sz="1100"/>
          </a:p>
        </p:txBody>
      </p:sp>
      <p:sp>
        <p:nvSpPr>
          <p:cNvPr id="1338" name="Google Shape;1338;p68"/>
          <p:cNvSpPr txBox="1"/>
          <p:nvPr/>
        </p:nvSpPr>
        <p:spPr>
          <a:xfrm>
            <a:off x="960146" y="2640330"/>
            <a:ext cx="1645964" cy="12001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8B95A6"/>
                </a:solidFill>
                <a:latin typeface="Manrope"/>
                <a:ea typeface="Manrope"/>
                <a:cs typeface="Manrope"/>
                <a:sym typeface="Manrope"/>
              </a:rPr>
              <a:t>Predicts the next few lines as you type. Lowest friction; disappears into your habits fastest. Earns its keep on boilerplate-heavy work.</a:t>
            </a:r>
            <a:endParaRPr sz="1100"/>
          </a:p>
        </p:txBody>
      </p:sp>
      <p:sp>
        <p:nvSpPr>
          <p:cNvPr id="1339" name="Google Shape;1339;p68"/>
          <p:cNvSpPr/>
          <p:nvPr/>
        </p:nvSpPr>
        <p:spPr>
          <a:xfrm>
            <a:off x="2880437" y="1885950"/>
            <a:ext cx="1920291" cy="20574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340" name="Google Shape;1340;p68"/>
          <p:cNvSpPr txBox="1"/>
          <p:nvPr/>
        </p:nvSpPr>
        <p:spPr>
          <a:xfrm>
            <a:off x="3017600" y="2009394"/>
            <a:ext cx="1645964"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02 · CHAT ASSISTANT</a:t>
            </a:r>
            <a:endParaRPr sz="1100"/>
          </a:p>
        </p:txBody>
      </p:sp>
      <p:sp>
        <p:nvSpPr>
          <p:cNvPr id="1341" name="Google Shape;1341;p68"/>
          <p:cNvSpPr txBox="1"/>
          <p:nvPr/>
        </p:nvSpPr>
        <p:spPr>
          <a:xfrm>
            <a:off x="3017600" y="2208276"/>
            <a:ext cx="1645964"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Conversational pair programmer</a:t>
            </a:r>
            <a:endParaRPr sz="1100"/>
          </a:p>
        </p:txBody>
      </p:sp>
      <p:sp>
        <p:nvSpPr>
          <p:cNvPr id="1342" name="Google Shape;1342;p68"/>
          <p:cNvSpPr txBox="1"/>
          <p:nvPr/>
        </p:nvSpPr>
        <p:spPr>
          <a:xfrm>
            <a:off x="3017600" y="2640330"/>
            <a:ext cx="1645964" cy="12001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8B95A6"/>
                </a:solidFill>
                <a:latin typeface="Manrope"/>
                <a:ea typeface="Manrope"/>
                <a:cs typeface="Manrope"/>
                <a:sym typeface="Manrope"/>
              </a:rPr>
              <a:t>A side panel with awareness of the open file or repo. Useful for debugging, explaining, and small-to-medium edits. You hold the keyboard.</a:t>
            </a:r>
            <a:endParaRPr sz="1100"/>
          </a:p>
        </p:txBody>
      </p:sp>
      <p:sp>
        <p:nvSpPr>
          <p:cNvPr id="1343" name="Google Shape;1343;p68"/>
          <p:cNvSpPr/>
          <p:nvPr/>
        </p:nvSpPr>
        <p:spPr>
          <a:xfrm>
            <a:off x="4937892" y="1885950"/>
            <a:ext cx="1920291" cy="20574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344" name="Google Shape;1344;p68"/>
          <p:cNvSpPr txBox="1"/>
          <p:nvPr/>
        </p:nvSpPr>
        <p:spPr>
          <a:xfrm>
            <a:off x="5075055" y="2009394"/>
            <a:ext cx="1645964"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03 · CODING AGENT</a:t>
            </a:r>
            <a:endParaRPr sz="1100"/>
          </a:p>
        </p:txBody>
      </p:sp>
      <p:sp>
        <p:nvSpPr>
          <p:cNvPr id="1345" name="Google Shape;1345;p68"/>
          <p:cNvSpPr txBox="1"/>
          <p:nvPr/>
        </p:nvSpPr>
        <p:spPr>
          <a:xfrm>
            <a:off x="5075055" y="2208276"/>
            <a:ext cx="1645964"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Autonomy with tools</a:t>
            </a:r>
            <a:endParaRPr sz="1100"/>
          </a:p>
        </p:txBody>
      </p:sp>
      <p:sp>
        <p:nvSpPr>
          <p:cNvPr id="1346" name="Google Shape;1346;p68"/>
          <p:cNvSpPr txBox="1"/>
          <p:nvPr/>
        </p:nvSpPr>
        <p:spPr>
          <a:xfrm>
            <a:off x="5075055" y="2640330"/>
            <a:ext cx="1645964" cy="12001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8B95A6"/>
                </a:solidFill>
                <a:latin typeface="Manrope"/>
                <a:ea typeface="Manrope"/>
                <a:cs typeface="Manrope"/>
                <a:sym typeface="Manrope"/>
              </a:rPr>
              <a:t>Reads files, runs commands, writes diffs, opens PRs. You give it a goal; it iterates within bounds you set. For tasks measured in hours, not minutes.</a:t>
            </a:r>
            <a:endParaRPr sz="1100"/>
          </a:p>
        </p:txBody>
      </p:sp>
      <p:sp>
        <p:nvSpPr>
          <p:cNvPr id="1347" name="Google Shape;1347;p68"/>
          <p:cNvSpPr/>
          <p:nvPr/>
        </p:nvSpPr>
        <p:spPr>
          <a:xfrm>
            <a:off x="6995346" y="1885950"/>
            <a:ext cx="1920291" cy="20574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348" name="Google Shape;1348;p68"/>
          <p:cNvSpPr txBox="1"/>
          <p:nvPr/>
        </p:nvSpPr>
        <p:spPr>
          <a:xfrm>
            <a:off x="7132510" y="2009394"/>
            <a:ext cx="1645964"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04 · API / SDK</a:t>
            </a:r>
            <a:endParaRPr sz="1100"/>
          </a:p>
        </p:txBody>
      </p:sp>
      <p:sp>
        <p:nvSpPr>
          <p:cNvPr id="1349" name="Google Shape;1349;p68"/>
          <p:cNvSpPr txBox="1"/>
          <p:nvPr/>
        </p:nvSpPr>
        <p:spPr>
          <a:xfrm>
            <a:off x="7132510" y="2208276"/>
            <a:ext cx="1645964"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Models in your product</a:t>
            </a:r>
            <a:endParaRPr sz="1100"/>
          </a:p>
        </p:txBody>
      </p:sp>
      <p:sp>
        <p:nvSpPr>
          <p:cNvPr id="1350" name="Google Shape;1350;p68"/>
          <p:cNvSpPr txBox="1"/>
          <p:nvPr/>
        </p:nvSpPr>
        <p:spPr>
          <a:xfrm>
            <a:off x="7132510" y="2640330"/>
            <a:ext cx="1645964" cy="12001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8B95A6"/>
                </a:solidFill>
                <a:latin typeface="Manrope"/>
                <a:ea typeface="Manrope"/>
                <a:cs typeface="Manrope"/>
                <a:sym typeface="Manrope"/>
              </a:rPr>
              <a:t>The raw inference call. What you reach for when building AI features into your own product, not consuming someone else's tool.</a:t>
            </a:r>
            <a:endParaRPr sz="1100"/>
          </a:p>
        </p:txBody>
      </p:sp>
      <p:sp>
        <p:nvSpPr>
          <p:cNvPr id="1351" name="Google Shape;1351;p68"/>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5" name="Shape 1355"/>
        <p:cNvGrpSpPr/>
        <p:nvPr/>
      </p:nvGrpSpPr>
      <p:grpSpPr>
        <a:xfrm>
          <a:off x="0" y="0"/>
          <a:ext cx="0" cy="0"/>
          <a:chOff x="0" y="0"/>
          <a:chExt cx="0" cy="0"/>
        </a:xfrm>
      </p:grpSpPr>
      <p:sp>
        <p:nvSpPr>
          <p:cNvPr id="1356" name="Google Shape;1356;p69"/>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1357" name="Google Shape;1357;p69"/>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1358" name="Google Shape;1358;p69"/>
          <p:cNvSpPr txBox="1"/>
          <p:nvPr/>
        </p:nvSpPr>
        <p:spPr>
          <a:xfrm>
            <a:off x="822982" y="946404"/>
            <a:ext cx="7406700" cy="715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a:solidFill>
                  <a:srgbClr val="1B1F2A"/>
                </a:solidFill>
                <a:latin typeface="Manrope"/>
                <a:ea typeface="Manrope"/>
                <a:cs typeface="Manrope"/>
                <a:sym typeface="Manrope"/>
              </a:rPr>
              <a:t>Tools you'll actually encounter</a:t>
            </a:r>
            <a:r>
              <a:rPr b="1" lang="en-GB" sz="2100">
                <a:solidFill>
                  <a:srgbClr val="1B1F2A"/>
                </a:solidFill>
                <a:latin typeface="Manrope"/>
                <a:ea typeface="Manrope"/>
                <a:cs typeface="Manrope"/>
                <a:sym typeface="Manrope"/>
              </a:rPr>
              <a:t>.</a:t>
            </a:r>
            <a:endParaRPr b="1" sz="2100">
              <a:solidFill>
                <a:srgbClr val="1B1F2A"/>
              </a:solidFill>
              <a:latin typeface="Manrope"/>
              <a:ea typeface="Manrope"/>
              <a:cs typeface="Manrope"/>
              <a:sym typeface="Manrope"/>
            </a:endParaRPr>
          </a:p>
          <a:p>
            <a:pPr indent="0" lvl="0" marL="0" marR="0" rtl="0" algn="l">
              <a:spcBef>
                <a:spcPts val="0"/>
              </a:spcBef>
              <a:spcAft>
                <a:spcPts val="0"/>
              </a:spcAft>
              <a:buNone/>
            </a:pPr>
            <a:r>
              <a:t/>
            </a:r>
            <a:endParaRPr b="1" sz="2100">
              <a:solidFill>
                <a:srgbClr val="1B1F2A"/>
              </a:solidFill>
              <a:latin typeface="Manrope"/>
              <a:ea typeface="Manrope"/>
              <a:cs typeface="Manrope"/>
              <a:sym typeface="Manrope"/>
            </a:endParaRPr>
          </a:p>
        </p:txBody>
      </p:sp>
      <p:sp>
        <p:nvSpPr>
          <p:cNvPr id="1359" name="Google Shape;1359;p69"/>
          <p:cNvSpPr txBox="1"/>
          <p:nvPr/>
        </p:nvSpPr>
        <p:spPr>
          <a:xfrm>
            <a:off x="822982" y="1440180"/>
            <a:ext cx="7406837" cy="22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Names move fast; categories don't. Use this as a map, not a leaderboard — and re-check before committing a budget line.</a:t>
            </a:r>
            <a:endParaRPr sz="1100"/>
          </a:p>
        </p:txBody>
      </p:sp>
      <p:sp>
        <p:nvSpPr>
          <p:cNvPr id="1360" name="Google Shape;1360;p69"/>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
        <p:nvSpPr>
          <p:cNvPr id="1361" name="Google Shape;1361;p69"/>
          <p:cNvSpPr/>
          <p:nvPr/>
        </p:nvSpPr>
        <p:spPr>
          <a:xfrm>
            <a:off x="738225" y="1855750"/>
            <a:ext cx="7670100" cy="2488800"/>
          </a:xfrm>
          <a:prstGeom prst="rect">
            <a:avLst/>
          </a:prstGeom>
          <a:solidFill>
            <a:srgbClr val="F1F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62" name="Google Shape;1362;p69"/>
          <p:cNvSpPr txBox="1"/>
          <p:nvPr/>
        </p:nvSpPr>
        <p:spPr>
          <a:xfrm>
            <a:off x="822982" y="1931301"/>
            <a:ext cx="36348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Copilot  </a:t>
            </a:r>
            <a:r>
              <a:rPr b="1" lang="en-GB" sz="1200">
                <a:solidFill>
                  <a:srgbClr val="1B1F2A"/>
                </a:solidFill>
                <a:latin typeface="Manrope"/>
                <a:ea typeface="Manrope"/>
                <a:cs typeface="Manrope"/>
                <a:sym typeface="Manrope"/>
              </a:rPr>
              <a:t>GitHub Copilot — Inline + Chat</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Day-to-day completion at scale. Strongest inside VS Code and JetBrains. Watch: features vary by editor.</a:t>
            </a:r>
            <a:endParaRPr sz="1100"/>
          </a:p>
        </p:txBody>
      </p:sp>
      <p:sp>
        <p:nvSpPr>
          <p:cNvPr id="1363" name="Google Shape;1363;p69"/>
          <p:cNvSpPr txBox="1"/>
          <p:nvPr/>
        </p:nvSpPr>
        <p:spPr>
          <a:xfrm>
            <a:off x="822982" y="2639596"/>
            <a:ext cx="36348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Cursor  </a:t>
            </a:r>
            <a:r>
              <a:rPr b="1" lang="en-GB" sz="1200">
                <a:solidFill>
                  <a:srgbClr val="1B1F2A"/>
                </a:solidFill>
                <a:latin typeface="Manrope"/>
                <a:ea typeface="Manrope"/>
                <a:cs typeface="Manrope"/>
                <a:sym typeface="Manrope"/>
              </a:rPr>
              <a:t>Cursor IDE — Chat + Agent</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Repo-aware edits across files. Strong agentic mode. Watch: lock-in to a forked editor.</a:t>
            </a:r>
            <a:endParaRPr sz="1100"/>
          </a:p>
        </p:txBody>
      </p:sp>
      <p:sp>
        <p:nvSpPr>
          <p:cNvPr id="1364" name="Google Shape;1364;p69"/>
          <p:cNvSpPr txBox="1"/>
          <p:nvPr/>
        </p:nvSpPr>
        <p:spPr>
          <a:xfrm>
            <a:off x="823007" y="3202666"/>
            <a:ext cx="36348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Claude Code  </a:t>
            </a:r>
            <a:r>
              <a:rPr b="1" lang="en-GB" sz="1200">
                <a:solidFill>
                  <a:srgbClr val="1B1F2A"/>
                </a:solidFill>
                <a:latin typeface="Manrope"/>
                <a:ea typeface="Manrope"/>
                <a:cs typeface="Manrope"/>
                <a:sym typeface="Manrope"/>
              </a:rPr>
              <a:t>Claude Code — CLI Agent</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Multi-step terminal workflows. Deep context, careful reasoning. Watch: power demands thoughtful prompts.</a:t>
            </a:r>
            <a:endParaRPr sz="1100"/>
          </a:p>
        </p:txBody>
      </p:sp>
      <p:sp>
        <p:nvSpPr>
          <p:cNvPr id="1365" name="Google Shape;1365;p69"/>
          <p:cNvSpPr txBox="1"/>
          <p:nvPr/>
        </p:nvSpPr>
        <p:spPr>
          <a:xfrm>
            <a:off x="4869310" y="1981501"/>
            <a:ext cx="36348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JetBrains AI  </a:t>
            </a:r>
            <a:r>
              <a:rPr b="1" lang="en-GB" sz="1200">
                <a:solidFill>
                  <a:srgbClr val="1B1F2A"/>
                </a:solidFill>
                <a:latin typeface="Manrope"/>
                <a:ea typeface="Manrope"/>
                <a:cs typeface="Manrope"/>
                <a:sym typeface="Manrope"/>
              </a:rPr>
              <a:t>JetBrains AI — IDE Native</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Deeply integrated into the JetBrains stack. Watch: weaker outside the ecosystem.</a:t>
            </a:r>
            <a:endParaRPr sz="1100"/>
          </a:p>
        </p:txBody>
      </p:sp>
      <p:sp>
        <p:nvSpPr>
          <p:cNvPr id="1366" name="Google Shape;1366;p69"/>
          <p:cNvSpPr txBox="1"/>
          <p:nvPr/>
        </p:nvSpPr>
        <p:spPr>
          <a:xfrm>
            <a:off x="4869310" y="2506871"/>
            <a:ext cx="36348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Codeium  </a:t>
            </a:r>
            <a:r>
              <a:rPr b="1" lang="en-GB" sz="1200">
                <a:solidFill>
                  <a:srgbClr val="1B1F2A"/>
                </a:solidFill>
                <a:latin typeface="Manrope"/>
                <a:ea typeface="Manrope"/>
                <a:cs typeface="Manrope"/>
                <a:sym typeface="Manrope"/>
              </a:rPr>
              <a:t>Codeium / Windsurf — Inline + Agent</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Free tier and on-prem options. Watch: quality varies significantly by language.</a:t>
            </a:r>
            <a:endParaRPr sz="1100"/>
          </a:p>
        </p:txBody>
      </p:sp>
      <p:sp>
        <p:nvSpPr>
          <p:cNvPr id="1367" name="Google Shape;1367;p69"/>
          <p:cNvSpPr txBox="1"/>
          <p:nvPr/>
        </p:nvSpPr>
        <p:spPr>
          <a:xfrm>
            <a:off x="4869335" y="3148379"/>
            <a:ext cx="3634800" cy="746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OpenAI / Anthropic  </a:t>
            </a:r>
            <a:r>
              <a:rPr b="1" lang="en-GB" sz="1200">
                <a:solidFill>
                  <a:srgbClr val="1B1F2A"/>
                </a:solidFill>
                <a:latin typeface="Manrope"/>
                <a:ea typeface="Manrope"/>
                <a:cs typeface="Manrope"/>
                <a:sym typeface="Manrope"/>
              </a:rPr>
              <a:t>Raw API — Build your own</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Full control, full responsibility. For product builders, not tool consumers.</a:t>
            </a:r>
            <a:endParaRPr sz="1100"/>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1" name="Shape 1371"/>
        <p:cNvGrpSpPr/>
        <p:nvPr/>
      </p:nvGrpSpPr>
      <p:grpSpPr>
        <a:xfrm>
          <a:off x="0" y="0"/>
          <a:ext cx="0" cy="0"/>
          <a:chOff x="0" y="0"/>
          <a:chExt cx="0" cy="0"/>
        </a:xfrm>
      </p:grpSpPr>
      <p:sp>
        <p:nvSpPr>
          <p:cNvPr id="1372" name="Google Shape;1372;p70"/>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1373" name="Google Shape;1373;p70"/>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1374" name="Google Shape;1374;p70"/>
          <p:cNvSpPr txBox="1"/>
          <p:nvPr/>
        </p:nvSpPr>
        <p:spPr>
          <a:xfrm>
            <a:off x="833930" y="946404"/>
            <a:ext cx="74067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a:solidFill>
                  <a:srgbClr val="1B1F2A"/>
                </a:solidFill>
                <a:latin typeface="Manrope"/>
                <a:ea typeface="Manrope"/>
                <a:cs typeface="Manrope"/>
                <a:sym typeface="Manrope"/>
              </a:rPr>
              <a:t>Foundation models you'll encounter.</a:t>
            </a:r>
            <a:endParaRPr sz="1100"/>
          </a:p>
        </p:txBody>
      </p:sp>
      <p:sp>
        <p:nvSpPr>
          <p:cNvPr id="1375" name="Google Shape;1375;p70"/>
          <p:cNvSpPr txBox="1"/>
          <p:nvPr/>
        </p:nvSpPr>
        <p:spPr>
          <a:xfrm>
            <a:off x="822982" y="1440180"/>
            <a:ext cx="7406837" cy="22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A working roster — frontier and open. Pick by capability, latency, data residency, and cost.</a:t>
            </a:r>
            <a:endParaRPr sz="1100"/>
          </a:p>
        </p:txBody>
      </p:sp>
      <p:sp>
        <p:nvSpPr>
          <p:cNvPr id="1376" name="Google Shape;1376;p70"/>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
        <p:nvSpPr>
          <p:cNvPr id="1377" name="Google Shape;1377;p70"/>
          <p:cNvSpPr/>
          <p:nvPr/>
        </p:nvSpPr>
        <p:spPr>
          <a:xfrm>
            <a:off x="843025" y="1872150"/>
            <a:ext cx="7576200" cy="2452500"/>
          </a:xfrm>
          <a:prstGeom prst="rect">
            <a:avLst/>
          </a:prstGeom>
          <a:solidFill>
            <a:srgbClr val="F1F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78" name="Google Shape;1378;p70"/>
          <p:cNvSpPr txBox="1"/>
          <p:nvPr/>
        </p:nvSpPr>
        <p:spPr>
          <a:xfrm>
            <a:off x="910518" y="2117589"/>
            <a:ext cx="36348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Frontier  </a:t>
            </a:r>
            <a:r>
              <a:rPr b="1" lang="en-GB" sz="1200">
                <a:solidFill>
                  <a:srgbClr val="1B1F2A"/>
                </a:solidFill>
                <a:latin typeface="Manrope"/>
                <a:ea typeface="Manrope"/>
                <a:cs typeface="Manrope"/>
                <a:sym typeface="Manrope"/>
              </a:rPr>
              <a:t>GPT-4o / GPT-4.1 — OpenAI</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Strong all-rounder, broad ecosystem, excellent function calling and structured output.</a:t>
            </a:r>
            <a:endParaRPr sz="1100"/>
          </a:p>
        </p:txBody>
      </p:sp>
      <p:sp>
        <p:nvSpPr>
          <p:cNvPr id="1379" name="Google Shape;1379;p70"/>
          <p:cNvSpPr txBox="1"/>
          <p:nvPr/>
        </p:nvSpPr>
        <p:spPr>
          <a:xfrm>
            <a:off x="910543" y="2705296"/>
            <a:ext cx="36348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Frontier  </a:t>
            </a:r>
            <a:r>
              <a:rPr b="1" lang="en-GB" sz="1200">
                <a:solidFill>
                  <a:srgbClr val="1B1F2A"/>
                </a:solidFill>
                <a:latin typeface="Manrope"/>
                <a:ea typeface="Manrope"/>
                <a:cs typeface="Manrope"/>
                <a:sym typeface="Manrope"/>
              </a:rPr>
              <a:t>Claude Sonnet / Opus — Anthropic</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Long context, careful reasoning, strong on code, nuance, and safety-critical applications.</a:t>
            </a:r>
            <a:endParaRPr sz="1100"/>
          </a:p>
        </p:txBody>
      </p:sp>
      <p:sp>
        <p:nvSpPr>
          <p:cNvPr id="1380" name="Google Shape;1380;p70"/>
          <p:cNvSpPr txBox="1"/>
          <p:nvPr/>
        </p:nvSpPr>
        <p:spPr>
          <a:xfrm>
            <a:off x="910593" y="3323066"/>
            <a:ext cx="36348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Frontier  </a:t>
            </a:r>
            <a:r>
              <a:rPr b="1" lang="en-GB" sz="1200">
                <a:solidFill>
                  <a:srgbClr val="1B1F2A"/>
                </a:solidFill>
                <a:latin typeface="Manrope"/>
                <a:ea typeface="Manrope"/>
                <a:cs typeface="Manrope"/>
                <a:sym typeface="Manrope"/>
              </a:rPr>
              <a:t>Gemini 1.5 / 2.x — Google</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Very large context windows (1M+), tight integration with Google data products.</a:t>
            </a:r>
            <a:endParaRPr sz="1100"/>
          </a:p>
        </p:txBody>
      </p:sp>
      <p:sp>
        <p:nvSpPr>
          <p:cNvPr id="1381" name="Google Shape;1381;p70"/>
          <p:cNvSpPr txBox="1"/>
          <p:nvPr/>
        </p:nvSpPr>
        <p:spPr>
          <a:xfrm>
            <a:off x="4956896" y="2189801"/>
            <a:ext cx="36348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Open  </a:t>
            </a:r>
            <a:r>
              <a:rPr b="1" lang="en-GB" sz="1200">
                <a:solidFill>
                  <a:srgbClr val="1B1F2A"/>
                </a:solidFill>
                <a:latin typeface="Manrope"/>
                <a:ea typeface="Manrope"/>
                <a:cs typeface="Manrope"/>
                <a:sym typeface="Manrope"/>
              </a:rPr>
              <a:t>Llama 3 / 4 — Meta</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Strong open-weights baseline; the spine of most self-hosted and on-prem stacks.</a:t>
            </a:r>
            <a:endParaRPr sz="1100"/>
          </a:p>
        </p:txBody>
      </p:sp>
      <p:sp>
        <p:nvSpPr>
          <p:cNvPr id="1382" name="Google Shape;1382;p70"/>
          <p:cNvSpPr txBox="1"/>
          <p:nvPr/>
        </p:nvSpPr>
        <p:spPr>
          <a:xfrm>
            <a:off x="4956896" y="2822059"/>
            <a:ext cx="36348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Open  </a:t>
            </a:r>
            <a:r>
              <a:rPr b="1" lang="en-GB" sz="1200">
                <a:solidFill>
                  <a:srgbClr val="1B1F2A"/>
                </a:solidFill>
                <a:latin typeface="Manrope"/>
                <a:ea typeface="Manrope"/>
                <a:cs typeface="Manrope"/>
                <a:sym typeface="Manrope"/>
              </a:rPr>
              <a:t>Mistral / Mixtral</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Compact, fast, cost-efficient inference. Good for latency-sensitive or edge deployments.</a:t>
            </a:r>
            <a:endParaRPr sz="1100"/>
          </a:p>
        </p:txBody>
      </p:sp>
      <p:sp>
        <p:nvSpPr>
          <p:cNvPr id="1383" name="Google Shape;1383;p70"/>
          <p:cNvSpPr txBox="1"/>
          <p:nvPr/>
        </p:nvSpPr>
        <p:spPr>
          <a:xfrm>
            <a:off x="4902146" y="3399291"/>
            <a:ext cx="36348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Open  </a:t>
            </a:r>
            <a:r>
              <a:rPr b="1" lang="en-GB" sz="1200">
                <a:solidFill>
                  <a:srgbClr val="1B1F2A"/>
                </a:solidFill>
                <a:latin typeface="Manrope"/>
                <a:ea typeface="Manrope"/>
                <a:cs typeface="Manrope"/>
                <a:sym typeface="Manrope"/>
              </a:rPr>
              <a:t>DeepSeek, Qwen</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Strong on code and math; weights publicly available. Growing ecosystem of fine-tunes.</a:t>
            </a:r>
            <a:endParaRPr sz="11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7" name="Shape 1387"/>
        <p:cNvGrpSpPr/>
        <p:nvPr/>
      </p:nvGrpSpPr>
      <p:grpSpPr>
        <a:xfrm>
          <a:off x="0" y="0"/>
          <a:ext cx="0" cy="0"/>
          <a:chOff x="0" y="0"/>
          <a:chExt cx="0" cy="0"/>
        </a:xfrm>
      </p:grpSpPr>
      <p:sp>
        <p:nvSpPr>
          <p:cNvPr id="1388" name="Google Shape;1388;p71"/>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1389" name="Google Shape;1389;p71"/>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1390" name="Google Shape;1390;p71"/>
          <p:cNvSpPr txBox="1"/>
          <p:nvPr/>
        </p:nvSpPr>
        <p:spPr>
          <a:xfrm>
            <a:off x="822982" y="946404"/>
            <a:ext cx="7406837"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a:solidFill>
                  <a:srgbClr val="1B1F2A"/>
                </a:solidFill>
                <a:latin typeface="Manrope"/>
                <a:ea typeface="Manrope"/>
                <a:cs typeface="Manrope"/>
                <a:sym typeface="Manrope"/>
              </a:rPr>
              <a:t>Editor extensions or agent CLIs — which one?</a:t>
            </a:r>
            <a:endParaRPr sz="1100"/>
          </a:p>
        </p:txBody>
      </p:sp>
      <p:sp>
        <p:nvSpPr>
          <p:cNvPr id="1391" name="Google Shape;1391;p71"/>
          <p:cNvSpPr/>
          <p:nvPr/>
        </p:nvSpPr>
        <p:spPr>
          <a:xfrm>
            <a:off x="822982" y="1474470"/>
            <a:ext cx="3497673" cy="30861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392" name="Google Shape;1392;p71"/>
          <p:cNvSpPr/>
          <p:nvPr/>
        </p:nvSpPr>
        <p:spPr>
          <a:xfrm>
            <a:off x="4800728" y="1474470"/>
            <a:ext cx="3497673" cy="3086100"/>
          </a:xfrm>
          <a:prstGeom prst="rect">
            <a:avLst/>
          </a:prstGeom>
          <a:solidFill>
            <a:srgbClr val="FFE3D2"/>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393" name="Google Shape;1393;p71"/>
          <p:cNvSpPr/>
          <p:nvPr/>
        </p:nvSpPr>
        <p:spPr>
          <a:xfrm>
            <a:off x="822982" y="1474470"/>
            <a:ext cx="3497673" cy="329184"/>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394" name="Google Shape;1394;p71"/>
          <p:cNvSpPr txBox="1"/>
          <p:nvPr/>
        </p:nvSpPr>
        <p:spPr>
          <a:xfrm>
            <a:off x="960146" y="1501902"/>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300">
                <a:solidFill>
                  <a:srgbClr val="FFFFFF"/>
                </a:solidFill>
                <a:latin typeface="Manrope"/>
                <a:ea typeface="Manrope"/>
                <a:cs typeface="Manrope"/>
                <a:sym typeface="Manrope"/>
              </a:rPr>
              <a:t>Editor Extensions — You Drive</a:t>
            </a:r>
            <a:endParaRPr sz="1100"/>
          </a:p>
        </p:txBody>
      </p:sp>
      <p:sp>
        <p:nvSpPr>
          <p:cNvPr id="1395" name="Google Shape;1395;p71"/>
          <p:cNvSpPr/>
          <p:nvPr/>
        </p:nvSpPr>
        <p:spPr>
          <a:xfrm>
            <a:off x="4800728" y="1474470"/>
            <a:ext cx="3497673" cy="329184"/>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396" name="Google Shape;1396;p71"/>
          <p:cNvSpPr txBox="1"/>
          <p:nvPr/>
        </p:nvSpPr>
        <p:spPr>
          <a:xfrm>
            <a:off x="4937892" y="1501902"/>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300">
                <a:solidFill>
                  <a:srgbClr val="FFFFFF"/>
                </a:solidFill>
                <a:latin typeface="Manrope"/>
                <a:ea typeface="Manrope"/>
                <a:cs typeface="Manrope"/>
                <a:sym typeface="Manrope"/>
              </a:rPr>
              <a:t>Agent CLIs — Model Drives</a:t>
            </a:r>
            <a:endParaRPr sz="1100"/>
          </a:p>
        </p:txBody>
      </p:sp>
      <p:sp>
        <p:nvSpPr>
          <p:cNvPr id="1397" name="Google Shape;1397;p71"/>
          <p:cNvSpPr txBox="1"/>
          <p:nvPr/>
        </p:nvSpPr>
        <p:spPr>
          <a:xfrm>
            <a:off x="925855" y="19339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Tight loop, small bets per interaction</a:t>
            </a:r>
            <a:endParaRPr sz="1100"/>
          </a:p>
        </p:txBody>
      </p:sp>
      <p:sp>
        <p:nvSpPr>
          <p:cNvPr id="1398" name="Google Shape;1398;p71"/>
          <p:cNvSpPr txBox="1"/>
          <p:nvPr/>
        </p:nvSpPr>
        <p:spPr>
          <a:xfrm>
            <a:off x="925855" y="22768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Model proposes; you accept or reject line by line</a:t>
            </a:r>
            <a:endParaRPr sz="1100"/>
          </a:p>
        </p:txBody>
      </p:sp>
      <p:sp>
        <p:nvSpPr>
          <p:cNvPr id="1399" name="Google Shape;1399;p71"/>
          <p:cNvSpPr txBox="1"/>
          <p:nvPr/>
        </p:nvSpPr>
        <p:spPr>
          <a:xfrm>
            <a:off x="925855" y="26197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Best for tasks measured in minutes</a:t>
            </a:r>
            <a:endParaRPr sz="1100"/>
          </a:p>
        </p:txBody>
      </p:sp>
      <p:sp>
        <p:nvSpPr>
          <p:cNvPr id="1400" name="Google Shape;1400;p71"/>
          <p:cNvSpPr txBox="1"/>
          <p:nvPr/>
        </p:nvSpPr>
        <p:spPr>
          <a:xfrm>
            <a:off x="925855" y="29626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Risk bounded by what you visibly accept</a:t>
            </a:r>
            <a:endParaRPr sz="1100"/>
          </a:p>
        </p:txBody>
      </p:sp>
      <p:sp>
        <p:nvSpPr>
          <p:cNvPr id="1401" name="Google Shape;1401;p71"/>
          <p:cNvSpPr txBox="1"/>
          <p:nvPr/>
        </p:nvSpPr>
        <p:spPr>
          <a:xfrm>
            <a:off x="925855" y="33055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Dominant mode for most of your day</a:t>
            </a:r>
            <a:endParaRPr sz="1100"/>
          </a:p>
        </p:txBody>
      </p:sp>
      <p:sp>
        <p:nvSpPr>
          <p:cNvPr id="1402" name="Google Shape;1402;p71"/>
          <p:cNvSpPr txBox="1"/>
          <p:nvPr/>
        </p:nvSpPr>
        <p:spPr>
          <a:xfrm>
            <a:off x="4903601" y="19339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Loose leash, bigger jobs</a:t>
            </a:r>
            <a:endParaRPr sz="1100"/>
          </a:p>
        </p:txBody>
      </p:sp>
      <p:sp>
        <p:nvSpPr>
          <p:cNvPr id="1403" name="Google Shape;1403;p71"/>
          <p:cNvSpPr txBox="1"/>
          <p:nvPr/>
        </p:nvSpPr>
        <p:spPr>
          <a:xfrm>
            <a:off x="4903601" y="22768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You set a goal and bounds; agent chooses steps</a:t>
            </a:r>
            <a:endParaRPr sz="1100"/>
          </a:p>
        </p:txBody>
      </p:sp>
      <p:sp>
        <p:nvSpPr>
          <p:cNvPr id="1404" name="Google Shape;1404;p71"/>
          <p:cNvSpPr txBox="1"/>
          <p:nvPr/>
        </p:nvSpPr>
        <p:spPr>
          <a:xfrm>
            <a:off x="4903601" y="26197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Best for tasks measured in hours (migrations, multi-file work)</a:t>
            </a:r>
            <a:endParaRPr sz="1100"/>
          </a:p>
        </p:txBody>
      </p:sp>
      <p:sp>
        <p:nvSpPr>
          <p:cNvPr id="1405" name="Google Shape;1405;p71"/>
          <p:cNvSpPr txBox="1"/>
          <p:nvPr/>
        </p:nvSpPr>
        <p:spPr>
          <a:xfrm>
            <a:off x="4903601" y="29626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Risk must be designed in — sandboxes, dry-runs, no auto-merge</a:t>
            </a:r>
            <a:endParaRPr sz="1100"/>
          </a:p>
        </p:txBody>
      </p:sp>
      <p:sp>
        <p:nvSpPr>
          <p:cNvPr id="1406" name="Google Shape;1406;p71"/>
          <p:cNvSpPr txBox="1"/>
          <p:nvPr/>
        </p:nvSpPr>
        <p:spPr>
          <a:xfrm>
            <a:off x="4903601" y="33055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Right tool when the loop exceeds your attention span</a:t>
            </a:r>
            <a:endParaRPr sz="1100"/>
          </a:p>
        </p:txBody>
      </p:sp>
      <p:sp>
        <p:nvSpPr>
          <p:cNvPr id="1407" name="Google Shape;1407;p71"/>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1" name="Shape 1411"/>
        <p:cNvGrpSpPr/>
        <p:nvPr/>
      </p:nvGrpSpPr>
      <p:grpSpPr>
        <a:xfrm>
          <a:off x="0" y="0"/>
          <a:ext cx="0" cy="0"/>
          <a:chOff x="0" y="0"/>
          <a:chExt cx="0" cy="0"/>
        </a:xfrm>
      </p:grpSpPr>
      <p:sp>
        <p:nvSpPr>
          <p:cNvPr id="1412" name="Google Shape;1412;p72"/>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1413" name="Google Shape;1413;p72"/>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1414" name="Google Shape;1414;p72"/>
          <p:cNvSpPr txBox="1"/>
          <p:nvPr/>
        </p:nvSpPr>
        <p:spPr>
          <a:xfrm>
            <a:off x="822982" y="946404"/>
            <a:ext cx="7406837" cy="49377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700">
                <a:solidFill>
                  <a:srgbClr val="1B1F2A"/>
                </a:solidFill>
                <a:latin typeface="Manrope"/>
                <a:ea typeface="Manrope"/>
                <a:cs typeface="Manrope"/>
                <a:sym typeface="Manrope"/>
              </a:rPr>
              <a:t>What the model layer gives you.</a:t>
            </a:r>
            <a:endParaRPr sz="1100"/>
          </a:p>
        </p:txBody>
      </p:sp>
      <p:sp>
        <p:nvSpPr>
          <p:cNvPr id="1415" name="Google Shape;1415;p72"/>
          <p:cNvSpPr txBox="1"/>
          <p:nvPr/>
        </p:nvSpPr>
        <p:spPr>
          <a:xfrm>
            <a:off x="822982" y="1522476"/>
            <a:ext cx="7406837"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The model is the intelligence. The tool is the interface. The API is what lets you compose them. Understanding all three…</a:t>
            </a:r>
            <a:endParaRPr sz="1100"/>
          </a:p>
        </p:txBody>
      </p:sp>
      <p:sp>
        <p:nvSpPr>
          <p:cNvPr id="1416" name="Google Shape;1416;p72"/>
          <p:cNvSpPr/>
          <p:nvPr/>
        </p:nvSpPr>
        <p:spPr>
          <a:xfrm>
            <a:off x="822982"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417" name="Google Shape;1417;p72"/>
          <p:cNvSpPr txBox="1"/>
          <p:nvPr/>
        </p:nvSpPr>
        <p:spPr>
          <a:xfrm>
            <a:off x="822982"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INTELLIGENCE</a:t>
            </a:r>
            <a:endParaRPr sz="1100"/>
          </a:p>
        </p:txBody>
      </p:sp>
      <p:sp>
        <p:nvSpPr>
          <p:cNvPr id="1418" name="Google Shape;1418;p72"/>
          <p:cNvSpPr txBox="1"/>
          <p:nvPr/>
        </p:nvSpPr>
        <p:spPr>
          <a:xfrm>
            <a:off x="822982" y="2242566"/>
            <a:ext cx="2468946" cy="30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The Model</a:t>
            </a:r>
            <a:endParaRPr sz="1100"/>
          </a:p>
        </p:txBody>
      </p:sp>
      <p:sp>
        <p:nvSpPr>
          <p:cNvPr id="1419" name="Google Shape;1419;p72"/>
          <p:cNvSpPr txBox="1"/>
          <p:nvPr/>
        </p:nvSpPr>
        <p:spPr>
          <a:xfrm>
            <a:off x="822982" y="2558034"/>
            <a:ext cx="2468946" cy="19202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Pre-trained on internet-scale data. Knows language, code, reasoning, and world facts up to its training cutoff. Accessed via API; streamed token by token.</a:t>
            </a:r>
            <a:endParaRPr sz="1100"/>
          </a:p>
        </p:txBody>
      </p:sp>
      <p:sp>
        <p:nvSpPr>
          <p:cNvPr id="1420" name="Google Shape;1420;p72"/>
          <p:cNvSpPr/>
          <p:nvPr/>
        </p:nvSpPr>
        <p:spPr>
          <a:xfrm>
            <a:off x="3429091"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421" name="Google Shape;1421;p72"/>
          <p:cNvSpPr txBox="1"/>
          <p:nvPr/>
        </p:nvSpPr>
        <p:spPr>
          <a:xfrm>
            <a:off x="3429091"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INTERFACE</a:t>
            </a:r>
            <a:endParaRPr sz="1100"/>
          </a:p>
        </p:txBody>
      </p:sp>
      <p:sp>
        <p:nvSpPr>
          <p:cNvPr id="1422" name="Google Shape;1422;p72"/>
          <p:cNvSpPr txBox="1"/>
          <p:nvPr/>
        </p:nvSpPr>
        <p:spPr>
          <a:xfrm>
            <a:off x="3429091" y="2242566"/>
            <a:ext cx="2468946" cy="30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The Tool</a:t>
            </a:r>
            <a:endParaRPr sz="1100"/>
          </a:p>
        </p:txBody>
      </p:sp>
      <p:sp>
        <p:nvSpPr>
          <p:cNvPr id="1423" name="Google Shape;1423;p72"/>
          <p:cNvSpPr txBox="1"/>
          <p:nvPr/>
        </p:nvSpPr>
        <p:spPr>
          <a:xfrm>
            <a:off x="3429091" y="2558034"/>
            <a:ext cx="2468946" cy="19202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Wraps the model in a UX optimised for a specific workflow — inline completion, chat, agent loop. Tool quality determines how well you can drive the model.</a:t>
            </a:r>
            <a:endParaRPr sz="1100"/>
          </a:p>
        </p:txBody>
      </p:sp>
      <p:sp>
        <p:nvSpPr>
          <p:cNvPr id="1424" name="Google Shape;1424;p72"/>
          <p:cNvSpPr/>
          <p:nvPr/>
        </p:nvSpPr>
        <p:spPr>
          <a:xfrm>
            <a:off x="6035201"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425" name="Google Shape;1425;p72"/>
          <p:cNvSpPr txBox="1"/>
          <p:nvPr/>
        </p:nvSpPr>
        <p:spPr>
          <a:xfrm>
            <a:off x="6035201"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COMPOSITION</a:t>
            </a:r>
            <a:endParaRPr sz="1100"/>
          </a:p>
        </p:txBody>
      </p:sp>
      <p:sp>
        <p:nvSpPr>
          <p:cNvPr id="1426" name="Google Shape;1426;p72"/>
          <p:cNvSpPr txBox="1"/>
          <p:nvPr/>
        </p:nvSpPr>
        <p:spPr>
          <a:xfrm>
            <a:off x="6035201" y="2242566"/>
            <a:ext cx="2468946" cy="30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The API</a:t>
            </a:r>
            <a:endParaRPr sz="1100"/>
          </a:p>
        </p:txBody>
      </p:sp>
      <p:sp>
        <p:nvSpPr>
          <p:cNvPr id="1427" name="Google Shape;1427;p72"/>
          <p:cNvSpPr txBox="1"/>
          <p:nvPr/>
        </p:nvSpPr>
        <p:spPr>
          <a:xfrm>
            <a:off x="6035201" y="2558034"/>
            <a:ext cx="2468946" cy="19202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Lets you wire models into your own products, pipelines, and agents. The raw inference call is 20 lines of code. Everything else is engineering judgment.</a:t>
            </a:r>
            <a:endParaRPr sz="1100"/>
          </a:p>
        </p:txBody>
      </p:sp>
      <p:sp>
        <p:nvSpPr>
          <p:cNvPr id="1428" name="Google Shape;1428;p72"/>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2" name="Shape 1432"/>
        <p:cNvGrpSpPr/>
        <p:nvPr/>
      </p:nvGrpSpPr>
      <p:grpSpPr>
        <a:xfrm>
          <a:off x="0" y="0"/>
          <a:ext cx="0" cy="0"/>
          <a:chOff x="0" y="0"/>
          <a:chExt cx="0" cy="0"/>
        </a:xfrm>
      </p:grpSpPr>
      <p:sp>
        <p:nvSpPr>
          <p:cNvPr id="1433" name="Google Shape;1433;p73"/>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1434" name="Google Shape;1434;p73"/>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1435" name="Google Shape;1435;p73"/>
          <p:cNvSpPr txBox="1"/>
          <p:nvPr/>
        </p:nvSpPr>
        <p:spPr>
          <a:xfrm>
            <a:off x="822982" y="946404"/>
            <a:ext cx="7406837"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a:solidFill>
                  <a:srgbClr val="1B1F2A"/>
                </a:solidFill>
                <a:latin typeface="Manrope"/>
                <a:ea typeface="Manrope"/>
                <a:cs typeface="Manrope"/>
                <a:sym typeface="Manrope"/>
              </a:rPr>
              <a:t>Eight things to evaluate before adopting a new AI tool.</a:t>
            </a:r>
            <a:endParaRPr sz="1100"/>
          </a:p>
        </p:txBody>
      </p:sp>
      <p:sp>
        <p:nvSpPr>
          <p:cNvPr id="1436" name="Google Shape;1436;p73"/>
          <p:cNvSpPr txBox="1"/>
          <p:nvPr/>
        </p:nvSpPr>
        <p:spPr>
          <a:xfrm>
            <a:off x="822982" y="1426464"/>
            <a:ext cx="7406837" cy="2095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A checklist that prevents tool-sprawl, data-exposure incidents, and productivity theatre.</a:t>
            </a:r>
            <a:endParaRPr sz="1100"/>
          </a:p>
        </p:txBody>
      </p:sp>
      <p:sp>
        <p:nvSpPr>
          <p:cNvPr id="1437" name="Google Shape;1437;p73"/>
          <p:cNvSpPr/>
          <p:nvPr/>
        </p:nvSpPr>
        <p:spPr>
          <a:xfrm>
            <a:off x="822982" y="1817370"/>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438" name="Google Shape;1438;p73"/>
          <p:cNvSpPr txBox="1"/>
          <p:nvPr/>
        </p:nvSpPr>
        <p:spPr>
          <a:xfrm>
            <a:off x="918996" y="1872234"/>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01</a:t>
            </a:r>
            <a:endParaRPr sz="1100"/>
          </a:p>
        </p:txBody>
      </p:sp>
      <p:sp>
        <p:nvSpPr>
          <p:cNvPr id="1439" name="Google Shape;1439;p73"/>
          <p:cNvSpPr txBox="1"/>
          <p:nvPr/>
        </p:nvSpPr>
        <p:spPr>
          <a:xfrm>
            <a:off x="918996" y="2023110"/>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Data residency</a:t>
            </a:r>
            <a:endParaRPr sz="1100"/>
          </a:p>
        </p:txBody>
      </p:sp>
      <p:sp>
        <p:nvSpPr>
          <p:cNvPr id="1440" name="Google Shape;1440;p73"/>
          <p:cNvSpPr txBox="1"/>
          <p:nvPr/>
        </p:nvSpPr>
        <p:spPr>
          <a:xfrm>
            <a:off x="918996" y="2379726"/>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Where do your prompts and outputs go? What's the retention policy? Does it match your contracts?</a:t>
            </a:r>
            <a:endParaRPr sz="1100"/>
          </a:p>
        </p:txBody>
      </p:sp>
      <p:sp>
        <p:nvSpPr>
          <p:cNvPr id="1441" name="Google Shape;1441;p73"/>
          <p:cNvSpPr/>
          <p:nvPr/>
        </p:nvSpPr>
        <p:spPr>
          <a:xfrm>
            <a:off x="2853004" y="1817370"/>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442" name="Google Shape;1442;p73"/>
          <p:cNvSpPr txBox="1"/>
          <p:nvPr/>
        </p:nvSpPr>
        <p:spPr>
          <a:xfrm>
            <a:off x="2949019" y="1872234"/>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02</a:t>
            </a:r>
            <a:endParaRPr sz="1100"/>
          </a:p>
        </p:txBody>
      </p:sp>
      <p:sp>
        <p:nvSpPr>
          <p:cNvPr id="1443" name="Google Shape;1443;p73"/>
          <p:cNvSpPr txBox="1"/>
          <p:nvPr/>
        </p:nvSpPr>
        <p:spPr>
          <a:xfrm>
            <a:off x="2949019" y="2023110"/>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Model quality on your tasks</a:t>
            </a:r>
            <a:endParaRPr sz="1100"/>
          </a:p>
        </p:txBody>
      </p:sp>
      <p:sp>
        <p:nvSpPr>
          <p:cNvPr id="1444" name="Google Shape;1444;p73"/>
          <p:cNvSpPr txBox="1"/>
          <p:nvPr/>
        </p:nvSpPr>
        <p:spPr>
          <a:xfrm>
            <a:off x="2949019" y="2379726"/>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Run your own evals — benchmark performance on code you actually write, in languages you actually use.</a:t>
            </a:r>
            <a:endParaRPr sz="1100"/>
          </a:p>
        </p:txBody>
      </p:sp>
      <p:sp>
        <p:nvSpPr>
          <p:cNvPr id="1445" name="Google Shape;1445;p73"/>
          <p:cNvSpPr/>
          <p:nvPr/>
        </p:nvSpPr>
        <p:spPr>
          <a:xfrm>
            <a:off x="4883026" y="1817370"/>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446" name="Google Shape;1446;p73"/>
          <p:cNvSpPr txBox="1"/>
          <p:nvPr/>
        </p:nvSpPr>
        <p:spPr>
          <a:xfrm>
            <a:off x="4979041" y="1872234"/>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03</a:t>
            </a:r>
            <a:endParaRPr sz="1100"/>
          </a:p>
        </p:txBody>
      </p:sp>
      <p:sp>
        <p:nvSpPr>
          <p:cNvPr id="1447" name="Google Shape;1447;p73"/>
          <p:cNvSpPr txBox="1"/>
          <p:nvPr/>
        </p:nvSpPr>
        <p:spPr>
          <a:xfrm>
            <a:off x="4979041" y="2023110"/>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Editor/IDE integration</a:t>
            </a:r>
            <a:endParaRPr sz="1100"/>
          </a:p>
        </p:txBody>
      </p:sp>
      <p:sp>
        <p:nvSpPr>
          <p:cNvPr id="1448" name="Google Shape;1448;p73"/>
          <p:cNvSpPr txBox="1"/>
          <p:nvPr/>
        </p:nvSpPr>
        <p:spPr>
          <a:xfrm>
            <a:off x="4979041" y="2379726"/>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Friction in the integration erases productivity gains. Native plugins &gt; browser extensions &gt; copy-paste.</a:t>
            </a:r>
            <a:endParaRPr sz="1100"/>
          </a:p>
        </p:txBody>
      </p:sp>
      <p:sp>
        <p:nvSpPr>
          <p:cNvPr id="1449" name="Google Shape;1449;p73"/>
          <p:cNvSpPr/>
          <p:nvPr/>
        </p:nvSpPr>
        <p:spPr>
          <a:xfrm>
            <a:off x="6913048" y="1817370"/>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450" name="Google Shape;1450;p73"/>
          <p:cNvSpPr txBox="1"/>
          <p:nvPr/>
        </p:nvSpPr>
        <p:spPr>
          <a:xfrm>
            <a:off x="7009063" y="1872234"/>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04</a:t>
            </a:r>
            <a:endParaRPr sz="1100"/>
          </a:p>
        </p:txBody>
      </p:sp>
      <p:sp>
        <p:nvSpPr>
          <p:cNvPr id="1451" name="Google Shape;1451;p73"/>
          <p:cNvSpPr txBox="1"/>
          <p:nvPr/>
        </p:nvSpPr>
        <p:spPr>
          <a:xfrm>
            <a:off x="7009063" y="2023110"/>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Cost at scale</a:t>
            </a:r>
            <a:endParaRPr sz="1100"/>
          </a:p>
        </p:txBody>
      </p:sp>
      <p:sp>
        <p:nvSpPr>
          <p:cNvPr id="1452" name="Google Shape;1452;p73"/>
          <p:cNvSpPr txBox="1"/>
          <p:nvPr/>
        </p:nvSpPr>
        <p:spPr>
          <a:xfrm>
            <a:off x="7009063" y="2379726"/>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Per-seat pricing vs. per-token. Model the cost at 10× current usage before committing.</a:t>
            </a:r>
            <a:endParaRPr sz="1100"/>
          </a:p>
        </p:txBody>
      </p:sp>
      <p:sp>
        <p:nvSpPr>
          <p:cNvPr id="1453" name="Google Shape;1453;p73"/>
          <p:cNvSpPr/>
          <p:nvPr/>
        </p:nvSpPr>
        <p:spPr>
          <a:xfrm>
            <a:off x="822982" y="3072384"/>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454" name="Google Shape;1454;p73"/>
          <p:cNvSpPr txBox="1"/>
          <p:nvPr/>
        </p:nvSpPr>
        <p:spPr>
          <a:xfrm>
            <a:off x="918996" y="3127248"/>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05</a:t>
            </a:r>
            <a:endParaRPr sz="1100"/>
          </a:p>
        </p:txBody>
      </p:sp>
      <p:sp>
        <p:nvSpPr>
          <p:cNvPr id="1455" name="Google Shape;1455;p73"/>
          <p:cNvSpPr txBox="1"/>
          <p:nvPr/>
        </p:nvSpPr>
        <p:spPr>
          <a:xfrm>
            <a:off x="918996" y="3278124"/>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Lock-in risk</a:t>
            </a:r>
            <a:endParaRPr sz="1100"/>
          </a:p>
        </p:txBody>
      </p:sp>
      <p:sp>
        <p:nvSpPr>
          <p:cNvPr id="1456" name="Google Shape;1456;p73"/>
          <p:cNvSpPr txBox="1"/>
          <p:nvPr/>
        </p:nvSpPr>
        <p:spPr>
          <a:xfrm>
            <a:off x="918996" y="3634740"/>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Proprietary formats, forked editors, non-standard APIs — evaluate exit cost explicitly.</a:t>
            </a:r>
            <a:endParaRPr sz="1100"/>
          </a:p>
        </p:txBody>
      </p:sp>
      <p:sp>
        <p:nvSpPr>
          <p:cNvPr id="1457" name="Google Shape;1457;p73"/>
          <p:cNvSpPr/>
          <p:nvPr/>
        </p:nvSpPr>
        <p:spPr>
          <a:xfrm>
            <a:off x="2853004" y="3072384"/>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458" name="Google Shape;1458;p73"/>
          <p:cNvSpPr txBox="1"/>
          <p:nvPr/>
        </p:nvSpPr>
        <p:spPr>
          <a:xfrm>
            <a:off x="2949019" y="3127248"/>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06</a:t>
            </a:r>
            <a:endParaRPr sz="1100"/>
          </a:p>
        </p:txBody>
      </p:sp>
      <p:sp>
        <p:nvSpPr>
          <p:cNvPr id="1459" name="Google Shape;1459;p73"/>
          <p:cNvSpPr txBox="1"/>
          <p:nvPr/>
        </p:nvSpPr>
        <p:spPr>
          <a:xfrm>
            <a:off x="2949019" y="3278124"/>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Team standardisation</a:t>
            </a:r>
            <a:endParaRPr sz="1100"/>
          </a:p>
        </p:txBody>
      </p:sp>
      <p:sp>
        <p:nvSpPr>
          <p:cNvPr id="1460" name="Google Shape;1460;p73"/>
          <p:cNvSpPr txBox="1"/>
          <p:nvPr/>
        </p:nvSpPr>
        <p:spPr>
          <a:xfrm>
            <a:off x="2949019" y="3634740"/>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Tool sprawl fragments knowledge, complicates security review, and makes onboarding harder.</a:t>
            </a:r>
            <a:endParaRPr sz="1100"/>
          </a:p>
        </p:txBody>
      </p:sp>
      <p:sp>
        <p:nvSpPr>
          <p:cNvPr id="1461" name="Google Shape;1461;p73"/>
          <p:cNvSpPr/>
          <p:nvPr/>
        </p:nvSpPr>
        <p:spPr>
          <a:xfrm>
            <a:off x="4883026" y="3072384"/>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462" name="Google Shape;1462;p73"/>
          <p:cNvSpPr txBox="1"/>
          <p:nvPr/>
        </p:nvSpPr>
        <p:spPr>
          <a:xfrm>
            <a:off x="4979041" y="3127248"/>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07</a:t>
            </a:r>
            <a:endParaRPr sz="1100"/>
          </a:p>
        </p:txBody>
      </p:sp>
      <p:sp>
        <p:nvSpPr>
          <p:cNvPr id="1463" name="Google Shape;1463;p73"/>
          <p:cNvSpPr txBox="1"/>
          <p:nvPr/>
        </p:nvSpPr>
        <p:spPr>
          <a:xfrm>
            <a:off x="4979041" y="3278124"/>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Offline / air-gap support</a:t>
            </a:r>
            <a:endParaRPr sz="1100"/>
          </a:p>
        </p:txBody>
      </p:sp>
      <p:sp>
        <p:nvSpPr>
          <p:cNvPr id="1464" name="Google Shape;1464;p73"/>
          <p:cNvSpPr txBox="1"/>
          <p:nvPr/>
        </p:nvSpPr>
        <p:spPr>
          <a:xfrm>
            <a:off x="4979041" y="3634740"/>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Required for regulated industries and high-security environments. Not all tools support it.</a:t>
            </a:r>
            <a:endParaRPr sz="1100"/>
          </a:p>
        </p:txBody>
      </p:sp>
      <p:sp>
        <p:nvSpPr>
          <p:cNvPr id="1465" name="Google Shape;1465;p73"/>
          <p:cNvSpPr/>
          <p:nvPr/>
        </p:nvSpPr>
        <p:spPr>
          <a:xfrm>
            <a:off x="6913048" y="3072384"/>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466" name="Google Shape;1466;p73"/>
          <p:cNvSpPr txBox="1"/>
          <p:nvPr/>
        </p:nvSpPr>
        <p:spPr>
          <a:xfrm>
            <a:off x="7009063" y="3127248"/>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08</a:t>
            </a:r>
            <a:endParaRPr sz="1100"/>
          </a:p>
        </p:txBody>
      </p:sp>
      <p:sp>
        <p:nvSpPr>
          <p:cNvPr id="1467" name="Google Shape;1467;p73"/>
          <p:cNvSpPr txBox="1"/>
          <p:nvPr/>
        </p:nvSpPr>
        <p:spPr>
          <a:xfrm>
            <a:off x="7009063" y="3278124"/>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Vendor roadmap alignment</a:t>
            </a:r>
            <a:endParaRPr sz="1100"/>
          </a:p>
        </p:txBody>
      </p:sp>
      <p:sp>
        <p:nvSpPr>
          <p:cNvPr id="1468" name="Google Shape;1468;p73"/>
          <p:cNvSpPr txBox="1"/>
          <p:nvPr/>
        </p:nvSpPr>
        <p:spPr>
          <a:xfrm>
            <a:off x="7009063" y="3634740"/>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Your needs in 12 months may differ significantly from today. Check where the vendor is investing.</a:t>
            </a:r>
            <a:endParaRPr sz="1100"/>
          </a:p>
        </p:txBody>
      </p:sp>
      <p:sp>
        <p:nvSpPr>
          <p:cNvPr id="1469" name="Google Shape;1469;p73"/>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3" name="Shape 1473"/>
        <p:cNvGrpSpPr/>
        <p:nvPr/>
      </p:nvGrpSpPr>
      <p:grpSpPr>
        <a:xfrm>
          <a:off x="0" y="0"/>
          <a:ext cx="0" cy="0"/>
          <a:chOff x="0" y="0"/>
          <a:chExt cx="0" cy="0"/>
        </a:xfrm>
      </p:grpSpPr>
      <p:sp>
        <p:nvSpPr>
          <p:cNvPr id="1474" name="Google Shape;1474;p74"/>
          <p:cNvSpPr/>
          <p:nvPr/>
        </p:nvSpPr>
        <p:spPr>
          <a:xfrm>
            <a:off x="10948" y="10948"/>
            <a:ext cx="9144000" cy="5143500"/>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475" name="Google Shape;1475;p74"/>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FFFFFF"/>
                </a:solidFill>
                <a:latin typeface="Manrope"/>
                <a:ea typeface="Manrope"/>
                <a:cs typeface="Manrope"/>
                <a:sym typeface="Manrope"/>
              </a:rPr>
              <a:t>GlobalLogic</a:t>
            </a:r>
            <a:endParaRPr sz="1100"/>
          </a:p>
        </p:txBody>
      </p:sp>
      <p:sp>
        <p:nvSpPr>
          <p:cNvPr id="1476" name="Google Shape;1476;p74"/>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C9CFD8"/>
                </a:solidFill>
                <a:latin typeface="Manrope"/>
                <a:ea typeface="Manrope"/>
                <a:cs typeface="Manrope"/>
                <a:sym typeface="Manrope"/>
              </a:rPr>
              <a:t>A Hitachi Group Company</a:t>
            </a:r>
            <a:endParaRPr sz="1100"/>
          </a:p>
        </p:txBody>
      </p:sp>
      <p:sp>
        <p:nvSpPr>
          <p:cNvPr id="1477" name="Google Shape;1477;p74"/>
          <p:cNvSpPr txBox="1"/>
          <p:nvPr/>
        </p:nvSpPr>
        <p:spPr>
          <a:xfrm>
            <a:off x="822982" y="1714500"/>
            <a:ext cx="6172500" cy="151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4700">
                <a:solidFill>
                  <a:srgbClr val="FFFFFF"/>
                </a:solidFill>
                <a:latin typeface="Manrope"/>
                <a:ea typeface="Manrope"/>
                <a:cs typeface="Manrope"/>
                <a:sym typeface="Manrope"/>
              </a:rPr>
              <a:t>Prompt Engineering</a:t>
            </a:r>
            <a:br>
              <a:rPr b="1" i="0" lang="en-GB" sz="4700">
                <a:solidFill>
                  <a:srgbClr val="FFFFFF"/>
                </a:solidFill>
                <a:latin typeface="Manrope"/>
                <a:ea typeface="Manrope"/>
                <a:cs typeface="Manrope"/>
                <a:sym typeface="Manrope"/>
              </a:rPr>
            </a:br>
            <a:r>
              <a:rPr b="1" i="0" lang="en-GB" sz="4700">
                <a:solidFill>
                  <a:srgbClr val="FFFFFF"/>
                </a:solidFill>
                <a:latin typeface="Manrope"/>
                <a:ea typeface="Manrope"/>
                <a:cs typeface="Manrope"/>
                <a:sym typeface="Manrope"/>
              </a:rPr>
              <a:t>Fundamentals.</a:t>
            </a:r>
            <a:endParaRPr sz="100"/>
          </a:p>
        </p:txBody>
      </p:sp>
      <p:sp>
        <p:nvSpPr>
          <p:cNvPr id="1478" name="Google Shape;1478;p74"/>
          <p:cNvSpPr txBox="1"/>
          <p:nvPr/>
        </p:nvSpPr>
        <p:spPr>
          <a:xfrm>
            <a:off x="822982" y="3429000"/>
            <a:ext cx="6172365" cy="8229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700">
                <a:solidFill>
                  <a:srgbClr val="C9CFD8"/>
                </a:solidFill>
                <a:latin typeface="Manrope"/>
                <a:ea typeface="Manrope"/>
                <a:cs typeface="Manrope"/>
                <a:sym typeface="Manrope"/>
              </a:rPr>
              <a:t>Not a magic spell. A specification — written for an extremely literal, highly capable, zero-context reader.</a:t>
            </a:r>
            <a:endParaRPr sz="1100"/>
          </a:p>
        </p:txBody>
      </p:sp>
      <p:sp>
        <p:nvSpPr>
          <p:cNvPr id="1479" name="Google Shape;1479;p74"/>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FFFFFF"/>
                </a:solidFill>
                <a:latin typeface="Courier New"/>
                <a:ea typeface="Courier New"/>
                <a:cs typeface="Courier New"/>
                <a:sym typeface="Courier New"/>
              </a:rPr>
              <a:t>globallogic.com</a:t>
            </a:r>
            <a:endParaRPr sz="11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3" name="Shape 1483"/>
        <p:cNvGrpSpPr/>
        <p:nvPr/>
      </p:nvGrpSpPr>
      <p:grpSpPr>
        <a:xfrm>
          <a:off x="0" y="0"/>
          <a:ext cx="0" cy="0"/>
          <a:chOff x="0" y="0"/>
          <a:chExt cx="0" cy="0"/>
        </a:xfrm>
      </p:grpSpPr>
      <p:sp>
        <p:nvSpPr>
          <p:cNvPr id="1484" name="Google Shape;1484;p75"/>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1485" name="Google Shape;1485;p75"/>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1486" name="Google Shape;1486;p75"/>
          <p:cNvSpPr txBox="1"/>
          <p:nvPr/>
        </p:nvSpPr>
        <p:spPr>
          <a:xfrm>
            <a:off x="822982" y="946404"/>
            <a:ext cx="7406837" cy="49377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700">
                <a:solidFill>
                  <a:srgbClr val="1B1F2A"/>
                </a:solidFill>
                <a:latin typeface="Manrope"/>
                <a:ea typeface="Manrope"/>
                <a:cs typeface="Manrope"/>
                <a:sym typeface="Manrope"/>
              </a:rPr>
              <a:t>A prompt is a spec, not a wish.</a:t>
            </a:r>
            <a:endParaRPr sz="1100"/>
          </a:p>
        </p:txBody>
      </p:sp>
      <p:sp>
        <p:nvSpPr>
          <p:cNvPr id="1487" name="Google Shape;1487;p75"/>
          <p:cNvSpPr txBox="1"/>
          <p:nvPr/>
        </p:nvSpPr>
        <p:spPr>
          <a:xfrm>
            <a:off x="822982" y="1522476"/>
            <a:ext cx="7406837"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Treat a prompt the way you treat a function signature: inputs, outputs, constraints, examples. The vague request gets a …</a:t>
            </a:r>
            <a:endParaRPr sz="1100"/>
          </a:p>
        </p:txBody>
      </p:sp>
      <p:sp>
        <p:nvSpPr>
          <p:cNvPr id="1488" name="Google Shape;1488;p75"/>
          <p:cNvSpPr/>
          <p:nvPr/>
        </p:nvSpPr>
        <p:spPr>
          <a:xfrm>
            <a:off x="822982"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489" name="Google Shape;1489;p75"/>
          <p:cNvSpPr txBox="1"/>
          <p:nvPr/>
        </p:nvSpPr>
        <p:spPr>
          <a:xfrm>
            <a:off x="822982"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VAGUE</a:t>
            </a:r>
            <a:endParaRPr sz="1100"/>
          </a:p>
        </p:txBody>
      </p:sp>
      <p:sp>
        <p:nvSpPr>
          <p:cNvPr id="1490" name="Google Shape;1490;p75"/>
          <p:cNvSpPr txBox="1"/>
          <p:nvPr/>
        </p:nvSpPr>
        <p:spPr>
          <a:xfrm>
            <a:off x="822982" y="2242566"/>
            <a:ext cx="2468946" cy="30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Natural language request</a:t>
            </a:r>
            <a:endParaRPr sz="1100"/>
          </a:p>
        </p:txBody>
      </p:sp>
      <p:sp>
        <p:nvSpPr>
          <p:cNvPr id="1491" name="Google Shape;1491;p75"/>
          <p:cNvSpPr txBox="1"/>
          <p:nvPr/>
        </p:nvSpPr>
        <p:spPr>
          <a:xfrm>
            <a:off x="822975" y="2771488"/>
            <a:ext cx="2469000" cy="746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Leaves format, depth, scope, and style to the model's defaults. You get a stranger's interpretation of the task.</a:t>
            </a:r>
            <a:endParaRPr sz="1100"/>
          </a:p>
        </p:txBody>
      </p:sp>
      <p:sp>
        <p:nvSpPr>
          <p:cNvPr id="1492" name="Google Shape;1492;p75"/>
          <p:cNvSpPr/>
          <p:nvPr/>
        </p:nvSpPr>
        <p:spPr>
          <a:xfrm>
            <a:off x="3429091"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493" name="Google Shape;1493;p75"/>
          <p:cNvSpPr txBox="1"/>
          <p:nvPr/>
        </p:nvSpPr>
        <p:spPr>
          <a:xfrm>
            <a:off x="3429091"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SPECIFIC</a:t>
            </a:r>
            <a:endParaRPr sz="1100"/>
          </a:p>
        </p:txBody>
      </p:sp>
      <p:sp>
        <p:nvSpPr>
          <p:cNvPr id="1494" name="Google Shape;1494;p75"/>
          <p:cNvSpPr txBox="1"/>
          <p:nvPr/>
        </p:nvSpPr>
        <p:spPr>
          <a:xfrm>
            <a:off x="3429091" y="2242566"/>
            <a:ext cx="2468946" cy="30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Structured specification</a:t>
            </a:r>
            <a:endParaRPr sz="1100"/>
          </a:p>
        </p:txBody>
      </p:sp>
      <p:sp>
        <p:nvSpPr>
          <p:cNvPr id="1495" name="Google Shape;1495;p75"/>
          <p:cNvSpPr txBox="1"/>
          <p:nvPr/>
        </p:nvSpPr>
        <p:spPr>
          <a:xfrm>
            <a:off x="3429100" y="2739400"/>
            <a:ext cx="2469000" cy="746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Names role, task, constraints, format. Eliminates ambiguity. The model's output matches your intent on the first try far more often.</a:t>
            </a:r>
            <a:endParaRPr sz="1100"/>
          </a:p>
        </p:txBody>
      </p:sp>
      <p:sp>
        <p:nvSpPr>
          <p:cNvPr id="1496" name="Google Shape;1496;p75"/>
          <p:cNvSpPr/>
          <p:nvPr/>
        </p:nvSpPr>
        <p:spPr>
          <a:xfrm>
            <a:off x="6035201"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497" name="Google Shape;1497;p75"/>
          <p:cNvSpPr txBox="1"/>
          <p:nvPr/>
        </p:nvSpPr>
        <p:spPr>
          <a:xfrm>
            <a:off x="6035201"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EXCELLENT</a:t>
            </a:r>
            <a:endParaRPr sz="1100"/>
          </a:p>
        </p:txBody>
      </p:sp>
      <p:sp>
        <p:nvSpPr>
          <p:cNvPr id="1498" name="Google Shape;1498;p75"/>
          <p:cNvSpPr txBox="1"/>
          <p:nvPr/>
        </p:nvSpPr>
        <p:spPr>
          <a:xfrm>
            <a:off x="6035201" y="2242566"/>
            <a:ext cx="2468946" cy="30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Spec + examples + constraints</a:t>
            </a:r>
            <a:endParaRPr sz="1100"/>
          </a:p>
        </p:txBody>
      </p:sp>
      <p:sp>
        <p:nvSpPr>
          <p:cNvPr id="1499" name="Google Shape;1499;p75"/>
          <p:cNvSpPr txBox="1"/>
          <p:nvPr/>
        </p:nvSpPr>
        <p:spPr>
          <a:xfrm>
            <a:off x="6035200" y="2771500"/>
            <a:ext cx="2469000" cy="915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One worked example beats three sentences of description. Negative examples ('don't produce X') are often more effective than positive instructions alone.</a:t>
            </a:r>
            <a:endParaRPr sz="1100"/>
          </a:p>
        </p:txBody>
      </p:sp>
      <p:sp>
        <p:nvSpPr>
          <p:cNvPr id="1500" name="Google Shape;1500;p75"/>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4" name="Shape 1504"/>
        <p:cNvGrpSpPr/>
        <p:nvPr/>
      </p:nvGrpSpPr>
      <p:grpSpPr>
        <a:xfrm>
          <a:off x="0" y="0"/>
          <a:ext cx="0" cy="0"/>
          <a:chOff x="0" y="0"/>
          <a:chExt cx="0" cy="0"/>
        </a:xfrm>
      </p:grpSpPr>
      <p:sp>
        <p:nvSpPr>
          <p:cNvPr id="1505" name="Google Shape;1505;p76"/>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1506" name="Google Shape;1506;p76"/>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1507" name="Google Shape;1507;p76"/>
          <p:cNvSpPr txBox="1"/>
          <p:nvPr/>
        </p:nvSpPr>
        <p:spPr>
          <a:xfrm>
            <a:off x="822982" y="946404"/>
            <a:ext cx="7406837"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a:solidFill>
                  <a:srgbClr val="1B1F2A"/>
                </a:solidFill>
                <a:latin typeface="Manrope"/>
                <a:ea typeface="Manrope"/>
                <a:cs typeface="Manrope"/>
                <a:sym typeface="Manrope"/>
              </a:rPr>
              <a:t>Eight rules that cover 80% of prompting quality.</a:t>
            </a:r>
            <a:endParaRPr sz="1100"/>
          </a:p>
        </p:txBody>
      </p:sp>
      <p:sp>
        <p:nvSpPr>
          <p:cNvPr id="1508" name="Google Shape;1508;p76"/>
          <p:cNvSpPr txBox="1"/>
          <p:nvPr/>
        </p:nvSpPr>
        <p:spPr>
          <a:xfrm>
            <a:off x="822982" y="1426464"/>
            <a:ext cx="7406837" cy="2095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Internalised, these stop being prompt rules and become how you write any technical specification.</a:t>
            </a:r>
            <a:endParaRPr sz="1100"/>
          </a:p>
        </p:txBody>
      </p:sp>
      <p:sp>
        <p:nvSpPr>
          <p:cNvPr id="1509" name="Google Shape;1509;p76"/>
          <p:cNvSpPr/>
          <p:nvPr/>
        </p:nvSpPr>
        <p:spPr>
          <a:xfrm>
            <a:off x="822982" y="1817370"/>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510" name="Google Shape;1510;p76"/>
          <p:cNvSpPr txBox="1"/>
          <p:nvPr/>
        </p:nvSpPr>
        <p:spPr>
          <a:xfrm>
            <a:off x="918996" y="1872234"/>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01</a:t>
            </a:r>
            <a:endParaRPr sz="1100"/>
          </a:p>
        </p:txBody>
      </p:sp>
      <p:sp>
        <p:nvSpPr>
          <p:cNvPr id="1511" name="Google Shape;1511;p76"/>
          <p:cNvSpPr txBox="1"/>
          <p:nvPr/>
        </p:nvSpPr>
        <p:spPr>
          <a:xfrm>
            <a:off x="918996" y="2023110"/>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State the role and the goal</a:t>
            </a:r>
            <a:endParaRPr sz="1100"/>
          </a:p>
        </p:txBody>
      </p:sp>
      <p:sp>
        <p:nvSpPr>
          <p:cNvPr id="1512" name="Google Shape;1512;p76"/>
          <p:cNvSpPr txBox="1"/>
          <p:nvPr/>
        </p:nvSpPr>
        <p:spPr>
          <a:xfrm>
            <a:off x="918996" y="2379726"/>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'You are a senior backend engineer. Add a rate limiter to this Express app.'</a:t>
            </a:r>
            <a:endParaRPr sz="1100"/>
          </a:p>
        </p:txBody>
      </p:sp>
      <p:sp>
        <p:nvSpPr>
          <p:cNvPr id="1513" name="Google Shape;1513;p76"/>
          <p:cNvSpPr/>
          <p:nvPr/>
        </p:nvSpPr>
        <p:spPr>
          <a:xfrm>
            <a:off x="2853004" y="1817370"/>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514" name="Google Shape;1514;p76"/>
          <p:cNvSpPr txBox="1"/>
          <p:nvPr/>
        </p:nvSpPr>
        <p:spPr>
          <a:xfrm>
            <a:off x="2949019" y="1872234"/>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02</a:t>
            </a:r>
            <a:endParaRPr sz="1100"/>
          </a:p>
        </p:txBody>
      </p:sp>
      <p:sp>
        <p:nvSpPr>
          <p:cNvPr id="1515" name="Google Shape;1515;p76"/>
          <p:cNvSpPr txBox="1"/>
          <p:nvPr/>
        </p:nvSpPr>
        <p:spPr>
          <a:xfrm>
            <a:off x="2949019" y="2023110"/>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Name the constraints</a:t>
            </a:r>
            <a:endParaRPr sz="1100"/>
          </a:p>
        </p:txBody>
      </p:sp>
      <p:sp>
        <p:nvSpPr>
          <p:cNvPr id="1516" name="Google Shape;1516;p76"/>
          <p:cNvSpPr txBox="1"/>
          <p:nvPr/>
        </p:nvSpPr>
        <p:spPr>
          <a:xfrm>
            <a:off x="2949019" y="2379726"/>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Language, framework, version, style guide — anything you'd put in a coding-standards doc.</a:t>
            </a:r>
            <a:endParaRPr sz="1100"/>
          </a:p>
        </p:txBody>
      </p:sp>
      <p:sp>
        <p:nvSpPr>
          <p:cNvPr id="1517" name="Google Shape;1517;p76"/>
          <p:cNvSpPr/>
          <p:nvPr/>
        </p:nvSpPr>
        <p:spPr>
          <a:xfrm>
            <a:off x="4883026" y="1817370"/>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518" name="Google Shape;1518;p76"/>
          <p:cNvSpPr txBox="1"/>
          <p:nvPr/>
        </p:nvSpPr>
        <p:spPr>
          <a:xfrm>
            <a:off x="4979041" y="1872234"/>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03</a:t>
            </a:r>
            <a:endParaRPr sz="1100"/>
          </a:p>
        </p:txBody>
      </p:sp>
      <p:sp>
        <p:nvSpPr>
          <p:cNvPr id="1519" name="Google Shape;1519;p76"/>
          <p:cNvSpPr txBox="1"/>
          <p:nvPr/>
        </p:nvSpPr>
        <p:spPr>
          <a:xfrm>
            <a:off x="4979041" y="2023110"/>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Show the output shape</a:t>
            </a:r>
            <a:endParaRPr sz="1100"/>
          </a:p>
        </p:txBody>
      </p:sp>
      <p:sp>
        <p:nvSpPr>
          <p:cNvPr id="1520" name="Google Shape;1520;p76"/>
          <p:cNvSpPr txBox="1"/>
          <p:nvPr/>
        </p:nvSpPr>
        <p:spPr>
          <a:xfrm>
            <a:off x="4979041" y="2379726"/>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'Return a single TypeScript file. No prose. Include JSDoc on the exported function.'</a:t>
            </a:r>
            <a:endParaRPr sz="1100"/>
          </a:p>
        </p:txBody>
      </p:sp>
      <p:sp>
        <p:nvSpPr>
          <p:cNvPr id="1521" name="Google Shape;1521;p76"/>
          <p:cNvSpPr/>
          <p:nvPr/>
        </p:nvSpPr>
        <p:spPr>
          <a:xfrm>
            <a:off x="6913048" y="1817370"/>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522" name="Google Shape;1522;p76"/>
          <p:cNvSpPr txBox="1"/>
          <p:nvPr/>
        </p:nvSpPr>
        <p:spPr>
          <a:xfrm>
            <a:off x="7009063" y="1872234"/>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04</a:t>
            </a:r>
            <a:endParaRPr sz="1100"/>
          </a:p>
        </p:txBody>
      </p:sp>
      <p:sp>
        <p:nvSpPr>
          <p:cNvPr id="1523" name="Google Shape;1523;p76"/>
          <p:cNvSpPr txBox="1"/>
          <p:nvPr/>
        </p:nvSpPr>
        <p:spPr>
          <a:xfrm>
            <a:off x="7009063" y="2023110"/>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Give one good example</a:t>
            </a:r>
            <a:endParaRPr sz="1100"/>
          </a:p>
        </p:txBody>
      </p:sp>
      <p:sp>
        <p:nvSpPr>
          <p:cNvPr id="1524" name="Google Shape;1524;p76"/>
          <p:cNvSpPr txBox="1"/>
          <p:nvPr/>
        </p:nvSpPr>
        <p:spPr>
          <a:xfrm>
            <a:off x="7009063" y="2379726"/>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One worked example beats three paragraphs of description for almost any structured task.</a:t>
            </a:r>
            <a:endParaRPr sz="1100"/>
          </a:p>
        </p:txBody>
      </p:sp>
      <p:sp>
        <p:nvSpPr>
          <p:cNvPr id="1525" name="Google Shape;1525;p76"/>
          <p:cNvSpPr/>
          <p:nvPr/>
        </p:nvSpPr>
        <p:spPr>
          <a:xfrm>
            <a:off x="822982" y="3072384"/>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526" name="Google Shape;1526;p76"/>
          <p:cNvSpPr txBox="1"/>
          <p:nvPr/>
        </p:nvSpPr>
        <p:spPr>
          <a:xfrm>
            <a:off x="918996" y="3127248"/>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05</a:t>
            </a:r>
            <a:endParaRPr sz="1100"/>
          </a:p>
        </p:txBody>
      </p:sp>
      <p:sp>
        <p:nvSpPr>
          <p:cNvPr id="1527" name="Google Shape;1527;p76"/>
          <p:cNvSpPr txBox="1"/>
          <p:nvPr/>
        </p:nvSpPr>
        <p:spPr>
          <a:xfrm>
            <a:off x="918996" y="3278124"/>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Bring the context</a:t>
            </a:r>
            <a:endParaRPr sz="1100"/>
          </a:p>
        </p:txBody>
      </p:sp>
      <p:sp>
        <p:nvSpPr>
          <p:cNvPr id="1528" name="Google Shape;1528;p76"/>
          <p:cNvSpPr txBox="1"/>
          <p:nvPr/>
        </p:nvSpPr>
        <p:spPr>
          <a:xfrm>
            <a:off x="918996" y="3634740"/>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Paste the file, the schema, the error. Don't expect the model to guess from a description.</a:t>
            </a:r>
            <a:endParaRPr sz="1100"/>
          </a:p>
        </p:txBody>
      </p:sp>
      <p:sp>
        <p:nvSpPr>
          <p:cNvPr id="1529" name="Google Shape;1529;p76"/>
          <p:cNvSpPr/>
          <p:nvPr/>
        </p:nvSpPr>
        <p:spPr>
          <a:xfrm>
            <a:off x="2853004" y="3072384"/>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530" name="Google Shape;1530;p76"/>
          <p:cNvSpPr txBox="1"/>
          <p:nvPr/>
        </p:nvSpPr>
        <p:spPr>
          <a:xfrm>
            <a:off x="2949019" y="3127248"/>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06</a:t>
            </a:r>
            <a:endParaRPr sz="1100"/>
          </a:p>
        </p:txBody>
      </p:sp>
      <p:sp>
        <p:nvSpPr>
          <p:cNvPr id="1531" name="Google Shape;1531;p76"/>
          <p:cNvSpPr txBox="1"/>
          <p:nvPr/>
        </p:nvSpPr>
        <p:spPr>
          <a:xfrm>
            <a:off x="2949019" y="3278124"/>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Say what you don't want</a:t>
            </a:r>
            <a:endParaRPr sz="1100"/>
          </a:p>
        </p:txBody>
      </p:sp>
      <p:sp>
        <p:nvSpPr>
          <p:cNvPr id="1532" name="Google Shape;1532;p76"/>
          <p:cNvSpPr txBox="1"/>
          <p:nvPr/>
        </p:nvSpPr>
        <p:spPr>
          <a:xfrm>
            <a:off x="2949019" y="3634740"/>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'No new dependencies. Don't change unrelated files. Don't comment basic syntax.'</a:t>
            </a:r>
            <a:endParaRPr sz="1100"/>
          </a:p>
        </p:txBody>
      </p:sp>
      <p:sp>
        <p:nvSpPr>
          <p:cNvPr id="1533" name="Google Shape;1533;p76"/>
          <p:cNvSpPr/>
          <p:nvPr/>
        </p:nvSpPr>
        <p:spPr>
          <a:xfrm>
            <a:off x="4883026" y="3072384"/>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534" name="Google Shape;1534;p76"/>
          <p:cNvSpPr txBox="1"/>
          <p:nvPr/>
        </p:nvSpPr>
        <p:spPr>
          <a:xfrm>
            <a:off x="4979041" y="3127248"/>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07</a:t>
            </a:r>
            <a:endParaRPr sz="1100"/>
          </a:p>
        </p:txBody>
      </p:sp>
      <p:sp>
        <p:nvSpPr>
          <p:cNvPr id="1535" name="Google Shape;1535;p76"/>
          <p:cNvSpPr txBox="1"/>
          <p:nvPr/>
        </p:nvSpPr>
        <p:spPr>
          <a:xfrm>
            <a:off x="4979041" y="3278124"/>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Ask for a plan first</a:t>
            </a:r>
            <a:endParaRPr sz="1100"/>
          </a:p>
        </p:txBody>
      </p:sp>
      <p:sp>
        <p:nvSpPr>
          <p:cNvPr id="1536" name="Google Shape;1536;p76"/>
          <p:cNvSpPr txBox="1"/>
          <p:nvPr/>
        </p:nvSpPr>
        <p:spPr>
          <a:xfrm>
            <a:off x="4979041" y="3634740"/>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For non-trivial work: ask 'what's the plan?' then 'execute step 1.' Catches misreads cheaply.</a:t>
            </a:r>
            <a:endParaRPr sz="1100"/>
          </a:p>
        </p:txBody>
      </p:sp>
      <p:sp>
        <p:nvSpPr>
          <p:cNvPr id="1537" name="Google Shape;1537;p76"/>
          <p:cNvSpPr/>
          <p:nvPr/>
        </p:nvSpPr>
        <p:spPr>
          <a:xfrm>
            <a:off x="6913048" y="3072384"/>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538" name="Google Shape;1538;p76"/>
          <p:cNvSpPr txBox="1"/>
          <p:nvPr/>
        </p:nvSpPr>
        <p:spPr>
          <a:xfrm>
            <a:off x="7009063" y="3127248"/>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08</a:t>
            </a:r>
            <a:endParaRPr sz="1100"/>
          </a:p>
        </p:txBody>
      </p:sp>
      <p:sp>
        <p:nvSpPr>
          <p:cNvPr id="1539" name="Google Shape;1539;p76"/>
          <p:cNvSpPr txBox="1"/>
          <p:nvPr/>
        </p:nvSpPr>
        <p:spPr>
          <a:xfrm>
            <a:off x="7009063" y="3278124"/>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Iterate, don't restart</a:t>
            </a:r>
            <a:endParaRPr sz="1100"/>
          </a:p>
        </p:txBody>
      </p:sp>
      <p:sp>
        <p:nvSpPr>
          <p:cNvPr id="1540" name="Google Shape;1540;p76"/>
          <p:cNvSpPr txBox="1"/>
          <p:nvPr/>
        </p:nvSpPr>
        <p:spPr>
          <a:xfrm>
            <a:off x="7009063" y="3634740"/>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If the first answer is 80% correct, point at the 20%. Starting over usually costs the good 80%.</a:t>
            </a:r>
            <a:endParaRPr sz="1100"/>
          </a:p>
        </p:txBody>
      </p:sp>
      <p:sp>
        <p:nvSpPr>
          <p:cNvPr id="1541" name="Google Shape;1541;p76"/>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5" name="Shape 1545"/>
        <p:cNvGrpSpPr/>
        <p:nvPr/>
      </p:nvGrpSpPr>
      <p:grpSpPr>
        <a:xfrm>
          <a:off x="0" y="0"/>
          <a:ext cx="0" cy="0"/>
          <a:chOff x="0" y="0"/>
          <a:chExt cx="0" cy="0"/>
        </a:xfrm>
      </p:grpSpPr>
      <p:sp>
        <p:nvSpPr>
          <p:cNvPr id="1546" name="Google Shape;1546;p77"/>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1547" name="Google Shape;1547;p77"/>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1548" name="Google Shape;1548;p77"/>
          <p:cNvSpPr txBox="1"/>
          <p:nvPr/>
        </p:nvSpPr>
        <p:spPr>
          <a:xfrm>
            <a:off x="822982" y="946404"/>
            <a:ext cx="7406837" cy="49377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700">
                <a:solidFill>
                  <a:srgbClr val="1B1F2A"/>
                </a:solidFill>
                <a:latin typeface="Manrope"/>
                <a:ea typeface="Manrope"/>
                <a:cs typeface="Manrope"/>
                <a:sym typeface="Manrope"/>
              </a:rPr>
              <a:t>Anatomy of a well-formed prompt.</a:t>
            </a:r>
            <a:endParaRPr sz="1100"/>
          </a:p>
        </p:txBody>
      </p:sp>
      <p:sp>
        <p:nvSpPr>
          <p:cNvPr id="1549" name="Google Shape;1549;p77"/>
          <p:cNvSpPr txBox="1"/>
          <p:nvPr/>
        </p:nvSpPr>
        <p:spPr>
          <a:xfrm>
            <a:off x="822982" y="1522476"/>
            <a:ext cx="7406837"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Three slots do most of the work. Once you've structured a prompt this way a few times, it becomes how you think about th…</a:t>
            </a:r>
            <a:endParaRPr sz="1100"/>
          </a:p>
        </p:txBody>
      </p:sp>
      <p:sp>
        <p:nvSpPr>
          <p:cNvPr id="1550" name="Google Shape;1550;p77"/>
          <p:cNvSpPr/>
          <p:nvPr/>
        </p:nvSpPr>
        <p:spPr>
          <a:xfrm>
            <a:off x="822982"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551" name="Google Shape;1551;p77"/>
          <p:cNvSpPr txBox="1"/>
          <p:nvPr/>
        </p:nvSpPr>
        <p:spPr>
          <a:xfrm>
            <a:off x="822982"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01 · ROLE</a:t>
            </a:r>
            <a:endParaRPr sz="1100"/>
          </a:p>
        </p:txBody>
      </p:sp>
      <p:sp>
        <p:nvSpPr>
          <p:cNvPr id="1552" name="Google Shape;1552;p77"/>
          <p:cNvSpPr txBox="1"/>
          <p:nvPr/>
        </p:nvSpPr>
        <p:spPr>
          <a:xfrm>
            <a:off x="822982" y="2242566"/>
            <a:ext cx="2468946" cy="30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Who is answering?</a:t>
            </a:r>
            <a:endParaRPr sz="1100"/>
          </a:p>
        </p:txBody>
      </p:sp>
      <p:sp>
        <p:nvSpPr>
          <p:cNvPr id="1553" name="Google Shape;1553;p77"/>
          <p:cNvSpPr txBox="1"/>
          <p:nvPr/>
        </p:nvSpPr>
        <p:spPr>
          <a:xfrm>
            <a:off x="822975" y="2812887"/>
            <a:ext cx="2469000" cy="1085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Sets tone, depth, vocabulary, and defaults. 'A senior Go engineer' produces different code from 'a junior developer.' 'A security reviewer' produces different output from 'a documentation editor.'</a:t>
            </a:r>
            <a:endParaRPr sz="1100"/>
          </a:p>
        </p:txBody>
      </p:sp>
      <p:sp>
        <p:nvSpPr>
          <p:cNvPr id="1554" name="Google Shape;1554;p77"/>
          <p:cNvSpPr/>
          <p:nvPr/>
        </p:nvSpPr>
        <p:spPr>
          <a:xfrm>
            <a:off x="3429091"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555" name="Google Shape;1555;p77"/>
          <p:cNvSpPr txBox="1"/>
          <p:nvPr/>
        </p:nvSpPr>
        <p:spPr>
          <a:xfrm>
            <a:off x="3429091"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02 · TASK</a:t>
            </a:r>
            <a:endParaRPr sz="1100"/>
          </a:p>
        </p:txBody>
      </p:sp>
      <p:sp>
        <p:nvSpPr>
          <p:cNvPr id="1556" name="Google Shape;1556;p77"/>
          <p:cNvSpPr txBox="1"/>
          <p:nvPr/>
        </p:nvSpPr>
        <p:spPr>
          <a:xfrm>
            <a:off x="3429091" y="2242566"/>
            <a:ext cx="2468946" cy="30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What is being produced?</a:t>
            </a:r>
            <a:endParaRPr sz="1100"/>
          </a:p>
        </p:txBody>
      </p:sp>
      <p:sp>
        <p:nvSpPr>
          <p:cNvPr id="1557" name="Google Shape;1557;p77"/>
          <p:cNvSpPr txBox="1"/>
          <p:nvPr/>
        </p:nvSpPr>
        <p:spPr>
          <a:xfrm>
            <a:off x="3429100" y="2812875"/>
            <a:ext cx="2469000" cy="915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One sentence, one verb: 'Refactor this function.' 'Add tests for the edge cases.' 'Translate this prompt into a curl command.' Ambiguous tasks produce ambiguous outputs.</a:t>
            </a:r>
            <a:endParaRPr sz="1100"/>
          </a:p>
        </p:txBody>
      </p:sp>
      <p:sp>
        <p:nvSpPr>
          <p:cNvPr id="1558" name="Google Shape;1558;p77"/>
          <p:cNvSpPr/>
          <p:nvPr/>
        </p:nvSpPr>
        <p:spPr>
          <a:xfrm>
            <a:off x="6035201"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559" name="Google Shape;1559;p77"/>
          <p:cNvSpPr txBox="1"/>
          <p:nvPr/>
        </p:nvSpPr>
        <p:spPr>
          <a:xfrm>
            <a:off x="6035201"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03 · CONSTRAINTS</a:t>
            </a:r>
            <a:endParaRPr sz="1100"/>
          </a:p>
        </p:txBody>
      </p:sp>
      <p:sp>
        <p:nvSpPr>
          <p:cNvPr id="1560" name="Google Shape;1560;p77"/>
          <p:cNvSpPr txBox="1"/>
          <p:nvPr/>
        </p:nvSpPr>
        <p:spPr>
          <a:xfrm>
            <a:off x="6035201" y="2242566"/>
            <a:ext cx="2468946" cy="30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What's the box?</a:t>
            </a:r>
            <a:endParaRPr sz="1100"/>
          </a:p>
        </p:txBody>
      </p:sp>
      <p:sp>
        <p:nvSpPr>
          <p:cNvPr id="1561" name="Google Shape;1561;p77"/>
          <p:cNvSpPr txBox="1"/>
          <p:nvPr/>
        </p:nvSpPr>
        <p:spPr>
          <a:xfrm>
            <a:off x="6046148" y="2823823"/>
            <a:ext cx="2469000" cy="915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Languages, libraries, length, format, things to avoid. The clearer the box, the less the model has to guess — and the less it guesses, the less it surprises you.</a:t>
            </a:r>
            <a:endParaRPr sz="1100"/>
          </a:p>
        </p:txBody>
      </p:sp>
      <p:sp>
        <p:nvSpPr>
          <p:cNvPr id="1562" name="Google Shape;1562;p77"/>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6" name="Shape 1566"/>
        <p:cNvGrpSpPr/>
        <p:nvPr/>
      </p:nvGrpSpPr>
      <p:grpSpPr>
        <a:xfrm>
          <a:off x="0" y="0"/>
          <a:ext cx="0" cy="0"/>
          <a:chOff x="0" y="0"/>
          <a:chExt cx="0" cy="0"/>
        </a:xfrm>
      </p:grpSpPr>
      <p:sp>
        <p:nvSpPr>
          <p:cNvPr id="1567" name="Google Shape;1567;p78"/>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1568" name="Google Shape;1568;p78"/>
          <p:cNvSpPr txBox="1"/>
          <p:nvPr/>
        </p:nvSpPr>
        <p:spPr>
          <a:xfrm>
            <a:off x="822982" y="573323"/>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1569" name="Google Shape;1569;p78"/>
          <p:cNvSpPr txBox="1"/>
          <p:nvPr/>
        </p:nvSpPr>
        <p:spPr>
          <a:xfrm>
            <a:off x="822982" y="946404"/>
            <a:ext cx="7406837"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a:solidFill>
                  <a:srgbClr val="1B1F2A"/>
                </a:solidFill>
                <a:latin typeface="Manrope"/>
                <a:ea typeface="Manrope"/>
                <a:cs typeface="Manrope"/>
                <a:sym typeface="Manrope"/>
              </a:rPr>
              <a:t>The same task — vague vs. specific.</a:t>
            </a:r>
            <a:endParaRPr sz="1100"/>
          </a:p>
        </p:txBody>
      </p:sp>
      <p:sp>
        <p:nvSpPr>
          <p:cNvPr id="1570" name="Google Shape;1570;p78"/>
          <p:cNvSpPr/>
          <p:nvPr/>
        </p:nvSpPr>
        <p:spPr>
          <a:xfrm>
            <a:off x="822982" y="1474470"/>
            <a:ext cx="3497673" cy="30861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571" name="Google Shape;1571;p78"/>
          <p:cNvSpPr/>
          <p:nvPr/>
        </p:nvSpPr>
        <p:spPr>
          <a:xfrm>
            <a:off x="4800728" y="1474470"/>
            <a:ext cx="3497673" cy="3086100"/>
          </a:xfrm>
          <a:prstGeom prst="rect">
            <a:avLst/>
          </a:prstGeom>
          <a:solidFill>
            <a:srgbClr val="FFE3D2"/>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572" name="Google Shape;1572;p78"/>
          <p:cNvSpPr/>
          <p:nvPr/>
        </p:nvSpPr>
        <p:spPr>
          <a:xfrm>
            <a:off x="822982" y="1474470"/>
            <a:ext cx="3497673" cy="329184"/>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573" name="Google Shape;1573;p78"/>
          <p:cNvSpPr txBox="1"/>
          <p:nvPr/>
        </p:nvSpPr>
        <p:spPr>
          <a:xfrm>
            <a:off x="960146" y="1501902"/>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300">
                <a:solidFill>
                  <a:srgbClr val="FFFFFF"/>
                </a:solidFill>
                <a:latin typeface="Manrope"/>
                <a:ea typeface="Manrope"/>
                <a:cs typeface="Manrope"/>
                <a:sym typeface="Manrope"/>
              </a:rPr>
              <a:t>❌  Vague Prompt</a:t>
            </a:r>
            <a:endParaRPr sz="1100"/>
          </a:p>
        </p:txBody>
      </p:sp>
      <p:sp>
        <p:nvSpPr>
          <p:cNvPr id="1574" name="Google Shape;1574;p78"/>
          <p:cNvSpPr/>
          <p:nvPr/>
        </p:nvSpPr>
        <p:spPr>
          <a:xfrm>
            <a:off x="4800728" y="1474470"/>
            <a:ext cx="3497673" cy="329184"/>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575" name="Google Shape;1575;p78"/>
          <p:cNvSpPr txBox="1"/>
          <p:nvPr/>
        </p:nvSpPr>
        <p:spPr>
          <a:xfrm>
            <a:off x="4937892" y="1501902"/>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300">
                <a:solidFill>
                  <a:srgbClr val="FFFFFF"/>
                </a:solidFill>
                <a:latin typeface="Manrope"/>
                <a:ea typeface="Manrope"/>
                <a:cs typeface="Manrope"/>
                <a:sym typeface="Manrope"/>
              </a:rPr>
              <a:t>✓  Specific Prompt</a:t>
            </a:r>
            <a:endParaRPr sz="1100"/>
          </a:p>
        </p:txBody>
      </p:sp>
      <p:sp>
        <p:nvSpPr>
          <p:cNvPr id="1576" name="Google Shape;1576;p78"/>
          <p:cNvSpPr txBox="1"/>
          <p:nvPr/>
        </p:nvSpPr>
        <p:spPr>
          <a:xfrm>
            <a:off x="925855" y="19339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"write a function to validate emails"</a:t>
            </a:r>
            <a:endParaRPr sz="1100"/>
          </a:p>
        </p:txBody>
      </p:sp>
      <p:sp>
        <p:nvSpPr>
          <p:cNvPr id="1577" name="Google Shape;1577;p78"/>
          <p:cNvSpPr txBox="1"/>
          <p:nvPr/>
        </p:nvSpPr>
        <p:spPr>
          <a:xfrm>
            <a:off x="925855" y="22768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No language specified — model picks one</a:t>
            </a:r>
            <a:endParaRPr sz="1100"/>
          </a:p>
        </p:txBody>
      </p:sp>
      <p:sp>
        <p:nvSpPr>
          <p:cNvPr id="1578" name="Google Shape;1578;p78"/>
          <p:cNvSpPr txBox="1"/>
          <p:nvPr/>
        </p:nvSpPr>
        <p:spPr>
          <a:xfrm>
            <a:off x="925855" y="26197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No format specified — may include prose explanation</a:t>
            </a:r>
            <a:endParaRPr sz="1100"/>
          </a:p>
        </p:txBody>
      </p:sp>
      <p:sp>
        <p:nvSpPr>
          <p:cNvPr id="1579" name="Google Shape;1579;p78"/>
          <p:cNvSpPr txBox="1"/>
          <p:nvPr/>
        </p:nvSpPr>
        <p:spPr>
          <a:xfrm>
            <a:off x="925855" y="29626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No constraints — may add external dependencies</a:t>
            </a:r>
            <a:endParaRPr sz="1100"/>
          </a:p>
        </p:txBody>
      </p:sp>
      <p:sp>
        <p:nvSpPr>
          <p:cNvPr id="1580" name="Google Shape;1580;p78"/>
          <p:cNvSpPr txBox="1"/>
          <p:nvPr/>
        </p:nvSpPr>
        <p:spPr>
          <a:xfrm>
            <a:off x="925855" y="33055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No test requirement — tests will be omitted</a:t>
            </a:r>
            <a:endParaRPr sz="1100"/>
          </a:p>
        </p:txBody>
      </p:sp>
      <p:sp>
        <p:nvSpPr>
          <p:cNvPr id="1581" name="Google Shape;1581;p78"/>
          <p:cNvSpPr txBox="1"/>
          <p:nvPr/>
        </p:nvSpPr>
        <p:spPr>
          <a:xfrm>
            <a:off x="4903601" y="19339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"Write TypeScript isValidEmail(s: string): boolean"</a:t>
            </a:r>
            <a:endParaRPr sz="1100"/>
          </a:p>
        </p:txBody>
      </p:sp>
      <p:sp>
        <p:nvSpPr>
          <p:cNvPr id="1582" name="Google Shape;1582;p78"/>
          <p:cNvSpPr txBox="1"/>
          <p:nvPr/>
        </p:nvSpPr>
        <p:spPr>
          <a:xfrm>
            <a:off x="4903601" y="22768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Accept RFC 5322 + internationalised domains</a:t>
            </a:r>
            <a:endParaRPr sz="1100"/>
          </a:p>
        </p:txBody>
      </p:sp>
      <p:sp>
        <p:nvSpPr>
          <p:cNvPr id="1583" name="Google Shape;1583;p78"/>
          <p:cNvSpPr txBox="1"/>
          <p:nvPr/>
        </p:nvSpPr>
        <p:spPr>
          <a:xfrm>
            <a:off x="4903601" y="26197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Reject: empty strings, &gt;254 chars, whitespace-only</a:t>
            </a:r>
            <a:endParaRPr sz="1100"/>
          </a:p>
        </p:txBody>
      </p:sp>
      <p:sp>
        <p:nvSpPr>
          <p:cNvPr id="1584" name="Google Shape;1584;p78"/>
          <p:cNvSpPr txBox="1"/>
          <p:nvPr/>
        </p:nvSpPr>
        <p:spPr>
          <a:xfrm>
            <a:off x="4903601" y="29626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No external dependencies, no regex &gt;80 chars</a:t>
            </a:r>
            <a:endParaRPr sz="1100"/>
          </a:p>
        </p:txBody>
      </p:sp>
      <p:sp>
        <p:nvSpPr>
          <p:cNvPr id="1585" name="Google Shape;1585;p78"/>
          <p:cNvSpPr txBox="1"/>
          <p:nvPr/>
        </p:nvSpPr>
        <p:spPr>
          <a:xfrm>
            <a:off x="4903601" y="33055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Return function + JSDoc + three test cases</a:t>
            </a:r>
            <a:endParaRPr sz="1100"/>
          </a:p>
        </p:txBody>
      </p:sp>
      <p:sp>
        <p:nvSpPr>
          <p:cNvPr id="1586" name="Google Shape;1586;p78"/>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0" name="Shape 1590"/>
        <p:cNvGrpSpPr/>
        <p:nvPr/>
      </p:nvGrpSpPr>
      <p:grpSpPr>
        <a:xfrm>
          <a:off x="0" y="0"/>
          <a:ext cx="0" cy="0"/>
          <a:chOff x="0" y="0"/>
          <a:chExt cx="0" cy="0"/>
        </a:xfrm>
      </p:grpSpPr>
      <p:sp>
        <p:nvSpPr>
          <p:cNvPr id="1591" name="Google Shape;1591;p79"/>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1592" name="Google Shape;1592;p79"/>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1593" name="Google Shape;1593;p79"/>
          <p:cNvSpPr txBox="1"/>
          <p:nvPr/>
        </p:nvSpPr>
        <p:spPr>
          <a:xfrm>
            <a:off x="822982" y="617220"/>
            <a:ext cx="1371637" cy="1028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300">
                <a:solidFill>
                  <a:srgbClr val="FF671F"/>
                </a:solidFill>
                <a:latin typeface="Manrope"/>
                <a:ea typeface="Manrope"/>
                <a:cs typeface="Manrope"/>
                <a:sym typeface="Manrope"/>
              </a:rPr>
              <a:t>“</a:t>
            </a:r>
            <a:endParaRPr sz="1100"/>
          </a:p>
        </p:txBody>
      </p:sp>
      <p:sp>
        <p:nvSpPr>
          <p:cNvPr id="1594" name="Google Shape;1594;p79"/>
          <p:cNvSpPr txBox="1"/>
          <p:nvPr/>
        </p:nvSpPr>
        <p:spPr>
          <a:xfrm>
            <a:off x="822982" y="1234440"/>
            <a:ext cx="7406837" cy="2400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2600">
                <a:solidFill>
                  <a:srgbClr val="1B1F2A"/>
                </a:solidFill>
                <a:latin typeface="Manrope"/>
                <a:ea typeface="Manrope"/>
                <a:cs typeface="Manrope"/>
                <a:sym typeface="Manrope"/>
              </a:rPr>
              <a:t>Writing a good prompt is the same skill as writing a good ticket. The engineers who already wrote clear, actionable tickets had a head start the day they opened their first chat assistant.</a:t>
            </a:r>
            <a:endParaRPr sz="1100"/>
          </a:p>
        </p:txBody>
      </p:sp>
      <p:sp>
        <p:nvSpPr>
          <p:cNvPr id="1595" name="Google Shape;1595;p79"/>
          <p:cNvSpPr txBox="1"/>
          <p:nvPr/>
        </p:nvSpPr>
        <p:spPr>
          <a:xfrm>
            <a:off x="822982" y="3771900"/>
            <a:ext cx="5486546" cy="22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Staff Engineer, Fintech Client</a:t>
            </a:r>
            <a:endParaRPr sz="1100"/>
          </a:p>
        </p:txBody>
      </p:sp>
      <p:sp>
        <p:nvSpPr>
          <p:cNvPr id="1596" name="Google Shape;1596;p79"/>
          <p:cNvSpPr txBox="1"/>
          <p:nvPr/>
        </p:nvSpPr>
        <p:spPr>
          <a:xfrm>
            <a:off x="822982" y="4046220"/>
            <a:ext cx="54864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200">
                <a:solidFill>
                  <a:srgbClr val="8B95A6"/>
                </a:solidFill>
                <a:latin typeface="Courier New"/>
                <a:ea typeface="Courier New"/>
                <a:cs typeface="Courier New"/>
                <a:sym typeface="Courier New"/>
              </a:rPr>
              <a:t>Internal Interview · 202</a:t>
            </a:r>
            <a:r>
              <a:rPr lang="en-GB" sz="1200">
                <a:solidFill>
                  <a:srgbClr val="8B95A6"/>
                </a:solidFill>
                <a:latin typeface="Courier New"/>
                <a:ea typeface="Courier New"/>
                <a:cs typeface="Courier New"/>
                <a:sym typeface="Courier New"/>
              </a:rPr>
              <a:t>6</a:t>
            </a:r>
            <a:endParaRPr sz="1100"/>
          </a:p>
        </p:txBody>
      </p:sp>
      <p:sp>
        <p:nvSpPr>
          <p:cNvPr id="1597" name="Google Shape;1597;p79"/>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1" name="Shape 1601"/>
        <p:cNvGrpSpPr/>
        <p:nvPr/>
      </p:nvGrpSpPr>
      <p:grpSpPr>
        <a:xfrm>
          <a:off x="0" y="0"/>
          <a:ext cx="0" cy="0"/>
          <a:chOff x="0" y="0"/>
          <a:chExt cx="0" cy="0"/>
        </a:xfrm>
      </p:grpSpPr>
      <p:sp>
        <p:nvSpPr>
          <p:cNvPr id="1602" name="Google Shape;1602;p80"/>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1603" name="Google Shape;1603;p80"/>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1604" name="Google Shape;1604;p80"/>
          <p:cNvSpPr txBox="1"/>
          <p:nvPr/>
        </p:nvSpPr>
        <p:spPr>
          <a:xfrm>
            <a:off x="822982" y="946404"/>
            <a:ext cx="7406700" cy="377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000">
                <a:solidFill>
                  <a:srgbClr val="1B1F2A"/>
                </a:solidFill>
                <a:latin typeface="Manrope"/>
                <a:ea typeface="Manrope"/>
                <a:cs typeface="Manrope"/>
                <a:sym typeface="Manrope"/>
              </a:rPr>
              <a:t>Zero-shot, one-shot, few-shot — when to climb the ladder.</a:t>
            </a:r>
            <a:endParaRPr sz="400"/>
          </a:p>
        </p:txBody>
      </p:sp>
      <p:sp>
        <p:nvSpPr>
          <p:cNvPr id="1605" name="Google Shape;1605;p80"/>
          <p:cNvSpPr txBox="1"/>
          <p:nvPr/>
        </p:nvSpPr>
        <p:spPr>
          <a:xfrm>
            <a:off x="822982" y="1522476"/>
            <a:ext cx="7406837"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Try the cheapest tier first. Only climb when quality demands it. Each tier adds tokens (and cost), so the tradeoff is re…</a:t>
            </a:r>
            <a:endParaRPr sz="1100"/>
          </a:p>
        </p:txBody>
      </p:sp>
      <p:sp>
        <p:nvSpPr>
          <p:cNvPr id="1606" name="Google Shape;1606;p80"/>
          <p:cNvSpPr/>
          <p:nvPr/>
        </p:nvSpPr>
        <p:spPr>
          <a:xfrm>
            <a:off x="822982"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607" name="Google Shape;1607;p80"/>
          <p:cNvSpPr txBox="1"/>
          <p:nvPr/>
        </p:nvSpPr>
        <p:spPr>
          <a:xfrm>
            <a:off x="822982"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ZERO-SHOT</a:t>
            </a:r>
            <a:endParaRPr sz="1100"/>
          </a:p>
        </p:txBody>
      </p:sp>
      <p:sp>
        <p:nvSpPr>
          <p:cNvPr id="1608" name="Google Shape;1608;p80"/>
          <p:cNvSpPr txBox="1"/>
          <p:nvPr/>
        </p:nvSpPr>
        <p:spPr>
          <a:xfrm>
            <a:off x="822982" y="2242566"/>
            <a:ext cx="2468946" cy="30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Just describe the task</a:t>
            </a:r>
            <a:endParaRPr sz="1100"/>
          </a:p>
        </p:txBody>
      </p:sp>
      <p:sp>
        <p:nvSpPr>
          <p:cNvPr id="1609" name="Google Shape;1609;p80"/>
          <p:cNvSpPr txBox="1"/>
          <p:nvPr/>
        </p:nvSpPr>
        <p:spPr>
          <a:xfrm>
            <a:off x="822975" y="2739400"/>
            <a:ext cx="2469000" cy="746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No examples. Works surprisingly often with capable models. Always the right first attempt — many prompts need nothing more.</a:t>
            </a:r>
            <a:endParaRPr sz="1100"/>
          </a:p>
        </p:txBody>
      </p:sp>
      <p:sp>
        <p:nvSpPr>
          <p:cNvPr id="1610" name="Google Shape;1610;p80"/>
          <p:cNvSpPr/>
          <p:nvPr/>
        </p:nvSpPr>
        <p:spPr>
          <a:xfrm>
            <a:off x="3429091"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611" name="Google Shape;1611;p80"/>
          <p:cNvSpPr txBox="1"/>
          <p:nvPr/>
        </p:nvSpPr>
        <p:spPr>
          <a:xfrm>
            <a:off x="3429091"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ONE-SHOT</a:t>
            </a:r>
            <a:endParaRPr sz="1100"/>
          </a:p>
        </p:txBody>
      </p:sp>
      <p:sp>
        <p:nvSpPr>
          <p:cNvPr id="1612" name="Google Shape;1612;p80"/>
          <p:cNvSpPr txBox="1"/>
          <p:nvPr/>
        </p:nvSpPr>
        <p:spPr>
          <a:xfrm>
            <a:off x="3429091" y="2242566"/>
            <a:ext cx="2468946" cy="30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One worked example</a:t>
            </a:r>
            <a:endParaRPr sz="1100"/>
          </a:p>
        </p:txBody>
      </p:sp>
      <p:sp>
        <p:nvSpPr>
          <p:cNvPr id="1613" name="Google Shape;1613;p80"/>
          <p:cNvSpPr txBox="1"/>
          <p:nvPr/>
        </p:nvSpPr>
        <p:spPr>
          <a:xfrm>
            <a:off x="3429100" y="2739400"/>
            <a:ext cx="2469000" cy="746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Pins format and tone in a way that no description matches. The single biggest quality jump per token spent.</a:t>
            </a:r>
            <a:endParaRPr sz="1100"/>
          </a:p>
        </p:txBody>
      </p:sp>
      <p:sp>
        <p:nvSpPr>
          <p:cNvPr id="1614" name="Google Shape;1614;p80"/>
          <p:cNvSpPr/>
          <p:nvPr/>
        </p:nvSpPr>
        <p:spPr>
          <a:xfrm>
            <a:off x="6035201"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615" name="Google Shape;1615;p80"/>
          <p:cNvSpPr txBox="1"/>
          <p:nvPr/>
        </p:nvSpPr>
        <p:spPr>
          <a:xfrm>
            <a:off x="6035201"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FEW-SHOT</a:t>
            </a:r>
            <a:endParaRPr sz="1100"/>
          </a:p>
        </p:txBody>
      </p:sp>
      <p:sp>
        <p:nvSpPr>
          <p:cNvPr id="1616" name="Google Shape;1616;p80"/>
          <p:cNvSpPr txBox="1"/>
          <p:nvPr/>
        </p:nvSpPr>
        <p:spPr>
          <a:xfrm>
            <a:off x="6035201" y="2242566"/>
            <a:ext cx="2468946" cy="30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3–10 curated examples</a:t>
            </a:r>
            <a:endParaRPr sz="1100"/>
          </a:p>
        </p:txBody>
      </p:sp>
      <p:sp>
        <p:nvSpPr>
          <p:cNvPr id="1617" name="Google Shape;1617;p80"/>
          <p:cNvSpPr txBox="1"/>
          <p:nvPr/>
        </p:nvSpPr>
        <p:spPr>
          <a:xfrm>
            <a:off x="6057097" y="2739401"/>
            <a:ext cx="2469000" cy="746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Cover the variation you actually see in production. The reliable tier for templated prompts shipped inside features.</a:t>
            </a:r>
            <a:endParaRPr sz="1100"/>
          </a:p>
        </p:txBody>
      </p:sp>
      <p:sp>
        <p:nvSpPr>
          <p:cNvPr id="1618" name="Google Shape;1618;p80"/>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2" name="Shape 1622"/>
        <p:cNvGrpSpPr/>
        <p:nvPr/>
      </p:nvGrpSpPr>
      <p:grpSpPr>
        <a:xfrm>
          <a:off x="0" y="0"/>
          <a:ext cx="0" cy="0"/>
          <a:chOff x="0" y="0"/>
          <a:chExt cx="0" cy="0"/>
        </a:xfrm>
      </p:grpSpPr>
      <p:sp>
        <p:nvSpPr>
          <p:cNvPr id="1623" name="Google Shape;1623;p81"/>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1624" name="Google Shape;1624;p81"/>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1625" name="Google Shape;1625;p81"/>
          <p:cNvSpPr txBox="1"/>
          <p:nvPr/>
        </p:nvSpPr>
        <p:spPr>
          <a:xfrm>
            <a:off x="822982" y="946404"/>
            <a:ext cx="7406837"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a:solidFill>
                  <a:srgbClr val="1B1F2A"/>
                </a:solidFill>
                <a:latin typeface="Manrope"/>
                <a:ea typeface="Manrope"/>
                <a:cs typeface="Manrope"/>
                <a:sym typeface="Manrope"/>
              </a:rPr>
              <a:t>Ten prompt anti-patterns to eliminate.</a:t>
            </a:r>
            <a:endParaRPr sz="1100"/>
          </a:p>
        </p:txBody>
      </p:sp>
      <p:sp>
        <p:nvSpPr>
          <p:cNvPr id="1626" name="Google Shape;1626;p81"/>
          <p:cNvSpPr txBox="1"/>
          <p:nvPr/>
        </p:nvSpPr>
        <p:spPr>
          <a:xfrm>
            <a:off x="822982" y="1426464"/>
            <a:ext cx="7406837" cy="2095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Spotted in real production code. Naming them here so you don't rediscover them the expensive way.</a:t>
            </a:r>
            <a:endParaRPr sz="1100"/>
          </a:p>
        </p:txBody>
      </p:sp>
      <p:sp>
        <p:nvSpPr>
          <p:cNvPr id="1627" name="Google Shape;1627;p81"/>
          <p:cNvSpPr/>
          <p:nvPr/>
        </p:nvSpPr>
        <p:spPr>
          <a:xfrm>
            <a:off x="822982" y="1817370"/>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628" name="Google Shape;1628;p81"/>
          <p:cNvSpPr txBox="1"/>
          <p:nvPr/>
        </p:nvSpPr>
        <p:spPr>
          <a:xfrm>
            <a:off x="918996" y="1872234"/>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01</a:t>
            </a:r>
            <a:endParaRPr sz="1100"/>
          </a:p>
        </p:txBody>
      </p:sp>
      <p:sp>
        <p:nvSpPr>
          <p:cNvPr id="1629" name="Google Shape;1629;p81"/>
          <p:cNvSpPr txBox="1"/>
          <p:nvPr/>
        </p:nvSpPr>
        <p:spPr>
          <a:xfrm>
            <a:off x="918996" y="2023110"/>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Politeness padding</a:t>
            </a:r>
            <a:endParaRPr sz="1100"/>
          </a:p>
        </p:txBody>
      </p:sp>
      <p:sp>
        <p:nvSpPr>
          <p:cNvPr id="1630" name="Google Shape;1630;p81"/>
          <p:cNvSpPr txBox="1"/>
          <p:nvPr/>
        </p:nvSpPr>
        <p:spPr>
          <a:xfrm>
            <a:off x="918996" y="2379726"/>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'Please could you kindly…' — models don't reward courtesy. Be direct and specific.</a:t>
            </a:r>
            <a:endParaRPr sz="1100"/>
          </a:p>
        </p:txBody>
      </p:sp>
      <p:sp>
        <p:nvSpPr>
          <p:cNvPr id="1631" name="Google Shape;1631;p81"/>
          <p:cNvSpPr/>
          <p:nvPr/>
        </p:nvSpPr>
        <p:spPr>
          <a:xfrm>
            <a:off x="2853004" y="1817370"/>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632" name="Google Shape;1632;p81"/>
          <p:cNvSpPr txBox="1"/>
          <p:nvPr/>
        </p:nvSpPr>
        <p:spPr>
          <a:xfrm>
            <a:off x="2949019" y="1872234"/>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02</a:t>
            </a:r>
            <a:endParaRPr sz="1100"/>
          </a:p>
        </p:txBody>
      </p:sp>
      <p:sp>
        <p:nvSpPr>
          <p:cNvPr id="1633" name="Google Shape;1633;p81"/>
          <p:cNvSpPr txBox="1"/>
          <p:nvPr/>
        </p:nvSpPr>
        <p:spPr>
          <a:xfrm>
            <a:off x="2949019" y="2023110"/>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Stacked superlatives</a:t>
            </a:r>
            <a:endParaRPr sz="1100"/>
          </a:p>
        </p:txBody>
      </p:sp>
      <p:sp>
        <p:nvSpPr>
          <p:cNvPr id="1634" name="Google Shape;1634;p81"/>
          <p:cNvSpPr txBox="1"/>
          <p:nvPr/>
        </p:nvSpPr>
        <p:spPr>
          <a:xfrm>
            <a:off x="2949019" y="2379726"/>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'Best, most expert, world-class…' — the fifth adjective doesn't move accuracy.</a:t>
            </a:r>
            <a:endParaRPr sz="1100"/>
          </a:p>
        </p:txBody>
      </p:sp>
      <p:sp>
        <p:nvSpPr>
          <p:cNvPr id="1635" name="Google Shape;1635;p81"/>
          <p:cNvSpPr/>
          <p:nvPr/>
        </p:nvSpPr>
        <p:spPr>
          <a:xfrm>
            <a:off x="4883026" y="1817370"/>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636" name="Google Shape;1636;p81"/>
          <p:cNvSpPr txBox="1"/>
          <p:nvPr/>
        </p:nvSpPr>
        <p:spPr>
          <a:xfrm>
            <a:off x="4979041" y="1872234"/>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03</a:t>
            </a:r>
            <a:endParaRPr sz="1100"/>
          </a:p>
        </p:txBody>
      </p:sp>
      <p:sp>
        <p:nvSpPr>
          <p:cNvPr id="1637" name="Google Shape;1637;p81"/>
          <p:cNvSpPr txBox="1"/>
          <p:nvPr/>
        </p:nvSpPr>
        <p:spPr>
          <a:xfrm>
            <a:off x="4979041" y="2023110"/>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Implicit output format</a:t>
            </a:r>
            <a:endParaRPr sz="1100"/>
          </a:p>
        </p:txBody>
      </p:sp>
      <p:sp>
        <p:nvSpPr>
          <p:cNvPr id="1638" name="Google Shape;1638;p81"/>
          <p:cNvSpPr txBox="1"/>
          <p:nvPr/>
        </p:nvSpPr>
        <p:spPr>
          <a:xfrm>
            <a:off x="4979041" y="2379726"/>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'Reply nicely.' — define it: markdown bullets, JSON schema, prose under 80 words.</a:t>
            </a:r>
            <a:endParaRPr sz="1100"/>
          </a:p>
        </p:txBody>
      </p:sp>
      <p:sp>
        <p:nvSpPr>
          <p:cNvPr id="1639" name="Google Shape;1639;p81"/>
          <p:cNvSpPr/>
          <p:nvPr/>
        </p:nvSpPr>
        <p:spPr>
          <a:xfrm>
            <a:off x="6913048" y="1817370"/>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640" name="Google Shape;1640;p81"/>
          <p:cNvSpPr txBox="1"/>
          <p:nvPr/>
        </p:nvSpPr>
        <p:spPr>
          <a:xfrm>
            <a:off x="7009063" y="1872234"/>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04</a:t>
            </a:r>
            <a:endParaRPr sz="1100"/>
          </a:p>
        </p:txBody>
      </p:sp>
      <p:sp>
        <p:nvSpPr>
          <p:cNvPr id="1641" name="Google Shape;1641;p81"/>
          <p:cNvSpPr txBox="1"/>
          <p:nvPr/>
        </p:nvSpPr>
        <p:spPr>
          <a:xfrm>
            <a:off x="7009063" y="2023110"/>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Mixed role separators</a:t>
            </a:r>
            <a:endParaRPr sz="1100"/>
          </a:p>
        </p:txBody>
      </p:sp>
      <p:sp>
        <p:nvSpPr>
          <p:cNvPr id="1642" name="Google Shape;1642;p81"/>
          <p:cNvSpPr txBox="1"/>
          <p:nvPr/>
        </p:nvSpPr>
        <p:spPr>
          <a:xfrm>
            <a:off x="7009063" y="2379726"/>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User question pasted into the system prompt — use the role fields the API provides.</a:t>
            </a:r>
            <a:endParaRPr sz="1100"/>
          </a:p>
        </p:txBody>
      </p:sp>
      <p:sp>
        <p:nvSpPr>
          <p:cNvPr id="1643" name="Google Shape;1643;p81"/>
          <p:cNvSpPr/>
          <p:nvPr/>
        </p:nvSpPr>
        <p:spPr>
          <a:xfrm>
            <a:off x="822982" y="3072384"/>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644" name="Google Shape;1644;p81"/>
          <p:cNvSpPr txBox="1"/>
          <p:nvPr/>
        </p:nvSpPr>
        <p:spPr>
          <a:xfrm>
            <a:off x="918996" y="3127248"/>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05</a:t>
            </a:r>
            <a:endParaRPr sz="1100"/>
          </a:p>
        </p:txBody>
      </p:sp>
      <p:sp>
        <p:nvSpPr>
          <p:cNvPr id="1645" name="Google Shape;1645;p81"/>
          <p:cNvSpPr txBox="1"/>
          <p:nvPr/>
        </p:nvSpPr>
        <p:spPr>
          <a:xfrm>
            <a:off x="918996" y="3278124"/>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Forbidding without examples</a:t>
            </a:r>
            <a:endParaRPr sz="1100"/>
          </a:p>
        </p:txBody>
      </p:sp>
      <p:sp>
        <p:nvSpPr>
          <p:cNvPr id="1646" name="Google Shape;1646;p81"/>
          <p:cNvSpPr txBox="1"/>
          <p:nvPr/>
        </p:nvSpPr>
        <p:spPr>
          <a:xfrm>
            <a:off x="918996" y="3634740"/>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'Don't be verbose' is weaker than 'reply in &lt;80 words, like this example.'</a:t>
            </a:r>
            <a:endParaRPr sz="1100"/>
          </a:p>
        </p:txBody>
      </p:sp>
      <p:sp>
        <p:nvSpPr>
          <p:cNvPr id="1647" name="Google Shape;1647;p81"/>
          <p:cNvSpPr/>
          <p:nvPr/>
        </p:nvSpPr>
        <p:spPr>
          <a:xfrm>
            <a:off x="2853004" y="3072384"/>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648" name="Google Shape;1648;p81"/>
          <p:cNvSpPr txBox="1"/>
          <p:nvPr/>
        </p:nvSpPr>
        <p:spPr>
          <a:xfrm>
            <a:off x="2949019" y="3127248"/>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06</a:t>
            </a:r>
            <a:endParaRPr sz="1100"/>
          </a:p>
        </p:txBody>
      </p:sp>
      <p:sp>
        <p:nvSpPr>
          <p:cNvPr id="1649" name="Google Shape;1649;p81"/>
          <p:cNvSpPr txBox="1"/>
          <p:nvPr/>
        </p:nvSpPr>
        <p:spPr>
          <a:xfrm>
            <a:off x="2949019" y="3278124"/>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Truth-claim instructions</a:t>
            </a:r>
            <a:endParaRPr sz="1100"/>
          </a:p>
        </p:txBody>
      </p:sp>
      <p:sp>
        <p:nvSpPr>
          <p:cNvPr id="1650" name="Google Shape;1650;p81"/>
          <p:cNvSpPr txBox="1"/>
          <p:nvPr/>
        </p:nvSpPr>
        <p:spPr>
          <a:xfrm>
            <a:off x="2949019" y="3634740"/>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'Always be 100% accurate.' The model agrees, then hallucinates anyway.</a:t>
            </a:r>
            <a:endParaRPr sz="1100"/>
          </a:p>
        </p:txBody>
      </p:sp>
      <p:sp>
        <p:nvSpPr>
          <p:cNvPr id="1651" name="Google Shape;1651;p81"/>
          <p:cNvSpPr/>
          <p:nvPr/>
        </p:nvSpPr>
        <p:spPr>
          <a:xfrm>
            <a:off x="4883026" y="3072384"/>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652" name="Google Shape;1652;p81"/>
          <p:cNvSpPr txBox="1"/>
          <p:nvPr/>
        </p:nvSpPr>
        <p:spPr>
          <a:xfrm>
            <a:off x="4979041" y="3127248"/>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07</a:t>
            </a:r>
            <a:endParaRPr sz="1100"/>
          </a:p>
        </p:txBody>
      </p:sp>
      <p:sp>
        <p:nvSpPr>
          <p:cNvPr id="1653" name="Google Shape;1653;p81"/>
          <p:cNvSpPr txBox="1"/>
          <p:nvPr/>
        </p:nvSpPr>
        <p:spPr>
          <a:xfrm>
            <a:off x="4979041" y="3278124"/>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Kitchen-sink system prompts</a:t>
            </a:r>
            <a:endParaRPr sz="1100"/>
          </a:p>
        </p:txBody>
      </p:sp>
      <p:sp>
        <p:nvSpPr>
          <p:cNvPr id="1654" name="Google Shape;1654;p81"/>
          <p:cNvSpPr txBox="1"/>
          <p:nvPr/>
        </p:nvSpPr>
        <p:spPr>
          <a:xfrm>
            <a:off x="4979041" y="3634740"/>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20+ paragraphs of instructions — each paragraph adds noise to all the others.</a:t>
            </a:r>
            <a:endParaRPr sz="1100"/>
          </a:p>
        </p:txBody>
      </p:sp>
      <p:sp>
        <p:nvSpPr>
          <p:cNvPr id="1655" name="Google Shape;1655;p81"/>
          <p:cNvSpPr/>
          <p:nvPr/>
        </p:nvSpPr>
        <p:spPr>
          <a:xfrm>
            <a:off x="6913048" y="3072384"/>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656" name="Google Shape;1656;p81"/>
          <p:cNvSpPr txBox="1"/>
          <p:nvPr/>
        </p:nvSpPr>
        <p:spPr>
          <a:xfrm>
            <a:off x="7009063" y="3127248"/>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08</a:t>
            </a:r>
            <a:endParaRPr sz="1100"/>
          </a:p>
        </p:txBody>
      </p:sp>
      <p:sp>
        <p:nvSpPr>
          <p:cNvPr id="1657" name="Google Shape;1657;p81"/>
          <p:cNvSpPr txBox="1"/>
          <p:nvPr/>
        </p:nvSpPr>
        <p:spPr>
          <a:xfrm>
            <a:off x="7009063" y="3278124"/>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Cargo-cult phrases</a:t>
            </a:r>
            <a:endParaRPr sz="1100"/>
          </a:p>
        </p:txBody>
      </p:sp>
      <p:sp>
        <p:nvSpPr>
          <p:cNvPr id="1658" name="Google Shape;1658;p81"/>
          <p:cNvSpPr txBox="1"/>
          <p:nvPr/>
        </p:nvSpPr>
        <p:spPr>
          <a:xfrm>
            <a:off x="7009063" y="3634740"/>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'Take a deep breath.' 'Think step by step.' Replace with actual structure.</a:t>
            </a:r>
            <a:endParaRPr sz="1100"/>
          </a:p>
        </p:txBody>
      </p:sp>
      <p:sp>
        <p:nvSpPr>
          <p:cNvPr id="1659" name="Google Shape;1659;p81"/>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3" name="Shape 1663"/>
        <p:cNvGrpSpPr/>
        <p:nvPr/>
      </p:nvGrpSpPr>
      <p:grpSpPr>
        <a:xfrm>
          <a:off x="0" y="0"/>
          <a:ext cx="0" cy="0"/>
          <a:chOff x="0" y="0"/>
          <a:chExt cx="0" cy="0"/>
        </a:xfrm>
      </p:grpSpPr>
      <p:sp>
        <p:nvSpPr>
          <p:cNvPr id="1664" name="Google Shape;1664;p82"/>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1665" name="Google Shape;1665;p82"/>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1666" name="Google Shape;1666;p82"/>
          <p:cNvSpPr txBox="1"/>
          <p:nvPr/>
        </p:nvSpPr>
        <p:spPr>
          <a:xfrm>
            <a:off x="822982" y="946404"/>
            <a:ext cx="7406837"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a:solidFill>
                  <a:srgbClr val="1B1F2A"/>
                </a:solidFill>
                <a:latin typeface="Manrope"/>
                <a:ea typeface="Manrope"/>
                <a:cs typeface="Manrope"/>
                <a:sym typeface="Manrope"/>
              </a:rPr>
              <a:t>Chain-of-thought: ask the model to show its work.</a:t>
            </a:r>
            <a:endParaRPr sz="1100"/>
          </a:p>
        </p:txBody>
      </p:sp>
      <p:sp>
        <p:nvSpPr>
          <p:cNvPr id="1667" name="Google Shape;1667;p82"/>
          <p:cNvSpPr/>
          <p:nvPr/>
        </p:nvSpPr>
        <p:spPr>
          <a:xfrm>
            <a:off x="822982" y="1495044"/>
            <a:ext cx="3429091"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668" name="Google Shape;1668;p82"/>
          <p:cNvSpPr/>
          <p:nvPr/>
        </p:nvSpPr>
        <p:spPr>
          <a:xfrm>
            <a:off x="4869310" y="1495044"/>
            <a:ext cx="3429091"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669" name="Google Shape;1669;p82"/>
          <p:cNvSpPr txBox="1"/>
          <p:nvPr/>
        </p:nvSpPr>
        <p:spPr>
          <a:xfrm>
            <a:off x="822982" y="1577340"/>
            <a:ext cx="3429091"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800">
                <a:solidFill>
                  <a:srgbClr val="1B1F2A"/>
                </a:solidFill>
                <a:latin typeface="Manrope"/>
                <a:ea typeface="Manrope"/>
                <a:cs typeface="Manrope"/>
                <a:sym typeface="Manrope"/>
              </a:rPr>
              <a:t>Why It Works</a:t>
            </a:r>
            <a:endParaRPr sz="1100"/>
          </a:p>
        </p:txBody>
      </p:sp>
      <p:sp>
        <p:nvSpPr>
          <p:cNvPr id="1670" name="Google Shape;1670;p82"/>
          <p:cNvSpPr txBox="1"/>
          <p:nvPr/>
        </p:nvSpPr>
        <p:spPr>
          <a:xfrm>
            <a:off x="822982" y="1933956"/>
            <a:ext cx="3429091" cy="2400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200">
                <a:solidFill>
                  <a:srgbClr val="8B95A6"/>
                </a:solidFill>
                <a:latin typeface="Manrope"/>
                <a:ea typeface="Manrope"/>
                <a:cs typeface="Manrope"/>
                <a:sym typeface="Manrope"/>
              </a:rPr>
              <a:t>For multi-step problems, instructing the model to reason before answering reliably improves accuracy — often dramatically on math, logic, and debugging tasks. The model cannot 'think' silently; its reasoning is its output. Forcing the reasoning trace visible prevents it from jumping to a plausible-sounding conclusion that skips key steps.</a:t>
            </a:r>
            <a:endParaRPr sz="1100"/>
          </a:p>
        </p:txBody>
      </p:sp>
      <p:sp>
        <p:nvSpPr>
          <p:cNvPr id="1671" name="Google Shape;1671;p82"/>
          <p:cNvSpPr txBox="1"/>
          <p:nvPr/>
        </p:nvSpPr>
        <p:spPr>
          <a:xfrm>
            <a:off x="4869310" y="1577340"/>
            <a:ext cx="3429091"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800">
                <a:solidFill>
                  <a:srgbClr val="1B1F2A"/>
                </a:solidFill>
                <a:latin typeface="Manrope"/>
                <a:ea typeface="Manrope"/>
                <a:cs typeface="Manrope"/>
                <a:sym typeface="Manrope"/>
              </a:rPr>
              <a:t>How to Use It</a:t>
            </a:r>
            <a:endParaRPr sz="1100"/>
          </a:p>
        </p:txBody>
      </p:sp>
      <p:sp>
        <p:nvSpPr>
          <p:cNvPr id="1672" name="Google Shape;1672;p82"/>
          <p:cNvSpPr txBox="1"/>
          <p:nvPr/>
        </p:nvSpPr>
        <p:spPr>
          <a:xfrm>
            <a:off x="4869310" y="1933956"/>
            <a:ext cx="3429091" cy="2400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200">
                <a:solidFill>
                  <a:srgbClr val="8B95A6"/>
                </a:solidFill>
                <a:latin typeface="Manrope"/>
                <a:ea typeface="Manrope"/>
                <a:cs typeface="Manrope"/>
                <a:sym typeface="Manrope"/>
              </a:rPr>
              <a:t>Prefix your task with 'Before answering, work through the problem step-by-step.' Or structure the output: 'Reasoning: &lt;steps&gt; Answer: &lt;conclusion&gt;'. Modern reasoning models (o3, Claude 3.7) do this internally; standard models still benefit from the explicit nudge. For production templates, consider scrubbing the reasoning trace from the user-facing output.</a:t>
            </a:r>
            <a:endParaRPr sz="1100"/>
          </a:p>
        </p:txBody>
      </p:sp>
      <p:sp>
        <p:nvSpPr>
          <p:cNvPr id="1673" name="Google Shape;1673;p82"/>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7" name="Shape 1677"/>
        <p:cNvGrpSpPr/>
        <p:nvPr/>
      </p:nvGrpSpPr>
      <p:grpSpPr>
        <a:xfrm>
          <a:off x="0" y="0"/>
          <a:ext cx="0" cy="0"/>
          <a:chOff x="0" y="0"/>
          <a:chExt cx="0" cy="0"/>
        </a:xfrm>
      </p:grpSpPr>
      <p:sp>
        <p:nvSpPr>
          <p:cNvPr id="1678" name="Google Shape;1678;p83"/>
          <p:cNvSpPr/>
          <p:nvPr/>
        </p:nvSpPr>
        <p:spPr>
          <a:xfrm>
            <a:off x="0" y="0"/>
            <a:ext cx="9144000" cy="5143500"/>
          </a:xfrm>
          <a:prstGeom prst="rect">
            <a:avLst/>
          </a:prstGeom>
          <a:solidFill>
            <a:srgbClr val="1B1F2A"/>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679" name="Google Shape;1679;p83"/>
          <p:cNvSpPr/>
          <p:nvPr/>
        </p:nvSpPr>
        <p:spPr>
          <a:xfrm>
            <a:off x="3943455" y="342900"/>
            <a:ext cx="5075100" cy="4697700"/>
          </a:xfrm>
          <a:prstGeom prst="rect">
            <a:avLst/>
          </a:prstGeom>
          <a:solidFill>
            <a:srgbClr val="131722"/>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680" name="Google Shape;1680;p83"/>
          <p:cNvSpPr txBox="1"/>
          <p:nvPr/>
        </p:nvSpPr>
        <p:spPr>
          <a:xfrm>
            <a:off x="377200" y="377190"/>
            <a:ext cx="356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PROMPT PATTERN  ·  01  —  TESTS FIRST</a:t>
            </a:r>
            <a:endParaRPr sz="1100"/>
          </a:p>
        </p:txBody>
      </p:sp>
      <p:sp>
        <p:nvSpPr>
          <p:cNvPr id="1681" name="Google Shape;1681;p83"/>
          <p:cNvSpPr txBox="1"/>
          <p:nvPr/>
        </p:nvSpPr>
        <p:spPr>
          <a:xfrm>
            <a:off x="377200" y="582930"/>
            <a:ext cx="3566400" cy="1269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600" u="none" cap="none" strike="noStrike">
                <a:solidFill>
                  <a:srgbClr val="FFFFFF"/>
                </a:solidFill>
                <a:latin typeface="Manrope"/>
                <a:ea typeface="Manrope"/>
                <a:cs typeface="Manrope"/>
                <a:sym typeface="Manrope"/>
              </a:rPr>
              <a:t>Write the </a:t>
            </a:r>
            <a:r>
              <a:rPr b="1" i="0" lang="en-GB" sz="2600" u="none" cap="none" strike="noStrike">
                <a:solidFill>
                  <a:srgbClr val="FF671F"/>
                </a:solidFill>
                <a:latin typeface="Manrope"/>
                <a:ea typeface="Manrope"/>
                <a:cs typeface="Manrope"/>
                <a:sym typeface="Manrope"/>
              </a:rPr>
              <a:t>tests</a:t>
            </a:r>
            <a:r>
              <a:rPr b="1" i="0" lang="en-GB" sz="2600" u="none" cap="none" strike="noStrike">
                <a:solidFill>
                  <a:srgbClr val="FFFFFF"/>
                </a:solidFill>
                <a:latin typeface="Manrope"/>
                <a:ea typeface="Manrope"/>
                <a:cs typeface="Manrope"/>
                <a:sym typeface="Manrope"/>
              </a:rPr>
              <a:t>  before you write the code.</a:t>
            </a:r>
            <a:endParaRPr sz="1100"/>
          </a:p>
        </p:txBody>
      </p:sp>
      <p:sp>
        <p:nvSpPr>
          <p:cNvPr id="1682" name="Google Shape;1682;p83"/>
          <p:cNvSpPr txBox="1"/>
          <p:nvPr/>
        </p:nvSpPr>
        <p:spPr>
          <a:xfrm>
            <a:off x="4149201" y="397764"/>
            <a:ext cx="500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555E72"/>
                </a:solidFill>
                <a:latin typeface="Courier New"/>
                <a:ea typeface="Courier New"/>
                <a:cs typeface="Courier New"/>
                <a:sym typeface="Courier New"/>
              </a:rPr>
              <a:t>~  cursor / chat  ·  auth.service.spec.ts</a:t>
            </a:r>
            <a:endParaRPr sz="1100"/>
          </a:p>
        </p:txBody>
      </p:sp>
      <p:sp>
        <p:nvSpPr>
          <p:cNvPr id="1683" name="Google Shape;1683;p83"/>
          <p:cNvSpPr txBox="1"/>
          <p:nvPr/>
        </p:nvSpPr>
        <p:spPr>
          <a:xfrm>
            <a:off x="377200" y="1817370"/>
            <a:ext cx="356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  THE PROMPT</a:t>
            </a:r>
            <a:endParaRPr sz="1100"/>
          </a:p>
        </p:txBody>
      </p:sp>
      <p:sp>
        <p:nvSpPr>
          <p:cNvPr id="1684" name="Google Shape;1684;p83"/>
          <p:cNvSpPr txBox="1"/>
          <p:nvPr/>
        </p:nvSpPr>
        <p:spPr>
          <a:xfrm>
            <a:off x="377200" y="1940814"/>
            <a:ext cx="3566400" cy="684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FFFFFF"/>
                </a:solidFill>
                <a:latin typeface="Manrope"/>
                <a:ea typeface="Manrope"/>
                <a:cs typeface="Manrope"/>
                <a:sym typeface="Manrope"/>
              </a:rPr>
              <a:t>Write isValidEmail(s: string): boolean. Accept RFC 5322 + IDN. Reject empty strings, &gt;254 chars, whitespace-only. No external deps. Return: function + JSDoc + 3 test cases as a separate code block.</a:t>
            </a:r>
            <a:endParaRPr sz="1100"/>
          </a:p>
        </p:txBody>
      </p:sp>
      <p:sp>
        <p:nvSpPr>
          <p:cNvPr id="1685" name="Google Shape;1685;p83"/>
          <p:cNvSpPr txBox="1"/>
          <p:nvPr/>
        </p:nvSpPr>
        <p:spPr>
          <a:xfrm>
            <a:off x="377200" y="2708910"/>
            <a:ext cx="356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8C0D0"/>
                </a:solidFill>
                <a:latin typeface="Courier New"/>
                <a:ea typeface="Courier New"/>
                <a:cs typeface="Courier New"/>
                <a:sym typeface="Courier New"/>
              </a:rPr>
              <a:t>🧠  AI REASONS</a:t>
            </a:r>
            <a:endParaRPr sz="1100"/>
          </a:p>
        </p:txBody>
      </p:sp>
      <p:sp>
        <p:nvSpPr>
          <p:cNvPr id="1686" name="Google Shape;1686;p83"/>
          <p:cNvSpPr txBox="1"/>
          <p:nvPr/>
        </p:nvSpPr>
        <p:spPr>
          <a:xfrm>
            <a:off x="377200" y="2832354"/>
            <a:ext cx="3566400" cy="684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8B95A6"/>
                </a:solidFill>
                <a:latin typeface="Manrope"/>
                <a:ea typeface="Manrope"/>
                <a:cs typeface="Manrope"/>
                <a:sym typeface="Manrope"/>
              </a:rPr>
              <a:t>Parses output schema first → enumerates constraints as test assertions → writes implementation that provably satisfies each one. Treats prompt like a type signature, not a wish.</a:t>
            </a:r>
            <a:endParaRPr sz="1100"/>
          </a:p>
        </p:txBody>
      </p:sp>
      <p:sp>
        <p:nvSpPr>
          <p:cNvPr id="1687" name="Google Shape;1687;p83"/>
          <p:cNvSpPr txBox="1"/>
          <p:nvPr/>
        </p:nvSpPr>
        <p:spPr>
          <a:xfrm>
            <a:off x="377200" y="3600450"/>
            <a:ext cx="356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A3BE8C"/>
                </a:solidFill>
                <a:latin typeface="Courier New"/>
                <a:ea typeface="Courier New"/>
                <a:cs typeface="Courier New"/>
                <a:sym typeface="Courier New"/>
              </a:rPr>
              <a:t>✅  THE RESULT</a:t>
            </a:r>
            <a:endParaRPr sz="1100"/>
          </a:p>
        </p:txBody>
      </p:sp>
      <p:sp>
        <p:nvSpPr>
          <p:cNvPr id="1688" name="Google Shape;1688;p83"/>
          <p:cNvSpPr txBox="1"/>
          <p:nvPr/>
        </p:nvSpPr>
        <p:spPr>
          <a:xfrm>
            <a:off x="377200" y="3723894"/>
            <a:ext cx="3566400" cy="531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8B95A6"/>
                </a:solidFill>
                <a:latin typeface="Manrope"/>
                <a:ea typeface="Manrope"/>
                <a:cs typeface="Manrope"/>
                <a:sym typeface="Manrope"/>
              </a:rPr>
              <a:t>Typed function + JSDoc + 3 test cases in one response. Passes on first run. Contract is machine-verifiable from the prompt alone.</a:t>
            </a:r>
            <a:endParaRPr sz="1100"/>
          </a:p>
        </p:txBody>
      </p:sp>
      <p:sp>
        <p:nvSpPr>
          <p:cNvPr id="1689" name="Google Shape;1689;p83"/>
          <p:cNvSpPr/>
          <p:nvPr/>
        </p:nvSpPr>
        <p:spPr>
          <a:xfrm>
            <a:off x="4114910" y="651510"/>
            <a:ext cx="4800600" cy="788700"/>
          </a:xfrm>
          <a:prstGeom prst="rect">
            <a:avLst/>
          </a:prstGeom>
          <a:solidFill>
            <a:srgbClr val="1E263A"/>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690" name="Google Shape;1690;p83"/>
          <p:cNvSpPr txBox="1"/>
          <p:nvPr/>
        </p:nvSpPr>
        <p:spPr>
          <a:xfrm>
            <a:off x="4204066" y="706374"/>
            <a:ext cx="480000" cy="177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700">
                <a:solidFill>
                  <a:srgbClr val="FF671F"/>
                </a:solidFill>
                <a:latin typeface="Courier New"/>
                <a:ea typeface="Courier New"/>
                <a:cs typeface="Courier New"/>
                <a:sym typeface="Courier New"/>
              </a:rPr>
              <a:t>YOU</a:t>
            </a:r>
            <a:endParaRPr sz="1100"/>
          </a:p>
        </p:txBody>
      </p:sp>
      <p:sp>
        <p:nvSpPr>
          <p:cNvPr id="1691" name="Google Shape;1691;p83"/>
          <p:cNvSpPr txBox="1"/>
          <p:nvPr/>
        </p:nvSpPr>
        <p:spPr>
          <a:xfrm>
            <a:off x="4204066" y="857250"/>
            <a:ext cx="4595100" cy="48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a:solidFill>
                  <a:srgbClr val="FFFFFF"/>
                </a:solidFill>
                <a:latin typeface="Courier New"/>
                <a:ea typeface="Courier New"/>
                <a:cs typeface="Courier New"/>
                <a:sym typeface="Courier New"/>
              </a:rPr>
              <a:t>Write isValidEmail(s: string): boolean  •  Accept: RFC 5322, IDN  •  Reject: empty, &gt;254 chars  •  No deps  •  Return function + JSDoc + 3 tests</a:t>
            </a:r>
            <a:endParaRPr sz="1100"/>
          </a:p>
        </p:txBody>
      </p:sp>
      <p:sp>
        <p:nvSpPr>
          <p:cNvPr id="1692" name="Google Shape;1692;p83"/>
          <p:cNvSpPr txBox="1"/>
          <p:nvPr/>
        </p:nvSpPr>
        <p:spPr>
          <a:xfrm>
            <a:off x="4183492" y="1543050"/>
            <a:ext cx="4663500" cy="3455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000">
                <a:solidFill>
                  <a:srgbClr val="555E72"/>
                </a:solidFill>
                <a:latin typeface="Courier New"/>
                <a:ea typeface="Courier New"/>
                <a:cs typeface="Courier New"/>
                <a:sym typeface="Courier New"/>
              </a:rPr>
              <a:t>// ─── isValidEmail.ts</a:t>
            </a:r>
            <a:endParaRPr sz="1100"/>
          </a:p>
          <a:p>
            <a:pPr indent="0" lvl="0" marL="0" marR="0" rtl="0" algn="l">
              <a:spcBef>
                <a:spcPts val="0"/>
              </a:spcBef>
              <a:spcAft>
                <a:spcPts val="0"/>
              </a:spcAft>
              <a:buNone/>
            </a:pPr>
            <a:r>
              <a:rPr lang="en-GB" sz="1000">
                <a:solidFill>
                  <a:srgbClr val="555E72"/>
                </a:solidFill>
                <a:latin typeface="Courier New"/>
                <a:ea typeface="Courier New"/>
                <a:cs typeface="Courier New"/>
                <a:sym typeface="Courier New"/>
              </a:rPr>
              <a:t>/**</a:t>
            </a:r>
            <a:endParaRPr sz="1100"/>
          </a:p>
          <a:p>
            <a:pPr indent="0" lvl="0" marL="0" marR="0" rtl="0" algn="l">
              <a:spcBef>
                <a:spcPts val="0"/>
              </a:spcBef>
              <a:spcAft>
                <a:spcPts val="0"/>
              </a:spcAft>
              <a:buNone/>
            </a:pPr>
            <a:r>
              <a:rPr lang="en-GB" sz="1000">
                <a:solidFill>
                  <a:srgbClr val="555E72"/>
                </a:solidFill>
                <a:latin typeface="Courier New"/>
                <a:ea typeface="Courier New"/>
                <a:cs typeface="Courier New"/>
                <a:sym typeface="Courier New"/>
              </a:rPr>
              <a:t> * Validates an email address.</a:t>
            </a:r>
            <a:endParaRPr sz="1100"/>
          </a:p>
          <a:p>
            <a:pPr indent="0" lvl="0" marL="0" marR="0" rtl="0" algn="l">
              <a:spcBef>
                <a:spcPts val="0"/>
              </a:spcBef>
              <a:spcAft>
                <a:spcPts val="0"/>
              </a:spcAft>
              <a:buNone/>
            </a:pPr>
            <a:r>
              <a:rPr lang="en-GB" sz="1000">
                <a:solidFill>
                  <a:srgbClr val="555E72"/>
                </a:solidFill>
                <a:latin typeface="Courier New"/>
                <a:ea typeface="Courier New"/>
                <a:cs typeface="Courier New"/>
                <a:sym typeface="Courier New"/>
              </a:rPr>
              <a:t> * @param </a:t>
            </a:r>
            <a:r>
              <a:rPr lang="en-GB" sz="1000">
                <a:solidFill>
                  <a:srgbClr val="88C0D0"/>
                </a:solidFill>
                <a:latin typeface="Courier New"/>
                <a:ea typeface="Courier New"/>
                <a:cs typeface="Courier New"/>
                <a:sym typeface="Courier New"/>
              </a:rPr>
              <a:t>s</a:t>
            </a:r>
            <a:r>
              <a:rPr lang="en-GB" sz="1000">
                <a:solidFill>
                  <a:srgbClr val="555E72"/>
                </a:solidFill>
                <a:latin typeface="Courier New"/>
                <a:ea typeface="Courier New"/>
                <a:cs typeface="Courier New"/>
                <a:sym typeface="Courier New"/>
              </a:rPr>
              <a:t> — raw string from user input</a:t>
            </a:r>
            <a:endParaRPr sz="1100"/>
          </a:p>
          <a:p>
            <a:pPr indent="0" lvl="0" marL="0" marR="0" rtl="0" algn="l">
              <a:spcBef>
                <a:spcPts val="0"/>
              </a:spcBef>
              <a:spcAft>
                <a:spcPts val="0"/>
              </a:spcAft>
              <a:buNone/>
            </a:pPr>
            <a:r>
              <a:rPr lang="en-GB" sz="1000">
                <a:solidFill>
                  <a:srgbClr val="555E72"/>
                </a:solidFill>
                <a:latin typeface="Courier New"/>
                <a:ea typeface="Courier New"/>
                <a:cs typeface="Courier New"/>
                <a:sym typeface="Courier New"/>
              </a:rPr>
              <a:t> * @returns </a:t>
            </a:r>
            <a:r>
              <a:rPr lang="en-GB" sz="1000">
                <a:solidFill>
                  <a:srgbClr val="C792EA"/>
                </a:solidFill>
                <a:latin typeface="Courier New"/>
                <a:ea typeface="Courier New"/>
                <a:cs typeface="Courier New"/>
                <a:sym typeface="Courier New"/>
              </a:rPr>
              <a:t>true</a:t>
            </a:r>
            <a:r>
              <a:rPr lang="en-GB" sz="1000">
                <a:solidFill>
                  <a:srgbClr val="555E72"/>
                </a:solidFill>
                <a:latin typeface="Courier New"/>
                <a:ea typeface="Courier New"/>
                <a:cs typeface="Courier New"/>
                <a:sym typeface="Courier New"/>
              </a:rPr>
              <a:t> if valid per RFC 5322 + IDN</a:t>
            </a:r>
            <a:endParaRPr sz="1100"/>
          </a:p>
          <a:p>
            <a:pPr indent="0" lvl="0" marL="0" marR="0" rtl="0" algn="l">
              <a:spcBef>
                <a:spcPts val="0"/>
              </a:spcBef>
              <a:spcAft>
                <a:spcPts val="0"/>
              </a:spcAft>
              <a:buNone/>
            </a:pPr>
            <a:r>
              <a:rPr lang="en-GB" sz="1000">
                <a:solidFill>
                  <a:srgbClr val="555E72"/>
                </a:solidFill>
                <a:latin typeface="Courier New"/>
                <a:ea typeface="Courier New"/>
                <a:cs typeface="Courier New"/>
                <a:sym typeface="Courier New"/>
              </a:rPr>
              <a:t> */</a:t>
            </a:r>
            <a:endParaRPr sz="1100"/>
          </a:p>
          <a:p>
            <a:pPr indent="0" lvl="0" marL="0" marR="0" rtl="0" algn="l">
              <a:spcBef>
                <a:spcPts val="0"/>
              </a:spcBef>
              <a:spcAft>
                <a:spcPts val="0"/>
              </a:spcAft>
              <a:buNone/>
            </a:pPr>
            <a:r>
              <a:rPr lang="en-GB" sz="1000">
                <a:solidFill>
                  <a:srgbClr val="C792EA"/>
                </a:solidFill>
                <a:latin typeface="Courier New"/>
                <a:ea typeface="Courier New"/>
                <a:cs typeface="Courier New"/>
                <a:sym typeface="Courier New"/>
              </a:rPr>
              <a:t>export function </a:t>
            </a:r>
            <a:r>
              <a:rPr lang="en-GB" sz="1000">
                <a:solidFill>
                  <a:srgbClr val="88C0D0"/>
                </a:solidFill>
                <a:latin typeface="Courier New"/>
                <a:ea typeface="Courier New"/>
                <a:cs typeface="Courier New"/>
                <a:sym typeface="Courier New"/>
              </a:rPr>
              <a:t>isValidEmail</a:t>
            </a:r>
            <a:r>
              <a:rPr lang="en-GB" sz="1000">
                <a:solidFill>
                  <a:srgbClr val="FFFFFF"/>
                </a:solidFill>
                <a:latin typeface="Courier New"/>
                <a:ea typeface="Courier New"/>
                <a:cs typeface="Courier New"/>
                <a:sym typeface="Courier New"/>
              </a:rPr>
              <a:t>(s: </a:t>
            </a:r>
            <a:r>
              <a:rPr lang="en-GB" sz="1000">
                <a:solidFill>
                  <a:srgbClr val="C792EA"/>
                </a:solidFill>
                <a:latin typeface="Courier New"/>
                <a:ea typeface="Courier New"/>
                <a:cs typeface="Courier New"/>
                <a:sym typeface="Courier New"/>
              </a:rPr>
              <a:t>string</a:t>
            </a:r>
            <a:r>
              <a:rPr lang="en-GB" sz="1000">
                <a:solidFill>
                  <a:srgbClr val="FFFFFF"/>
                </a:solidFill>
                <a:latin typeface="Courier New"/>
                <a:ea typeface="Courier New"/>
                <a:cs typeface="Courier New"/>
                <a:sym typeface="Courier New"/>
              </a:rPr>
              <a:t>) {</a:t>
            </a:r>
            <a:endParaRPr sz="1100"/>
          </a:p>
          <a:p>
            <a:pPr indent="0" lvl="0" marL="0" marR="0" rtl="0" algn="l">
              <a:spcBef>
                <a:spcPts val="0"/>
              </a:spcBef>
              <a:spcAft>
                <a:spcPts val="0"/>
              </a:spcAft>
              <a:buNone/>
            </a:pPr>
            <a:r>
              <a:rPr lang="en-GB" sz="1000">
                <a:solidFill>
                  <a:srgbClr val="FFFFFF"/>
                </a:solidFill>
                <a:latin typeface="Courier New"/>
                <a:ea typeface="Courier New"/>
                <a:cs typeface="Courier New"/>
                <a:sym typeface="Courier New"/>
              </a:rPr>
              <a:t>  if (!s || s.trim().length === </a:t>
            </a:r>
            <a:r>
              <a:rPr lang="en-GB" sz="1000">
                <a:solidFill>
                  <a:srgbClr val="EBCB8B"/>
                </a:solidFill>
                <a:latin typeface="Courier New"/>
                <a:ea typeface="Courier New"/>
                <a:cs typeface="Courier New"/>
                <a:sym typeface="Courier New"/>
              </a:rPr>
              <a:t>0</a:t>
            </a:r>
            <a:r>
              <a:rPr lang="en-GB" sz="1000">
                <a:solidFill>
                  <a:srgbClr val="FFFFFF"/>
                </a:solidFill>
                <a:latin typeface="Courier New"/>
                <a:ea typeface="Courier New"/>
                <a:cs typeface="Courier New"/>
                <a:sym typeface="Courier New"/>
              </a:rPr>
              <a:t> || s.length &gt; </a:t>
            </a:r>
            <a:r>
              <a:rPr lang="en-GB" sz="1000">
                <a:solidFill>
                  <a:srgbClr val="EBCB8B"/>
                </a:solidFill>
                <a:latin typeface="Courier New"/>
                <a:ea typeface="Courier New"/>
                <a:cs typeface="Courier New"/>
                <a:sym typeface="Courier New"/>
              </a:rPr>
              <a:t>254</a:t>
            </a:r>
            <a:r>
              <a:rPr lang="en-GB" sz="1000">
                <a:solidFill>
                  <a:srgbClr val="C792EA"/>
                </a:solidFill>
                <a:latin typeface="Courier New"/>
                <a:ea typeface="Courier New"/>
                <a:cs typeface="Courier New"/>
                <a:sym typeface="Courier New"/>
              </a:rPr>
              <a:t>) return false</a:t>
            </a:r>
            <a:endParaRPr sz="1100"/>
          </a:p>
          <a:p>
            <a:pPr indent="0" lvl="0" marL="0" marR="0" rtl="0" algn="l">
              <a:spcBef>
                <a:spcPts val="0"/>
              </a:spcBef>
              <a:spcAft>
                <a:spcPts val="0"/>
              </a:spcAft>
              <a:buNone/>
            </a:pPr>
            <a:r>
              <a:rPr lang="en-GB" sz="1000">
                <a:solidFill>
                  <a:srgbClr val="C792EA"/>
                </a:solidFill>
                <a:latin typeface="Courier New"/>
                <a:ea typeface="Courier New"/>
                <a:cs typeface="Courier New"/>
                <a:sym typeface="Courier New"/>
              </a:rPr>
              <a:t>  return </a:t>
            </a:r>
            <a:r>
              <a:rPr lang="en-GB" sz="1000">
                <a:solidFill>
                  <a:srgbClr val="A3BE8C"/>
                </a:solidFill>
                <a:latin typeface="Courier New"/>
                <a:ea typeface="Courier New"/>
                <a:cs typeface="Courier New"/>
                <a:sym typeface="Courier New"/>
              </a:rPr>
              <a:t>/RFC_PATTERN/</a:t>
            </a:r>
            <a:r>
              <a:rPr lang="en-GB" sz="1000">
                <a:solidFill>
                  <a:srgbClr val="FFFFFF"/>
                </a:solidFill>
                <a:latin typeface="Courier New"/>
                <a:ea typeface="Courier New"/>
                <a:cs typeface="Courier New"/>
                <a:sym typeface="Courier New"/>
              </a:rPr>
              <a:t>.test(s)</a:t>
            </a:r>
            <a:endParaRPr sz="1100"/>
          </a:p>
          <a:p>
            <a:pPr indent="0" lvl="0" marL="0" marR="0" rtl="0" algn="l">
              <a:spcBef>
                <a:spcPts val="0"/>
              </a:spcBef>
              <a:spcAft>
                <a:spcPts val="0"/>
              </a:spcAft>
              <a:buNone/>
            </a:pPr>
            <a:r>
              <a:rPr lang="en-GB" sz="1000">
                <a:solidFill>
                  <a:srgbClr val="FFFFFF"/>
                </a:solidFill>
                <a:latin typeface="Courier New"/>
                <a:ea typeface="Courier New"/>
                <a:cs typeface="Courier New"/>
                <a:sym typeface="Courier New"/>
              </a:rPr>
              <a:t>}</a:t>
            </a:r>
            <a:endParaRPr sz="1100"/>
          </a:p>
          <a:p>
            <a:pPr indent="0" lvl="0" marL="0" marR="0" rtl="0" algn="l">
              <a:spcBef>
                <a:spcPts val="0"/>
              </a:spcBef>
              <a:spcAft>
                <a:spcPts val="0"/>
              </a:spcAft>
              <a:buNone/>
            </a:pPr>
            <a:r>
              <a:t/>
            </a:r>
            <a:endParaRPr sz="1000">
              <a:solidFill>
                <a:srgbClr val="FFFFFF"/>
              </a:solidFill>
              <a:latin typeface="Courier New"/>
              <a:ea typeface="Courier New"/>
              <a:cs typeface="Courier New"/>
              <a:sym typeface="Courier New"/>
            </a:endParaRPr>
          </a:p>
          <a:p>
            <a:pPr indent="0" lvl="0" marL="0" marR="0" rtl="0" algn="l">
              <a:spcBef>
                <a:spcPts val="0"/>
              </a:spcBef>
              <a:spcAft>
                <a:spcPts val="0"/>
              </a:spcAft>
              <a:buNone/>
            </a:pPr>
            <a:r>
              <a:rPr lang="en-GB" sz="1000">
                <a:solidFill>
                  <a:srgbClr val="555E72"/>
                </a:solidFill>
                <a:latin typeface="Courier New"/>
                <a:ea typeface="Courier New"/>
                <a:cs typeface="Courier New"/>
                <a:sym typeface="Courier New"/>
              </a:rPr>
              <a:t>// ─── isValidEmail.spec.ts</a:t>
            </a:r>
            <a:endParaRPr sz="1100"/>
          </a:p>
          <a:p>
            <a:pPr indent="0" lvl="0" marL="0" marR="0" rtl="0" algn="l">
              <a:spcBef>
                <a:spcPts val="0"/>
              </a:spcBef>
              <a:spcAft>
                <a:spcPts val="0"/>
              </a:spcAft>
              <a:buNone/>
            </a:pPr>
            <a:r>
              <a:rPr lang="en-GB" sz="1000">
                <a:solidFill>
                  <a:srgbClr val="88C0D0"/>
                </a:solidFill>
                <a:latin typeface="Courier New"/>
                <a:ea typeface="Courier New"/>
                <a:cs typeface="Courier New"/>
                <a:sym typeface="Courier New"/>
              </a:rPr>
              <a:t>test</a:t>
            </a:r>
            <a:r>
              <a:rPr lang="en-GB" sz="1000">
                <a:solidFill>
                  <a:srgbClr val="FFFFFF"/>
                </a:solidFill>
                <a:latin typeface="Courier New"/>
                <a:ea typeface="Courier New"/>
                <a:cs typeface="Courier New"/>
                <a:sym typeface="Courier New"/>
              </a:rPr>
              <a:t>('accepts hello@example.com', () =&gt; {</a:t>
            </a:r>
            <a:endParaRPr sz="1100"/>
          </a:p>
          <a:p>
            <a:pPr indent="0" lvl="0" marL="0" marR="0" rtl="0" algn="l">
              <a:spcBef>
                <a:spcPts val="0"/>
              </a:spcBef>
              <a:spcAft>
                <a:spcPts val="0"/>
              </a:spcAft>
              <a:buNone/>
            </a:pPr>
            <a:r>
              <a:rPr lang="en-GB" sz="1000">
                <a:solidFill>
                  <a:srgbClr val="FFFFFF"/>
                </a:solidFill>
                <a:latin typeface="Courier New"/>
                <a:ea typeface="Courier New"/>
                <a:cs typeface="Courier New"/>
                <a:sym typeface="Courier New"/>
              </a:rPr>
              <a:t>  </a:t>
            </a:r>
            <a:r>
              <a:rPr lang="en-GB" sz="1000">
                <a:solidFill>
                  <a:srgbClr val="88C0D0"/>
                </a:solidFill>
                <a:latin typeface="Courier New"/>
                <a:ea typeface="Courier New"/>
                <a:cs typeface="Courier New"/>
                <a:sym typeface="Courier New"/>
              </a:rPr>
              <a:t>expect</a:t>
            </a:r>
            <a:r>
              <a:rPr lang="en-GB" sz="1000">
                <a:solidFill>
                  <a:srgbClr val="FFFFFF"/>
                </a:solidFill>
                <a:latin typeface="Courier New"/>
                <a:ea typeface="Courier New"/>
                <a:cs typeface="Courier New"/>
                <a:sym typeface="Courier New"/>
              </a:rPr>
              <a:t>(isValidEmail('hello@example.com')).toBe(</a:t>
            </a:r>
            <a:r>
              <a:rPr lang="en-GB" sz="1000">
                <a:solidFill>
                  <a:srgbClr val="C792EA"/>
                </a:solidFill>
                <a:latin typeface="Courier New"/>
                <a:ea typeface="Courier New"/>
                <a:cs typeface="Courier New"/>
                <a:sym typeface="Courier New"/>
              </a:rPr>
              <a:t>true</a:t>
            </a:r>
            <a:r>
              <a:rPr lang="en-GB" sz="1000">
                <a:solidFill>
                  <a:srgbClr val="FFFFFF"/>
                </a:solidFill>
                <a:latin typeface="Courier New"/>
                <a:ea typeface="Courier New"/>
                <a:cs typeface="Courier New"/>
                <a:sym typeface="Courier New"/>
              </a:rPr>
              <a:t>)</a:t>
            </a:r>
            <a:endParaRPr sz="1100"/>
          </a:p>
          <a:p>
            <a:pPr indent="0" lvl="0" marL="0" marR="0" rtl="0" algn="l">
              <a:spcBef>
                <a:spcPts val="0"/>
              </a:spcBef>
              <a:spcAft>
                <a:spcPts val="0"/>
              </a:spcAft>
              <a:buNone/>
            </a:pPr>
            <a:r>
              <a:rPr lang="en-GB" sz="1000">
                <a:solidFill>
                  <a:srgbClr val="FFFFFF"/>
                </a:solidFill>
                <a:latin typeface="Courier New"/>
                <a:ea typeface="Courier New"/>
                <a:cs typeface="Courier New"/>
                <a:sym typeface="Courier New"/>
              </a:rPr>
              <a:t>})</a:t>
            </a:r>
            <a:endParaRPr sz="1100"/>
          </a:p>
          <a:p>
            <a:pPr indent="0" lvl="0" marL="0" marR="0" rtl="0" algn="l">
              <a:spcBef>
                <a:spcPts val="0"/>
              </a:spcBef>
              <a:spcAft>
                <a:spcPts val="0"/>
              </a:spcAft>
              <a:buNone/>
            </a:pPr>
            <a:r>
              <a:rPr lang="en-GB" sz="1000">
                <a:solidFill>
                  <a:srgbClr val="88C0D0"/>
                </a:solidFill>
                <a:latin typeface="Courier New"/>
                <a:ea typeface="Courier New"/>
                <a:cs typeface="Courier New"/>
                <a:sym typeface="Courier New"/>
              </a:rPr>
              <a:t>test</a:t>
            </a:r>
            <a:r>
              <a:rPr lang="en-GB" sz="1000">
                <a:solidFill>
                  <a:srgbClr val="FFFFFF"/>
                </a:solidFill>
                <a:latin typeface="Courier New"/>
                <a:ea typeface="Courier New"/>
                <a:cs typeface="Courier New"/>
                <a:sym typeface="Courier New"/>
              </a:rPr>
              <a:t>('rejects empty string', () =&gt; {</a:t>
            </a:r>
            <a:endParaRPr sz="1100"/>
          </a:p>
          <a:p>
            <a:pPr indent="0" lvl="0" marL="0" marR="0" rtl="0" algn="l">
              <a:spcBef>
                <a:spcPts val="0"/>
              </a:spcBef>
              <a:spcAft>
                <a:spcPts val="0"/>
              </a:spcAft>
              <a:buNone/>
            </a:pPr>
            <a:r>
              <a:rPr lang="en-GB" sz="1000">
                <a:solidFill>
                  <a:srgbClr val="FFFFFF"/>
                </a:solidFill>
                <a:latin typeface="Courier New"/>
                <a:ea typeface="Courier New"/>
                <a:cs typeface="Courier New"/>
                <a:sym typeface="Courier New"/>
              </a:rPr>
              <a:t>  </a:t>
            </a:r>
            <a:r>
              <a:rPr lang="en-GB" sz="1000">
                <a:solidFill>
                  <a:srgbClr val="88C0D0"/>
                </a:solidFill>
                <a:latin typeface="Courier New"/>
                <a:ea typeface="Courier New"/>
                <a:cs typeface="Courier New"/>
                <a:sym typeface="Courier New"/>
              </a:rPr>
              <a:t>expect</a:t>
            </a:r>
            <a:r>
              <a:rPr lang="en-GB" sz="1000">
                <a:solidFill>
                  <a:srgbClr val="FFFFFF"/>
                </a:solidFill>
                <a:latin typeface="Courier New"/>
                <a:ea typeface="Courier New"/>
                <a:cs typeface="Courier New"/>
                <a:sym typeface="Courier New"/>
              </a:rPr>
              <a:t>(isValidEmail('')).toBe(</a:t>
            </a:r>
            <a:r>
              <a:rPr lang="en-GB" sz="1000">
                <a:solidFill>
                  <a:srgbClr val="C792EA"/>
                </a:solidFill>
                <a:latin typeface="Courier New"/>
                <a:ea typeface="Courier New"/>
                <a:cs typeface="Courier New"/>
                <a:sym typeface="Courier New"/>
              </a:rPr>
              <a:t>false</a:t>
            </a:r>
            <a:r>
              <a:rPr lang="en-GB" sz="1000">
                <a:solidFill>
                  <a:srgbClr val="FFFFFF"/>
                </a:solidFill>
                <a:latin typeface="Courier New"/>
                <a:ea typeface="Courier New"/>
                <a:cs typeface="Courier New"/>
                <a:sym typeface="Courier New"/>
              </a:rPr>
              <a:t>)</a:t>
            </a:r>
            <a:endParaRPr sz="1100"/>
          </a:p>
          <a:p>
            <a:pPr indent="0" lvl="0" marL="0" marR="0" rtl="0" algn="l">
              <a:spcBef>
                <a:spcPts val="0"/>
              </a:spcBef>
              <a:spcAft>
                <a:spcPts val="0"/>
              </a:spcAft>
              <a:buNone/>
            </a:pPr>
            <a:r>
              <a:rPr lang="en-GB" sz="1000">
                <a:solidFill>
                  <a:srgbClr val="FFFFFF"/>
                </a:solidFill>
                <a:latin typeface="Courier New"/>
                <a:ea typeface="Courier New"/>
                <a:cs typeface="Courier New"/>
                <a:sym typeface="Courier New"/>
              </a:rPr>
              <a:t>})</a:t>
            </a:r>
            <a:endParaRPr sz="1100"/>
          </a:p>
          <a:p>
            <a:pPr indent="0" lvl="0" marL="0" marR="0" rtl="0" algn="l">
              <a:spcBef>
                <a:spcPts val="0"/>
              </a:spcBef>
              <a:spcAft>
                <a:spcPts val="0"/>
              </a:spcAft>
              <a:buNone/>
            </a:pPr>
            <a:r>
              <a:rPr lang="en-GB" sz="1000">
                <a:solidFill>
                  <a:srgbClr val="88C0D0"/>
                </a:solidFill>
                <a:latin typeface="Courier New"/>
                <a:ea typeface="Courier New"/>
                <a:cs typeface="Courier New"/>
                <a:sym typeface="Courier New"/>
              </a:rPr>
              <a:t>test</a:t>
            </a:r>
            <a:r>
              <a:rPr lang="en-GB" sz="1000">
                <a:solidFill>
                  <a:srgbClr val="FFFFFF"/>
                </a:solidFill>
                <a:latin typeface="Courier New"/>
                <a:ea typeface="Courier New"/>
                <a:cs typeface="Courier New"/>
                <a:sym typeface="Courier New"/>
              </a:rPr>
              <a:t>('rejects string &gt; 254 chars', () =&gt; {</a:t>
            </a:r>
            <a:endParaRPr sz="1100"/>
          </a:p>
          <a:p>
            <a:pPr indent="0" lvl="0" marL="0" marR="0" rtl="0" algn="l">
              <a:spcBef>
                <a:spcPts val="0"/>
              </a:spcBef>
              <a:spcAft>
                <a:spcPts val="0"/>
              </a:spcAft>
              <a:buNone/>
            </a:pPr>
            <a:r>
              <a:rPr lang="en-GB" sz="1000">
                <a:solidFill>
                  <a:srgbClr val="FFFFFF"/>
                </a:solidFill>
                <a:latin typeface="Courier New"/>
                <a:ea typeface="Courier New"/>
                <a:cs typeface="Courier New"/>
                <a:sym typeface="Courier New"/>
              </a:rPr>
              <a:t>  </a:t>
            </a:r>
            <a:r>
              <a:rPr lang="en-GB" sz="1000">
                <a:solidFill>
                  <a:srgbClr val="88C0D0"/>
                </a:solidFill>
                <a:latin typeface="Courier New"/>
                <a:ea typeface="Courier New"/>
                <a:cs typeface="Courier New"/>
                <a:sym typeface="Courier New"/>
              </a:rPr>
              <a:t>expect</a:t>
            </a:r>
            <a:r>
              <a:rPr lang="en-GB" sz="1000">
                <a:solidFill>
                  <a:srgbClr val="FFFFFF"/>
                </a:solidFill>
                <a:latin typeface="Courier New"/>
                <a:ea typeface="Courier New"/>
                <a:cs typeface="Courier New"/>
                <a:sym typeface="Courier New"/>
              </a:rPr>
              <a:t>(isValidEmail('a'.repeat(</a:t>
            </a:r>
            <a:r>
              <a:rPr lang="en-GB" sz="1000">
                <a:solidFill>
                  <a:srgbClr val="EBCB8B"/>
                </a:solidFill>
                <a:latin typeface="Courier New"/>
                <a:ea typeface="Courier New"/>
                <a:cs typeface="Courier New"/>
                <a:sym typeface="Courier New"/>
              </a:rPr>
              <a:t>255</a:t>
            </a:r>
            <a:r>
              <a:rPr lang="en-GB" sz="1000">
                <a:solidFill>
                  <a:srgbClr val="FFFFFF"/>
                </a:solidFill>
                <a:latin typeface="Courier New"/>
                <a:ea typeface="Courier New"/>
                <a:cs typeface="Courier New"/>
                <a:sym typeface="Courier New"/>
              </a:rPr>
              <a:t>+'@x.co')).toBe(</a:t>
            </a:r>
            <a:r>
              <a:rPr lang="en-GB" sz="1000">
                <a:solidFill>
                  <a:srgbClr val="C792EA"/>
                </a:solidFill>
                <a:latin typeface="Courier New"/>
                <a:ea typeface="Courier New"/>
                <a:cs typeface="Courier New"/>
                <a:sym typeface="Courier New"/>
              </a:rPr>
              <a:t>false</a:t>
            </a:r>
            <a:r>
              <a:rPr lang="en-GB" sz="1000">
                <a:solidFill>
                  <a:srgbClr val="FFFFFF"/>
                </a:solidFill>
                <a:latin typeface="Courier New"/>
                <a:ea typeface="Courier New"/>
                <a:cs typeface="Courier New"/>
                <a:sym typeface="Courier New"/>
              </a:rPr>
              <a:t>)</a:t>
            </a:r>
            <a:endParaRPr sz="1100"/>
          </a:p>
          <a:p>
            <a:pPr indent="0" lvl="0" marL="0" marR="0" rtl="0" algn="l">
              <a:spcBef>
                <a:spcPts val="0"/>
              </a:spcBef>
              <a:spcAft>
                <a:spcPts val="0"/>
              </a:spcAft>
              <a:buNone/>
            </a:pPr>
            <a:r>
              <a:rPr lang="en-GB" sz="1000">
                <a:solidFill>
                  <a:srgbClr val="FFFFFF"/>
                </a:solidFill>
                <a:latin typeface="Courier New"/>
                <a:ea typeface="Courier New"/>
                <a:cs typeface="Courier New"/>
                <a:sym typeface="Courier New"/>
              </a:rPr>
              <a:t>})</a:t>
            </a:r>
            <a:endParaRPr sz="11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6" name="Shape 1696"/>
        <p:cNvGrpSpPr/>
        <p:nvPr/>
      </p:nvGrpSpPr>
      <p:grpSpPr>
        <a:xfrm>
          <a:off x="0" y="0"/>
          <a:ext cx="0" cy="0"/>
          <a:chOff x="0" y="0"/>
          <a:chExt cx="0" cy="0"/>
        </a:xfrm>
      </p:grpSpPr>
      <p:sp>
        <p:nvSpPr>
          <p:cNvPr id="1697" name="Google Shape;1697;p84"/>
          <p:cNvSpPr/>
          <p:nvPr/>
        </p:nvSpPr>
        <p:spPr>
          <a:xfrm>
            <a:off x="0" y="0"/>
            <a:ext cx="9144000" cy="5143500"/>
          </a:xfrm>
          <a:prstGeom prst="rect">
            <a:avLst/>
          </a:prstGeom>
          <a:solidFill>
            <a:srgbClr val="1B1F2A"/>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698" name="Google Shape;1698;p84"/>
          <p:cNvSpPr/>
          <p:nvPr/>
        </p:nvSpPr>
        <p:spPr>
          <a:xfrm>
            <a:off x="3943455" y="342900"/>
            <a:ext cx="5075100" cy="4697700"/>
          </a:xfrm>
          <a:prstGeom prst="rect">
            <a:avLst/>
          </a:prstGeom>
          <a:solidFill>
            <a:srgbClr val="131722"/>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699" name="Google Shape;1699;p84"/>
          <p:cNvSpPr txBox="1"/>
          <p:nvPr/>
        </p:nvSpPr>
        <p:spPr>
          <a:xfrm>
            <a:off x="377200" y="377190"/>
            <a:ext cx="356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PROMPT PATTERN  ·  02  —  TARGETED REFACTOR</a:t>
            </a:r>
            <a:endParaRPr sz="1100"/>
          </a:p>
        </p:txBody>
      </p:sp>
      <p:sp>
        <p:nvSpPr>
          <p:cNvPr id="1700" name="Google Shape;1700;p84"/>
          <p:cNvSpPr txBox="1"/>
          <p:nvPr/>
        </p:nvSpPr>
        <p:spPr>
          <a:xfrm>
            <a:off x="377200" y="582930"/>
            <a:ext cx="3566400" cy="869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2600">
                <a:solidFill>
                  <a:srgbClr val="FFFFFF"/>
                </a:solidFill>
                <a:latin typeface="Manrope"/>
                <a:ea typeface="Manrope"/>
                <a:cs typeface="Manrope"/>
                <a:sym typeface="Manrope"/>
              </a:rPr>
              <a:t>Constrain the model, </a:t>
            </a:r>
            <a:r>
              <a:rPr b="1" lang="en-GB" sz="2600">
                <a:solidFill>
                  <a:srgbClr val="FF671F"/>
                </a:solidFill>
                <a:latin typeface="Manrope"/>
                <a:ea typeface="Manrope"/>
                <a:cs typeface="Manrope"/>
                <a:sym typeface="Manrope"/>
              </a:rPr>
              <a:t>own</a:t>
            </a:r>
            <a:r>
              <a:rPr b="1" lang="en-GB" sz="2600">
                <a:solidFill>
                  <a:srgbClr val="FFFFFF"/>
                </a:solidFill>
                <a:latin typeface="Manrope"/>
                <a:ea typeface="Manrope"/>
                <a:cs typeface="Manrope"/>
                <a:sym typeface="Manrope"/>
              </a:rPr>
              <a:t>  the diff.</a:t>
            </a:r>
            <a:endParaRPr sz="1100"/>
          </a:p>
        </p:txBody>
      </p:sp>
      <p:sp>
        <p:nvSpPr>
          <p:cNvPr id="1701" name="Google Shape;1701;p84"/>
          <p:cNvSpPr/>
          <p:nvPr/>
        </p:nvSpPr>
        <p:spPr>
          <a:xfrm>
            <a:off x="377200" y="1714500"/>
            <a:ext cx="822900" cy="273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702" name="Google Shape;1702;p84"/>
          <p:cNvSpPr txBox="1"/>
          <p:nvPr/>
        </p:nvSpPr>
        <p:spPr>
          <a:xfrm>
            <a:off x="4149201" y="397764"/>
            <a:ext cx="500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555E72"/>
                </a:solidFill>
                <a:latin typeface="Courier New"/>
                <a:ea typeface="Courier New"/>
                <a:cs typeface="Courier New"/>
                <a:sym typeface="Courier New"/>
              </a:rPr>
              <a:t>~  cursor / diff  ·  jobs.service.ts</a:t>
            </a:r>
            <a:endParaRPr sz="1100"/>
          </a:p>
        </p:txBody>
      </p:sp>
      <p:sp>
        <p:nvSpPr>
          <p:cNvPr id="1703" name="Google Shape;1703;p84"/>
          <p:cNvSpPr txBox="1"/>
          <p:nvPr/>
        </p:nvSpPr>
        <p:spPr>
          <a:xfrm>
            <a:off x="377200" y="1817370"/>
            <a:ext cx="356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  THE PROMPT</a:t>
            </a:r>
            <a:endParaRPr sz="1100"/>
          </a:p>
        </p:txBody>
      </p:sp>
      <p:sp>
        <p:nvSpPr>
          <p:cNvPr id="1704" name="Google Shape;1704;p84"/>
          <p:cNvSpPr txBox="1"/>
          <p:nvPr/>
        </p:nvSpPr>
        <p:spPr>
          <a:xfrm>
            <a:off x="377200" y="1940814"/>
            <a:ext cx="3566400" cy="684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FFFFFF"/>
                </a:solidFill>
                <a:latin typeface="Manrope"/>
                <a:ea typeface="Manrope"/>
                <a:cs typeface="Manrope"/>
                <a:sym typeface="Manrope"/>
              </a:rPr>
              <a:t>Refactor sortJobs(). Constraints: no nested ternaries · early returns replace else chains · extract comparator as a named helper · public behaviour and tests unchanged. Return diff only. No prose.</a:t>
            </a:r>
            <a:endParaRPr sz="1100"/>
          </a:p>
        </p:txBody>
      </p:sp>
      <p:sp>
        <p:nvSpPr>
          <p:cNvPr id="1705" name="Google Shape;1705;p84"/>
          <p:cNvSpPr txBox="1"/>
          <p:nvPr/>
        </p:nvSpPr>
        <p:spPr>
          <a:xfrm>
            <a:off x="377200" y="2708910"/>
            <a:ext cx="356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8C0D0"/>
                </a:solidFill>
                <a:latin typeface="Courier New"/>
                <a:ea typeface="Courier New"/>
                <a:cs typeface="Courier New"/>
                <a:sym typeface="Courier New"/>
              </a:rPr>
              <a:t>🧠  AI REASONS</a:t>
            </a:r>
            <a:endParaRPr sz="1100"/>
          </a:p>
        </p:txBody>
      </p:sp>
      <p:sp>
        <p:nvSpPr>
          <p:cNvPr id="1706" name="Google Shape;1706;p84"/>
          <p:cNvSpPr txBox="1"/>
          <p:nvPr/>
        </p:nvSpPr>
        <p:spPr>
          <a:xfrm>
            <a:off x="377200" y="2832354"/>
            <a:ext cx="3566400" cy="684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8B95A6"/>
                </a:solidFill>
                <a:latin typeface="Manrope"/>
                <a:ea typeface="Manrope"/>
                <a:cs typeface="Manrope"/>
                <a:sym typeface="Manrope"/>
              </a:rPr>
              <a:t>Maps each constraint to a specific AST transformation. Mental-executes existing tests against the new structure. Generates smallest valid change — doesn't touch unrelated code.</a:t>
            </a:r>
            <a:endParaRPr sz="1100"/>
          </a:p>
        </p:txBody>
      </p:sp>
      <p:sp>
        <p:nvSpPr>
          <p:cNvPr id="1707" name="Google Shape;1707;p84"/>
          <p:cNvSpPr txBox="1"/>
          <p:nvPr/>
        </p:nvSpPr>
        <p:spPr>
          <a:xfrm>
            <a:off x="377200" y="3600450"/>
            <a:ext cx="356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A3BE8C"/>
                </a:solidFill>
                <a:latin typeface="Courier New"/>
                <a:ea typeface="Courier New"/>
                <a:cs typeface="Courier New"/>
                <a:sym typeface="Courier New"/>
              </a:rPr>
              <a:t>✅  THE RESULT</a:t>
            </a:r>
            <a:endParaRPr sz="1100"/>
          </a:p>
        </p:txBody>
      </p:sp>
      <p:sp>
        <p:nvSpPr>
          <p:cNvPr id="1708" name="Google Shape;1708;p84"/>
          <p:cNvSpPr txBox="1"/>
          <p:nvPr/>
        </p:nvSpPr>
        <p:spPr>
          <a:xfrm>
            <a:off x="377200" y="3723894"/>
            <a:ext cx="3566400" cy="377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8B95A6"/>
                </a:solidFill>
                <a:latin typeface="Manrope"/>
                <a:ea typeface="Manrope"/>
                <a:cs typeface="Manrope"/>
                <a:sym typeface="Manrope"/>
              </a:rPr>
              <a:t>8-line diff. All existing tests pass. Zero side-effects. The constraint list in your prompt IS the code review checklist.</a:t>
            </a:r>
            <a:endParaRPr sz="1100"/>
          </a:p>
        </p:txBody>
      </p:sp>
      <p:sp>
        <p:nvSpPr>
          <p:cNvPr id="1709" name="Google Shape;1709;p84"/>
          <p:cNvSpPr/>
          <p:nvPr/>
        </p:nvSpPr>
        <p:spPr>
          <a:xfrm>
            <a:off x="4114910" y="651510"/>
            <a:ext cx="4800600" cy="720000"/>
          </a:xfrm>
          <a:prstGeom prst="rect">
            <a:avLst/>
          </a:prstGeom>
          <a:solidFill>
            <a:srgbClr val="1E263A"/>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710" name="Google Shape;1710;p84"/>
          <p:cNvSpPr txBox="1"/>
          <p:nvPr/>
        </p:nvSpPr>
        <p:spPr>
          <a:xfrm>
            <a:off x="4204066" y="706374"/>
            <a:ext cx="480000" cy="177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700">
                <a:solidFill>
                  <a:srgbClr val="FF671F"/>
                </a:solidFill>
                <a:latin typeface="Courier New"/>
                <a:ea typeface="Courier New"/>
                <a:cs typeface="Courier New"/>
                <a:sym typeface="Courier New"/>
              </a:rPr>
              <a:t>YOU</a:t>
            </a:r>
            <a:endParaRPr sz="1100"/>
          </a:p>
        </p:txBody>
      </p:sp>
      <p:sp>
        <p:nvSpPr>
          <p:cNvPr id="1711" name="Google Shape;1711;p84"/>
          <p:cNvSpPr txBox="1"/>
          <p:nvPr/>
        </p:nvSpPr>
        <p:spPr>
          <a:xfrm>
            <a:off x="4204066" y="843534"/>
            <a:ext cx="4595100" cy="48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a:solidFill>
                  <a:srgbClr val="FFFFFF"/>
                </a:solidFill>
                <a:latin typeface="Courier New"/>
                <a:ea typeface="Courier New"/>
                <a:cs typeface="Courier New"/>
                <a:sym typeface="Courier New"/>
              </a:rPr>
              <a:t>Refactor sortJobs().  No nested ternaries  ·  Early returns, no else chains  ·  Extract comparator as named helper  ·  Behaviour unchanged  ·  Diff only</a:t>
            </a:r>
            <a:endParaRPr sz="1100"/>
          </a:p>
        </p:txBody>
      </p:sp>
      <p:sp>
        <p:nvSpPr>
          <p:cNvPr id="1712" name="Google Shape;1712;p84"/>
          <p:cNvSpPr txBox="1"/>
          <p:nvPr/>
        </p:nvSpPr>
        <p:spPr>
          <a:xfrm>
            <a:off x="4183492" y="1474470"/>
            <a:ext cx="4663500" cy="2901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GB" sz="1000">
                <a:solidFill>
                  <a:srgbClr val="555E72"/>
                </a:solidFill>
                <a:latin typeface="Courier New"/>
                <a:ea typeface="Courier New"/>
                <a:cs typeface="Courier New"/>
                <a:sym typeface="Courier New"/>
              </a:rPr>
              <a:t>// ─── BEFORE</a:t>
            </a:r>
            <a:endParaRPr sz="1100"/>
          </a:p>
          <a:p>
            <a:pPr indent="0" lvl="0" marL="0" marR="0" rtl="0" algn="l">
              <a:spcBef>
                <a:spcPts val="0"/>
              </a:spcBef>
              <a:spcAft>
                <a:spcPts val="0"/>
              </a:spcAft>
              <a:buNone/>
            </a:pPr>
            <a:r>
              <a:rPr lang="en-GB" sz="1000">
                <a:solidFill>
                  <a:srgbClr val="BF616A"/>
                </a:solidFill>
                <a:latin typeface="Courier New"/>
                <a:ea typeface="Courier New"/>
                <a:cs typeface="Courier New"/>
                <a:sym typeface="Courier New"/>
              </a:rPr>
              <a:t>- export function </a:t>
            </a:r>
            <a:r>
              <a:rPr lang="en-GB" sz="1000">
                <a:solidFill>
                  <a:srgbClr val="88C0D0"/>
                </a:solidFill>
                <a:latin typeface="Courier New"/>
                <a:ea typeface="Courier New"/>
                <a:cs typeface="Courier New"/>
                <a:sym typeface="Courier New"/>
              </a:rPr>
              <a:t>sortJobs</a:t>
            </a:r>
            <a:r>
              <a:rPr lang="en-GB" sz="1000">
                <a:solidFill>
                  <a:srgbClr val="BF616A"/>
                </a:solidFill>
                <a:latin typeface="Courier New"/>
                <a:ea typeface="Courier New"/>
                <a:cs typeface="Courier New"/>
                <a:sym typeface="Courier New"/>
              </a:rPr>
              <a:t>(a, b) {</a:t>
            </a:r>
            <a:endParaRPr sz="1100"/>
          </a:p>
          <a:p>
            <a:pPr indent="0" lvl="0" marL="0" marR="0" rtl="0" algn="l">
              <a:spcBef>
                <a:spcPts val="0"/>
              </a:spcBef>
              <a:spcAft>
                <a:spcPts val="0"/>
              </a:spcAft>
              <a:buNone/>
            </a:pPr>
            <a:r>
              <a:rPr lang="en-GB" sz="1000">
                <a:solidFill>
                  <a:srgbClr val="BF616A"/>
                </a:solidFill>
                <a:latin typeface="Courier New"/>
                <a:ea typeface="Courier New"/>
                <a:cs typeface="Courier New"/>
                <a:sym typeface="Courier New"/>
              </a:rPr>
              <a:t>-   return a.priority &gt; b.priority ? -1</a:t>
            </a:r>
            <a:endParaRPr sz="1100"/>
          </a:p>
          <a:p>
            <a:pPr indent="0" lvl="0" marL="0" marR="0" rtl="0" algn="l">
              <a:spcBef>
                <a:spcPts val="0"/>
              </a:spcBef>
              <a:spcAft>
                <a:spcPts val="0"/>
              </a:spcAft>
              <a:buNone/>
            </a:pPr>
            <a:r>
              <a:rPr lang="en-GB" sz="1000">
                <a:solidFill>
                  <a:srgbClr val="BF616A"/>
                </a:solidFill>
                <a:latin typeface="Courier New"/>
                <a:ea typeface="Courier New"/>
                <a:cs typeface="Courier New"/>
                <a:sym typeface="Courier New"/>
              </a:rPr>
              <a:t>-     : a.priority &lt; b.priority ?  1</a:t>
            </a:r>
            <a:endParaRPr sz="1100"/>
          </a:p>
          <a:p>
            <a:pPr indent="0" lvl="0" marL="0" marR="0" rtl="0" algn="l">
              <a:spcBef>
                <a:spcPts val="0"/>
              </a:spcBef>
              <a:spcAft>
                <a:spcPts val="0"/>
              </a:spcAft>
              <a:buNone/>
            </a:pPr>
            <a:r>
              <a:rPr lang="en-GB" sz="1000">
                <a:solidFill>
                  <a:srgbClr val="BF616A"/>
                </a:solidFill>
                <a:latin typeface="Courier New"/>
                <a:ea typeface="Courier New"/>
                <a:cs typeface="Courier New"/>
                <a:sym typeface="Courier New"/>
              </a:rPr>
              <a:t>-     : a.createdAt - b.createdAt</a:t>
            </a:r>
            <a:endParaRPr sz="1100"/>
          </a:p>
          <a:p>
            <a:pPr indent="0" lvl="0" marL="0" marR="0" rtl="0" algn="l">
              <a:spcBef>
                <a:spcPts val="0"/>
              </a:spcBef>
              <a:spcAft>
                <a:spcPts val="0"/>
              </a:spcAft>
              <a:buNone/>
            </a:pPr>
            <a:r>
              <a:rPr lang="en-GB" sz="1000">
                <a:solidFill>
                  <a:srgbClr val="BF616A"/>
                </a:solidFill>
                <a:latin typeface="Courier New"/>
                <a:ea typeface="Courier New"/>
                <a:cs typeface="Courier New"/>
                <a:sym typeface="Courier New"/>
              </a:rPr>
              <a:t>- }</a:t>
            </a:r>
            <a:endParaRPr sz="1100"/>
          </a:p>
          <a:p>
            <a:pPr indent="0" lvl="0" marL="0" marR="0" rtl="0" algn="l">
              <a:spcBef>
                <a:spcPts val="0"/>
              </a:spcBef>
              <a:spcAft>
                <a:spcPts val="0"/>
              </a:spcAft>
              <a:buNone/>
            </a:pPr>
            <a:r>
              <a:t/>
            </a:r>
            <a:endParaRPr sz="1000">
              <a:solidFill>
                <a:srgbClr val="BF616A"/>
              </a:solidFill>
              <a:latin typeface="Courier New"/>
              <a:ea typeface="Courier New"/>
              <a:cs typeface="Courier New"/>
              <a:sym typeface="Courier New"/>
            </a:endParaRPr>
          </a:p>
          <a:p>
            <a:pPr indent="0" lvl="0" marL="0" marR="0" rtl="0" algn="l">
              <a:spcBef>
                <a:spcPts val="0"/>
              </a:spcBef>
              <a:spcAft>
                <a:spcPts val="0"/>
              </a:spcAft>
              <a:buNone/>
            </a:pPr>
            <a:r>
              <a:rPr lang="en-GB" sz="1000">
                <a:solidFill>
                  <a:srgbClr val="555E72"/>
                </a:solidFill>
                <a:latin typeface="Courier New"/>
                <a:ea typeface="Courier New"/>
                <a:cs typeface="Courier New"/>
                <a:sym typeface="Courier New"/>
              </a:rPr>
              <a:t>// ─── AFTER</a:t>
            </a:r>
            <a:endParaRPr sz="1100"/>
          </a:p>
          <a:p>
            <a:pPr indent="0" lvl="0" marL="0" marR="0" rtl="0" algn="l">
              <a:spcBef>
                <a:spcPts val="0"/>
              </a:spcBef>
              <a:spcAft>
                <a:spcPts val="0"/>
              </a:spcAft>
              <a:buNone/>
            </a:pPr>
            <a:r>
              <a:rPr lang="en-GB" sz="1000">
                <a:solidFill>
                  <a:srgbClr val="A3BE8C"/>
                </a:solidFill>
                <a:latin typeface="Courier New"/>
                <a:ea typeface="Courier New"/>
                <a:cs typeface="Courier New"/>
                <a:sym typeface="Courier New"/>
              </a:rPr>
              <a:t>+ function </a:t>
            </a:r>
            <a:r>
              <a:rPr lang="en-GB" sz="1000">
                <a:solidFill>
                  <a:srgbClr val="88C0D0"/>
                </a:solidFill>
                <a:latin typeface="Courier New"/>
                <a:ea typeface="Courier New"/>
                <a:cs typeface="Courier New"/>
                <a:sym typeface="Courier New"/>
              </a:rPr>
              <a:t>byPriorityThenAge</a:t>
            </a:r>
            <a:r>
              <a:rPr lang="en-GB" sz="1000">
                <a:solidFill>
                  <a:srgbClr val="A3BE8C"/>
                </a:solidFill>
                <a:latin typeface="Courier New"/>
                <a:ea typeface="Courier New"/>
                <a:cs typeface="Courier New"/>
                <a:sym typeface="Courier New"/>
              </a:rPr>
              <a:t>(a, b) {</a:t>
            </a:r>
            <a:endParaRPr sz="1100"/>
          </a:p>
          <a:p>
            <a:pPr indent="0" lvl="0" marL="0" marR="0" rtl="0" algn="l">
              <a:spcBef>
                <a:spcPts val="0"/>
              </a:spcBef>
              <a:spcAft>
                <a:spcPts val="0"/>
              </a:spcAft>
              <a:buNone/>
            </a:pPr>
            <a:r>
              <a:rPr lang="en-GB" sz="1000">
                <a:solidFill>
                  <a:srgbClr val="A3BE8C"/>
                </a:solidFill>
                <a:latin typeface="Courier New"/>
                <a:ea typeface="Courier New"/>
                <a:cs typeface="Courier New"/>
                <a:sym typeface="Courier New"/>
              </a:rPr>
              <a:t>+   if (a.priority !== b.priority)</a:t>
            </a:r>
            <a:endParaRPr sz="1100"/>
          </a:p>
          <a:p>
            <a:pPr indent="0" lvl="0" marL="0" marR="0" rtl="0" algn="l">
              <a:spcBef>
                <a:spcPts val="0"/>
              </a:spcBef>
              <a:spcAft>
                <a:spcPts val="0"/>
              </a:spcAft>
              <a:buNone/>
            </a:pPr>
            <a:r>
              <a:rPr lang="en-GB" sz="1000">
                <a:solidFill>
                  <a:srgbClr val="A3BE8C"/>
                </a:solidFill>
                <a:latin typeface="Courier New"/>
                <a:ea typeface="Courier New"/>
                <a:cs typeface="Courier New"/>
                <a:sym typeface="Courier New"/>
              </a:rPr>
              <a:t>+     return b.priority - a.priority</a:t>
            </a:r>
            <a:endParaRPr sz="1100"/>
          </a:p>
          <a:p>
            <a:pPr indent="0" lvl="0" marL="0" marR="0" rtl="0" algn="l">
              <a:spcBef>
                <a:spcPts val="0"/>
              </a:spcBef>
              <a:spcAft>
                <a:spcPts val="0"/>
              </a:spcAft>
              <a:buNone/>
            </a:pPr>
            <a:r>
              <a:rPr lang="en-GB" sz="1000">
                <a:solidFill>
                  <a:srgbClr val="A3BE8C"/>
                </a:solidFill>
                <a:latin typeface="Courier New"/>
                <a:ea typeface="Courier New"/>
                <a:cs typeface="Courier New"/>
                <a:sym typeface="Courier New"/>
              </a:rPr>
              <a:t>+   return a.createdAt - b.createdAt</a:t>
            </a:r>
            <a:endParaRPr sz="1100"/>
          </a:p>
          <a:p>
            <a:pPr indent="0" lvl="0" marL="0" marR="0" rtl="0" algn="l">
              <a:spcBef>
                <a:spcPts val="0"/>
              </a:spcBef>
              <a:spcAft>
                <a:spcPts val="0"/>
              </a:spcAft>
              <a:buNone/>
            </a:pPr>
            <a:r>
              <a:rPr lang="en-GB" sz="1000">
                <a:solidFill>
                  <a:srgbClr val="A3BE8C"/>
                </a:solidFill>
                <a:latin typeface="Courier New"/>
                <a:ea typeface="Courier New"/>
                <a:cs typeface="Courier New"/>
                <a:sym typeface="Courier New"/>
              </a:rPr>
              <a:t>+ }</a:t>
            </a:r>
            <a:endParaRPr sz="1100"/>
          </a:p>
          <a:p>
            <a:pPr indent="0" lvl="0" marL="0" marR="0" rtl="0" algn="l">
              <a:spcBef>
                <a:spcPts val="0"/>
              </a:spcBef>
              <a:spcAft>
                <a:spcPts val="0"/>
              </a:spcAft>
              <a:buNone/>
            </a:pPr>
            <a:r>
              <a:rPr lang="en-GB" sz="1000">
                <a:solidFill>
                  <a:srgbClr val="A3BE8C"/>
                </a:solidFill>
                <a:latin typeface="Courier New"/>
                <a:ea typeface="Courier New"/>
                <a:cs typeface="Courier New"/>
                <a:sym typeface="Courier New"/>
              </a:rPr>
              <a:t>+ export const </a:t>
            </a:r>
            <a:r>
              <a:rPr lang="en-GB" sz="1000">
                <a:solidFill>
                  <a:srgbClr val="88C0D0"/>
                </a:solidFill>
                <a:latin typeface="Courier New"/>
                <a:ea typeface="Courier New"/>
                <a:cs typeface="Courier New"/>
                <a:sym typeface="Courier New"/>
              </a:rPr>
              <a:t>sortJobs</a:t>
            </a:r>
            <a:r>
              <a:rPr lang="en-GB" sz="1000">
                <a:solidFill>
                  <a:srgbClr val="A3BE8C"/>
                </a:solidFill>
                <a:latin typeface="Courier New"/>
                <a:ea typeface="Courier New"/>
                <a:cs typeface="Courier New"/>
                <a:sym typeface="Courier New"/>
              </a:rPr>
              <a:t> = byPriorityThenAge</a:t>
            </a:r>
            <a:endParaRPr sz="1100"/>
          </a:p>
          <a:p>
            <a:pPr indent="0" lvl="0" marL="0" marR="0" rtl="0" algn="l">
              <a:spcBef>
                <a:spcPts val="0"/>
              </a:spcBef>
              <a:spcAft>
                <a:spcPts val="0"/>
              </a:spcAft>
              <a:buNone/>
            </a:pPr>
            <a:r>
              <a:t/>
            </a:r>
            <a:endParaRPr sz="1000">
              <a:solidFill>
                <a:srgbClr val="A3BE8C"/>
              </a:solidFill>
              <a:latin typeface="Courier New"/>
              <a:ea typeface="Courier New"/>
              <a:cs typeface="Courier New"/>
              <a:sym typeface="Courier New"/>
            </a:endParaRPr>
          </a:p>
          <a:p>
            <a:pPr indent="0" lvl="0" marL="0" marR="0" rtl="0" algn="l">
              <a:spcBef>
                <a:spcPts val="0"/>
              </a:spcBef>
              <a:spcAft>
                <a:spcPts val="0"/>
              </a:spcAft>
              <a:buNone/>
            </a:pPr>
            <a:r>
              <a:rPr lang="en-GB" sz="1000">
                <a:solidFill>
                  <a:srgbClr val="2BB1A6"/>
                </a:solidFill>
                <a:latin typeface="Courier New"/>
                <a:ea typeface="Courier New"/>
                <a:cs typeface="Courier New"/>
                <a:sym typeface="Courier New"/>
              </a:rPr>
              <a:t>// ✓ All existing tests pass  ·  8 lines changed  ·  0 behaviour delta</a:t>
            </a:r>
            <a:endParaRPr sz="1100"/>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6" name="Shape 1716"/>
        <p:cNvGrpSpPr/>
        <p:nvPr/>
      </p:nvGrpSpPr>
      <p:grpSpPr>
        <a:xfrm>
          <a:off x="0" y="0"/>
          <a:ext cx="0" cy="0"/>
          <a:chOff x="0" y="0"/>
          <a:chExt cx="0" cy="0"/>
        </a:xfrm>
      </p:grpSpPr>
      <p:sp>
        <p:nvSpPr>
          <p:cNvPr id="1717" name="Google Shape;1717;p85"/>
          <p:cNvSpPr/>
          <p:nvPr/>
        </p:nvSpPr>
        <p:spPr>
          <a:xfrm>
            <a:off x="0" y="0"/>
            <a:ext cx="9144000" cy="5143500"/>
          </a:xfrm>
          <a:prstGeom prst="rect">
            <a:avLst/>
          </a:prstGeom>
          <a:solidFill>
            <a:srgbClr val="1B1F2A"/>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718" name="Google Shape;1718;p85"/>
          <p:cNvSpPr/>
          <p:nvPr/>
        </p:nvSpPr>
        <p:spPr>
          <a:xfrm>
            <a:off x="3943455" y="342900"/>
            <a:ext cx="5075100" cy="4697700"/>
          </a:xfrm>
          <a:prstGeom prst="rect">
            <a:avLst/>
          </a:prstGeom>
          <a:solidFill>
            <a:srgbClr val="131722"/>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719" name="Google Shape;1719;p85"/>
          <p:cNvSpPr txBox="1"/>
          <p:nvPr/>
        </p:nvSpPr>
        <p:spPr>
          <a:xfrm>
            <a:off x="377200" y="377190"/>
            <a:ext cx="356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PROMPT PATTERN  ·  03  —  SECURITY REVIEW</a:t>
            </a:r>
            <a:endParaRPr sz="1100"/>
          </a:p>
        </p:txBody>
      </p:sp>
      <p:sp>
        <p:nvSpPr>
          <p:cNvPr id="1720" name="Google Shape;1720;p85"/>
          <p:cNvSpPr txBox="1"/>
          <p:nvPr/>
        </p:nvSpPr>
        <p:spPr>
          <a:xfrm>
            <a:off x="377200" y="582930"/>
            <a:ext cx="3566400" cy="1269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2600">
                <a:solidFill>
                  <a:srgbClr val="FFFFFF"/>
                </a:solidFill>
                <a:latin typeface="Manrope"/>
                <a:ea typeface="Manrope"/>
                <a:cs typeface="Manrope"/>
                <a:sym typeface="Manrope"/>
              </a:rPr>
              <a:t>Turn the model into your </a:t>
            </a:r>
            <a:r>
              <a:rPr b="1" lang="en-GB" sz="2600">
                <a:solidFill>
                  <a:srgbClr val="FF671F"/>
                </a:solidFill>
                <a:latin typeface="Manrope"/>
                <a:ea typeface="Manrope"/>
                <a:cs typeface="Manrope"/>
                <a:sym typeface="Manrope"/>
              </a:rPr>
              <a:t>security</a:t>
            </a:r>
            <a:r>
              <a:rPr b="1" lang="en-GB" sz="2600">
                <a:solidFill>
                  <a:srgbClr val="FFFFFF"/>
                </a:solidFill>
                <a:latin typeface="Manrope"/>
                <a:ea typeface="Manrope"/>
                <a:cs typeface="Manrope"/>
                <a:sym typeface="Manrope"/>
              </a:rPr>
              <a:t> reviewer.</a:t>
            </a:r>
            <a:endParaRPr sz="1100"/>
          </a:p>
        </p:txBody>
      </p:sp>
      <p:sp>
        <p:nvSpPr>
          <p:cNvPr id="1721" name="Google Shape;1721;p85"/>
          <p:cNvSpPr/>
          <p:nvPr/>
        </p:nvSpPr>
        <p:spPr>
          <a:xfrm>
            <a:off x="377200" y="1769241"/>
            <a:ext cx="822900" cy="273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722" name="Google Shape;1722;p85"/>
          <p:cNvSpPr txBox="1"/>
          <p:nvPr/>
        </p:nvSpPr>
        <p:spPr>
          <a:xfrm>
            <a:off x="4149201" y="397764"/>
            <a:ext cx="500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555E72"/>
                </a:solidFill>
                <a:latin typeface="Courier New"/>
                <a:ea typeface="Courier New"/>
                <a:cs typeface="Courier New"/>
                <a:sym typeface="Courier New"/>
              </a:rPr>
              <a:t>~  cursor / review  ·  auth.middleware.ts</a:t>
            </a:r>
            <a:endParaRPr sz="1100"/>
          </a:p>
        </p:txBody>
      </p:sp>
      <p:sp>
        <p:nvSpPr>
          <p:cNvPr id="1723" name="Google Shape;1723;p85"/>
          <p:cNvSpPr txBox="1"/>
          <p:nvPr/>
        </p:nvSpPr>
        <p:spPr>
          <a:xfrm>
            <a:off x="377200" y="1817370"/>
            <a:ext cx="356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  THE PROMPT</a:t>
            </a:r>
            <a:endParaRPr sz="1100"/>
          </a:p>
        </p:txBody>
      </p:sp>
      <p:sp>
        <p:nvSpPr>
          <p:cNvPr id="1724" name="Google Shape;1724;p85"/>
          <p:cNvSpPr txBox="1"/>
          <p:nvPr/>
        </p:nvSpPr>
        <p:spPr>
          <a:xfrm>
            <a:off x="377200" y="1940814"/>
            <a:ext cx="3566400" cy="684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FFFFFF"/>
                </a:solidFill>
                <a:latin typeface="Manrope"/>
                <a:ea typeface="Manrope"/>
                <a:cs typeface="Manrope"/>
                <a:sym typeface="Manrope"/>
              </a:rPr>
              <a:t>You are a senior security engineer (OWASP Top 10). Review this Express auth middleware. For each finding: SEVERITY · file:line · 2-sentence exploit scenario · fix snippet. Order by severity.</a:t>
            </a:r>
            <a:endParaRPr sz="1100"/>
          </a:p>
        </p:txBody>
      </p:sp>
      <p:sp>
        <p:nvSpPr>
          <p:cNvPr id="1725" name="Google Shape;1725;p85"/>
          <p:cNvSpPr txBox="1"/>
          <p:nvPr/>
        </p:nvSpPr>
        <p:spPr>
          <a:xfrm>
            <a:off x="377200" y="2708910"/>
            <a:ext cx="356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8C0D0"/>
                </a:solidFill>
                <a:latin typeface="Courier New"/>
                <a:ea typeface="Courier New"/>
                <a:cs typeface="Courier New"/>
                <a:sym typeface="Courier New"/>
              </a:rPr>
              <a:t>🧠  AI REASONS</a:t>
            </a:r>
            <a:endParaRPr sz="1100"/>
          </a:p>
        </p:txBody>
      </p:sp>
      <p:sp>
        <p:nvSpPr>
          <p:cNvPr id="1726" name="Google Shape;1726;p85"/>
          <p:cNvSpPr txBox="1"/>
          <p:nvPr/>
        </p:nvSpPr>
        <p:spPr>
          <a:xfrm>
            <a:off x="377200" y="2832354"/>
            <a:ext cx="3566400" cy="684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8B95A6"/>
                </a:solidFill>
                <a:latin typeface="Manrope"/>
                <a:ea typeface="Manrope"/>
                <a:cs typeface="Manrope"/>
                <a:sym typeface="Manrope"/>
              </a:rPr>
              <a:t>Role pin locks it to security vocabulary. Scans JWT validation, rate-limit gaps, CORS headers, injection vectors. Output schema enforces machine-parseable structured findings.</a:t>
            </a:r>
            <a:endParaRPr sz="1100"/>
          </a:p>
        </p:txBody>
      </p:sp>
      <p:sp>
        <p:nvSpPr>
          <p:cNvPr id="1727" name="Google Shape;1727;p85"/>
          <p:cNvSpPr txBox="1"/>
          <p:nvPr/>
        </p:nvSpPr>
        <p:spPr>
          <a:xfrm>
            <a:off x="377200" y="3600450"/>
            <a:ext cx="356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A3BE8C"/>
                </a:solidFill>
                <a:latin typeface="Courier New"/>
                <a:ea typeface="Courier New"/>
                <a:cs typeface="Courier New"/>
                <a:sym typeface="Courier New"/>
              </a:rPr>
              <a:t>✅  THE RESULT</a:t>
            </a:r>
            <a:endParaRPr sz="1100"/>
          </a:p>
        </p:txBody>
      </p:sp>
      <p:sp>
        <p:nvSpPr>
          <p:cNvPr id="1728" name="Google Shape;1728;p85"/>
          <p:cNvSpPr txBox="1"/>
          <p:nvPr/>
        </p:nvSpPr>
        <p:spPr>
          <a:xfrm>
            <a:off x="377200" y="3723894"/>
            <a:ext cx="3566400" cy="531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8B95A6"/>
                </a:solidFill>
                <a:latin typeface="Manrope"/>
                <a:ea typeface="Manrope"/>
                <a:cs typeface="Manrope"/>
                <a:sym typeface="Manrope"/>
              </a:rPr>
              <a:t>Prioritised findings report with severity badges, exploit proof-of-concept, and ready-to-merge fix patches — before a single human reviewer looks.</a:t>
            </a:r>
            <a:endParaRPr sz="1100"/>
          </a:p>
        </p:txBody>
      </p:sp>
      <p:sp>
        <p:nvSpPr>
          <p:cNvPr id="1729" name="Google Shape;1729;p85"/>
          <p:cNvSpPr/>
          <p:nvPr/>
        </p:nvSpPr>
        <p:spPr>
          <a:xfrm>
            <a:off x="4114910" y="651510"/>
            <a:ext cx="4800600" cy="651600"/>
          </a:xfrm>
          <a:prstGeom prst="rect">
            <a:avLst/>
          </a:prstGeom>
          <a:solidFill>
            <a:srgbClr val="1E263A"/>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730" name="Google Shape;1730;p85"/>
          <p:cNvSpPr txBox="1"/>
          <p:nvPr/>
        </p:nvSpPr>
        <p:spPr>
          <a:xfrm>
            <a:off x="4204066" y="706374"/>
            <a:ext cx="480000" cy="177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700">
                <a:solidFill>
                  <a:srgbClr val="FF671F"/>
                </a:solidFill>
                <a:latin typeface="Courier New"/>
                <a:ea typeface="Courier New"/>
                <a:cs typeface="Courier New"/>
                <a:sym typeface="Courier New"/>
              </a:rPr>
              <a:t>YOU</a:t>
            </a:r>
            <a:endParaRPr sz="1100"/>
          </a:p>
        </p:txBody>
      </p:sp>
      <p:sp>
        <p:nvSpPr>
          <p:cNvPr id="1731" name="Google Shape;1731;p85"/>
          <p:cNvSpPr txBox="1"/>
          <p:nvPr/>
        </p:nvSpPr>
        <p:spPr>
          <a:xfrm>
            <a:off x="4204066" y="843534"/>
            <a:ext cx="4595100" cy="48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a:solidFill>
                  <a:srgbClr val="FFFFFF"/>
                </a:solidFill>
                <a:latin typeface="Courier New"/>
                <a:ea typeface="Courier New"/>
                <a:cs typeface="Courier New"/>
                <a:sym typeface="Courier New"/>
              </a:rPr>
              <a:t>You are a senior security engineer.  Review this auth middleware.  SEVERITY · file:line · exploit · fix.  Order by severity.</a:t>
            </a:r>
            <a:endParaRPr sz="1100"/>
          </a:p>
        </p:txBody>
      </p:sp>
      <p:sp>
        <p:nvSpPr>
          <p:cNvPr id="1732" name="Google Shape;1732;p85"/>
          <p:cNvSpPr txBox="1"/>
          <p:nvPr/>
        </p:nvSpPr>
        <p:spPr>
          <a:xfrm>
            <a:off x="4183492" y="1392174"/>
            <a:ext cx="4663500" cy="2993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000">
              <a:solidFill>
                <a:srgbClr val="555E72"/>
              </a:solidFill>
              <a:latin typeface="Courier New"/>
              <a:ea typeface="Courier New"/>
              <a:cs typeface="Courier New"/>
              <a:sym typeface="Courier New"/>
            </a:endParaRPr>
          </a:p>
          <a:p>
            <a:pPr indent="0" lvl="0" marL="0" marR="0" rtl="0" algn="l">
              <a:spcBef>
                <a:spcPts val="0"/>
              </a:spcBef>
              <a:spcAft>
                <a:spcPts val="0"/>
              </a:spcAft>
              <a:buNone/>
            </a:pPr>
            <a:r>
              <a:rPr lang="en-GB" sz="1000">
                <a:solidFill>
                  <a:srgbClr val="BF616A"/>
                </a:solidFill>
                <a:latin typeface="Courier New"/>
                <a:ea typeface="Courier New"/>
                <a:cs typeface="Courier New"/>
                <a:sym typeface="Courier New"/>
              </a:rPr>
              <a:t>[ CRITICAL ]  </a:t>
            </a:r>
            <a:r>
              <a:rPr lang="en-GB" sz="1000">
                <a:solidFill>
                  <a:srgbClr val="FFFFFF"/>
                </a:solidFill>
                <a:latin typeface="Courier New"/>
                <a:ea typeface="Courier New"/>
                <a:cs typeface="Courier New"/>
                <a:sym typeface="Courier New"/>
              </a:rPr>
              <a:t>JWT not verified with secret</a:t>
            </a:r>
            <a:endParaRPr sz="1100"/>
          </a:p>
          <a:p>
            <a:pPr indent="0" lvl="0" marL="0" marR="0" rtl="0" algn="l">
              <a:spcBef>
                <a:spcPts val="0"/>
              </a:spcBef>
              <a:spcAft>
                <a:spcPts val="0"/>
              </a:spcAft>
              <a:buNone/>
            </a:pPr>
            <a:r>
              <a:rPr lang="en-GB" sz="1000">
                <a:solidFill>
                  <a:srgbClr val="8B95A6"/>
                </a:solidFill>
                <a:latin typeface="Courier New"/>
                <a:ea typeface="Courier New"/>
                <a:cs typeface="Courier New"/>
                <a:sym typeface="Courier New"/>
              </a:rPr>
              <a:t>  Line 34 · </a:t>
            </a:r>
            <a:r>
              <a:rPr lang="en-GB" sz="1000">
                <a:solidFill>
                  <a:srgbClr val="88C0D0"/>
                </a:solidFill>
                <a:latin typeface="Courier New"/>
                <a:ea typeface="Courier New"/>
                <a:cs typeface="Courier New"/>
                <a:sym typeface="Courier New"/>
              </a:rPr>
              <a:t>auth.middleware.ts</a:t>
            </a:r>
            <a:endParaRPr sz="1100"/>
          </a:p>
          <a:p>
            <a:pPr indent="0" lvl="0" marL="0" marR="0" rtl="0" algn="l">
              <a:spcBef>
                <a:spcPts val="0"/>
              </a:spcBef>
              <a:spcAft>
                <a:spcPts val="0"/>
              </a:spcAft>
              <a:buNone/>
            </a:pPr>
            <a:r>
              <a:rPr lang="en-GB" sz="1000">
                <a:solidFill>
                  <a:srgbClr val="8B95A6"/>
                </a:solidFill>
                <a:latin typeface="Courier New"/>
                <a:ea typeface="Courier New"/>
                <a:cs typeface="Courier New"/>
                <a:sym typeface="Courier New"/>
              </a:rPr>
              <a:t>  Exploit: </a:t>
            </a:r>
            <a:r>
              <a:rPr lang="en-GB" sz="1000">
                <a:solidFill>
                  <a:srgbClr val="FFFFFF"/>
                </a:solidFill>
                <a:latin typeface="Courier New"/>
                <a:ea typeface="Courier New"/>
                <a:cs typeface="Courier New"/>
                <a:sym typeface="Courier New"/>
              </a:rPr>
              <a:t>Attacker forges any JWT (alg:none). All routes bypass auth.</a:t>
            </a:r>
            <a:endParaRPr sz="1100"/>
          </a:p>
          <a:p>
            <a:pPr indent="0" lvl="0" marL="0" marR="0" rtl="0" algn="l">
              <a:spcBef>
                <a:spcPts val="0"/>
              </a:spcBef>
              <a:spcAft>
                <a:spcPts val="0"/>
              </a:spcAft>
              <a:buNone/>
            </a:pPr>
            <a:r>
              <a:rPr lang="en-GB" sz="1000">
                <a:solidFill>
                  <a:srgbClr val="8B95A6"/>
                </a:solidFill>
                <a:latin typeface="Courier New"/>
                <a:ea typeface="Courier New"/>
                <a:cs typeface="Courier New"/>
                <a:sym typeface="Courier New"/>
              </a:rPr>
              <a:t>  Fix:    </a:t>
            </a:r>
            <a:r>
              <a:rPr lang="en-GB" sz="1000">
                <a:solidFill>
                  <a:srgbClr val="A3BE8C"/>
                </a:solidFill>
                <a:latin typeface="Courier New"/>
                <a:ea typeface="Courier New"/>
                <a:cs typeface="Courier New"/>
                <a:sym typeface="Courier New"/>
              </a:rPr>
              <a:t>jwt.verify(token, process.env.JWT_SECRET)</a:t>
            </a:r>
            <a:endParaRPr sz="1100"/>
          </a:p>
          <a:p>
            <a:pPr indent="0" lvl="0" marL="0" marR="0" rtl="0" algn="l">
              <a:spcBef>
                <a:spcPts val="0"/>
              </a:spcBef>
              <a:spcAft>
                <a:spcPts val="0"/>
              </a:spcAft>
              <a:buNone/>
            </a:pPr>
            <a:r>
              <a:t/>
            </a:r>
            <a:endParaRPr sz="1000">
              <a:solidFill>
                <a:srgbClr val="A3BE8C"/>
              </a:solidFill>
              <a:latin typeface="Courier New"/>
              <a:ea typeface="Courier New"/>
              <a:cs typeface="Courier New"/>
              <a:sym typeface="Courier New"/>
            </a:endParaRPr>
          </a:p>
          <a:p>
            <a:pPr indent="0" lvl="0" marL="0" marR="0" rtl="0" algn="l">
              <a:spcBef>
                <a:spcPts val="0"/>
              </a:spcBef>
              <a:spcAft>
                <a:spcPts val="0"/>
              </a:spcAft>
              <a:buNone/>
            </a:pPr>
            <a:r>
              <a:rPr lang="en-GB" sz="1000">
                <a:solidFill>
                  <a:srgbClr val="EBCB8B"/>
                </a:solidFill>
                <a:latin typeface="Courier New"/>
                <a:ea typeface="Courier New"/>
                <a:cs typeface="Courier New"/>
                <a:sym typeface="Courier New"/>
              </a:rPr>
              <a:t>[ HIGH ]     </a:t>
            </a:r>
            <a:r>
              <a:rPr lang="en-GB" sz="1000">
                <a:solidFill>
                  <a:srgbClr val="FFFFFF"/>
                </a:solidFill>
                <a:latin typeface="Courier New"/>
                <a:ea typeface="Courier New"/>
                <a:cs typeface="Courier New"/>
                <a:sym typeface="Courier New"/>
              </a:rPr>
              <a:t>No rate limit on /auth/token endpoint</a:t>
            </a:r>
            <a:endParaRPr sz="1100"/>
          </a:p>
          <a:p>
            <a:pPr indent="0" lvl="0" marL="0" marR="0" rtl="0" algn="l">
              <a:spcBef>
                <a:spcPts val="0"/>
              </a:spcBef>
              <a:spcAft>
                <a:spcPts val="0"/>
              </a:spcAft>
              <a:buNone/>
            </a:pPr>
            <a:r>
              <a:rPr lang="en-GB" sz="1000">
                <a:solidFill>
                  <a:srgbClr val="8B95A6"/>
                </a:solidFill>
                <a:latin typeface="Courier New"/>
                <a:ea typeface="Courier New"/>
                <a:cs typeface="Courier New"/>
                <a:sym typeface="Courier New"/>
              </a:rPr>
              <a:t>  Line 12 · </a:t>
            </a:r>
            <a:r>
              <a:rPr lang="en-GB" sz="1000">
                <a:solidFill>
                  <a:srgbClr val="88C0D0"/>
                </a:solidFill>
                <a:latin typeface="Courier New"/>
                <a:ea typeface="Courier New"/>
                <a:cs typeface="Courier New"/>
                <a:sym typeface="Courier New"/>
              </a:rPr>
              <a:t>auth.router.ts</a:t>
            </a:r>
            <a:endParaRPr sz="1100"/>
          </a:p>
          <a:p>
            <a:pPr indent="0" lvl="0" marL="0" marR="0" rtl="0" algn="l">
              <a:spcBef>
                <a:spcPts val="0"/>
              </a:spcBef>
              <a:spcAft>
                <a:spcPts val="0"/>
              </a:spcAft>
              <a:buNone/>
            </a:pPr>
            <a:r>
              <a:rPr lang="en-GB" sz="1000">
                <a:solidFill>
                  <a:srgbClr val="8B95A6"/>
                </a:solidFill>
                <a:latin typeface="Courier New"/>
                <a:ea typeface="Courier New"/>
                <a:cs typeface="Courier New"/>
                <a:sym typeface="Courier New"/>
              </a:rPr>
              <a:t>  Exploit: </a:t>
            </a:r>
            <a:r>
              <a:rPr lang="en-GB" sz="1000">
                <a:solidFill>
                  <a:srgbClr val="FFFFFF"/>
                </a:solidFill>
                <a:latin typeface="Courier New"/>
                <a:ea typeface="Courier New"/>
                <a:cs typeface="Courier New"/>
                <a:sym typeface="Courier New"/>
              </a:rPr>
              <a:t>Credential stuffing at 10k req/s. No throttle.</a:t>
            </a:r>
            <a:endParaRPr sz="1100"/>
          </a:p>
          <a:p>
            <a:pPr indent="0" lvl="0" marL="0" marR="0" rtl="0" algn="l">
              <a:spcBef>
                <a:spcPts val="0"/>
              </a:spcBef>
              <a:spcAft>
                <a:spcPts val="0"/>
              </a:spcAft>
              <a:buNone/>
            </a:pPr>
            <a:r>
              <a:rPr lang="en-GB" sz="1000">
                <a:solidFill>
                  <a:srgbClr val="8B95A6"/>
                </a:solidFill>
                <a:latin typeface="Courier New"/>
                <a:ea typeface="Courier New"/>
                <a:cs typeface="Courier New"/>
                <a:sym typeface="Courier New"/>
              </a:rPr>
              <a:t>  Fix:    </a:t>
            </a:r>
            <a:r>
              <a:rPr lang="en-GB" sz="1000">
                <a:solidFill>
                  <a:srgbClr val="A3BE8C"/>
                </a:solidFill>
                <a:latin typeface="Courier New"/>
                <a:ea typeface="Courier New"/>
                <a:cs typeface="Courier New"/>
                <a:sym typeface="Courier New"/>
              </a:rPr>
              <a:t>app.use('/auth', rateLimit({ max: 10, windowMs: 60000 }))</a:t>
            </a:r>
            <a:endParaRPr sz="1100"/>
          </a:p>
          <a:p>
            <a:pPr indent="0" lvl="0" marL="0" marR="0" rtl="0" algn="l">
              <a:spcBef>
                <a:spcPts val="0"/>
              </a:spcBef>
              <a:spcAft>
                <a:spcPts val="0"/>
              </a:spcAft>
              <a:buNone/>
            </a:pPr>
            <a:r>
              <a:t/>
            </a:r>
            <a:endParaRPr sz="1000">
              <a:solidFill>
                <a:srgbClr val="A3BE8C"/>
              </a:solidFill>
              <a:latin typeface="Courier New"/>
              <a:ea typeface="Courier New"/>
              <a:cs typeface="Courier New"/>
              <a:sym typeface="Courier New"/>
            </a:endParaRPr>
          </a:p>
          <a:p>
            <a:pPr indent="0" lvl="0" marL="0" marR="0" rtl="0" algn="l">
              <a:spcBef>
                <a:spcPts val="0"/>
              </a:spcBef>
              <a:spcAft>
                <a:spcPts val="0"/>
              </a:spcAft>
              <a:buNone/>
            </a:pPr>
            <a:r>
              <a:rPr lang="en-GB" sz="1000">
                <a:solidFill>
                  <a:srgbClr val="EBCB8B"/>
                </a:solidFill>
                <a:latin typeface="Courier New"/>
                <a:ea typeface="Courier New"/>
                <a:cs typeface="Courier New"/>
                <a:sym typeface="Courier New"/>
              </a:rPr>
              <a:t>[ MEDIUM ]   </a:t>
            </a:r>
            <a:r>
              <a:rPr lang="en-GB" sz="1000">
                <a:solidFill>
                  <a:srgbClr val="FFFFFF"/>
                </a:solidFill>
                <a:latin typeface="Courier New"/>
                <a:ea typeface="Courier New"/>
                <a:cs typeface="Courier New"/>
                <a:sym typeface="Courier New"/>
              </a:rPr>
              <a:t>CORS wildcard on authenticated routes</a:t>
            </a:r>
            <a:endParaRPr sz="1100"/>
          </a:p>
          <a:p>
            <a:pPr indent="0" lvl="0" marL="0" marR="0" rtl="0" algn="l">
              <a:spcBef>
                <a:spcPts val="0"/>
              </a:spcBef>
              <a:spcAft>
                <a:spcPts val="0"/>
              </a:spcAft>
              <a:buNone/>
            </a:pPr>
            <a:r>
              <a:rPr lang="en-GB" sz="1000">
                <a:solidFill>
                  <a:srgbClr val="8B95A6"/>
                </a:solidFill>
                <a:latin typeface="Courier New"/>
                <a:ea typeface="Courier New"/>
                <a:cs typeface="Courier New"/>
                <a:sym typeface="Courier New"/>
              </a:rPr>
              <a:t>  Line 8 · </a:t>
            </a:r>
            <a:r>
              <a:rPr lang="en-GB" sz="1000">
                <a:solidFill>
                  <a:srgbClr val="88C0D0"/>
                </a:solidFill>
                <a:latin typeface="Courier New"/>
                <a:ea typeface="Courier New"/>
                <a:cs typeface="Courier New"/>
                <a:sym typeface="Courier New"/>
              </a:rPr>
              <a:t>cors.config.ts</a:t>
            </a:r>
            <a:endParaRPr sz="1100"/>
          </a:p>
          <a:p>
            <a:pPr indent="0" lvl="0" marL="0" marR="0" rtl="0" algn="l">
              <a:spcBef>
                <a:spcPts val="0"/>
              </a:spcBef>
              <a:spcAft>
                <a:spcPts val="0"/>
              </a:spcAft>
              <a:buNone/>
            </a:pPr>
            <a:r>
              <a:rPr lang="en-GB" sz="1000">
                <a:solidFill>
                  <a:srgbClr val="8B95A6"/>
                </a:solidFill>
                <a:latin typeface="Courier New"/>
                <a:ea typeface="Courier New"/>
                <a:cs typeface="Courier New"/>
                <a:sym typeface="Courier New"/>
              </a:rPr>
              <a:t>  Exploit: </a:t>
            </a:r>
            <a:r>
              <a:rPr lang="en-GB" sz="1000">
                <a:solidFill>
                  <a:srgbClr val="FFFFFF"/>
                </a:solidFill>
                <a:latin typeface="Courier New"/>
                <a:ea typeface="Courier New"/>
                <a:cs typeface="Courier New"/>
                <a:sym typeface="Courier New"/>
              </a:rPr>
              <a:t>Cross-origin site reads user tokens in browser.</a:t>
            </a:r>
            <a:endParaRPr sz="1100"/>
          </a:p>
          <a:p>
            <a:pPr indent="0" lvl="0" marL="0" marR="0" rtl="0" algn="l">
              <a:spcBef>
                <a:spcPts val="0"/>
              </a:spcBef>
              <a:spcAft>
                <a:spcPts val="0"/>
              </a:spcAft>
              <a:buNone/>
            </a:pPr>
            <a:r>
              <a:rPr lang="en-GB" sz="1000">
                <a:solidFill>
                  <a:srgbClr val="8B95A6"/>
                </a:solidFill>
                <a:latin typeface="Courier New"/>
                <a:ea typeface="Courier New"/>
                <a:cs typeface="Courier New"/>
                <a:sym typeface="Courier New"/>
              </a:rPr>
              <a:t>  Fix:    </a:t>
            </a:r>
            <a:r>
              <a:rPr lang="en-GB" sz="1000">
                <a:solidFill>
                  <a:srgbClr val="A3BE8C"/>
                </a:solidFill>
                <a:latin typeface="Courier New"/>
                <a:ea typeface="Courier New"/>
                <a:cs typeface="Courier New"/>
                <a:sym typeface="Courier New"/>
              </a:rPr>
              <a:t>origin: process.env.ALLOWED_ORIGINS.split(',')</a:t>
            </a:r>
            <a:endParaRPr sz="1100"/>
          </a:p>
          <a:p>
            <a:pPr indent="0" lvl="0" marL="0" marR="0" rtl="0" algn="l">
              <a:spcBef>
                <a:spcPts val="0"/>
              </a:spcBef>
              <a:spcAft>
                <a:spcPts val="0"/>
              </a:spcAft>
              <a:buNone/>
            </a:pPr>
            <a:r>
              <a:t/>
            </a:r>
            <a:endParaRPr sz="1000">
              <a:solidFill>
                <a:srgbClr val="A3BE8C"/>
              </a:solidFill>
              <a:latin typeface="Courier New"/>
              <a:ea typeface="Courier New"/>
              <a:cs typeface="Courier New"/>
              <a:sym typeface="Courier New"/>
            </a:endParaRPr>
          </a:p>
          <a:p>
            <a:pPr indent="0" lvl="0" marL="0" marR="0" rtl="0" algn="l">
              <a:spcBef>
                <a:spcPts val="0"/>
              </a:spcBef>
              <a:spcAft>
                <a:spcPts val="0"/>
              </a:spcAft>
              <a:buNone/>
            </a:pPr>
            <a:r>
              <a:rPr lang="en-GB" sz="1000">
                <a:solidFill>
                  <a:srgbClr val="2BB1A6"/>
                </a:solidFill>
                <a:latin typeface="Courier New"/>
                <a:ea typeface="Courier New"/>
                <a:cs typeface="Courier New"/>
                <a:sym typeface="Courier New"/>
              </a:rPr>
              <a:t>// 3 findings  ·  1 critical  ·  reviewed in 4 seconds</a:t>
            </a:r>
            <a:endParaRPr sz="1100"/>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6" name="Shape 1736"/>
        <p:cNvGrpSpPr/>
        <p:nvPr/>
      </p:nvGrpSpPr>
      <p:grpSpPr>
        <a:xfrm>
          <a:off x="0" y="0"/>
          <a:ext cx="0" cy="0"/>
          <a:chOff x="0" y="0"/>
          <a:chExt cx="0" cy="0"/>
        </a:xfrm>
      </p:grpSpPr>
      <p:sp>
        <p:nvSpPr>
          <p:cNvPr id="1737" name="Google Shape;1737;p86"/>
          <p:cNvSpPr/>
          <p:nvPr/>
        </p:nvSpPr>
        <p:spPr>
          <a:xfrm>
            <a:off x="0" y="0"/>
            <a:ext cx="9144000" cy="5143500"/>
          </a:xfrm>
          <a:prstGeom prst="rect">
            <a:avLst/>
          </a:prstGeom>
          <a:solidFill>
            <a:srgbClr val="1B1F2A"/>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738" name="Google Shape;1738;p86"/>
          <p:cNvSpPr/>
          <p:nvPr/>
        </p:nvSpPr>
        <p:spPr>
          <a:xfrm>
            <a:off x="3943455" y="342900"/>
            <a:ext cx="5075100" cy="4697700"/>
          </a:xfrm>
          <a:prstGeom prst="rect">
            <a:avLst/>
          </a:prstGeom>
          <a:solidFill>
            <a:srgbClr val="131722"/>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739" name="Google Shape;1739;p86"/>
          <p:cNvSpPr txBox="1"/>
          <p:nvPr/>
        </p:nvSpPr>
        <p:spPr>
          <a:xfrm>
            <a:off x="377200" y="377190"/>
            <a:ext cx="356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PROMPT PATTERN  ·  04  —  AGENT INVESTIGATION</a:t>
            </a:r>
            <a:endParaRPr sz="1100"/>
          </a:p>
        </p:txBody>
      </p:sp>
      <p:sp>
        <p:nvSpPr>
          <p:cNvPr id="1740" name="Google Shape;1740;p86"/>
          <p:cNvSpPr txBox="1"/>
          <p:nvPr/>
        </p:nvSpPr>
        <p:spPr>
          <a:xfrm>
            <a:off x="377200" y="582930"/>
            <a:ext cx="3566400" cy="869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2600">
                <a:solidFill>
                  <a:srgbClr val="FFFFFF"/>
                </a:solidFill>
                <a:latin typeface="Manrope"/>
                <a:ea typeface="Manrope"/>
                <a:cs typeface="Manrope"/>
                <a:sym typeface="Manrope"/>
              </a:rPr>
              <a:t>Ask the </a:t>
            </a:r>
            <a:r>
              <a:rPr b="1" lang="en-GB" sz="2600">
                <a:solidFill>
                  <a:srgbClr val="FF671F"/>
                </a:solidFill>
                <a:latin typeface="Manrope"/>
                <a:ea typeface="Manrope"/>
                <a:cs typeface="Manrope"/>
                <a:sym typeface="Manrope"/>
              </a:rPr>
              <a:t>repo,</a:t>
            </a:r>
            <a:r>
              <a:rPr b="1" lang="en-GB" sz="2600">
                <a:solidFill>
                  <a:srgbClr val="FFFFFF"/>
                </a:solidFill>
                <a:latin typeface="Manrope"/>
                <a:ea typeface="Manrope"/>
                <a:cs typeface="Manrope"/>
                <a:sym typeface="Manrope"/>
              </a:rPr>
              <a:t>  not your teammate.</a:t>
            </a:r>
            <a:endParaRPr sz="1100"/>
          </a:p>
        </p:txBody>
      </p:sp>
      <p:sp>
        <p:nvSpPr>
          <p:cNvPr id="1741" name="Google Shape;1741;p86"/>
          <p:cNvSpPr/>
          <p:nvPr/>
        </p:nvSpPr>
        <p:spPr>
          <a:xfrm>
            <a:off x="377200" y="1714500"/>
            <a:ext cx="822900" cy="273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742" name="Google Shape;1742;p86"/>
          <p:cNvSpPr txBox="1"/>
          <p:nvPr/>
        </p:nvSpPr>
        <p:spPr>
          <a:xfrm>
            <a:off x="4149201" y="397764"/>
            <a:ext cx="500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555E72"/>
                </a:solidFill>
                <a:latin typeface="Courier New"/>
                <a:ea typeface="Courier New"/>
                <a:cs typeface="Courier New"/>
                <a:sym typeface="Courier New"/>
              </a:rPr>
              <a:t>~  claude code  ·  ReAct loop  ·  webhook-service/</a:t>
            </a:r>
            <a:endParaRPr sz="1100"/>
          </a:p>
        </p:txBody>
      </p:sp>
      <p:sp>
        <p:nvSpPr>
          <p:cNvPr id="1743" name="Google Shape;1743;p86"/>
          <p:cNvSpPr txBox="1"/>
          <p:nvPr/>
        </p:nvSpPr>
        <p:spPr>
          <a:xfrm>
            <a:off x="377200" y="1817370"/>
            <a:ext cx="356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  THE PROMPT</a:t>
            </a:r>
            <a:endParaRPr sz="1100"/>
          </a:p>
        </p:txBody>
      </p:sp>
      <p:sp>
        <p:nvSpPr>
          <p:cNvPr id="1744" name="Google Shape;1744;p86"/>
          <p:cNvSpPr txBox="1"/>
          <p:nvPr/>
        </p:nvSpPr>
        <p:spPr>
          <a:xfrm>
            <a:off x="377200" y="1940814"/>
            <a:ext cx="3566400" cy="684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FFFFFF"/>
                </a:solidFill>
                <a:latin typeface="Manrope"/>
                <a:ea typeface="Manrope"/>
                <a:cs typeface="Manrope"/>
                <a:sym typeface="Manrope"/>
              </a:rPr>
              <a:t>Where does this service handle webhook retry logic? Read all relevant files, trace every call path from the entry point, reply with file:line citations. Do NOT summarise without reading first.</a:t>
            </a:r>
            <a:endParaRPr sz="1100"/>
          </a:p>
        </p:txBody>
      </p:sp>
      <p:sp>
        <p:nvSpPr>
          <p:cNvPr id="1745" name="Google Shape;1745;p86"/>
          <p:cNvSpPr txBox="1"/>
          <p:nvPr/>
        </p:nvSpPr>
        <p:spPr>
          <a:xfrm>
            <a:off x="377200" y="2708910"/>
            <a:ext cx="356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8C0D0"/>
                </a:solidFill>
                <a:latin typeface="Courier New"/>
                <a:ea typeface="Courier New"/>
                <a:cs typeface="Courier New"/>
                <a:sym typeface="Courier New"/>
              </a:rPr>
              <a:t>🧠  AI REASONS</a:t>
            </a:r>
            <a:endParaRPr sz="1100"/>
          </a:p>
        </p:txBody>
      </p:sp>
      <p:sp>
        <p:nvSpPr>
          <p:cNvPr id="1746" name="Google Shape;1746;p86"/>
          <p:cNvSpPr txBox="1"/>
          <p:nvPr/>
        </p:nvSpPr>
        <p:spPr>
          <a:xfrm>
            <a:off x="377200" y="2832354"/>
            <a:ext cx="3566400" cy="684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8B95A6"/>
                </a:solidFill>
                <a:latin typeface="Manrope"/>
                <a:ea typeface="Manrope"/>
                <a:cs typeface="Manrope"/>
                <a:sym typeface="Manrope"/>
              </a:rPr>
              <a:t>Agent calls read_file tool → maps call graph from entry point → identifies retry/backoff pattern → traces through queue handlers → builds answer from actual source, not training memory.</a:t>
            </a:r>
            <a:endParaRPr sz="1100"/>
          </a:p>
        </p:txBody>
      </p:sp>
      <p:sp>
        <p:nvSpPr>
          <p:cNvPr id="1747" name="Google Shape;1747;p86"/>
          <p:cNvSpPr txBox="1"/>
          <p:nvPr/>
        </p:nvSpPr>
        <p:spPr>
          <a:xfrm>
            <a:off x="377200" y="3600450"/>
            <a:ext cx="356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A3BE8C"/>
                </a:solidFill>
                <a:latin typeface="Courier New"/>
                <a:ea typeface="Courier New"/>
                <a:cs typeface="Courier New"/>
                <a:sym typeface="Courier New"/>
              </a:rPr>
              <a:t>✅  THE RESULT</a:t>
            </a:r>
            <a:endParaRPr sz="1100"/>
          </a:p>
        </p:txBody>
      </p:sp>
      <p:sp>
        <p:nvSpPr>
          <p:cNvPr id="1748" name="Google Shape;1748;p86"/>
          <p:cNvSpPr txBox="1"/>
          <p:nvPr/>
        </p:nvSpPr>
        <p:spPr>
          <a:xfrm>
            <a:off x="377200" y="3723894"/>
            <a:ext cx="3566400" cy="531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8B95A6"/>
                </a:solidFill>
                <a:latin typeface="Manrope"/>
                <a:ea typeface="Manrope"/>
                <a:cs typeface="Manrope"/>
                <a:sym typeface="Manrope"/>
              </a:rPr>
              <a:t>Precise file:line citations with full traced call chain. Zero hallucinated paths. Faster than grep + three Slack messages.</a:t>
            </a:r>
            <a:endParaRPr sz="1100"/>
          </a:p>
        </p:txBody>
      </p:sp>
      <p:sp>
        <p:nvSpPr>
          <p:cNvPr id="1749" name="Google Shape;1749;p86"/>
          <p:cNvSpPr/>
          <p:nvPr/>
        </p:nvSpPr>
        <p:spPr>
          <a:xfrm>
            <a:off x="4114910" y="651510"/>
            <a:ext cx="4800600" cy="651600"/>
          </a:xfrm>
          <a:prstGeom prst="rect">
            <a:avLst/>
          </a:prstGeom>
          <a:solidFill>
            <a:srgbClr val="1E263A"/>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750" name="Google Shape;1750;p86"/>
          <p:cNvSpPr txBox="1"/>
          <p:nvPr/>
        </p:nvSpPr>
        <p:spPr>
          <a:xfrm>
            <a:off x="4204066" y="706374"/>
            <a:ext cx="480000" cy="177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700">
                <a:solidFill>
                  <a:srgbClr val="FF671F"/>
                </a:solidFill>
                <a:latin typeface="Courier New"/>
                <a:ea typeface="Courier New"/>
                <a:cs typeface="Courier New"/>
                <a:sym typeface="Courier New"/>
              </a:rPr>
              <a:t>YOU</a:t>
            </a:r>
            <a:endParaRPr sz="1100"/>
          </a:p>
        </p:txBody>
      </p:sp>
      <p:sp>
        <p:nvSpPr>
          <p:cNvPr id="1751" name="Google Shape;1751;p86"/>
          <p:cNvSpPr txBox="1"/>
          <p:nvPr/>
        </p:nvSpPr>
        <p:spPr>
          <a:xfrm>
            <a:off x="4204066" y="843534"/>
            <a:ext cx="45951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a:solidFill>
                  <a:srgbClr val="FFFFFF"/>
                </a:solidFill>
                <a:latin typeface="Courier New"/>
                <a:ea typeface="Courier New"/>
                <a:cs typeface="Courier New"/>
                <a:sym typeface="Courier New"/>
              </a:rPr>
              <a:t>Where is the webhook retry logic?  Read files, trace call paths, cite file:line. Don't summarise without reading.</a:t>
            </a:r>
            <a:endParaRPr sz="1100"/>
          </a:p>
        </p:txBody>
      </p:sp>
      <p:sp>
        <p:nvSpPr>
          <p:cNvPr id="1752" name="Google Shape;1752;p86"/>
          <p:cNvSpPr txBox="1"/>
          <p:nvPr/>
        </p:nvSpPr>
        <p:spPr>
          <a:xfrm>
            <a:off x="4183492" y="1392174"/>
            <a:ext cx="4663500" cy="3147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000">
                <a:solidFill>
                  <a:srgbClr val="555E72"/>
                </a:solidFill>
                <a:latin typeface="Courier New"/>
                <a:ea typeface="Courier New"/>
                <a:cs typeface="Courier New"/>
                <a:sym typeface="Courier New"/>
              </a:rPr>
              <a:t>// ─── Agent ReAct trace</a:t>
            </a:r>
            <a:endParaRPr sz="1100"/>
          </a:p>
          <a:p>
            <a:pPr indent="0" lvl="0" marL="0" marR="0" rtl="0" algn="l">
              <a:spcBef>
                <a:spcPts val="0"/>
              </a:spcBef>
              <a:spcAft>
                <a:spcPts val="0"/>
              </a:spcAft>
              <a:buNone/>
            </a:pPr>
            <a:r>
              <a:rPr lang="en-GB" sz="1000">
                <a:solidFill>
                  <a:srgbClr val="C792EA"/>
                </a:solidFill>
                <a:latin typeface="Courier New"/>
                <a:ea typeface="Courier New"/>
                <a:cs typeface="Courier New"/>
                <a:sym typeface="Courier New"/>
              </a:rPr>
              <a:t>Thought: </a:t>
            </a:r>
            <a:r>
              <a:rPr lang="en-GB" sz="1000">
                <a:solidFill>
                  <a:srgbClr val="8B95A6"/>
                </a:solidFill>
                <a:latin typeface="Courier New"/>
                <a:ea typeface="Courier New"/>
                <a:cs typeface="Courier New"/>
                <a:sym typeface="Courier New"/>
              </a:rPr>
              <a:t>Need to find retry logic. Start at entry.</a:t>
            </a:r>
            <a:endParaRPr sz="1100"/>
          </a:p>
          <a:p>
            <a:pPr indent="0" lvl="0" marL="0" marR="0" rtl="0" algn="l">
              <a:spcBef>
                <a:spcPts val="0"/>
              </a:spcBef>
              <a:spcAft>
                <a:spcPts val="0"/>
              </a:spcAft>
              <a:buNone/>
            </a:pPr>
            <a:r>
              <a:rPr lang="en-GB" sz="1000">
                <a:solidFill>
                  <a:srgbClr val="88C0D0"/>
                </a:solidFill>
                <a:latin typeface="Courier New"/>
                <a:ea typeface="Courier New"/>
                <a:cs typeface="Courier New"/>
                <a:sym typeface="Courier New"/>
              </a:rPr>
              <a:t>Action:  </a:t>
            </a:r>
            <a:r>
              <a:rPr lang="en-GB" sz="1000">
                <a:solidFill>
                  <a:srgbClr val="FFFFFF"/>
                </a:solidFill>
                <a:latin typeface="Courier New"/>
                <a:ea typeface="Courier New"/>
                <a:cs typeface="Courier New"/>
                <a:sym typeface="Courier New"/>
              </a:rPr>
              <a:t>read_file('src/webhooks/handler.ts')</a:t>
            </a:r>
            <a:endParaRPr sz="1100"/>
          </a:p>
          <a:p>
            <a:pPr indent="0" lvl="0" marL="0" marR="0" rtl="0" algn="l">
              <a:spcBef>
                <a:spcPts val="0"/>
              </a:spcBef>
              <a:spcAft>
                <a:spcPts val="0"/>
              </a:spcAft>
              <a:buNone/>
            </a:pPr>
            <a:r>
              <a:rPr lang="en-GB" sz="1000">
                <a:solidFill>
                  <a:srgbClr val="8B95A6"/>
                </a:solidFill>
                <a:latin typeface="Courier New"/>
                <a:ea typeface="Courier New"/>
                <a:cs typeface="Courier New"/>
                <a:sym typeface="Courier New"/>
              </a:rPr>
              <a:t>Obs:     </a:t>
            </a:r>
            <a:r>
              <a:rPr lang="en-GB" sz="1000">
                <a:solidFill>
                  <a:srgbClr val="FFFFFF"/>
                </a:solidFill>
                <a:latin typeface="Courier New"/>
                <a:ea typeface="Courier New"/>
                <a:cs typeface="Courier New"/>
                <a:sym typeface="Courier New"/>
              </a:rPr>
              <a:t>→ calls processEvent() → enqueueRetry() on failure</a:t>
            </a:r>
            <a:endParaRPr sz="1100"/>
          </a:p>
          <a:p>
            <a:pPr indent="0" lvl="0" marL="0" marR="0" rtl="0" algn="l">
              <a:spcBef>
                <a:spcPts val="0"/>
              </a:spcBef>
              <a:spcAft>
                <a:spcPts val="0"/>
              </a:spcAft>
              <a:buNone/>
            </a:pPr>
            <a:r>
              <a:t/>
            </a:r>
            <a:endParaRPr sz="1000">
              <a:solidFill>
                <a:srgbClr val="FFFFFF"/>
              </a:solidFill>
              <a:latin typeface="Courier New"/>
              <a:ea typeface="Courier New"/>
              <a:cs typeface="Courier New"/>
              <a:sym typeface="Courier New"/>
            </a:endParaRPr>
          </a:p>
          <a:p>
            <a:pPr indent="0" lvl="0" marL="0" marR="0" rtl="0" algn="l">
              <a:spcBef>
                <a:spcPts val="0"/>
              </a:spcBef>
              <a:spcAft>
                <a:spcPts val="0"/>
              </a:spcAft>
              <a:buNone/>
            </a:pPr>
            <a:r>
              <a:rPr lang="en-GB" sz="1000">
                <a:solidFill>
                  <a:srgbClr val="C792EA"/>
                </a:solidFill>
                <a:latin typeface="Courier New"/>
                <a:ea typeface="Courier New"/>
                <a:cs typeface="Courier New"/>
                <a:sym typeface="Courier New"/>
              </a:rPr>
              <a:t>Thought: </a:t>
            </a:r>
            <a:r>
              <a:rPr lang="en-GB" sz="1000">
                <a:solidFill>
                  <a:srgbClr val="8B95A6"/>
                </a:solidFill>
                <a:latin typeface="Courier New"/>
                <a:ea typeface="Courier New"/>
                <a:cs typeface="Courier New"/>
                <a:sym typeface="Courier New"/>
              </a:rPr>
              <a:t>enqueueRetry is the key. Trace it.</a:t>
            </a:r>
            <a:endParaRPr sz="1100"/>
          </a:p>
          <a:p>
            <a:pPr indent="0" lvl="0" marL="0" marR="0" rtl="0" algn="l">
              <a:spcBef>
                <a:spcPts val="0"/>
              </a:spcBef>
              <a:spcAft>
                <a:spcPts val="0"/>
              </a:spcAft>
              <a:buNone/>
            </a:pPr>
            <a:r>
              <a:rPr lang="en-GB" sz="1000">
                <a:solidFill>
                  <a:srgbClr val="88C0D0"/>
                </a:solidFill>
                <a:latin typeface="Courier New"/>
                <a:ea typeface="Courier New"/>
                <a:cs typeface="Courier New"/>
                <a:sym typeface="Courier New"/>
              </a:rPr>
              <a:t>Action:  </a:t>
            </a:r>
            <a:r>
              <a:rPr lang="en-GB" sz="1000">
                <a:solidFill>
                  <a:srgbClr val="FFFFFF"/>
                </a:solidFill>
                <a:latin typeface="Courier New"/>
                <a:ea typeface="Courier New"/>
                <a:cs typeface="Courier New"/>
                <a:sym typeface="Courier New"/>
              </a:rPr>
              <a:t>read_file('src/queue/retry.queue.ts')</a:t>
            </a:r>
            <a:endParaRPr sz="1100"/>
          </a:p>
          <a:p>
            <a:pPr indent="0" lvl="0" marL="0" marR="0" rtl="0" algn="l">
              <a:spcBef>
                <a:spcPts val="0"/>
              </a:spcBef>
              <a:spcAft>
                <a:spcPts val="0"/>
              </a:spcAft>
              <a:buNone/>
            </a:pPr>
            <a:r>
              <a:rPr lang="en-GB" sz="1000">
                <a:solidFill>
                  <a:srgbClr val="8B95A6"/>
                </a:solidFill>
                <a:latin typeface="Courier New"/>
                <a:ea typeface="Courier New"/>
                <a:cs typeface="Courier New"/>
                <a:sym typeface="Courier New"/>
              </a:rPr>
              <a:t>Obs:     </a:t>
            </a:r>
            <a:r>
              <a:rPr lang="en-GB" sz="1000">
                <a:solidFill>
                  <a:srgbClr val="FFFFFF"/>
                </a:solidFill>
                <a:latin typeface="Courier New"/>
                <a:ea typeface="Courier New"/>
                <a:cs typeface="Courier New"/>
                <a:sym typeface="Courier New"/>
              </a:rPr>
              <a:t>→ exponential backoff: 1s · 2s · 4s  max 3 attempts</a:t>
            </a:r>
            <a:endParaRPr sz="1100"/>
          </a:p>
          <a:p>
            <a:pPr indent="0" lvl="0" marL="0" marR="0" rtl="0" algn="l">
              <a:spcBef>
                <a:spcPts val="0"/>
              </a:spcBef>
              <a:spcAft>
                <a:spcPts val="0"/>
              </a:spcAft>
              <a:buNone/>
            </a:pPr>
            <a:r>
              <a:t/>
            </a:r>
            <a:endParaRPr sz="1000">
              <a:solidFill>
                <a:srgbClr val="FFFFFF"/>
              </a:solidFill>
              <a:latin typeface="Courier New"/>
              <a:ea typeface="Courier New"/>
              <a:cs typeface="Courier New"/>
              <a:sym typeface="Courier New"/>
            </a:endParaRPr>
          </a:p>
          <a:p>
            <a:pPr indent="0" lvl="0" marL="0" marR="0" rtl="0" algn="l">
              <a:spcBef>
                <a:spcPts val="0"/>
              </a:spcBef>
              <a:spcAft>
                <a:spcPts val="0"/>
              </a:spcAft>
              <a:buNone/>
            </a:pPr>
            <a:r>
              <a:rPr lang="en-GB" sz="1000">
                <a:solidFill>
                  <a:srgbClr val="555E72"/>
                </a:solidFill>
                <a:latin typeface="Courier New"/>
                <a:ea typeface="Courier New"/>
                <a:cs typeface="Courier New"/>
                <a:sym typeface="Courier New"/>
              </a:rPr>
              <a:t>// ─── Answer (with citations)</a:t>
            </a:r>
            <a:endParaRPr sz="1100"/>
          </a:p>
          <a:p>
            <a:pPr indent="0" lvl="0" marL="0" marR="0" rtl="0" algn="l">
              <a:spcBef>
                <a:spcPts val="0"/>
              </a:spcBef>
              <a:spcAft>
                <a:spcPts val="0"/>
              </a:spcAft>
              <a:buNone/>
            </a:pPr>
            <a:r>
              <a:t/>
            </a:r>
            <a:endParaRPr sz="1000">
              <a:solidFill>
                <a:srgbClr val="555E72"/>
              </a:solidFill>
              <a:latin typeface="Courier New"/>
              <a:ea typeface="Courier New"/>
              <a:cs typeface="Courier New"/>
              <a:sym typeface="Courier New"/>
            </a:endParaRPr>
          </a:p>
          <a:p>
            <a:pPr indent="0" lvl="0" marL="0" marR="0" rtl="0" algn="l">
              <a:spcBef>
                <a:spcPts val="0"/>
              </a:spcBef>
              <a:spcAft>
                <a:spcPts val="0"/>
              </a:spcAft>
              <a:buNone/>
            </a:pPr>
            <a:r>
              <a:rPr lang="en-GB" sz="1000">
                <a:solidFill>
                  <a:srgbClr val="FFFFFF"/>
                </a:solidFill>
                <a:latin typeface="Courier New"/>
                <a:ea typeface="Courier New"/>
                <a:cs typeface="Courier New"/>
                <a:sym typeface="Courier New"/>
              </a:rPr>
              <a:t>Retry logic lives in </a:t>
            </a:r>
            <a:r>
              <a:rPr lang="en-GB" sz="1000">
                <a:solidFill>
                  <a:srgbClr val="EBCB8B"/>
                </a:solidFill>
                <a:latin typeface="Courier New"/>
                <a:ea typeface="Courier New"/>
                <a:cs typeface="Courier New"/>
                <a:sym typeface="Courier New"/>
              </a:rPr>
              <a:t>3</a:t>
            </a:r>
            <a:r>
              <a:rPr lang="en-GB" sz="1000">
                <a:solidFill>
                  <a:srgbClr val="FFFFFF"/>
                </a:solidFill>
                <a:latin typeface="Courier New"/>
                <a:ea typeface="Courier New"/>
                <a:cs typeface="Courier New"/>
                <a:sym typeface="Courier New"/>
              </a:rPr>
              <a:t> files:</a:t>
            </a:r>
            <a:endParaRPr sz="1100"/>
          </a:p>
          <a:p>
            <a:pPr indent="0" lvl="0" marL="0" marR="0" rtl="0" algn="l">
              <a:spcBef>
                <a:spcPts val="0"/>
              </a:spcBef>
              <a:spcAft>
                <a:spcPts val="0"/>
              </a:spcAft>
              <a:buNone/>
            </a:pPr>
            <a:r>
              <a:rPr lang="en-GB" sz="1000">
                <a:solidFill>
                  <a:srgbClr val="88C0D0"/>
                </a:solidFill>
                <a:latin typeface="Courier New"/>
                <a:ea typeface="Courier New"/>
                <a:cs typeface="Courier New"/>
                <a:sym typeface="Courier New"/>
              </a:rPr>
              <a:t>  webhooks/handler.ts</a:t>
            </a:r>
            <a:r>
              <a:rPr lang="en-GB" sz="1000">
                <a:solidFill>
                  <a:srgbClr val="A3BE8C"/>
                </a:solidFill>
                <a:latin typeface="Courier New"/>
                <a:ea typeface="Courier New"/>
                <a:cs typeface="Courier New"/>
                <a:sym typeface="Courier New"/>
              </a:rPr>
              <a:t>  :42</a:t>
            </a:r>
            <a:r>
              <a:rPr lang="en-GB" sz="1000">
                <a:solidFill>
                  <a:srgbClr val="8B95A6"/>
                </a:solidFill>
                <a:latin typeface="Courier New"/>
                <a:ea typeface="Courier New"/>
                <a:cs typeface="Courier New"/>
                <a:sym typeface="Courier New"/>
              </a:rPr>
              <a:t>   — triggers enqueueRetry on 5xx</a:t>
            </a:r>
            <a:endParaRPr sz="1100"/>
          </a:p>
          <a:p>
            <a:pPr indent="0" lvl="0" marL="0" marR="0" rtl="0" algn="l">
              <a:spcBef>
                <a:spcPts val="0"/>
              </a:spcBef>
              <a:spcAft>
                <a:spcPts val="0"/>
              </a:spcAft>
              <a:buNone/>
            </a:pPr>
            <a:r>
              <a:rPr lang="en-GB" sz="1000">
                <a:solidFill>
                  <a:srgbClr val="88C0D0"/>
                </a:solidFill>
                <a:latin typeface="Courier New"/>
                <a:ea typeface="Courier New"/>
                <a:cs typeface="Courier New"/>
                <a:sym typeface="Courier New"/>
              </a:rPr>
              <a:t>  queue/retry.queue.ts</a:t>
            </a:r>
            <a:r>
              <a:rPr lang="en-GB" sz="1000">
                <a:solidFill>
                  <a:srgbClr val="A3BE8C"/>
                </a:solidFill>
                <a:latin typeface="Courier New"/>
                <a:ea typeface="Courier New"/>
                <a:cs typeface="Courier New"/>
                <a:sym typeface="Courier New"/>
              </a:rPr>
              <a:t> :18</a:t>
            </a:r>
            <a:r>
              <a:rPr lang="en-GB" sz="1000">
                <a:solidFill>
                  <a:srgbClr val="8B95A6"/>
                </a:solidFill>
                <a:latin typeface="Courier New"/>
                <a:ea typeface="Courier New"/>
                <a:cs typeface="Courier New"/>
                <a:sym typeface="Courier New"/>
              </a:rPr>
              <a:t>   — exponential backoff (1s/2s/4s)</a:t>
            </a:r>
            <a:endParaRPr sz="1100"/>
          </a:p>
          <a:p>
            <a:pPr indent="0" lvl="0" marL="0" marR="0" rtl="0" algn="l">
              <a:spcBef>
                <a:spcPts val="0"/>
              </a:spcBef>
              <a:spcAft>
                <a:spcPts val="0"/>
              </a:spcAft>
              <a:buNone/>
            </a:pPr>
            <a:r>
              <a:rPr lang="en-GB" sz="1000">
                <a:solidFill>
                  <a:srgbClr val="88C0D0"/>
                </a:solidFill>
                <a:latin typeface="Courier New"/>
                <a:ea typeface="Courier New"/>
                <a:cs typeface="Courier New"/>
                <a:sym typeface="Courier New"/>
              </a:rPr>
              <a:t>  queue/dead-letter.ts</a:t>
            </a:r>
            <a:r>
              <a:rPr lang="en-GB" sz="1000">
                <a:solidFill>
                  <a:srgbClr val="A3BE8C"/>
                </a:solidFill>
                <a:latin typeface="Courier New"/>
                <a:ea typeface="Courier New"/>
                <a:cs typeface="Courier New"/>
                <a:sym typeface="Courier New"/>
              </a:rPr>
              <a:t> :67</a:t>
            </a:r>
            <a:r>
              <a:rPr lang="en-GB" sz="1000">
                <a:solidFill>
                  <a:srgbClr val="8B95A6"/>
                </a:solidFill>
                <a:latin typeface="Courier New"/>
                <a:ea typeface="Courier New"/>
                <a:cs typeface="Courier New"/>
                <a:sym typeface="Courier New"/>
              </a:rPr>
              <a:t>   — DLQ after 3rd failure</a:t>
            </a:r>
            <a:endParaRPr sz="1100"/>
          </a:p>
          <a:p>
            <a:pPr indent="0" lvl="0" marL="0" marR="0" rtl="0" algn="l">
              <a:spcBef>
                <a:spcPts val="0"/>
              </a:spcBef>
              <a:spcAft>
                <a:spcPts val="0"/>
              </a:spcAft>
              <a:buNone/>
            </a:pPr>
            <a:r>
              <a:t/>
            </a:r>
            <a:endParaRPr sz="1000">
              <a:solidFill>
                <a:srgbClr val="8B95A6"/>
              </a:solidFill>
              <a:latin typeface="Courier New"/>
              <a:ea typeface="Courier New"/>
              <a:cs typeface="Courier New"/>
              <a:sym typeface="Courier New"/>
            </a:endParaRPr>
          </a:p>
          <a:p>
            <a:pPr indent="0" lvl="0" marL="0" marR="0" rtl="0" algn="l">
              <a:spcBef>
                <a:spcPts val="0"/>
              </a:spcBef>
              <a:spcAft>
                <a:spcPts val="0"/>
              </a:spcAft>
              <a:buNone/>
            </a:pPr>
            <a:r>
              <a:rPr lang="en-GB" sz="1000">
                <a:solidFill>
                  <a:srgbClr val="2BB1A6"/>
                </a:solidFill>
                <a:latin typeface="Courier New"/>
                <a:ea typeface="Courier New"/>
                <a:cs typeface="Courier New"/>
                <a:sym typeface="Courier New"/>
              </a:rPr>
              <a:t>// ✓ 0 hallucinated paths  ·  traced in 3 tool calls  ·  &lt; 30s</a:t>
            </a:r>
            <a:endParaRPr sz="1100"/>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6" name="Shape 1756"/>
        <p:cNvGrpSpPr/>
        <p:nvPr/>
      </p:nvGrpSpPr>
      <p:grpSpPr>
        <a:xfrm>
          <a:off x="0" y="0"/>
          <a:ext cx="0" cy="0"/>
          <a:chOff x="0" y="0"/>
          <a:chExt cx="0" cy="0"/>
        </a:xfrm>
      </p:grpSpPr>
      <p:sp>
        <p:nvSpPr>
          <p:cNvPr id="1757" name="Google Shape;1757;p87"/>
          <p:cNvSpPr/>
          <p:nvPr/>
        </p:nvSpPr>
        <p:spPr>
          <a:xfrm>
            <a:off x="0" y="0"/>
            <a:ext cx="9144000" cy="5143500"/>
          </a:xfrm>
          <a:prstGeom prst="rect">
            <a:avLst/>
          </a:prstGeom>
          <a:solidFill>
            <a:srgbClr val="1B1F2A"/>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758" name="Google Shape;1758;p87"/>
          <p:cNvSpPr/>
          <p:nvPr/>
        </p:nvSpPr>
        <p:spPr>
          <a:xfrm>
            <a:off x="3943455" y="342900"/>
            <a:ext cx="5075100" cy="4697700"/>
          </a:xfrm>
          <a:prstGeom prst="rect">
            <a:avLst/>
          </a:prstGeom>
          <a:solidFill>
            <a:srgbClr val="131722"/>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759" name="Google Shape;1759;p87"/>
          <p:cNvSpPr txBox="1"/>
          <p:nvPr/>
        </p:nvSpPr>
        <p:spPr>
          <a:xfrm>
            <a:off x="377200" y="377190"/>
            <a:ext cx="356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PROMPT PATTERN  ·  05  —  LANGUAGE TRANSLATION</a:t>
            </a:r>
            <a:endParaRPr sz="1100"/>
          </a:p>
        </p:txBody>
      </p:sp>
      <p:sp>
        <p:nvSpPr>
          <p:cNvPr id="1760" name="Google Shape;1760;p87"/>
          <p:cNvSpPr txBox="1"/>
          <p:nvPr/>
        </p:nvSpPr>
        <p:spPr>
          <a:xfrm>
            <a:off x="377200" y="582930"/>
            <a:ext cx="3566400" cy="1269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2600">
                <a:solidFill>
                  <a:srgbClr val="FFFFFF"/>
                </a:solidFill>
                <a:latin typeface="Manrope"/>
                <a:ea typeface="Manrope"/>
                <a:cs typeface="Manrope"/>
                <a:sym typeface="Manrope"/>
              </a:rPr>
              <a:t>Port the logic, </a:t>
            </a:r>
            <a:r>
              <a:rPr b="1" lang="en-GB" sz="2600">
                <a:solidFill>
                  <a:srgbClr val="FF671F"/>
                </a:solidFill>
                <a:latin typeface="Manrope"/>
                <a:ea typeface="Manrope"/>
                <a:cs typeface="Manrope"/>
                <a:sym typeface="Manrope"/>
              </a:rPr>
              <a:t>preserve</a:t>
            </a:r>
            <a:r>
              <a:rPr b="1" lang="en-GB" sz="2600">
                <a:solidFill>
                  <a:srgbClr val="FFFFFF"/>
                </a:solidFill>
                <a:latin typeface="Manrope"/>
                <a:ea typeface="Manrope"/>
                <a:cs typeface="Manrope"/>
                <a:sym typeface="Manrope"/>
              </a:rPr>
              <a:t>  the contract.</a:t>
            </a:r>
            <a:endParaRPr sz="1100"/>
          </a:p>
        </p:txBody>
      </p:sp>
      <p:sp>
        <p:nvSpPr>
          <p:cNvPr id="1761" name="Google Shape;1761;p87"/>
          <p:cNvSpPr/>
          <p:nvPr/>
        </p:nvSpPr>
        <p:spPr>
          <a:xfrm>
            <a:off x="377200" y="1791138"/>
            <a:ext cx="822900" cy="273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762" name="Google Shape;1762;p87"/>
          <p:cNvSpPr txBox="1"/>
          <p:nvPr/>
        </p:nvSpPr>
        <p:spPr>
          <a:xfrm>
            <a:off x="4149201" y="397764"/>
            <a:ext cx="500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555E72"/>
                </a:solidFill>
                <a:latin typeface="Courier New"/>
                <a:ea typeface="Courier New"/>
                <a:cs typeface="Courier New"/>
                <a:sym typeface="Courier New"/>
              </a:rPr>
              <a:t>~  cursor / python→ts  ·  rate-limiter.middleware.ts</a:t>
            </a:r>
            <a:endParaRPr sz="1100"/>
          </a:p>
        </p:txBody>
      </p:sp>
      <p:sp>
        <p:nvSpPr>
          <p:cNvPr id="1763" name="Google Shape;1763;p87"/>
          <p:cNvSpPr txBox="1"/>
          <p:nvPr/>
        </p:nvSpPr>
        <p:spPr>
          <a:xfrm>
            <a:off x="377200" y="1817370"/>
            <a:ext cx="356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  THE PROMPT</a:t>
            </a:r>
            <a:endParaRPr sz="1100"/>
          </a:p>
        </p:txBody>
      </p:sp>
      <p:sp>
        <p:nvSpPr>
          <p:cNvPr id="1764" name="Google Shape;1764;p87"/>
          <p:cNvSpPr txBox="1"/>
          <p:nvPr/>
        </p:nvSpPr>
        <p:spPr>
          <a:xfrm>
            <a:off x="377200" y="1940814"/>
            <a:ext cx="3566400" cy="684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FFFFFF"/>
                </a:solidFill>
                <a:latin typeface="Manrope"/>
                <a:ea typeface="Manrope"/>
                <a:cs typeface="Manrope"/>
                <a:sym typeface="Manrope"/>
              </a:rPr>
              <a:t>Port this Python/FastAPI rate-limiter middleware to TypeScript/Express. Preserve exact HTTP status codes + response schemas. Map all types. Add JSDoc. Zero new dependencies. Lock the structure — don't redesign.</a:t>
            </a:r>
            <a:endParaRPr sz="1100"/>
          </a:p>
        </p:txBody>
      </p:sp>
      <p:sp>
        <p:nvSpPr>
          <p:cNvPr id="1765" name="Google Shape;1765;p87"/>
          <p:cNvSpPr txBox="1"/>
          <p:nvPr/>
        </p:nvSpPr>
        <p:spPr>
          <a:xfrm>
            <a:off x="377200" y="2708910"/>
            <a:ext cx="356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8C0D0"/>
                </a:solidFill>
                <a:latin typeface="Courier New"/>
                <a:ea typeface="Courier New"/>
                <a:cs typeface="Courier New"/>
                <a:sym typeface="Courier New"/>
              </a:rPr>
              <a:t>🧠  AI REASONS</a:t>
            </a:r>
            <a:endParaRPr sz="1100"/>
          </a:p>
        </p:txBody>
      </p:sp>
      <p:sp>
        <p:nvSpPr>
          <p:cNvPr id="1766" name="Google Shape;1766;p87"/>
          <p:cNvSpPr txBox="1"/>
          <p:nvPr/>
        </p:nvSpPr>
        <p:spPr>
          <a:xfrm>
            <a:off x="377200" y="2832354"/>
            <a:ext cx="3566400" cy="684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8B95A6"/>
                </a:solidFill>
                <a:latin typeface="Manrope"/>
                <a:ea typeface="Manrope"/>
                <a:cs typeface="Manrope"/>
                <a:sym typeface="Manrope"/>
              </a:rPr>
              <a:t>Builds Python→TypeScript type map first. Preserves HTTP contract (status codes, headers, JSON schema). Writes idiomatic Express middleware pattern. Suppresses creative rewrites.</a:t>
            </a:r>
            <a:endParaRPr sz="1100"/>
          </a:p>
        </p:txBody>
      </p:sp>
      <p:sp>
        <p:nvSpPr>
          <p:cNvPr id="1767" name="Google Shape;1767;p87"/>
          <p:cNvSpPr txBox="1"/>
          <p:nvPr/>
        </p:nvSpPr>
        <p:spPr>
          <a:xfrm>
            <a:off x="377200" y="3600450"/>
            <a:ext cx="356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A3BE8C"/>
                </a:solidFill>
                <a:latin typeface="Courier New"/>
                <a:ea typeface="Courier New"/>
                <a:cs typeface="Courier New"/>
                <a:sym typeface="Courier New"/>
              </a:rPr>
              <a:t>✅  THE RESULT</a:t>
            </a:r>
            <a:endParaRPr sz="1100"/>
          </a:p>
        </p:txBody>
      </p:sp>
      <p:sp>
        <p:nvSpPr>
          <p:cNvPr id="1768" name="Google Shape;1768;p87"/>
          <p:cNvSpPr txBox="1"/>
          <p:nvPr/>
        </p:nvSpPr>
        <p:spPr>
          <a:xfrm>
            <a:off x="377200" y="3723894"/>
            <a:ext cx="3566400" cy="531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8B95A6"/>
                </a:solidFill>
                <a:latin typeface="Manrope"/>
                <a:ea typeface="Manrope"/>
                <a:cs typeface="Manrope"/>
                <a:sym typeface="Manrope"/>
              </a:rPr>
              <a:t>Drop-in TypeScript middleware with identical API surface. Fully typed. Passes the existing Python integration tests when pointed at the new module.</a:t>
            </a:r>
            <a:endParaRPr sz="1100"/>
          </a:p>
        </p:txBody>
      </p:sp>
      <p:sp>
        <p:nvSpPr>
          <p:cNvPr id="1769" name="Google Shape;1769;p87"/>
          <p:cNvSpPr/>
          <p:nvPr/>
        </p:nvSpPr>
        <p:spPr>
          <a:xfrm>
            <a:off x="4114910" y="651510"/>
            <a:ext cx="4800600" cy="651600"/>
          </a:xfrm>
          <a:prstGeom prst="rect">
            <a:avLst/>
          </a:prstGeom>
          <a:solidFill>
            <a:srgbClr val="1E263A"/>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770" name="Google Shape;1770;p87"/>
          <p:cNvSpPr txBox="1"/>
          <p:nvPr/>
        </p:nvSpPr>
        <p:spPr>
          <a:xfrm>
            <a:off x="4204066" y="706374"/>
            <a:ext cx="480000" cy="177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700">
                <a:solidFill>
                  <a:srgbClr val="FF671F"/>
                </a:solidFill>
                <a:latin typeface="Courier New"/>
                <a:ea typeface="Courier New"/>
                <a:cs typeface="Courier New"/>
                <a:sym typeface="Courier New"/>
              </a:rPr>
              <a:t>YOU</a:t>
            </a:r>
            <a:endParaRPr sz="1100"/>
          </a:p>
        </p:txBody>
      </p:sp>
      <p:sp>
        <p:nvSpPr>
          <p:cNvPr id="1771" name="Google Shape;1771;p87"/>
          <p:cNvSpPr txBox="1"/>
          <p:nvPr/>
        </p:nvSpPr>
        <p:spPr>
          <a:xfrm>
            <a:off x="4204066" y="843534"/>
            <a:ext cx="4595100" cy="48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a:solidFill>
                  <a:srgbClr val="FFFFFF"/>
                </a:solidFill>
                <a:latin typeface="Courier New"/>
                <a:ea typeface="Courier New"/>
                <a:cs typeface="Courier New"/>
                <a:sym typeface="Courier New"/>
              </a:rPr>
              <a:t>Port this Python rate-limiter to TypeScript/Express.  Preserve HTTP contract  ·  Map types  ·  Add JSDoc  ·  Zero new deps  ·  Don't redesign.</a:t>
            </a:r>
            <a:endParaRPr sz="1100"/>
          </a:p>
        </p:txBody>
      </p:sp>
      <p:sp>
        <p:nvSpPr>
          <p:cNvPr id="1772" name="Google Shape;1772;p87"/>
          <p:cNvSpPr txBox="1"/>
          <p:nvPr/>
        </p:nvSpPr>
        <p:spPr>
          <a:xfrm>
            <a:off x="4183492" y="1392174"/>
            <a:ext cx="4663500" cy="3301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lang="en-GB" sz="1000">
                <a:solidFill>
                  <a:srgbClr val="555E72"/>
                </a:solidFill>
                <a:latin typeface="Courier New"/>
                <a:ea typeface="Courier New"/>
                <a:cs typeface="Courier New"/>
                <a:sym typeface="Courier New"/>
              </a:rPr>
              <a:t>/**</a:t>
            </a:r>
            <a:endParaRPr sz="1100"/>
          </a:p>
          <a:p>
            <a:pPr indent="0" lvl="0" marL="0" marR="0" rtl="0" algn="l">
              <a:spcBef>
                <a:spcPts val="0"/>
              </a:spcBef>
              <a:spcAft>
                <a:spcPts val="0"/>
              </a:spcAft>
              <a:buNone/>
            </a:pPr>
            <a:r>
              <a:rPr lang="en-GB" sz="1000">
                <a:solidFill>
                  <a:srgbClr val="555E72"/>
                </a:solidFill>
                <a:latin typeface="Courier New"/>
                <a:ea typeface="Courier New"/>
                <a:cs typeface="Courier New"/>
                <a:sym typeface="Courier New"/>
              </a:rPr>
              <a:t> * Rate-limiter middleware — matches Python FastAPI contract exactly.</a:t>
            </a:r>
            <a:endParaRPr sz="1100"/>
          </a:p>
          <a:p>
            <a:pPr indent="0" lvl="0" marL="0" marR="0" rtl="0" algn="l">
              <a:spcBef>
                <a:spcPts val="0"/>
              </a:spcBef>
              <a:spcAft>
                <a:spcPts val="0"/>
              </a:spcAft>
              <a:buNone/>
            </a:pPr>
            <a:r>
              <a:rPr lang="en-GB" sz="1000">
                <a:solidFill>
                  <a:srgbClr val="555E72"/>
                </a:solidFill>
                <a:latin typeface="Courier New"/>
                <a:ea typeface="Courier New"/>
                <a:cs typeface="Courier New"/>
                <a:sym typeface="Courier New"/>
              </a:rPr>
              <a:t> * @param </a:t>
            </a:r>
            <a:r>
              <a:rPr lang="en-GB" sz="1000">
                <a:solidFill>
                  <a:srgbClr val="88C0D0"/>
                </a:solidFill>
                <a:latin typeface="Courier New"/>
                <a:ea typeface="Courier New"/>
                <a:cs typeface="Courier New"/>
                <a:sym typeface="Courier New"/>
              </a:rPr>
              <a:t>limit</a:t>
            </a:r>
            <a:r>
              <a:rPr lang="en-GB" sz="1000">
                <a:solidFill>
                  <a:srgbClr val="555E72"/>
                </a:solidFill>
                <a:latin typeface="Courier New"/>
                <a:ea typeface="Courier New"/>
                <a:cs typeface="Courier New"/>
                <a:sym typeface="Courier New"/>
              </a:rPr>
              <a:t>  max requests per window</a:t>
            </a:r>
            <a:endParaRPr sz="1100"/>
          </a:p>
          <a:p>
            <a:pPr indent="0" lvl="0" marL="0" marR="0" rtl="0" algn="l">
              <a:spcBef>
                <a:spcPts val="0"/>
              </a:spcBef>
              <a:spcAft>
                <a:spcPts val="0"/>
              </a:spcAft>
              <a:buNone/>
            </a:pPr>
            <a:r>
              <a:rPr lang="en-GB" sz="1000">
                <a:solidFill>
                  <a:srgbClr val="555E72"/>
                </a:solidFill>
                <a:latin typeface="Courier New"/>
                <a:ea typeface="Courier New"/>
                <a:cs typeface="Courier New"/>
                <a:sym typeface="Courier New"/>
              </a:rPr>
              <a:t> * @param </a:t>
            </a:r>
            <a:r>
              <a:rPr lang="en-GB" sz="1000">
                <a:solidFill>
                  <a:srgbClr val="88C0D0"/>
                </a:solidFill>
                <a:latin typeface="Courier New"/>
                <a:ea typeface="Courier New"/>
                <a:cs typeface="Courier New"/>
                <a:sym typeface="Courier New"/>
              </a:rPr>
              <a:t>windowMs</a:t>
            </a:r>
            <a:r>
              <a:rPr lang="en-GB" sz="1000">
                <a:solidFill>
                  <a:srgbClr val="555E72"/>
                </a:solidFill>
                <a:latin typeface="Courier New"/>
                <a:ea typeface="Courier New"/>
                <a:cs typeface="Courier New"/>
                <a:sym typeface="Courier New"/>
              </a:rPr>
              <a:t>  rolling window in ms</a:t>
            </a:r>
            <a:endParaRPr sz="1100"/>
          </a:p>
          <a:p>
            <a:pPr indent="0" lvl="0" marL="0" marR="0" rtl="0" algn="l">
              <a:spcBef>
                <a:spcPts val="0"/>
              </a:spcBef>
              <a:spcAft>
                <a:spcPts val="0"/>
              </a:spcAft>
              <a:buNone/>
            </a:pPr>
            <a:r>
              <a:rPr lang="en-GB" sz="1000">
                <a:solidFill>
                  <a:srgbClr val="555E72"/>
                </a:solidFill>
                <a:latin typeface="Courier New"/>
                <a:ea typeface="Courier New"/>
                <a:cs typeface="Courier New"/>
                <a:sym typeface="Courier New"/>
              </a:rPr>
              <a:t> */</a:t>
            </a:r>
            <a:endParaRPr sz="1100"/>
          </a:p>
          <a:p>
            <a:pPr indent="0" lvl="0" marL="0" marR="0" rtl="0" algn="l">
              <a:spcBef>
                <a:spcPts val="0"/>
              </a:spcBef>
              <a:spcAft>
                <a:spcPts val="0"/>
              </a:spcAft>
              <a:buNone/>
            </a:pPr>
            <a:r>
              <a:rPr lang="en-GB" sz="1000">
                <a:solidFill>
                  <a:srgbClr val="C792EA"/>
                </a:solidFill>
                <a:latin typeface="Courier New"/>
                <a:ea typeface="Courier New"/>
                <a:cs typeface="Courier New"/>
                <a:sym typeface="Courier New"/>
              </a:rPr>
              <a:t>export const </a:t>
            </a:r>
            <a:r>
              <a:rPr lang="en-GB" sz="1000">
                <a:solidFill>
                  <a:srgbClr val="88C0D0"/>
                </a:solidFill>
                <a:latin typeface="Courier New"/>
                <a:ea typeface="Courier New"/>
                <a:cs typeface="Courier New"/>
                <a:sym typeface="Courier New"/>
              </a:rPr>
              <a:t>rateLimiter</a:t>
            </a:r>
            <a:r>
              <a:rPr lang="en-GB" sz="1000">
                <a:solidFill>
                  <a:srgbClr val="FFFFFF"/>
                </a:solidFill>
                <a:latin typeface="Courier New"/>
                <a:ea typeface="Courier New"/>
                <a:cs typeface="Courier New"/>
                <a:sym typeface="Courier New"/>
              </a:rPr>
              <a:t> = (limit: </a:t>
            </a:r>
            <a:r>
              <a:rPr lang="en-GB" sz="1000">
                <a:solidFill>
                  <a:srgbClr val="C792EA"/>
                </a:solidFill>
                <a:latin typeface="Courier New"/>
                <a:ea typeface="Courier New"/>
                <a:cs typeface="Courier New"/>
                <a:sym typeface="Courier New"/>
              </a:rPr>
              <a:t>number</a:t>
            </a:r>
            <a:r>
              <a:rPr lang="en-GB" sz="1000">
                <a:solidFill>
                  <a:srgbClr val="FFFFFF"/>
                </a:solidFill>
                <a:latin typeface="Courier New"/>
                <a:ea typeface="Courier New"/>
                <a:cs typeface="Courier New"/>
                <a:sym typeface="Courier New"/>
              </a:rPr>
              <a:t>, windowMs: </a:t>
            </a:r>
            <a:r>
              <a:rPr lang="en-GB" sz="1000">
                <a:solidFill>
                  <a:srgbClr val="C792EA"/>
                </a:solidFill>
                <a:latin typeface="Courier New"/>
                <a:ea typeface="Courier New"/>
                <a:cs typeface="Courier New"/>
                <a:sym typeface="Courier New"/>
              </a:rPr>
              <a:t>number</a:t>
            </a:r>
            <a:r>
              <a:rPr lang="en-GB" sz="1000">
                <a:solidFill>
                  <a:srgbClr val="FFFFFF"/>
                </a:solidFill>
                <a:latin typeface="Courier New"/>
                <a:ea typeface="Courier New"/>
                <a:cs typeface="Courier New"/>
                <a:sym typeface="Courier New"/>
              </a:rPr>
              <a:t>): RequestHandler =&gt; {</a:t>
            </a:r>
            <a:endParaRPr sz="1100"/>
          </a:p>
          <a:p>
            <a:pPr indent="0" lvl="0" marL="0" marR="0" rtl="0" algn="l">
              <a:spcBef>
                <a:spcPts val="0"/>
              </a:spcBef>
              <a:spcAft>
                <a:spcPts val="0"/>
              </a:spcAft>
              <a:buNone/>
            </a:pPr>
            <a:r>
              <a:rPr lang="en-GB" sz="1000">
                <a:solidFill>
                  <a:srgbClr val="FFFFFF"/>
                </a:solidFill>
                <a:latin typeface="Courier New"/>
                <a:ea typeface="Courier New"/>
                <a:cs typeface="Courier New"/>
                <a:sym typeface="Courier New"/>
              </a:rPr>
              <a:t>  const store = </a:t>
            </a:r>
            <a:r>
              <a:rPr lang="en-GB" sz="1000">
                <a:solidFill>
                  <a:srgbClr val="C792EA"/>
                </a:solidFill>
                <a:latin typeface="Courier New"/>
                <a:ea typeface="Courier New"/>
                <a:cs typeface="Courier New"/>
                <a:sym typeface="Courier New"/>
              </a:rPr>
              <a:t>new </a:t>
            </a:r>
            <a:r>
              <a:rPr lang="en-GB" sz="1000">
                <a:solidFill>
                  <a:srgbClr val="FFFFFF"/>
                </a:solidFill>
                <a:latin typeface="Courier New"/>
                <a:ea typeface="Courier New"/>
                <a:cs typeface="Courier New"/>
                <a:sym typeface="Courier New"/>
              </a:rPr>
              <a:t>Map&lt;</a:t>
            </a:r>
            <a:r>
              <a:rPr lang="en-GB" sz="1000">
                <a:solidFill>
                  <a:srgbClr val="C792EA"/>
                </a:solidFill>
                <a:latin typeface="Courier New"/>
                <a:ea typeface="Courier New"/>
                <a:cs typeface="Courier New"/>
                <a:sym typeface="Courier New"/>
              </a:rPr>
              <a:t>string</a:t>
            </a:r>
            <a:r>
              <a:rPr lang="en-GB" sz="1000">
                <a:solidFill>
                  <a:srgbClr val="FFFFFF"/>
                </a:solidFill>
                <a:latin typeface="Courier New"/>
                <a:ea typeface="Courier New"/>
                <a:cs typeface="Courier New"/>
                <a:sym typeface="Courier New"/>
              </a:rPr>
              <a:t>, { count: </a:t>
            </a:r>
            <a:r>
              <a:rPr lang="en-GB" sz="1000">
                <a:solidFill>
                  <a:srgbClr val="C792EA"/>
                </a:solidFill>
                <a:latin typeface="Courier New"/>
                <a:ea typeface="Courier New"/>
                <a:cs typeface="Courier New"/>
                <a:sym typeface="Courier New"/>
              </a:rPr>
              <a:t>number</a:t>
            </a:r>
            <a:r>
              <a:rPr lang="en-GB" sz="1000">
                <a:solidFill>
                  <a:srgbClr val="FFFFFF"/>
                </a:solidFill>
                <a:latin typeface="Courier New"/>
                <a:ea typeface="Courier New"/>
                <a:cs typeface="Courier New"/>
                <a:sym typeface="Courier New"/>
              </a:rPr>
              <a:t>; reset: </a:t>
            </a:r>
            <a:r>
              <a:rPr lang="en-GB" sz="1000">
                <a:solidFill>
                  <a:srgbClr val="C792EA"/>
                </a:solidFill>
                <a:latin typeface="Courier New"/>
                <a:ea typeface="Courier New"/>
                <a:cs typeface="Courier New"/>
                <a:sym typeface="Courier New"/>
              </a:rPr>
              <a:t>number</a:t>
            </a:r>
            <a:r>
              <a:rPr lang="en-GB" sz="1000">
                <a:solidFill>
                  <a:srgbClr val="FFFFFF"/>
                </a:solidFill>
                <a:latin typeface="Courier New"/>
                <a:ea typeface="Courier New"/>
                <a:cs typeface="Courier New"/>
                <a:sym typeface="Courier New"/>
              </a:rPr>
              <a:t> }&gt;()</a:t>
            </a:r>
            <a:endParaRPr sz="1100"/>
          </a:p>
          <a:p>
            <a:pPr indent="0" lvl="0" marL="0" marR="0" rtl="0" algn="l">
              <a:spcBef>
                <a:spcPts val="0"/>
              </a:spcBef>
              <a:spcAft>
                <a:spcPts val="0"/>
              </a:spcAft>
              <a:buNone/>
            </a:pPr>
            <a:r>
              <a:rPr lang="en-GB" sz="1000">
                <a:solidFill>
                  <a:srgbClr val="FFFFFF"/>
                </a:solidFill>
                <a:latin typeface="Courier New"/>
                <a:ea typeface="Courier New"/>
                <a:cs typeface="Courier New"/>
                <a:sym typeface="Courier New"/>
              </a:rPr>
              <a:t>  return (req, res, next) =&gt; {</a:t>
            </a:r>
            <a:endParaRPr sz="1100"/>
          </a:p>
          <a:p>
            <a:pPr indent="0" lvl="0" marL="0" marR="0" rtl="0" algn="l">
              <a:spcBef>
                <a:spcPts val="0"/>
              </a:spcBef>
              <a:spcAft>
                <a:spcPts val="0"/>
              </a:spcAft>
              <a:buNone/>
            </a:pPr>
            <a:r>
              <a:rPr lang="en-GB" sz="1000">
                <a:solidFill>
                  <a:srgbClr val="FFFFFF"/>
                </a:solidFill>
                <a:latin typeface="Courier New"/>
                <a:ea typeface="Courier New"/>
                <a:cs typeface="Courier New"/>
                <a:sym typeface="Courier New"/>
              </a:rPr>
              <a:t>    const hit = store.get(req.ip) ?? { count: </a:t>
            </a:r>
            <a:r>
              <a:rPr lang="en-GB" sz="1000">
                <a:solidFill>
                  <a:srgbClr val="EBCB8B"/>
                </a:solidFill>
                <a:latin typeface="Courier New"/>
                <a:ea typeface="Courier New"/>
                <a:cs typeface="Courier New"/>
                <a:sym typeface="Courier New"/>
              </a:rPr>
              <a:t>0</a:t>
            </a:r>
            <a:r>
              <a:rPr lang="en-GB" sz="1000">
                <a:solidFill>
                  <a:srgbClr val="FFFFFF"/>
                </a:solidFill>
                <a:latin typeface="Courier New"/>
                <a:ea typeface="Courier New"/>
                <a:cs typeface="Courier New"/>
                <a:sym typeface="Courier New"/>
              </a:rPr>
              <a:t>, reset: Date.now() + windowMs }</a:t>
            </a:r>
            <a:endParaRPr sz="1100"/>
          </a:p>
          <a:p>
            <a:pPr indent="0" lvl="0" marL="0" marR="0" rtl="0" algn="l">
              <a:spcBef>
                <a:spcPts val="0"/>
              </a:spcBef>
              <a:spcAft>
                <a:spcPts val="0"/>
              </a:spcAft>
              <a:buNone/>
            </a:pPr>
            <a:r>
              <a:rPr lang="en-GB" sz="1000">
                <a:solidFill>
                  <a:srgbClr val="FFFFFF"/>
                </a:solidFill>
                <a:latin typeface="Courier New"/>
                <a:ea typeface="Courier New"/>
                <a:cs typeface="Courier New"/>
                <a:sym typeface="Courier New"/>
              </a:rPr>
              <a:t>    if (hit.count &gt;= limit) {</a:t>
            </a:r>
            <a:endParaRPr sz="1100"/>
          </a:p>
          <a:p>
            <a:pPr indent="0" lvl="0" marL="0" marR="0" rtl="0" algn="l">
              <a:spcBef>
                <a:spcPts val="0"/>
              </a:spcBef>
              <a:spcAft>
                <a:spcPts val="0"/>
              </a:spcAft>
              <a:buNone/>
            </a:pPr>
            <a:r>
              <a:rPr lang="en-GB" sz="1000">
                <a:solidFill>
                  <a:srgbClr val="FFFFFF"/>
                </a:solidFill>
                <a:latin typeface="Courier New"/>
                <a:ea typeface="Courier New"/>
                <a:cs typeface="Courier New"/>
                <a:sym typeface="Courier New"/>
              </a:rPr>
              <a:t>      res.set({ 'Retry-After': </a:t>
            </a:r>
            <a:r>
              <a:rPr lang="en-GB" sz="1000">
                <a:solidFill>
                  <a:srgbClr val="88C0D0"/>
                </a:solidFill>
                <a:latin typeface="Courier New"/>
                <a:ea typeface="Courier New"/>
                <a:cs typeface="Courier New"/>
                <a:sym typeface="Courier New"/>
              </a:rPr>
              <a:t>String</a:t>
            </a:r>
            <a:r>
              <a:rPr lang="en-GB" sz="1000">
                <a:solidFill>
                  <a:srgbClr val="FFFFFF"/>
                </a:solidFill>
                <a:latin typeface="Courier New"/>
                <a:ea typeface="Courier New"/>
                <a:cs typeface="Courier New"/>
                <a:sym typeface="Courier New"/>
              </a:rPr>
              <a:t>(Math.ceil((hit.reset-Date.now())/</a:t>
            </a:r>
            <a:r>
              <a:rPr lang="en-GB" sz="1000">
                <a:solidFill>
                  <a:srgbClr val="EBCB8B"/>
                </a:solidFill>
                <a:latin typeface="Courier New"/>
                <a:ea typeface="Courier New"/>
                <a:cs typeface="Courier New"/>
                <a:sym typeface="Courier New"/>
              </a:rPr>
              <a:t>1000</a:t>
            </a:r>
            <a:r>
              <a:rPr lang="en-GB" sz="1000">
                <a:solidFill>
                  <a:srgbClr val="FFFFFF"/>
                </a:solidFill>
                <a:latin typeface="Courier New"/>
                <a:ea typeface="Courier New"/>
                <a:cs typeface="Courier New"/>
                <a:sym typeface="Courier New"/>
              </a:rPr>
              <a:t>)) })</a:t>
            </a:r>
            <a:endParaRPr sz="1100"/>
          </a:p>
          <a:p>
            <a:pPr indent="0" lvl="0" marL="0" marR="0" rtl="0" algn="l">
              <a:spcBef>
                <a:spcPts val="0"/>
              </a:spcBef>
              <a:spcAft>
                <a:spcPts val="0"/>
              </a:spcAft>
              <a:buNone/>
            </a:pPr>
            <a:r>
              <a:rPr lang="en-GB" sz="1000">
                <a:solidFill>
                  <a:srgbClr val="FFFFFF"/>
                </a:solidFill>
                <a:latin typeface="Courier New"/>
                <a:ea typeface="Courier New"/>
                <a:cs typeface="Courier New"/>
                <a:sym typeface="Courier New"/>
              </a:rPr>
              <a:t>      return res.status(</a:t>
            </a:r>
            <a:r>
              <a:rPr lang="en-GB" sz="1000">
                <a:solidFill>
                  <a:srgbClr val="EBCB8B"/>
                </a:solidFill>
                <a:latin typeface="Courier New"/>
                <a:ea typeface="Courier New"/>
                <a:cs typeface="Courier New"/>
                <a:sym typeface="Courier New"/>
              </a:rPr>
              <a:t>429</a:t>
            </a:r>
            <a:r>
              <a:rPr lang="en-GB" sz="1000">
                <a:solidFill>
                  <a:srgbClr val="FFFFFF"/>
                </a:solidFill>
                <a:latin typeface="Courier New"/>
                <a:ea typeface="Courier New"/>
                <a:cs typeface="Courier New"/>
                <a:sym typeface="Courier New"/>
              </a:rPr>
              <a:t>).json({ error: </a:t>
            </a:r>
            <a:r>
              <a:rPr lang="en-GB" sz="1000">
                <a:solidFill>
                  <a:srgbClr val="A3BE8C"/>
                </a:solidFill>
                <a:latin typeface="Courier New"/>
                <a:ea typeface="Courier New"/>
                <a:cs typeface="Courier New"/>
                <a:sym typeface="Courier New"/>
              </a:rPr>
              <a:t>'rate_limit'</a:t>
            </a:r>
            <a:r>
              <a:rPr lang="en-GB" sz="1000">
                <a:solidFill>
                  <a:srgbClr val="FFFFFF"/>
                </a:solidFill>
                <a:latin typeface="Courier New"/>
                <a:ea typeface="Courier New"/>
                <a:cs typeface="Courier New"/>
                <a:sym typeface="Courier New"/>
              </a:rPr>
              <a:t>, retry_after: ... })</a:t>
            </a:r>
            <a:endParaRPr sz="1100"/>
          </a:p>
          <a:p>
            <a:pPr indent="0" lvl="0" marL="0" marR="0" rtl="0" algn="l">
              <a:spcBef>
                <a:spcPts val="0"/>
              </a:spcBef>
              <a:spcAft>
                <a:spcPts val="0"/>
              </a:spcAft>
              <a:buNone/>
            </a:pPr>
            <a:r>
              <a:rPr lang="en-GB" sz="1000">
                <a:solidFill>
                  <a:srgbClr val="FFFFFF"/>
                </a:solidFill>
                <a:latin typeface="Courier New"/>
                <a:ea typeface="Courier New"/>
                <a:cs typeface="Courier New"/>
                <a:sym typeface="Courier New"/>
              </a:rPr>
              <a:t>    };  next()</a:t>
            </a:r>
            <a:endParaRPr sz="1100"/>
          </a:p>
          <a:p>
            <a:pPr indent="0" lvl="0" marL="0" marR="0" rtl="0" algn="l">
              <a:spcBef>
                <a:spcPts val="0"/>
              </a:spcBef>
              <a:spcAft>
                <a:spcPts val="0"/>
              </a:spcAft>
              <a:buNone/>
            </a:pPr>
            <a:r>
              <a:rPr lang="en-GB" sz="1000">
                <a:solidFill>
                  <a:srgbClr val="FFFFFF"/>
                </a:solidFill>
                <a:latin typeface="Courier New"/>
                <a:ea typeface="Courier New"/>
                <a:cs typeface="Courier New"/>
                <a:sym typeface="Courier New"/>
              </a:rPr>
              <a:t>  }</a:t>
            </a:r>
            <a:endParaRPr sz="1100"/>
          </a:p>
          <a:p>
            <a:pPr indent="0" lvl="0" marL="0" marR="0" rtl="0" algn="l">
              <a:spcBef>
                <a:spcPts val="0"/>
              </a:spcBef>
              <a:spcAft>
                <a:spcPts val="0"/>
              </a:spcAft>
              <a:buNone/>
            </a:pPr>
            <a:r>
              <a:rPr lang="en-GB" sz="1000">
                <a:solidFill>
                  <a:srgbClr val="2BB1A6"/>
                </a:solidFill>
                <a:latin typeface="Courier New"/>
                <a:ea typeface="Courier New"/>
                <a:cs typeface="Courier New"/>
                <a:sym typeface="Courier New"/>
              </a:rPr>
              <a:t>// ✓ Identical HTTP contract  ·  Fully typed  ·  0 new deps</a:t>
            </a:r>
            <a:endParaRPr sz="1100"/>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6" name="Shape 1776"/>
        <p:cNvGrpSpPr/>
        <p:nvPr/>
      </p:nvGrpSpPr>
      <p:grpSpPr>
        <a:xfrm>
          <a:off x="0" y="0"/>
          <a:ext cx="0" cy="0"/>
          <a:chOff x="0" y="0"/>
          <a:chExt cx="0" cy="0"/>
        </a:xfrm>
      </p:grpSpPr>
      <p:sp>
        <p:nvSpPr>
          <p:cNvPr id="1777" name="Google Shape;1777;p88"/>
          <p:cNvSpPr/>
          <p:nvPr/>
        </p:nvSpPr>
        <p:spPr>
          <a:xfrm>
            <a:off x="0" y="0"/>
            <a:ext cx="9144000" cy="5143500"/>
          </a:xfrm>
          <a:prstGeom prst="rect">
            <a:avLst/>
          </a:prstGeom>
          <a:solidFill>
            <a:srgbClr val="384358"/>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778" name="Google Shape;1778;p88"/>
          <p:cNvSpPr txBox="1"/>
          <p:nvPr/>
        </p:nvSpPr>
        <p:spPr>
          <a:xfrm>
            <a:off x="822982" y="342900"/>
            <a:ext cx="2743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FFFFFF"/>
                </a:solidFill>
                <a:latin typeface="Manrope"/>
                <a:ea typeface="Manrope"/>
                <a:cs typeface="Manrope"/>
                <a:sym typeface="Manrope"/>
              </a:rPr>
              <a:t>GlobalLogic</a:t>
            </a:r>
            <a:endParaRPr sz="1100"/>
          </a:p>
        </p:txBody>
      </p:sp>
      <p:sp>
        <p:nvSpPr>
          <p:cNvPr id="1779" name="Google Shape;1779;p88"/>
          <p:cNvSpPr txBox="1"/>
          <p:nvPr/>
        </p:nvSpPr>
        <p:spPr>
          <a:xfrm>
            <a:off x="822982" y="562356"/>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C9CFD8"/>
                </a:solidFill>
                <a:latin typeface="Manrope"/>
                <a:ea typeface="Manrope"/>
                <a:cs typeface="Manrope"/>
                <a:sym typeface="Manrope"/>
              </a:rPr>
              <a:t>A Hitachi Group Company</a:t>
            </a:r>
            <a:endParaRPr sz="1100"/>
          </a:p>
        </p:txBody>
      </p:sp>
      <p:sp>
        <p:nvSpPr>
          <p:cNvPr id="1780" name="Google Shape;1780;p88"/>
          <p:cNvSpPr txBox="1"/>
          <p:nvPr/>
        </p:nvSpPr>
        <p:spPr>
          <a:xfrm>
            <a:off x="822982" y="1714500"/>
            <a:ext cx="6172500" cy="151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4700">
                <a:solidFill>
                  <a:srgbClr val="FFFFFF"/>
                </a:solidFill>
                <a:latin typeface="Manrope"/>
                <a:ea typeface="Manrope"/>
                <a:cs typeface="Manrope"/>
                <a:sym typeface="Manrope"/>
              </a:rPr>
              <a:t>Prompt Engineering</a:t>
            </a:r>
            <a:br>
              <a:rPr b="1" i="0" lang="en-GB" sz="4700">
                <a:solidFill>
                  <a:srgbClr val="FFFFFF"/>
                </a:solidFill>
                <a:latin typeface="Manrope"/>
                <a:ea typeface="Manrope"/>
                <a:cs typeface="Manrope"/>
                <a:sym typeface="Manrope"/>
              </a:rPr>
            </a:br>
            <a:r>
              <a:rPr b="1" i="0" lang="en-GB" sz="4700">
                <a:solidFill>
                  <a:srgbClr val="FFFFFF"/>
                </a:solidFill>
                <a:latin typeface="Manrope"/>
                <a:ea typeface="Manrope"/>
                <a:cs typeface="Manrope"/>
                <a:sym typeface="Manrope"/>
              </a:rPr>
              <a:t>Advanced.</a:t>
            </a:r>
            <a:endParaRPr sz="100"/>
          </a:p>
        </p:txBody>
      </p:sp>
      <p:sp>
        <p:nvSpPr>
          <p:cNvPr id="1781" name="Google Shape;1781;p88"/>
          <p:cNvSpPr txBox="1"/>
          <p:nvPr/>
        </p:nvSpPr>
        <p:spPr>
          <a:xfrm>
            <a:off x="822982" y="3429000"/>
            <a:ext cx="6172500" cy="592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700">
                <a:solidFill>
                  <a:srgbClr val="C9CFD8"/>
                </a:solidFill>
                <a:latin typeface="Manrope"/>
                <a:ea typeface="Manrope"/>
                <a:cs typeface="Manrope"/>
                <a:sym typeface="Manrope"/>
              </a:rPr>
              <a:t>Past the basics: multi-turn templates, structured outputs, sampling parameters, and patterns that survive production.</a:t>
            </a:r>
            <a:endParaRPr sz="1100"/>
          </a:p>
        </p:txBody>
      </p:sp>
      <p:sp>
        <p:nvSpPr>
          <p:cNvPr id="1782" name="Google Shape;1782;p88"/>
          <p:cNvSpPr txBox="1"/>
          <p:nvPr/>
        </p:nvSpPr>
        <p:spPr>
          <a:xfrm>
            <a:off x="822982" y="4732020"/>
            <a:ext cx="274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FFFFFF"/>
                </a:solidFill>
                <a:latin typeface="Courier New"/>
                <a:ea typeface="Courier New"/>
                <a:cs typeface="Courier New"/>
                <a:sym typeface="Courier New"/>
              </a:rPr>
              <a:t>globallogic.com</a:t>
            </a:r>
            <a:endParaRPr sz="1100"/>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6" name="Shape 1786"/>
        <p:cNvGrpSpPr/>
        <p:nvPr/>
      </p:nvGrpSpPr>
      <p:grpSpPr>
        <a:xfrm>
          <a:off x="0" y="0"/>
          <a:ext cx="0" cy="0"/>
          <a:chOff x="0" y="0"/>
          <a:chExt cx="0" cy="0"/>
        </a:xfrm>
      </p:grpSpPr>
      <p:sp>
        <p:nvSpPr>
          <p:cNvPr id="1787" name="Google Shape;1787;p89"/>
          <p:cNvSpPr txBox="1"/>
          <p:nvPr/>
        </p:nvSpPr>
        <p:spPr>
          <a:xfrm>
            <a:off x="822982" y="342900"/>
            <a:ext cx="2743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1788" name="Google Shape;1788;p89"/>
          <p:cNvSpPr txBox="1"/>
          <p:nvPr/>
        </p:nvSpPr>
        <p:spPr>
          <a:xfrm>
            <a:off x="822982" y="562356"/>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1789" name="Google Shape;1789;p89"/>
          <p:cNvSpPr txBox="1"/>
          <p:nvPr/>
        </p:nvSpPr>
        <p:spPr>
          <a:xfrm>
            <a:off x="822982" y="1099680"/>
            <a:ext cx="7406700" cy="423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300">
                <a:solidFill>
                  <a:srgbClr val="1B1F2A"/>
                </a:solidFill>
                <a:latin typeface="Manrope"/>
                <a:ea typeface="Manrope"/>
                <a:cs typeface="Manrope"/>
                <a:sym typeface="Manrope"/>
              </a:rPr>
              <a:t>Three modes of prompting</a:t>
            </a:r>
            <a:endParaRPr sz="700"/>
          </a:p>
        </p:txBody>
      </p:sp>
      <p:sp>
        <p:nvSpPr>
          <p:cNvPr id="1790" name="Google Shape;1790;p89"/>
          <p:cNvSpPr txBox="1"/>
          <p:nvPr/>
        </p:nvSpPr>
        <p:spPr>
          <a:xfrm>
            <a:off x="822982" y="1675752"/>
            <a:ext cx="74067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A 5-line chat prompt is not the same artefact as a 500-line production system prompt. The tactics differ significantly b…</a:t>
            </a:r>
            <a:endParaRPr sz="1100"/>
          </a:p>
        </p:txBody>
      </p:sp>
      <p:sp>
        <p:nvSpPr>
          <p:cNvPr id="1791" name="Google Shape;1791;p89"/>
          <p:cNvSpPr/>
          <p:nvPr/>
        </p:nvSpPr>
        <p:spPr>
          <a:xfrm>
            <a:off x="822982" y="2176386"/>
            <a:ext cx="2469000" cy="273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792" name="Google Shape;1792;p89"/>
          <p:cNvSpPr txBox="1"/>
          <p:nvPr/>
        </p:nvSpPr>
        <p:spPr>
          <a:xfrm>
            <a:off x="822982" y="2244966"/>
            <a:ext cx="246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CONVERSATIONAL</a:t>
            </a:r>
            <a:endParaRPr sz="1100"/>
          </a:p>
        </p:txBody>
      </p:sp>
      <p:sp>
        <p:nvSpPr>
          <p:cNvPr id="1793" name="Google Shape;1793;p89"/>
          <p:cNvSpPr txBox="1"/>
          <p:nvPr/>
        </p:nvSpPr>
        <p:spPr>
          <a:xfrm>
            <a:off x="822982" y="2395842"/>
            <a:ext cx="2469000" cy="300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Throwaway, in-chat</a:t>
            </a:r>
            <a:endParaRPr sz="1100"/>
          </a:p>
        </p:txBody>
      </p:sp>
      <p:sp>
        <p:nvSpPr>
          <p:cNvPr id="1794" name="Google Shape;1794;p89"/>
          <p:cNvSpPr txBox="1"/>
          <p:nvPr/>
        </p:nvSpPr>
        <p:spPr>
          <a:xfrm>
            <a:off x="822982" y="2711310"/>
            <a:ext cx="2469000" cy="746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You're talking to Claude or ChatGPT. Iterate quickly, accept the result, move on. Write as you'd brief a smart contractor on a specific job.</a:t>
            </a:r>
            <a:endParaRPr sz="1100"/>
          </a:p>
        </p:txBody>
      </p:sp>
      <p:sp>
        <p:nvSpPr>
          <p:cNvPr id="1795" name="Google Shape;1795;p89"/>
          <p:cNvSpPr/>
          <p:nvPr/>
        </p:nvSpPr>
        <p:spPr>
          <a:xfrm>
            <a:off x="3429091" y="2176386"/>
            <a:ext cx="2469000" cy="273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796" name="Google Shape;1796;p89"/>
          <p:cNvSpPr txBox="1"/>
          <p:nvPr/>
        </p:nvSpPr>
        <p:spPr>
          <a:xfrm>
            <a:off x="3429091" y="2244966"/>
            <a:ext cx="246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TEMPLATED</a:t>
            </a:r>
            <a:endParaRPr sz="1100"/>
          </a:p>
        </p:txBody>
      </p:sp>
      <p:sp>
        <p:nvSpPr>
          <p:cNvPr id="1797" name="Google Shape;1797;p89"/>
          <p:cNvSpPr txBox="1"/>
          <p:nvPr/>
        </p:nvSpPr>
        <p:spPr>
          <a:xfrm>
            <a:off x="3429091" y="2395842"/>
            <a:ext cx="2469000" cy="300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Shipped inside a feature</a:t>
            </a:r>
            <a:endParaRPr sz="1100"/>
          </a:p>
        </p:txBody>
      </p:sp>
      <p:sp>
        <p:nvSpPr>
          <p:cNvPr id="1798" name="Google Shape;1798;p89"/>
          <p:cNvSpPr txBox="1"/>
          <p:nvPr/>
        </p:nvSpPr>
        <p:spPr>
          <a:xfrm>
            <a:off x="3429091" y="2711310"/>
            <a:ext cx="2469000" cy="746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A prompt with placeholders the app fills in at runtime. Versioned, reviewed, eval-tested. Treat it like source code — because it is.</a:t>
            </a:r>
            <a:endParaRPr sz="1100"/>
          </a:p>
        </p:txBody>
      </p:sp>
      <p:sp>
        <p:nvSpPr>
          <p:cNvPr id="1799" name="Google Shape;1799;p89"/>
          <p:cNvSpPr/>
          <p:nvPr/>
        </p:nvSpPr>
        <p:spPr>
          <a:xfrm>
            <a:off x="6035201" y="2176386"/>
            <a:ext cx="2469000" cy="273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800" name="Google Shape;1800;p89"/>
          <p:cNvSpPr txBox="1"/>
          <p:nvPr/>
        </p:nvSpPr>
        <p:spPr>
          <a:xfrm>
            <a:off x="6035201" y="2244966"/>
            <a:ext cx="246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AGENTIC</a:t>
            </a:r>
            <a:endParaRPr sz="1100"/>
          </a:p>
        </p:txBody>
      </p:sp>
      <p:sp>
        <p:nvSpPr>
          <p:cNvPr id="1801" name="Google Shape;1801;p89"/>
          <p:cNvSpPr txBox="1"/>
          <p:nvPr/>
        </p:nvSpPr>
        <p:spPr>
          <a:xfrm>
            <a:off x="6035201" y="2395842"/>
            <a:ext cx="2469000" cy="531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System prompts that run loops</a:t>
            </a:r>
            <a:endParaRPr sz="1100"/>
          </a:p>
        </p:txBody>
      </p:sp>
      <p:sp>
        <p:nvSpPr>
          <p:cNvPr id="1802" name="Google Shape;1802;p89"/>
          <p:cNvSpPr txBox="1"/>
          <p:nvPr/>
        </p:nvSpPr>
        <p:spPr>
          <a:xfrm>
            <a:off x="6035201" y="2711310"/>
            <a:ext cx="2469000" cy="915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Long, structured instructions for an autonomous agent. Tool definitions, escalation rules, refusal behaviour, budget bounds. Closer to a runbook than a prompt.</a:t>
            </a:r>
            <a:endParaRPr sz="1100"/>
          </a:p>
        </p:txBody>
      </p:sp>
      <p:sp>
        <p:nvSpPr>
          <p:cNvPr id="1803" name="Google Shape;1803;p89"/>
          <p:cNvSpPr txBox="1"/>
          <p:nvPr/>
        </p:nvSpPr>
        <p:spPr>
          <a:xfrm>
            <a:off x="822982" y="4732020"/>
            <a:ext cx="274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7" name="Shape 1807"/>
        <p:cNvGrpSpPr/>
        <p:nvPr/>
      </p:nvGrpSpPr>
      <p:grpSpPr>
        <a:xfrm>
          <a:off x="0" y="0"/>
          <a:ext cx="0" cy="0"/>
          <a:chOff x="0" y="0"/>
          <a:chExt cx="0" cy="0"/>
        </a:xfrm>
      </p:grpSpPr>
      <p:sp>
        <p:nvSpPr>
          <p:cNvPr id="1808" name="Google Shape;1808;p90"/>
          <p:cNvSpPr txBox="1"/>
          <p:nvPr/>
        </p:nvSpPr>
        <p:spPr>
          <a:xfrm>
            <a:off x="822982" y="342900"/>
            <a:ext cx="2743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1809" name="Google Shape;1809;p90"/>
          <p:cNvSpPr txBox="1"/>
          <p:nvPr/>
        </p:nvSpPr>
        <p:spPr>
          <a:xfrm>
            <a:off x="822982" y="562356"/>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1810" name="Google Shape;1810;p90"/>
          <p:cNvSpPr txBox="1"/>
          <p:nvPr/>
        </p:nvSpPr>
        <p:spPr>
          <a:xfrm>
            <a:off x="822982" y="946404"/>
            <a:ext cx="74067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a:solidFill>
                  <a:srgbClr val="1B1F2A"/>
                </a:solidFill>
                <a:latin typeface="Manrope"/>
                <a:ea typeface="Manrope"/>
                <a:cs typeface="Manrope"/>
                <a:sym typeface="Manrope"/>
              </a:rPr>
              <a:t>Four sampling parameters</a:t>
            </a:r>
            <a:r>
              <a:rPr b="1" lang="en-GB" sz="2100">
                <a:solidFill>
                  <a:srgbClr val="1B1F2A"/>
                </a:solidFill>
                <a:latin typeface="Manrope"/>
                <a:ea typeface="Manrope"/>
                <a:cs typeface="Manrope"/>
                <a:sym typeface="Manrope"/>
              </a:rPr>
              <a:t>.</a:t>
            </a:r>
            <a:endParaRPr sz="1100"/>
          </a:p>
        </p:txBody>
      </p:sp>
      <p:sp>
        <p:nvSpPr>
          <p:cNvPr id="1811" name="Google Shape;1811;p90"/>
          <p:cNvSpPr txBox="1"/>
          <p:nvPr/>
        </p:nvSpPr>
        <p:spPr>
          <a:xfrm>
            <a:off x="822982" y="1426464"/>
            <a:ext cx="74067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Most defaults are reasonable. These four are the exceptions worth understanding.</a:t>
            </a:r>
            <a:endParaRPr sz="1100"/>
          </a:p>
        </p:txBody>
      </p:sp>
      <p:sp>
        <p:nvSpPr>
          <p:cNvPr id="1812" name="Google Shape;1812;p90"/>
          <p:cNvSpPr/>
          <p:nvPr/>
        </p:nvSpPr>
        <p:spPr>
          <a:xfrm>
            <a:off x="822982" y="1885950"/>
            <a:ext cx="1920300" cy="20574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813" name="Google Shape;1813;p90"/>
          <p:cNvSpPr txBox="1"/>
          <p:nvPr/>
        </p:nvSpPr>
        <p:spPr>
          <a:xfrm>
            <a:off x="960146" y="2009394"/>
            <a:ext cx="16461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TEMPERATURE — 0.0–1.0</a:t>
            </a:r>
            <a:endParaRPr sz="1100"/>
          </a:p>
        </p:txBody>
      </p:sp>
      <p:sp>
        <p:nvSpPr>
          <p:cNvPr id="1814" name="Google Shape;1814;p90"/>
          <p:cNvSpPr txBox="1"/>
          <p:nvPr/>
        </p:nvSpPr>
        <p:spPr>
          <a:xfrm>
            <a:off x="960146" y="2208276"/>
            <a:ext cx="16461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Controls randomness</a:t>
            </a:r>
            <a:endParaRPr sz="1100"/>
          </a:p>
        </p:txBody>
      </p:sp>
      <p:sp>
        <p:nvSpPr>
          <p:cNvPr id="1815" name="Google Shape;1815;p90"/>
          <p:cNvSpPr txBox="1"/>
          <p:nvPr/>
        </p:nvSpPr>
        <p:spPr>
          <a:xfrm>
            <a:off x="960146" y="2640330"/>
            <a:ext cx="1646100" cy="1146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8B95A6"/>
                </a:solidFill>
                <a:latin typeface="Manrope"/>
                <a:ea typeface="Manrope"/>
                <a:cs typeface="Manrope"/>
                <a:sym typeface="Manrope"/>
              </a:rPr>
              <a:t>0 for extraction and code (deterministic). 0.7 for drafting. 1.0 only for brainstorming. Never leave at default for production extraction tasks.</a:t>
            </a:r>
            <a:endParaRPr sz="1100"/>
          </a:p>
        </p:txBody>
      </p:sp>
      <p:sp>
        <p:nvSpPr>
          <p:cNvPr id="1816" name="Google Shape;1816;p90"/>
          <p:cNvSpPr/>
          <p:nvPr/>
        </p:nvSpPr>
        <p:spPr>
          <a:xfrm>
            <a:off x="2880437" y="1885950"/>
            <a:ext cx="1920300" cy="20574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817" name="Google Shape;1817;p90"/>
          <p:cNvSpPr txBox="1"/>
          <p:nvPr/>
        </p:nvSpPr>
        <p:spPr>
          <a:xfrm>
            <a:off x="3017600" y="2009394"/>
            <a:ext cx="16461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TOP-P — NUCLEUS SAMPLING</a:t>
            </a:r>
            <a:endParaRPr sz="1100"/>
          </a:p>
        </p:txBody>
      </p:sp>
      <p:sp>
        <p:nvSpPr>
          <p:cNvPr id="1818" name="Google Shape;1818;p90"/>
          <p:cNvSpPr txBox="1"/>
          <p:nvPr/>
        </p:nvSpPr>
        <p:spPr>
          <a:xfrm>
            <a:off x="3017600" y="2208276"/>
            <a:ext cx="16461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Restrict token pool</a:t>
            </a:r>
            <a:endParaRPr sz="1100"/>
          </a:p>
        </p:txBody>
      </p:sp>
      <p:sp>
        <p:nvSpPr>
          <p:cNvPr id="1819" name="Google Shape;1819;p90"/>
          <p:cNvSpPr txBox="1"/>
          <p:nvPr/>
        </p:nvSpPr>
        <p:spPr>
          <a:xfrm>
            <a:off x="3017600" y="2640330"/>
            <a:ext cx="1646100" cy="992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8B95A6"/>
                </a:solidFill>
                <a:latin typeface="Manrope"/>
                <a:ea typeface="Manrope"/>
                <a:cs typeface="Manrope"/>
                <a:sym typeface="Manrope"/>
              </a:rPr>
              <a:t>Leave at 0.9; tune temperature instead. Top-p cuts off the long tail of improbable tokens. Rarely needs adjustment in practice.</a:t>
            </a:r>
            <a:endParaRPr sz="1100"/>
          </a:p>
        </p:txBody>
      </p:sp>
      <p:sp>
        <p:nvSpPr>
          <p:cNvPr id="1820" name="Google Shape;1820;p90"/>
          <p:cNvSpPr/>
          <p:nvPr/>
        </p:nvSpPr>
        <p:spPr>
          <a:xfrm>
            <a:off x="4937892" y="1885950"/>
            <a:ext cx="1920300" cy="20574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821" name="Google Shape;1821;p90"/>
          <p:cNvSpPr txBox="1"/>
          <p:nvPr/>
        </p:nvSpPr>
        <p:spPr>
          <a:xfrm>
            <a:off x="5075055" y="2009394"/>
            <a:ext cx="1646100" cy="315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MAX TOKENS — OUTPUT CEILING</a:t>
            </a:r>
            <a:endParaRPr sz="1100"/>
          </a:p>
        </p:txBody>
      </p:sp>
      <p:sp>
        <p:nvSpPr>
          <p:cNvPr id="1822" name="Google Shape;1822;p90"/>
          <p:cNvSpPr txBox="1"/>
          <p:nvPr/>
        </p:nvSpPr>
        <p:spPr>
          <a:xfrm>
            <a:off x="5075055" y="2208276"/>
            <a:ext cx="16461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Bound output length</a:t>
            </a:r>
            <a:endParaRPr sz="1100"/>
          </a:p>
        </p:txBody>
      </p:sp>
      <p:sp>
        <p:nvSpPr>
          <p:cNvPr id="1823" name="Google Shape;1823;p90"/>
          <p:cNvSpPr txBox="1"/>
          <p:nvPr/>
        </p:nvSpPr>
        <p:spPr>
          <a:xfrm>
            <a:off x="5075055" y="2640330"/>
            <a:ext cx="1646100" cy="1146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8B95A6"/>
                </a:solidFill>
                <a:latin typeface="Manrope"/>
                <a:ea typeface="Manrope"/>
                <a:cs typeface="Manrope"/>
                <a:sym typeface="Manrope"/>
              </a:rPr>
              <a:t>Set tight for extraction tasks (100–300 tokens); generous for drafts (1000–4000). Always set something — unbounded outputs waste money and confuse users.</a:t>
            </a:r>
            <a:endParaRPr sz="1100"/>
          </a:p>
        </p:txBody>
      </p:sp>
      <p:sp>
        <p:nvSpPr>
          <p:cNvPr id="1824" name="Google Shape;1824;p90"/>
          <p:cNvSpPr/>
          <p:nvPr/>
        </p:nvSpPr>
        <p:spPr>
          <a:xfrm>
            <a:off x="6995346" y="1885950"/>
            <a:ext cx="1920300" cy="20574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825" name="Google Shape;1825;p90"/>
          <p:cNvSpPr txBox="1"/>
          <p:nvPr/>
        </p:nvSpPr>
        <p:spPr>
          <a:xfrm>
            <a:off x="7132510" y="2009394"/>
            <a:ext cx="1646100" cy="315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STOP SEQUENCES — HARD STOPS</a:t>
            </a:r>
            <a:endParaRPr sz="1100"/>
          </a:p>
        </p:txBody>
      </p:sp>
      <p:sp>
        <p:nvSpPr>
          <p:cNvPr id="1826" name="Google Shape;1826;p90"/>
          <p:cNvSpPr txBox="1"/>
          <p:nvPr/>
        </p:nvSpPr>
        <p:spPr>
          <a:xfrm>
            <a:off x="7132510" y="2208276"/>
            <a:ext cx="16461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Terminate generation</a:t>
            </a:r>
            <a:endParaRPr sz="1100"/>
          </a:p>
        </p:txBody>
      </p:sp>
      <p:sp>
        <p:nvSpPr>
          <p:cNvPr id="1827" name="Google Shape;1827;p90"/>
          <p:cNvSpPr txBox="1"/>
          <p:nvPr/>
        </p:nvSpPr>
        <p:spPr>
          <a:xfrm>
            <a:off x="7132510" y="2640330"/>
            <a:ext cx="1646100" cy="1146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8B95A6"/>
                </a:solidFill>
                <a:latin typeface="Manrope"/>
                <a:ea typeface="Manrope"/>
                <a:cs typeface="Manrope"/>
                <a:sym typeface="Manrope"/>
              </a:rPr>
              <a:t>Useful in templated prompts. Define a stop token that signals 'the useful output ended here' — prevents the model from rambling past the answer.</a:t>
            </a:r>
            <a:endParaRPr sz="1100"/>
          </a:p>
        </p:txBody>
      </p:sp>
      <p:sp>
        <p:nvSpPr>
          <p:cNvPr id="1828" name="Google Shape;1828;p90"/>
          <p:cNvSpPr txBox="1"/>
          <p:nvPr/>
        </p:nvSpPr>
        <p:spPr>
          <a:xfrm>
            <a:off x="822982" y="4732020"/>
            <a:ext cx="274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2" name="Shape 1832"/>
        <p:cNvGrpSpPr/>
        <p:nvPr/>
      </p:nvGrpSpPr>
      <p:grpSpPr>
        <a:xfrm>
          <a:off x="0" y="0"/>
          <a:ext cx="0" cy="0"/>
          <a:chOff x="0" y="0"/>
          <a:chExt cx="0" cy="0"/>
        </a:xfrm>
      </p:grpSpPr>
      <p:sp>
        <p:nvSpPr>
          <p:cNvPr id="1833" name="Google Shape;1833;p91"/>
          <p:cNvSpPr txBox="1"/>
          <p:nvPr/>
        </p:nvSpPr>
        <p:spPr>
          <a:xfrm>
            <a:off x="822982" y="342900"/>
            <a:ext cx="2743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1834" name="Google Shape;1834;p91"/>
          <p:cNvSpPr txBox="1"/>
          <p:nvPr/>
        </p:nvSpPr>
        <p:spPr>
          <a:xfrm>
            <a:off x="822982" y="562356"/>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1835" name="Google Shape;1835;p91"/>
          <p:cNvSpPr txBox="1"/>
          <p:nvPr/>
        </p:nvSpPr>
        <p:spPr>
          <a:xfrm>
            <a:off x="822982" y="946404"/>
            <a:ext cx="7406700" cy="392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a:solidFill>
                  <a:srgbClr val="1B1F2A"/>
                </a:solidFill>
                <a:latin typeface="Manrope"/>
                <a:ea typeface="Manrope"/>
                <a:cs typeface="Manrope"/>
                <a:sym typeface="Manrope"/>
              </a:rPr>
              <a:t>Structured outputs — make the output a contract.</a:t>
            </a:r>
            <a:endParaRPr sz="1100"/>
          </a:p>
        </p:txBody>
      </p:sp>
      <p:sp>
        <p:nvSpPr>
          <p:cNvPr id="1836" name="Google Shape;1836;p91"/>
          <p:cNvSpPr/>
          <p:nvPr/>
        </p:nvSpPr>
        <p:spPr>
          <a:xfrm>
            <a:off x="822982" y="1495044"/>
            <a:ext cx="3429000" cy="273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837" name="Google Shape;1837;p91"/>
          <p:cNvSpPr/>
          <p:nvPr/>
        </p:nvSpPr>
        <p:spPr>
          <a:xfrm>
            <a:off x="4869310" y="1495044"/>
            <a:ext cx="3429000" cy="273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838" name="Google Shape;1838;p91"/>
          <p:cNvSpPr txBox="1"/>
          <p:nvPr/>
        </p:nvSpPr>
        <p:spPr>
          <a:xfrm>
            <a:off x="822982" y="1577340"/>
            <a:ext cx="34290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800">
                <a:solidFill>
                  <a:srgbClr val="1B1F2A"/>
                </a:solidFill>
                <a:latin typeface="Manrope"/>
                <a:ea typeface="Manrope"/>
                <a:cs typeface="Manrope"/>
                <a:sym typeface="Manrope"/>
              </a:rPr>
              <a:t>Why It Matters</a:t>
            </a:r>
            <a:endParaRPr sz="1100"/>
          </a:p>
        </p:txBody>
      </p:sp>
      <p:sp>
        <p:nvSpPr>
          <p:cNvPr id="1839" name="Google Shape;1839;p91"/>
          <p:cNvSpPr txBox="1"/>
          <p:nvPr/>
        </p:nvSpPr>
        <p:spPr>
          <a:xfrm>
            <a:off x="822982" y="1933956"/>
            <a:ext cx="3429000" cy="1916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200">
                <a:solidFill>
                  <a:srgbClr val="8B95A6"/>
                </a:solidFill>
                <a:latin typeface="Manrope"/>
                <a:ea typeface="Manrope"/>
                <a:cs typeface="Manrope"/>
                <a:sym typeface="Manrope"/>
              </a:rPr>
              <a:t>Free-form text is fine for chat. For AI features embedded in applications, ask for JSON that matches a schema, validate it against that schema, and reject-and-retry on failure. Most providers now support a native structured-output mode that constrains generation to valid schema conformance. This eliminates an entire class of parsing bugs — the output is either valid JSON matching the schema, or it fails fast.</a:t>
            </a:r>
            <a:endParaRPr sz="1100"/>
          </a:p>
        </p:txBody>
      </p:sp>
      <p:sp>
        <p:nvSpPr>
          <p:cNvPr id="1840" name="Google Shape;1840;p91"/>
          <p:cNvSpPr txBox="1"/>
          <p:nvPr/>
        </p:nvSpPr>
        <p:spPr>
          <a:xfrm>
            <a:off x="4869310" y="1577340"/>
            <a:ext cx="34290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800">
                <a:solidFill>
                  <a:srgbClr val="1B1F2A"/>
                </a:solidFill>
                <a:latin typeface="Manrope"/>
                <a:ea typeface="Manrope"/>
                <a:cs typeface="Manrope"/>
                <a:sym typeface="Manrope"/>
              </a:rPr>
              <a:t>How to Use It</a:t>
            </a:r>
            <a:endParaRPr sz="1100"/>
          </a:p>
        </p:txBody>
      </p:sp>
      <p:sp>
        <p:nvSpPr>
          <p:cNvPr id="1841" name="Google Shape;1841;p91"/>
          <p:cNvSpPr txBox="1"/>
          <p:nvPr/>
        </p:nvSpPr>
        <p:spPr>
          <a:xfrm>
            <a:off x="4869310" y="1933956"/>
            <a:ext cx="3429000" cy="1916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200">
                <a:solidFill>
                  <a:srgbClr val="8B95A6"/>
                </a:solidFill>
                <a:latin typeface="Manrope"/>
                <a:ea typeface="Manrope"/>
                <a:cs typeface="Manrope"/>
                <a:sym typeface="Manrope"/>
              </a:rPr>
              <a:t>Define the schema as a JSON Schema object: required fields, types, enums, string length constraints. Pass it as response_format.json_schema to the API. Re-validate on the client side regardless — don't trust the wrapper. Add a fallback retry path with a 'fix this JSON' prompt if the initial call fails. For most extraction and classification tasks, this pattern alone reduces integration debugging by 60–70%.</a:t>
            </a:r>
            <a:endParaRPr sz="1100"/>
          </a:p>
        </p:txBody>
      </p:sp>
      <p:sp>
        <p:nvSpPr>
          <p:cNvPr id="1842" name="Google Shape;1842;p91"/>
          <p:cNvSpPr txBox="1"/>
          <p:nvPr/>
        </p:nvSpPr>
        <p:spPr>
          <a:xfrm>
            <a:off x="822982" y="4732020"/>
            <a:ext cx="274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6" name="Shape 1846"/>
        <p:cNvGrpSpPr/>
        <p:nvPr/>
      </p:nvGrpSpPr>
      <p:grpSpPr>
        <a:xfrm>
          <a:off x="0" y="0"/>
          <a:ext cx="0" cy="0"/>
          <a:chOff x="0" y="0"/>
          <a:chExt cx="0" cy="0"/>
        </a:xfrm>
      </p:grpSpPr>
      <p:sp>
        <p:nvSpPr>
          <p:cNvPr id="1847" name="Google Shape;1847;p92"/>
          <p:cNvSpPr txBox="1"/>
          <p:nvPr/>
        </p:nvSpPr>
        <p:spPr>
          <a:xfrm>
            <a:off x="822982" y="342900"/>
            <a:ext cx="2743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1848" name="Google Shape;1848;p92"/>
          <p:cNvSpPr txBox="1"/>
          <p:nvPr/>
        </p:nvSpPr>
        <p:spPr>
          <a:xfrm>
            <a:off x="822982" y="562356"/>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1849" name="Google Shape;1849;p92"/>
          <p:cNvSpPr txBox="1"/>
          <p:nvPr/>
        </p:nvSpPr>
        <p:spPr>
          <a:xfrm>
            <a:off x="822982" y="946404"/>
            <a:ext cx="7406700" cy="361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900">
                <a:solidFill>
                  <a:srgbClr val="1B1F2A"/>
                </a:solidFill>
                <a:latin typeface="Manrope"/>
                <a:ea typeface="Manrope"/>
                <a:cs typeface="Manrope"/>
                <a:sym typeface="Manrope"/>
              </a:rPr>
              <a:t>ReAct: Reason, Act, Observe — the pattern that made agents.</a:t>
            </a:r>
            <a:endParaRPr sz="300"/>
          </a:p>
        </p:txBody>
      </p:sp>
      <p:sp>
        <p:nvSpPr>
          <p:cNvPr id="1850" name="Google Shape;1850;p92"/>
          <p:cNvSpPr txBox="1"/>
          <p:nvPr/>
        </p:nvSpPr>
        <p:spPr>
          <a:xfrm>
            <a:off x="822982" y="1522476"/>
            <a:ext cx="74067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Each iteration follows Thought → Action → Observation. The model loops until it emits 'Final Answer.' Most agent </a:t>
            </a:r>
            <a:r>
              <a:rPr lang="en-GB" sz="1100">
                <a:solidFill>
                  <a:srgbClr val="8B95A6"/>
                </a:solidFill>
                <a:latin typeface="Manrope"/>
                <a:ea typeface="Manrope"/>
                <a:cs typeface="Manrope"/>
                <a:sym typeface="Manrope"/>
              </a:rPr>
              <a:t>framework</a:t>
            </a:r>
            <a:r>
              <a:rPr b="0" i="0" lang="en-GB" sz="1100">
                <a:solidFill>
                  <a:srgbClr val="8B95A6"/>
                </a:solidFill>
                <a:latin typeface="Manrope"/>
                <a:ea typeface="Manrope"/>
                <a:cs typeface="Manrope"/>
                <a:sym typeface="Manrope"/>
              </a:rPr>
              <a:t>…</a:t>
            </a:r>
            <a:endParaRPr sz="1100"/>
          </a:p>
        </p:txBody>
      </p:sp>
      <p:sp>
        <p:nvSpPr>
          <p:cNvPr id="1851" name="Google Shape;1851;p92"/>
          <p:cNvSpPr/>
          <p:nvPr/>
        </p:nvSpPr>
        <p:spPr>
          <a:xfrm>
            <a:off x="822982" y="2023110"/>
            <a:ext cx="2469000" cy="273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852" name="Google Shape;1852;p92"/>
          <p:cNvSpPr txBox="1"/>
          <p:nvPr/>
        </p:nvSpPr>
        <p:spPr>
          <a:xfrm>
            <a:off x="822982" y="2091690"/>
            <a:ext cx="246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THOUGHT</a:t>
            </a:r>
            <a:endParaRPr sz="1100"/>
          </a:p>
        </p:txBody>
      </p:sp>
      <p:sp>
        <p:nvSpPr>
          <p:cNvPr id="1853" name="Google Shape;1853;p92"/>
          <p:cNvSpPr txBox="1"/>
          <p:nvPr/>
        </p:nvSpPr>
        <p:spPr>
          <a:xfrm>
            <a:off x="822982" y="2242566"/>
            <a:ext cx="2469000" cy="300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Explicit reasoning</a:t>
            </a:r>
            <a:endParaRPr sz="1100"/>
          </a:p>
        </p:txBody>
      </p:sp>
      <p:sp>
        <p:nvSpPr>
          <p:cNvPr id="1854" name="Google Shape;1854;p92"/>
          <p:cNvSpPr txBox="1"/>
          <p:nvPr/>
        </p:nvSpPr>
        <p:spPr>
          <a:xfrm>
            <a:off x="822982" y="2558034"/>
            <a:ext cx="2469000" cy="915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The model explains what it knows, what it needs, and what it's about to do. Making this visible allows humans to catch faulty reasoning before it executes the wrong tool.</a:t>
            </a:r>
            <a:endParaRPr sz="1100"/>
          </a:p>
        </p:txBody>
      </p:sp>
      <p:sp>
        <p:nvSpPr>
          <p:cNvPr id="1855" name="Google Shape;1855;p92"/>
          <p:cNvSpPr/>
          <p:nvPr/>
        </p:nvSpPr>
        <p:spPr>
          <a:xfrm>
            <a:off x="3429091" y="2023110"/>
            <a:ext cx="2469000" cy="273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856" name="Google Shape;1856;p92"/>
          <p:cNvSpPr txBox="1"/>
          <p:nvPr/>
        </p:nvSpPr>
        <p:spPr>
          <a:xfrm>
            <a:off x="3429091" y="2091690"/>
            <a:ext cx="246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ACTION</a:t>
            </a:r>
            <a:endParaRPr sz="1100"/>
          </a:p>
        </p:txBody>
      </p:sp>
      <p:sp>
        <p:nvSpPr>
          <p:cNvPr id="1857" name="Google Shape;1857;p92"/>
          <p:cNvSpPr txBox="1"/>
          <p:nvPr/>
        </p:nvSpPr>
        <p:spPr>
          <a:xfrm>
            <a:off x="3429091" y="2242566"/>
            <a:ext cx="2469000" cy="300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Tool invocation</a:t>
            </a:r>
            <a:endParaRPr sz="1100"/>
          </a:p>
        </p:txBody>
      </p:sp>
      <p:sp>
        <p:nvSpPr>
          <p:cNvPr id="1858" name="Google Shape;1858;p92"/>
          <p:cNvSpPr txBox="1"/>
          <p:nvPr/>
        </p:nvSpPr>
        <p:spPr>
          <a:xfrm>
            <a:off x="3429091" y="2558034"/>
            <a:ext cx="2469000" cy="915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The model emits a structured tool call. One tool, one set of arguments. The result is returned as an observation that informs the next thought.</a:t>
            </a:r>
            <a:endParaRPr sz="1100"/>
          </a:p>
        </p:txBody>
      </p:sp>
      <p:sp>
        <p:nvSpPr>
          <p:cNvPr id="1859" name="Google Shape;1859;p92"/>
          <p:cNvSpPr/>
          <p:nvPr/>
        </p:nvSpPr>
        <p:spPr>
          <a:xfrm>
            <a:off x="6035201" y="2023110"/>
            <a:ext cx="2469000" cy="273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860" name="Google Shape;1860;p92"/>
          <p:cNvSpPr txBox="1"/>
          <p:nvPr/>
        </p:nvSpPr>
        <p:spPr>
          <a:xfrm>
            <a:off x="6035201" y="2091690"/>
            <a:ext cx="246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OBSERVE → REPEAT</a:t>
            </a:r>
            <a:endParaRPr sz="1100"/>
          </a:p>
        </p:txBody>
      </p:sp>
      <p:sp>
        <p:nvSpPr>
          <p:cNvPr id="1861" name="Google Shape;1861;p92"/>
          <p:cNvSpPr txBox="1"/>
          <p:nvPr/>
        </p:nvSpPr>
        <p:spPr>
          <a:xfrm>
            <a:off x="6035201" y="2242566"/>
            <a:ext cx="2469000" cy="300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Grounded iteration</a:t>
            </a:r>
            <a:endParaRPr sz="1100"/>
          </a:p>
        </p:txBody>
      </p:sp>
      <p:sp>
        <p:nvSpPr>
          <p:cNvPr id="1862" name="Google Shape;1862;p92"/>
          <p:cNvSpPr txBox="1"/>
          <p:nvPr/>
        </p:nvSpPr>
        <p:spPr>
          <a:xfrm>
            <a:off x="6035201" y="2558034"/>
            <a:ext cx="2469000" cy="915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The model reads the tool result, updates its world model, and decides the next action. Loops until the goal is met or the budget is exhausted.</a:t>
            </a:r>
            <a:endParaRPr sz="1100"/>
          </a:p>
        </p:txBody>
      </p:sp>
      <p:sp>
        <p:nvSpPr>
          <p:cNvPr id="1863" name="Google Shape;1863;p92"/>
          <p:cNvSpPr txBox="1"/>
          <p:nvPr/>
        </p:nvSpPr>
        <p:spPr>
          <a:xfrm>
            <a:off x="822982" y="4732020"/>
            <a:ext cx="274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7" name="Shape 1867"/>
        <p:cNvGrpSpPr/>
        <p:nvPr/>
      </p:nvGrpSpPr>
      <p:grpSpPr>
        <a:xfrm>
          <a:off x="0" y="0"/>
          <a:ext cx="0" cy="0"/>
          <a:chOff x="0" y="0"/>
          <a:chExt cx="0" cy="0"/>
        </a:xfrm>
      </p:grpSpPr>
      <p:sp>
        <p:nvSpPr>
          <p:cNvPr id="1868" name="Google Shape;1868;p93"/>
          <p:cNvSpPr/>
          <p:nvPr/>
        </p:nvSpPr>
        <p:spPr>
          <a:xfrm>
            <a:off x="10948" y="21897"/>
            <a:ext cx="9144000" cy="5143500"/>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869" name="Google Shape;1869;p93"/>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FFFFFF"/>
                </a:solidFill>
                <a:latin typeface="Manrope"/>
                <a:ea typeface="Manrope"/>
                <a:cs typeface="Manrope"/>
                <a:sym typeface="Manrope"/>
              </a:rPr>
              <a:t>GlobalLogic</a:t>
            </a:r>
            <a:endParaRPr sz="1100"/>
          </a:p>
        </p:txBody>
      </p:sp>
      <p:sp>
        <p:nvSpPr>
          <p:cNvPr id="1870" name="Google Shape;1870;p93"/>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C9CFD8"/>
                </a:solidFill>
                <a:latin typeface="Manrope"/>
                <a:ea typeface="Manrope"/>
                <a:cs typeface="Manrope"/>
                <a:sym typeface="Manrope"/>
              </a:rPr>
              <a:t>A Hitachi Group Company</a:t>
            </a:r>
            <a:endParaRPr sz="1100"/>
          </a:p>
        </p:txBody>
      </p:sp>
      <p:sp>
        <p:nvSpPr>
          <p:cNvPr id="1871" name="Google Shape;1871;p93"/>
          <p:cNvSpPr txBox="1"/>
          <p:nvPr/>
        </p:nvSpPr>
        <p:spPr>
          <a:xfrm>
            <a:off x="822982" y="1714500"/>
            <a:ext cx="6172500" cy="1700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5300">
                <a:solidFill>
                  <a:srgbClr val="FFFFFF"/>
                </a:solidFill>
                <a:latin typeface="Manrope"/>
                <a:ea typeface="Manrope"/>
                <a:cs typeface="Manrope"/>
                <a:sym typeface="Manrope"/>
              </a:rPr>
              <a:t>Code Generation</a:t>
            </a:r>
            <a:br>
              <a:rPr b="1" i="0" lang="en-GB" sz="5300">
                <a:solidFill>
                  <a:srgbClr val="FFFFFF"/>
                </a:solidFill>
                <a:latin typeface="Manrope"/>
                <a:ea typeface="Manrope"/>
                <a:cs typeface="Manrope"/>
                <a:sym typeface="Manrope"/>
              </a:rPr>
            </a:br>
            <a:r>
              <a:rPr b="1" i="0" lang="en-GB" sz="5300">
                <a:solidFill>
                  <a:srgbClr val="FFFFFF"/>
                </a:solidFill>
                <a:latin typeface="Manrope"/>
                <a:ea typeface="Manrope"/>
                <a:cs typeface="Manrope"/>
                <a:sym typeface="Manrope"/>
              </a:rPr>
              <a:t>That Ships.</a:t>
            </a:r>
            <a:endParaRPr sz="400"/>
          </a:p>
        </p:txBody>
      </p:sp>
      <p:sp>
        <p:nvSpPr>
          <p:cNvPr id="1872" name="Google Shape;1872;p93"/>
          <p:cNvSpPr txBox="1"/>
          <p:nvPr/>
        </p:nvSpPr>
        <p:spPr>
          <a:xfrm>
            <a:off x="822982" y="3429000"/>
            <a:ext cx="6172365" cy="8229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700">
                <a:solidFill>
                  <a:srgbClr val="C9CFD8"/>
                </a:solidFill>
                <a:latin typeface="Manrope"/>
                <a:ea typeface="Manrope"/>
                <a:cs typeface="Manrope"/>
                <a:sym typeface="Manrope"/>
              </a:rPr>
              <a:t>From 'look what it wrote' to 'look what we merged' — the patterns that survive code review.</a:t>
            </a:r>
            <a:endParaRPr sz="1100"/>
          </a:p>
        </p:txBody>
      </p:sp>
      <p:sp>
        <p:nvSpPr>
          <p:cNvPr id="1873" name="Google Shape;1873;p93"/>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FFFFFF"/>
                </a:solidFill>
                <a:latin typeface="Courier New"/>
                <a:ea typeface="Courier New"/>
                <a:cs typeface="Courier New"/>
                <a:sym typeface="Courier New"/>
              </a:rPr>
              <a:t>globallogic.com</a:t>
            </a:r>
            <a:endParaRPr sz="1100"/>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7" name="Shape 1877"/>
        <p:cNvGrpSpPr/>
        <p:nvPr/>
      </p:nvGrpSpPr>
      <p:grpSpPr>
        <a:xfrm>
          <a:off x="0" y="0"/>
          <a:ext cx="0" cy="0"/>
          <a:chOff x="0" y="0"/>
          <a:chExt cx="0" cy="0"/>
        </a:xfrm>
      </p:grpSpPr>
      <p:sp>
        <p:nvSpPr>
          <p:cNvPr id="1878" name="Google Shape;1878;p94"/>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1879" name="Google Shape;1879;p94"/>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1880" name="Google Shape;1880;p94"/>
          <p:cNvSpPr txBox="1"/>
          <p:nvPr/>
        </p:nvSpPr>
        <p:spPr>
          <a:xfrm>
            <a:off x="822982" y="946404"/>
            <a:ext cx="7406700" cy="361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900">
                <a:solidFill>
                  <a:srgbClr val="1B1F2A"/>
                </a:solidFill>
                <a:latin typeface="Manrope"/>
                <a:ea typeface="Manrope"/>
                <a:cs typeface="Manrope"/>
                <a:sym typeface="Manrope"/>
              </a:rPr>
              <a:t>The model is a tireless, slightly overconfident junior engineer.</a:t>
            </a:r>
            <a:endParaRPr sz="900"/>
          </a:p>
        </p:txBody>
      </p:sp>
      <p:sp>
        <p:nvSpPr>
          <p:cNvPr id="1881" name="Google Shape;1881;p94"/>
          <p:cNvSpPr/>
          <p:nvPr/>
        </p:nvSpPr>
        <p:spPr>
          <a:xfrm>
            <a:off x="822982" y="1495044"/>
            <a:ext cx="3429091"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882" name="Google Shape;1882;p94"/>
          <p:cNvSpPr/>
          <p:nvPr/>
        </p:nvSpPr>
        <p:spPr>
          <a:xfrm>
            <a:off x="4869310" y="1495044"/>
            <a:ext cx="3429091"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883" name="Google Shape;1883;p94"/>
          <p:cNvSpPr txBox="1"/>
          <p:nvPr/>
        </p:nvSpPr>
        <p:spPr>
          <a:xfrm>
            <a:off x="822982" y="1577340"/>
            <a:ext cx="3429091"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800">
                <a:solidFill>
                  <a:srgbClr val="1B1F2A"/>
                </a:solidFill>
                <a:latin typeface="Manrope"/>
                <a:ea typeface="Manrope"/>
                <a:cs typeface="Manrope"/>
                <a:sym typeface="Manrope"/>
              </a:rPr>
              <a:t>What the Pairing Gives You</a:t>
            </a:r>
            <a:endParaRPr sz="1100"/>
          </a:p>
        </p:txBody>
      </p:sp>
      <p:sp>
        <p:nvSpPr>
          <p:cNvPr id="1884" name="Google Shape;1884;p94"/>
          <p:cNvSpPr txBox="1"/>
          <p:nvPr/>
        </p:nvSpPr>
        <p:spPr>
          <a:xfrm>
            <a:off x="822975" y="2025425"/>
            <a:ext cx="3429000" cy="1731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200">
                <a:solidFill>
                  <a:srgbClr val="8B95A6"/>
                </a:solidFill>
                <a:latin typeface="Manrope"/>
                <a:ea typeface="Manrope"/>
                <a:cs typeface="Manrope"/>
                <a:sym typeface="Manrope"/>
              </a:rPr>
              <a:t>The model will draft anything you ask, immediately, without complaint. It will be plausibly wrong about 20–30% of the time. It does not know your runtime constraints, your dependency graph, your team conventions, or which architectural decisions are immovable. You bring those. The pairing works because you supply the judgment and context that the model lacks.</a:t>
            </a:r>
            <a:endParaRPr sz="1100"/>
          </a:p>
        </p:txBody>
      </p:sp>
      <p:sp>
        <p:nvSpPr>
          <p:cNvPr id="1885" name="Google Shape;1885;p94"/>
          <p:cNvSpPr txBox="1"/>
          <p:nvPr/>
        </p:nvSpPr>
        <p:spPr>
          <a:xfrm>
            <a:off x="4869310" y="1577340"/>
            <a:ext cx="3429091"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800">
                <a:solidFill>
                  <a:srgbClr val="1B1F2A"/>
                </a:solidFill>
                <a:latin typeface="Manrope"/>
                <a:ea typeface="Manrope"/>
                <a:cs typeface="Manrope"/>
                <a:sym typeface="Manrope"/>
              </a:rPr>
              <a:t>The Senior in the Pair Is Still You</a:t>
            </a:r>
            <a:endParaRPr sz="1100"/>
          </a:p>
        </p:txBody>
      </p:sp>
      <p:sp>
        <p:nvSpPr>
          <p:cNvPr id="1886" name="Google Shape;1886;p94"/>
          <p:cNvSpPr txBox="1"/>
          <p:nvPr/>
        </p:nvSpPr>
        <p:spPr>
          <a:xfrm>
            <a:off x="4869360" y="2189406"/>
            <a:ext cx="3429000" cy="1546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200">
                <a:solidFill>
                  <a:srgbClr val="8B95A6"/>
                </a:solidFill>
                <a:latin typeface="Manrope"/>
                <a:ea typeface="Manrope"/>
                <a:cs typeface="Manrope"/>
                <a:sym typeface="Manrope"/>
              </a:rPr>
              <a:t>Every line the model writes should cross your mental review. Not a cursory glance — an actual read, the same way you'd read a colleague's PR. The model's code compiles. The model's code passes tests. That doesn't mean it's correct, idiomatic, maintainable, or safe. Ownership of the result is yours from the moment you accept the diff.</a:t>
            </a:r>
            <a:endParaRPr sz="1100"/>
          </a:p>
        </p:txBody>
      </p:sp>
      <p:sp>
        <p:nvSpPr>
          <p:cNvPr id="1887" name="Google Shape;1887;p94"/>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1" name="Shape 1891"/>
        <p:cNvGrpSpPr/>
        <p:nvPr/>
      </p:nvGrpSpPr>
      <p:grpSpPr>
        <a:xfrm>
          <a:off x="0" y="0"/>
          <a:ext cx="0" cy="0"/>
          <a:chOff x="0" y="0"/>
          <a:chExt cx="0" cy="0"/>
        </a:xfrm>
      </p:grpSpPr>
      <p:sp>
        <p:nvSpPr>
          <p:cNvPr id="1892" name="Google Shape;1892;p95"/>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1893" name="Google Shape;1893;p95"/>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1894" name="Google Shape;1894;p95"/>
          <p:cNvSpPr txBox="1"/>
          <p:nvPr/>
        </p:nvSpPr>
        <p:spPr>
          <a:xfrm>
            <a:off x="822982" y="946404"/>
            <a:ext cx="7406837"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a:solidFill>
                  <a:srgbClr val="1B1F2A"/>
                </a:solidFill>
                <a:latin typeface="Manrope"/>
                <a:ea typeface="Manrope"/>
                <a:cs typeface="Manrope"/>
                <a:sym typeface="Manrope"/>
              </a:rPr>
              <a:t>Eight code-generation patterns that survive review.</a:t>
            </a:r>
            <a:endParaRPr sz="1100"/>
          </a:p>
        </p:txBody>
      </p:sp>
      <p:sp>
        <p:nvSpPr>
          <p:cNvPr id="1895" name="Google Shape;1895;p95"/>
          <p:cNvSpPr txBox="1"/>
          <p:nvPr/>
        </p:nvSpPr>
        <p:spPr>
          <a:xfrm>
            <a:off x="822982" y="1426464"/>
            <a:ext cx="7406837" cy="2095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Each is a phrase worth keeping on a sticky note next to your editor.</a:t>
            </a:r>
            <a:endParaRPr sz="1100"/>
          </a:p>
        </p:txBody>
      </p:sp>
      <p:sp>
        <p:nvSpPr>
          <p:cNvPr id="1896" name="Google Shape;1896;p95"/>
          <p:cNvSpPr/>
          <p:nvPr/>
        </p:nvSpPr>
        <p:spPr>
          <a:xfrm>
            <a:off x="822982" y="1817370"/>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897" name="Google Shape;1897;p95"/>
          <p:cNvSpPr txBox="1"/>
          <p:nvPr/>
        </p:nvSpPr>
        <p:spPr>
          <a:xfrm>
            <a:off x="918996" y="1872234"/>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01</a:t>
            </a:r>
            <a:endParaRPr sz="1100"/>
          </a:p>
        </p:txBody>
      </p:sp>
      <p:sp>
        <p:nvSpPr>
          <p:cNvPr id="1898" name="Google Shape;1898;p95"/>
          <p:cNvSpPr txBox="1"/>
          <p:nvPr/>
        </p:nvSpPr>
        <p:spPr>
          <a:xfrm>
            <a:off x="918996" y="2023110"/>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Generate the test, then the code</a:t>
            </a:r>
            <a:endParaRPr sz="1100"/>
          </a:p>
        </p:txBody>
      </p:sp>
      <p:sp>
        <p:nvSpPr>
          <p:cNvPr id="1899" name="Google Shape;1899;p95"/>
          <p:cNvSpPr txBox="1"/>
          <p:nvPr/>
        </p:nvSpPr>
        <p:spPr>
          <a:xfrm>
            <a:off x="918996" y="2379726"/>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The test fixes the contract. The model fills in implementation against a concrete target it can reason against.</a:t>
            </a:r>
            <a:endParaRPr sz="1100"/>
          </a:p>
        </p:txBody>
      </p:sp>
      <p:sp>
        <p:nvSpPr>
          <p:cNvPr id="1900" name="Google Shape;1900;p95"/>
          <p:cNvSpPr/>
          <p:nvPr/>
        </p:nvSpPr>
        <p:spPr>
          <a:xfrm>
            <a:off x="2853004" y="1817370"/>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901" name="Google Shape;1901;p95"/>
          <p:cNvSpPr txBox="1"/>
          <p:nvPr/>
        </p:nvSpPr>
        <p:spPr>
          <a:xfrm>
            <a:off x="2949019" y="1872234"/>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02</a:t>
            </a:r>
            <a:endParaRPr sz="1100"/>
          </a:p>
        </p:txBody>
      </p:sp>
      <p:sp>
        <p:nvSpPr>
          <p:cNvPr id="1902" name="Google Shape;1902;p95"/>
          <p:cNvSpPr txBox="1"/>
          <p:nvPr/>
        </p:nvSpPr>
        <p:spPr>
          <a:xfrm>
            <a:off x="2949019" y="2023110"/>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Translate, don't redesign</a:t>
            </a:r>
            <a:endParaRPr sz="1100"/>
          </a:p>
        </p:txBody>
      </p:sp>
      <p:sp>
        <p:nvSpPr>
          <p:cNvPr id="1903" name="Google Shape;1903;p95"/>
          <p:cNvSpPr txBox="1"/>
          <p:nvPr/>
        </p:nvSpPr>
        <p:spPr>
          <a:xfrm>
            <a:off x="2949019" y="2379726"/>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For cross-language ports, lock the structure and ask only for translation. Suppress creative rewrites.</a:t>
            </a:r>
            <a:endParaRPr sz="1100"/>
          </a:p>
        </p:txBody>
      </p:sp>
      <p:sp>
        <p:nvSpPr>
          <p:cNvPr id="1904" name="Google Shape;1904;p95"/>
          <p:cNvSpPr/>
          <p:nvPr/>
        </p:nvSpPr>
        <p:spPr>
          <a:xfrm>
            <a:off x="4883026" y="1817370"/>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905" name="Google Shape;1905;p95"/>
          <p:cNvSpPr txBox="1"/>
          <p:nvPr/>
        </p:nvSpPr>
        <p:spPr>
          <a:xfrm>
            <a:off x="4979041" y="1872234"/>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03</a:t>
            </a:r>
            <a:endParaRPr sz="1100"/>
          </a:p>
        </p:txBody>
      </p:sp>
      <p:sp>
        <p:nvSpPr>
          <p:cNvPr id="1906" name="Google Shape;1906;p95"/>
          <p:cNvSpPr txBox="1"/>
          <p:nvPr/>
        </p:nvSpPr>
        <p:spPr>
          <a:xfrm>
            <a:off x="4979041" y="2023110"/>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Show me three options</a:t>
            </a:r>
            <a:endParaRPr sz="1100"/>
          </a:p>
        </p:txBody>
      </p:sp>
      <p:sp>
        <p:nvSpPr>
          <p:cNvPr id="1907" name="Google Shape;1907;p95"/>
          <p:cNvSpPr txBox="1"/>
          <p:nvPr/>
        </p:nvSpPr>
        <p:spPr>
          <a:xfrm>
            <a:off x="4979041" y="2379726"/>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For design choices, ask for alternatives then pick. Cheaper than guessing which the model will commit to.</a:t>
            </a:r>
            <a:endParaRPr sz="1100"/>
          </a:p>
        </p:txBody>
      </p:sp>
      <p:sp>
        <p:nvSpPr>
          <p:cNvPr id="1908" name="Google Shape;1908;p95"/>
          <p:cNvSpPr/>
          <p:nvPr/>
        </p:nvSpPr>
        <p:spPr>
          <a:xfrm>
            <a:off x="6913048" y="1817370"/>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909" name="Google Shape;1909;p95"/>
          <p:cNvSpPr txBox="1"/>
          <p:nvPr/>
        </p:nvSpPr>
        <p:spPr>
          <a:xfrm>
            <a:off x="7009063" y="1872234"/>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04</a:t>
            </a:r>
            <a:endParaRPr sz="1100"/>
          </a:p>
        </p:txBody>
      </p:sp>
      <p:sp>
        <p:nvSpPr>
          <p:cNvPr id="1910" name="Google Shape;1910;p95"/>
          <p:cNvSpPr txBox="1"/>
          <p:nvPr/>
        </p:nvSpPr>
        <p:spPr>
          <a:xfrm>
            <a:off x="7009063" y="2023110"/>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Explain the diff, line by line</a:t>
            </a:r>
            <a:endParaRPr sz="1100"/>
          </a:p>
        </p:txBody>
      </p:sp>
      <p:sp>
        <p:nvSpPr>
          <p:cNvPr id="1911" name="Google Shape;1911;p95"/>
          <p:cNvSpPr txBox="1"/>
          <p:nvPr/>
        </p:nvSpPr>
        <p:spPr>
          <a:xfrm>
            <a:off x="7009063" y="2379726"/>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Before accepting a change, force a narrated walkthrough. Most subtle bugs surface here.</a:t>
            </a:r>
            <a:endParaRPr sz="1100"/>
          </a:p>
        </p:txBody>
      </p:sp>
      <p:sp>
        <p:nvSpPr>
          <p:cNvPr id="1912" name="Google Shape;1912;p95"/>
          <p:cNvSpPr/>
          <p:nvPr/>
        </p:nvSpPr>
        <p:spPr>
          <a:xfrm>
            <a:off x="822982" y="3072384"/>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913" name="Google Shape;1913;p95"/>
          <p:cNvSpPr txBox="1"/>
          <p:nvPr/>
        </p:nvSpPr>
        <p:spPr>
          <a:xfrm>
            <a:off x="918996" y="3127248"/>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05</a:t>
            </a:r>
            <a:endParaRPr sz="1100"/>
          </a:p>
        </p:txBody>
      </p:sp>
      <p:sp>
        <p:nvSpPr>
          <p:cNvPr id="1914" name="Google Shape;1914;p95"/>
          <p:cNvSpPr txBox="1"/>
          <p:nvPr/>
        </p:nvSpPr>
        <p:spPr>
          <a:xfrm>
            <a:off x="918996" y="3278124"/>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Write the smallest change that passes</a:t>
            </a:r>
            <a:endParaRPr sz="1100"/>
          </a:p>
        </p:txBody>
      </p:sp>
      <p:sp>
        <p:nvSpPr>
          <p:cNvPr id="1915" name="Google Shape;1915;p95"/>
          <p:cNvSpPr txBox="1"/>
          <p:nvPr/>
        </p:nvSpPr>
        <p:spPr>
          <a:xfrm>
            <a:off x="918996" y="3634740"/>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Caps the model's ambition. Stops it refactoring the whole file because it noticed something else.</a:t>
            </a:r>
            <a:endParaRPr sz="1100"/>
          </a:p>
        </p:txBody>
      </p:sp>
      <p:sp>
        <p:nvSpPr>
          <p:cNvPr id="1916" name="Google Shape;1916;p95"/>
          <p:cNvSpPr/>
          <p:nvPr/>
        </p:nvSpPr>
        <p:spPr>
          <a:xfrm>
            <a:off x="2853004" y="3072384"/>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917" name="Google Shape;1917;p95"/>
          <p:cNvSpPr txBox="1"/>
          <p:nvPr/>
        </p:nvSpPr>
        <p:spPr>
          <a:xfrm>
            <a:off x="2949019" y="3127248"/>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06</a:t>
            </a:r>
            <a:endParaRPr sz="1100"/>
          </a:p>
        </p:txBody>
      </p:sp>
      <p:sp>
        <p:nvSpPr>
          <p:cNvPr id="1918" name="Google Shape;1918;p95"/>
          <p:cNvSpPr txBox="1"/>
          <p:nvPr/>
        </p:nvSpPr>
        <p:spPr>
          <a:xfrm>
            <a:off x="2949019" y="3278124"/>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Concrete first, then generalise</a:t>
            </a:r>
            <a:endParaRPr sz="1100"/>
          </a:p>
        </p:txBody>
      </p:sp>
      <p:sp>
        <p:nvSpPr>
          <p:cNvPr id="1919" name="Google Shape;1919;p95"/>
          <p:cNvSpPr txBox="1"/>
          <p:nvPr/>
        </p:nvSpPr>
        <p:spPr>
          <a:xfrm>
            <a:off x="2949019" y="3634740"/>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Worked example first, then abstraction. Abstract-first often compiles but doesn't fit.</a:t>
            </a:r>
            <a:endParaRPr sz="1100"/>
          </a:p>
        </p:txBody>
      </p:sp>
      <p:sp>
        <p:nvSpPr>
          <p:cNvPr id="1920" name="Google Shape;1920;p95"/>
          <p:cNvSpPr/>
          <p:nvPr/>
        </p:nvSpPr>
        <p:spPr>
          <a:xfrm>
            <a:off x="4883026" y="3072384"/>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921" name="Google Shape;1921;p95"/>
          <p:cNvSpPr txBox="1"/>
          <p:nvPr/>
        </p:nvSpPr>
        <p:spPr>
          <a:xfrm>
            <a:off x="4979041" y="3127248"/>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07</a:t>
            </a:r>
            <a:endParaRPr sz="1100"/>
          </a:p>
        </p:txBody>
      </p:sp>
      <p:sp>
        <p:nvSpPr>
          <p:cNvPr id="1922" name="Google Shape;1922;p95"/>
          <p:cNvSpPr txBox="1"/>
          <p:nvPr/>
        </p:nvSpPr>
        <p:spPr>
          <a:xfrm>
            <a:off x="4979041" y="3278124"/>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List the assumptions you made</a:t>
            </a:r>
            <a:endParaRPr sz="1100"/>
          </a:p>
        </p:txBody>
      </p:sp>
      <p:sp>
        <p:nvSpPr>
          <p:cNvPr id="1923" name="Google Shape;1923;p95"/>
          <p:cNvSpPr txBox="1"/>
          <p:nvPr/>
        </p:nvSpPr>
        <p:spPr>
          <a:xfrm>
            <a:off x="4979041" y="3634740"/>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An end-of-answer audit catches half the mistakes before they become bugs.</a:t>
            </a:r>
            <a:endParaRPr sz="1100"/>
          </a:p>
        </p:txBody>
      </p:sp>
      <p:sp>
        <p:nvSpPr>
          <p:cNvPr id="1924" name="Google Shape;1924;p95"/>
          <p:cNvSpPr/>
          <p:nvPr/>
        </p:nvSpPr>
        <p:spPr>
          <a:xfrm>
            <a:off x="6913048" y="3072384"/>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925" name="Google Shape;1925;p95"/>
          <p:cNvSpPr txBox="1"/>
          <p:nvPr/>
        </p:nvSpPr>
        <p:spPr>
          <a:xfrm>
            <a:off x="7009063" y="3127248"/>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08</a:t>
            </a:r>
            <a:endParaRPr sz="1100"/>
          </a:p>
        </p:txBody>
      </p:sp>
      <p:sp>
        <p:nvSpPr>
          <p:cNvPr id="1926" name="Google Shape;1926;p95"/>
          <p:cNvSpPr txBox="1"/>
          <p:nvPr/>
        </p:nvSpPr>
        <p:spPr>
          <a:xfrm>
            <a:off x="7009063" y="3278124"/>
            <a:ext cx="17625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1B1F2A"/>
                </a:solidFill>
                <a:latin typeface="Manrope"/>
                <a:ea typeface="Manrope"/>
                <a:cs typeface="Manrope"/>
                <a:sym typeface="Manrope"/>
              </a:rPr>
              <a:t>Re-read the requirements and try again</a:t>
            </a:r>
            <a:endParaRPr sz="900"/>
          </a:p>
        </p:txBody>
      </p:sp>
      <p:sp>
        <p:nvSpPr>
          <p:cNvPr id="1927" name="Google Shape;1927;p95"/>
          <p:cNvSpPr txBox="1"/>
          <p:nvPr/>
        </p:nvSpPr>
        <p:spPr>
          <a:xfrm>
            <a:off x="7009063" y="3634740"/>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The cheapest debugging move. Often produces a noticeably better second draft.</a:t>
            </a:r>
            <a:endParaRPr sz="1100"/>
          </a:p>
        </p:txBody>
      </p:sp>
      <p:sp>
        <p:nvSpPr>
          <p:cNvPr id="1928" name="Google Shape;1928;p95"/>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2" name="Shape 1932"/>
        <p:cNvGrpSpPr/>
        <p:nvPr/>
      </p:nvGrpSpPr>
      <p:grpSpPr>
        <a:xfrm>
          <a:off x="0" y="0"/>
          <a:ext cx="0" cy="0"/>
          <a:chOff x="0" y="0"/>
          <a:chExt cx="0" cy="0"/>
        </a:xfrm>
      </p:grpSpPr>
      <p:sp>
        <p:nvSpPr>
          <p:cNvPr id="1933" name="Google Shape;1933;p96"/>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1934" name="Google Shape;1934;p96"/>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1935" name="Google Shape;1935;p96"/>
          <p:cNvSpPr txBox="1"/>
          <p:nvPr/>
        </p:nvSpPr>
        <p:spPr>
          <a:xfrm>
            <a:off x="822982" y="946404"/>
            <a:ext cx="7406837" cy="49377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700">
                <a:solidFill>
                  <a:srgbClr val="1B1F2A"/>
                </a:solidFill>
                <a:latin typeface="Manrope"/>
                <a:ea typeface="Manrope"/>
                <a:cs typeface="Manrope"/>
                <a:sym typeface="Manrope"/>
              </a:rPr>
              <a:t>Three code-gen tasks with the highest ROI.</a:t>
            </a:r>
            <a:endParaRPr sz="1100"/>
          </a:p>
        </p:txBody>
      </p:sp>
      <p:sp>
        <p:nvSpPr>
          <p:cNvPr id="1936" name="Google Shape;1936;p96"/>
          <p:cNvSpPr txBox="1"/>
          <p:nvPr/>
        </p:nvSpPr>
        <p:spPr>
          <a:xfrm>
            <a:off x="822982" y="1522476"/>
            <a:ext cx="7406837"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Not every task benefits equally. These three consistently produce outsized time savings across engineering teams.</a:t>
            </a:r>
            <a:endParaRPr sz="1100"/>
          </a:p>
        </p:txBody>
      </p:sp>
      <p:sp>
        <p:nvSpPr>
          <p:cNvPr id="1937" name="Google Shape;1937;p96"/>
          <p:cNvSpPr/>
          <p:nvPr/>
        </p:nvSpPr>
        <p:spPr>
          <a:xfrm>
            <a:off x="822982"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938" name="Google Shape;1938;p96"/>
          <p:cNvSpPr txBox="1"/>
          <p:nvPr/>
        </p:nvSpPr>
        <p:spPr>
          <a:xfrm>
            <a:off x="822982"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TESTS FIRST</a:t>
            </a:r>
            <a:endParaRPr sz="1100"/>
          </a:p>
        </p:txBody>
      </p:sp>
      <p:sp>
        <p:nvSpPr>
          <p:cNvPr id="1939" name="Google Shape;1939;p96"/>
          <p:cNvSpPr txBox="1"/>
          <p:nvPr/>
        </p:nvSpPr>
        <p:spPr>
          <a:xfrm>
            <a:off x="822982" y="2242566"/>
            <a:ext cx="2468946" cy="30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Write the test, then the impl</a:t>
            </a:r>
            <a:endParaRPr sz="1100"/>
          </a:p>
        </p:txBody>
      </p:sp>
      <p:sp>
        <p:nvSpPr>
          <p:cNvPr id="1940" name="Google Shape;1940;p96"/>
          <p:cNvSpPr txBox="1"/>
          <p:nvPr/>
        </p:nvSpPr>
        <p:spPr>
          <a:xfrm>
            <a:off x="822975" y="2818362"/>
            <a:ext cx="2469000" cy="1085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Tests are executable specifications. The model is dramatically better at producing code that passes a concrete test than at 'writing the right code in general.' Bonus: the test suite itself improves.</a:t>
            </a:r>
            <a:endParaRPr sz="1100"/>
          </a:p>
        </p:txBody>
      </p:sp>
      <p:sp>
        <p:nvSpPr>
          <p:cNvPr id="1941" name="Google Shape;1941;p96"/>
          <p:cNvSpPr/>
          <p:nvPr/>
        </p:nvSpPr>
        <p:spPr>
          <a:xfrm>
            <a:off x="3429091"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942" name="Google Shape;1942;p96"/>
          <p:cNvSpPr txBox="1"/>
          <p:nvPr/>
        </p:nvSpPr>
        <p:spPr>
          <a:xfrm>
            <a:off x="3429091"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TARGETED REFACTORS</a:t>
            </a:r>
            <a:endParaRPr sz="1100"/>
          </a:p>
        </p:txBody>
      </p:sp>
      <p:sp>
        <p:nvSpPr>
          <p:cNvPr id="1943" name="Google Shape;1943;p96"/>
          <p:cNvSpPr txBox="1"/>
          <p:nvPr/>
        </p:nvSpPr>
        <p:spPr>
          <a:xfrm>
            <a:off x="3429091" y="2242566"/>
            <a:ext cx="2468946" cy="30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Tedious-but-obvious cleanup</a:t>
            </a:r>
            <a:endParaRPr sz="1100"/>
          </a:p>
        </p:txBody>
      </p:sp>
      <p:sp>
        <p:nvSpPr>
          <p:cNvPr id="1944" name="Google Shape;1944;p96"/>
          <p:cNvSpPr txBox="1"/>
          <p:nvPr/>
        </p:nvSpPr>
        <p:spPr>
          <a:xfrm>
            <a:off x="3429100" y="2818350"/>
            <a:ext cx="2469000" cy="1085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Remove nested ternaries. Extract named helpers. Replace if-else chains with early returns. These tasks used to be deferred because the effort wasn't worth the gain. That calculus has changed.</a:t>
            </a:r>
            <a:endParaRPr sz="1100"/>
          </a:p>
        </p:txBody>
      </p:sp>
      <p:sp>
        <p:nvSpPr>
          <p:cNvPr id="1945" name="Google Shape;1945;p96"/>
          <p:cNvSpPr/>
          <p:nvPr/>
        </p:nvSpPr>
        <p:spPr>
          <a:xfrm>
            <a:off x="6035201"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946" name="Google Shape;1946;p96"/>
          <p:cNvSpPr txBox="1"/>
          <p:nvPr/>
        </p:nvSpPr>
        <p:spPr>
          <a:xfrm>
            <a:off x="6035201"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CROSS-LANGUAGE PORTS</a:t>
            </a:r>
            <a:endParaRPr sz="1100"/>
          </a:p>
        </p:txBody>
      </p:sp>
      <p:sp>
        <p:nvSpPr>
          <p:cNvPr id="1947" name="Google Shape;1947;p96"/>
          <p:cNvSpPr txBox="1"/>
          <p:nvPr/>
        </p:nvSpPr>
        <p:spPr>
          <a:xfrm>
            <a:off x="6035201" y="2242566"/>
            <a:ext cx="2468946" cy="30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Translate, don't redesign</a:t>
            </a:r>
            <a:endParaRPr sz="1100"/>
          </a:p>
        </p:txBody>
      </p:sp>
      <p:sp>
        <p:nvSpPr>
          <p:cNvPr id="1948" name="Google Shape;1948;p96"/>
          <p:cNvSpPr txBox="1"/>
          <p:nvPr/>
        </p:nvSpPr>
        <p:spPr>
          <a:xfrm>
            <a:off x="6035200" y="2818350"/>
            <a:ext cx="2469000" cy="915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Porting a Python prototype to Go or TypeScript. Lock the structure; ask only for idiomatic translation. Run the tests from both sides to verify equivalence.</a:t>
            </a:r>
            <a:endParaRPr sz="1100"/>
          </a:p>
        </p:txBody>
      </p:sp>
      <p:sp>
        <p:nvSpPr>
          <p:cNvPr id="1949" name="Google Shape;1949;p96"/>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3" name="Shape 1953"/>
        <p:cNvGrpSpPr/>
        <p:nvPr/>
      </p:nvGrpSpPr>
      <p:grpSpPr>
        <a:xfrm>
          <a:off x="0" y="0"/>
          <a:ext cx="0" cy="0"/>
          <a:chOff x="0" y="0"/>
          <a:chExt cx="0" cy="0"/>
        </a:xfrm>
      </p:grpSpPr>
      <p:sp>
        <p:nvSpPr>
          <p:cNvPr id="1954" name="Google Shape;1954;p97"/>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1955" name="Google Shape;1955;p97"/>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1956" name="Google Shape;1956;p97"/>
          <p:cNvSpPr txBox="1"/>
          <p:nvPr/>
        </p:nvSpPr>
        <p:spPr>
          <a:xfrm>
            <a:off x="822982" y="946404"/>
            <a:ext cx="7406837"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a:solidFill>
                  <a:srgbClr val="1B1F2A"/>
                </a:solidFill>
                <a:latin typeface="Manrope"/>
                <a:ea typeface="Manrope"/>
                <a:cs typeface="Manrope"/>
                <a:sym typeface="Manrope"/>
              </a:rPr>
              <a:t>Accept-as-is vs. review-and-iterate.</a:t>
            </a:r>
            <a:endParaRPr sz="1100"/>
          </a:p>
        </p:txBody>
      </p:sp>
      <p:sp>
        <p:nvSpPr>
          <p:cNvPr id="1957" name="Google Shape;1957;p97"/>
          <p:cNvSpPr/>
          <p:nvPr/>
        </p:nvSpPr>
        <p:spPr>
          <a:xfrm>
            <a:off x="822982" y="1474470"/>
            <a:ext cx="3497673" cy="30861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958" name="Google Shape;1958;p97"/>
          <p:cNvSpPr/>
          <p:nvPr/>
        </p:nvSpPr>
        <p:spPr>
          <a:xfrm>
            <a:off x="4800728" y="1474470"/>
            <a:ext cx="3497673" cy="3086100"/>
          </a:xfrm>
          <a:prstGeom prst="rect">
            <a:avLst/>
          </a:prstGeom>
          <a:solidFill>
            <a:srgbClr val="FFE3D2"/>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959" name="Google Shape;1959;p97"/>
          <p:cNvSpPr/>
          <p:nvPr/>
        </p:nvSpPr>
        <p:spPr>
          <a:xfrm>
            <a:off x="822982" y="1474470"/>
            <a:ext cx="3497673" cy="329184"/>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960" name="Google Shape;1960;p97"/>
          <p:cNvSpPr txBox="1"/>
          <p:nvPr/>
        </p:nvSpPr>
        <p:spPr>
          <a:xfrm>
            <a:off x="960146" y="1501902"/>
            <a:ext cx="32919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FFFFFF"/>
                </a:solidFill>
                <a:latin typeface="Manrope"/>
                <a:ea typeface="Manrope"/>
                <a:cs typeface="Manrope"/>
                <a:sym typeface="Manrope"/>
              </a:rPr>
              <a:t>Accept-As-Is — Speed Today, Debt Tomorrow</a:t>
            </a:r>
            <a:endParaRPr sz="900"/>
          </a:p>
        </p:txBody>
      </p:sp>
      <p:sp>
        <p:nvSpPr>
          <p:cNvPr id="1961" name="Google Shape;1961;p97"/>
          <p:cNvSpPr/>
          <p:nvPr/>
        </p:nvSpPr>
        <p:spPr>
          <a:xfrm>
            <a:off x="4800728" y="1474470"/>
            <a:ext cx="3497673" cy="329184"/>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962" name="Google Shape;1962;p97"/>
          <p:cNvSpPr txBox="1"/>
          <p:nvPr/>
        </p:nvSpPr>
        <p:spPr>
          <a:xfrm>
            <a:off x="4937900" y="1501900"/>
            <a:ext cx="3291900" cy="377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000">
                <a:solidFill>
                  <a:srgbClr val="FFFFFF"/>
                </a:solidFill>
                <a:latin typeface="Manrope"/>
                <a:ea typeface="Manrope"/>
                <a:cs typeface="Manrope"/>
                <a:sym typeface="Manrope"/>
              </a:rPr>
              <a:t>Review-and-Iterate — The Discipline That Compounds</a:t>
            </a:r>
            <a:endParaRPr sz="800"/>
          </a:p>
        </p:txBody>
      </p:sp>
      <p:sp>
        <p:nvSpPr>
          <p:cNvPr id="1963" name="Google Shape;1963;p97"/>
          <p:cNvSpPr txBox="1"/>
          <p:nvPr/>
        </p:nvSpPr>
        <p:spPr>
          <a:xfrm>
            <a:off x="925855" y="19339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Merge whatever the model produced — tests go green</a:t>
            </a:r>
            <a:endParaRPr sz="1100"/>
          </a:p>
        </p:txBody>
      </p:sp>
      <p:sp>
        <p:nvSpPr>
          <p:cNvPr id="1964" name="Google Shape;1964;p97"/>
          <p:cNvSpPr txBox="1"/>
          <p:nvPr/>
        </p:nvSpPr>
        <p:spPr>
          <a:xfrm>
            <a:off x="925855" y="22768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Style drifts across files and contributors</a:t>
            </a:r>
            <a:endParaRPr sz="1100"/>
          </a:p>
        </p:txBody>
      </p:sp>
      <p:sp>
        <p:nvSpPr>
          <p:cNvPr id="1965" name="Google Shape;1965;p97"/>
          <p:cNvSpPr txBox="1"/>
          <p:nvPr/>
        </p:nvSpPr>
        <p:spPr>
          <a:xfrm>
            <a:off x="925855" y="26197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Patterns multiply; ownership thins out</a:t>
            </a:r>
            <a:endParaRPr sz="1100"/>
          </a:p>
        </p:txBody>
      </p:sp>
      <p:sp>
        <p:nvSpPr>
          <p:cNvPr id="1966" name="Google Shape;1966;p97"/>
          <p:cNvSpPr txBox="1"/>
          <p:nvPr/>
        </p:nvSpPr>
        <p:spPr>
          <a:xfrm>
            <a:off x="925855" y="29626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Bugs planted today surface in production in six weeks</a:t>
            </a:r>
            <a:endParaRPr sz="1100"/>
          </a:p>
        </p:txBody>
      </p:sp>
      <p:sp>
        <p:nvSpPr>
          <p:cNvPr id="1967" name="Google Shape;1967;p97"/>
          <p:cNvSpPr txBox="1"/>
          <p:nvPr/>
        </p:nvSpPr>
        <p:spPr>
          <a:xfrm>
            <a:off x="925855" y="33055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Feels fast until the compounding cost becomes visible</a:t>
            </a:r>
            <a:endParaRPr sz="1100"/>
          </a:p>
        </p:txBody>
      </p:sp>
      <p:sp>
        <p:nvSpPr>
          <p:cNvPr id="1968" name="Google Shape;1968;p97"/>
          <p:cNvSpPr txBox="1"/>
          <p:nvPr/>
        </p:nvSpPr>
        <p:spPr>
          <a:xfrm>
            <a:off x="4903601" y="19339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Every diff read like a colleague's PR before acceptance</a:t>
            </a:r>
            <a:endParaRPr sz="1100"/>
          </a:p>
        </p:txBody>
      </p:sp>
      <p:sp>
        <p:nvSpPr>
          <p:cNvPr id="1969" name="Google Shape;1969;p97"/>
          <p:cNvSpPr txBox="1"/>
          <p:nvPr/>
        </p:nvSpPr>
        <p:spPr>
          <a:xfrm>
            <a:off x="4903601" y="22768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Style and patterns stay coherent — you are the editor</a:t>
            </a:r>
            <a:endParaRPr sz="1100"/>
          </a:p>
        </p:txBody>
      </p:sp>
      <p:sp>
        <p:nvSpPr>
          <p:cNvPr id="1970" name="Google Shape;1970;p97"/>
          <p:cNvSpPr txBox="1"/>
          <p:nvPr/>
        </p:nvSpPr>
        <p:spPr>
          <a:xfrm>
            <a:off x="4903601" y="26197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Bugs caught at the keyboard, not in the on-call rotation</a:t>
            </a:r>
            <a:endParaRPr sz="1100"/>
          </a:p>
        </p:txBody>
      </p:sp>
      <p:sp>
        <p:nvSpPr>
          <p:cNvPr id="1971" name="Google Shape;1971;p97"/>
          <p:cNvSpPr txBox="1"/>
          <p:nvPr/>
        </p:nvSpPr>
        <p:spPr>
          <a:xfrm>
            <a:off x="4903601" y="29626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Slower per change in week one; faster and safer by month three</a:t>
            </a:r>
            <a:endParaRPr sz="1100"/>
          </a:p>
        </p:txBody>
      </p:sp>
      <p:sp>
        <p:nvSpPr>
          <p:cNvPr id="1972" name="Google Shape;1972;p97"/>
          <p:cNvSpPr txBox="1"/>
          <p:nvPr/>
        </p:nvSpPr>
        <p:spPr>
          <a:xfrm>
            <a:off x="4903601" y="33055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Team knowledge grows because engineers still read everything</a:t>
            </a:r>
            <a:endParaRPr sz="1100"/>
          </a:p>
        </p:txBody>
      </p:sp>
      <p:sp>
        <p:nvSpPr>
          <p:cNvPr id="1973" name="Google Shape;1973;p97"/>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7" name="Shape 1977"/>
        <p:cNvGrpSpPr/>
        <p:nvPr/>
      </p:nvGrpSpPr>
      <p:grpSpPr>
        <a:xfrm>
          <a:off x="0" y="0"/>
          <a:ext cx="0" cy="0"/>
          <a:chOff x="0" y="0"/>
          <a:chExt cx="0" cy="0"/>
        </a:xfrm>
      </p:grpSpPr>
      <p:sp>
        <p:nvSpPr>
          <p:cNvPr id="1978" name="Google Shape;1978;p98"/>
          <p:cNvSpPr/>
          <p:nvPr/>
        </p:nvSpPr>
        <p:spPr>
          <a:xfrm>
            <a:off x="10948" y="21915"/>
            <a:ext cx="9144000" cy="51435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979" name="Google Shape;1979;p98"/>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1980" name="Google Shape;1980;p98"/>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1981" name="Google Shape;1981;p98"/>
          <p:cNvSpPr txBox="1"/>
          <p:nvPr/>
        </p:nvSpPr>
        <p:spPr>
          <a:xfrm>
            <a:off x="822982" y="1097280"/>
            <a:ext cx="3086182" cy="19202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0">
                <a:solidFill>
                  <a:srgbClr val="FF671F"/>
                </a:solidFill>
                <a:latin typeface="Manrope"/>
                <a:ea typeface="Manrope"/>
                <a:cs typeface="Manrope"/>
                <a:sym typeface="Manrope"/>
              </a:rPr>
              <a:t>26</a:t>
            </a:r>
            <a:endParaRPr sz="1100"/>
          </a:p>
        </p:txBody>
      </p:sp>
      <p:sp>
        <p:nvSpPr>
          <p:cNvPr id="1982" name="Google Shape;1982;p98"/>
          <p:cNvSpPr txBox="1"/>
          <p:nvPr/>
        </p:nvSpPr>
        <p:spPr>
          <a:xfrm>
            <a:off x="2386727" y="1440175"/>
            <a:ext cx="1077600" cy="623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3600">
                <a:solidFill>
                  <a:srgbClr val="1B1F2A"/>
                </a:solidFill>
                <a:latin typeface="Manrope"/>
                <a:ea typeface="Manrope"/>
                <a:cs typeface="Manrope"/>
                <a:sym typeface="Manrope"/>
              </a:rPr>
              <a:t>%</a:t>
            </a:r>
            <a:endParaRPr sz="1100"/>
          </a:p>
        </p:txBody>
      </p:sp>
      <p:sp>
        <p:nvSpPr>
          <p:cNvPr id="1983" name="Google Shape;1983;p98"/>
          <p:cNvSpPr txBox="1"/>
          <p:nvPr/>
        </p:nvSpPr>
        <p:spPr>
          <a:xfrm>
            <a:off x="4698675" y="1440186"/>
            <a:ext cx="4114800" cy="2870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600">
                <a:solidFill>
                  <a:srgbClr val="1B1F2A"/>
                </a:solidFill>
                <a:latin typeface="Manrope"/>
                <a:ea typeface="Manrope"/>
                <a:cs typeface="Manrope"/>
                <a:sym typeface="Manrope"/>
              </a:rPr>
              <a:t>Faster task completion for engineers using AI assistants — concentrated in less-experienced engineers and routine work.</a:t>
            </a:r>
            <a:endParaRPr sz="1100"/>
          </a:p>
        </p:txBody>
      </p:sp>
      <p:sp>
        <p:nvSpPr>
          <p:cNvPr id="1984" name="Google Shape;1984;p98"/>
          <p:cNvSpPr/>
          <p:nvPr/>
        </p:nvSpPr>
        <p:spPr>
          <a:xfrm>
            <a:off x="4457819" y="2743200"/>
            <a:ext cx="34291" cy="13716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985" name="Google Shape;1985;p98"/>
          <p:cNvSpPr txBox="1"/>
          <p:nvPr/>
        </p:nvSpPr>
        <p:spPr>
          <a:xfrm>
            <a:off x="377207" y="2743200"/>
            <a:ext cx="3977700" cy="1793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400">
                <a:solidFill>
                  <a:srgbClr val="8B95A6"/>
                </a:solidFill>
                <a:latin typeface="Manrope"/>
                <a:ea typeface="Manrope"/>
                <a:cs typeface="Manrope"/>
                <a:sym typeface="Manrope"/>
              </a:rPr>
              <a:t>Source: large-scale field study across thousands of developers, 202</a:t>
            </a:r>
            <a:r>
              <a:rPr lang="en-GB">
                <a:solidFill>
                  <a:srgbClr val="8B95A6"/>
                </a:solidFill>
                <a:latin typeface="Manrope"/>
                <a:ea typeface="Manrope"/>
                <a:cs typeface="Manrope"/>
                <a:sym typeface="Manrope"/>
              </a:rPr>
              <a:t>6</a:t>
            </a:r>
            <a:r>
              <a:rPr b="0" i="0" lang="en-GB" sz="1400">
                <a:solidFill>
                  <a:srgbClr val="8B95A6"/>
                </a:solidFill>
                <a:latin typeface="Manrope"/>
                <a:ea typeface="Manrope"/>
                <a:cs typeface="Manrope"/>
                <a:sym typeface="Manrope"/>
              </a:rPr>
              <a:t>. Senior engineers see smaller speed gains but larger gains in daily scope — they range further per sprint, touching more components and unfamiliar codebases. The productivity delta grows over time as engineers develop better prompting intuition.</a:t>
            </a:r>
            <a:endParaRPr sz="1100"/>
          </a:p>
        </p:txBody>
      </p:sp>
      <p:sp>
        <p:nvSpPr>
          <p:cNvPr id="1986" name="Google Shape;1986;p98"/>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0" name="Shape 1990"/>
        <p:cNvGrpSpPr/>
        <p:nvPr/>
      </p:nvGrpSpPr>
      <p:grpSpPr>
        <a:xfrm>
          <a:off x="0" y="0"/>
          <a:ext cx="0" cy="0"/>
          <a:chOff x="0" y="0"/>
          <a:chExt cx="0" cy="0"/>
        </a:xfrm>
      </p:grpSpPr>
      <p:sp>
        <p:nvSpPr>
          <p:cNvPr id="1991" name="Google Shape;1991;p99"/>
          <p:cNvSpPr/>
          <p:nvPr/>
        </p:nvSpPr>
        <p:spPr>
          <a:xfrm>
            <a:off x="10948" y="21897"/>
            <a:ext cx="9144000" cy="5143500"/>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1992" name="Google Shape;1992;p99"/>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FFFFFF"/>
                </a:solidFill>
                <a:latin typeface="Manrope"/>
                <a:ea typeface="Manrope"/>
                <a:cs typeface="Manrope"/>
                <a:sym typeface="Manrope"/>
              </a:rPr>
              <a:t>GlobalLogic</a:t>
            </a:r>
            <a:endParaRPr sz="1100"/>
          </a:p>
        </p:txBody>
      </p:sp>
      <p:sp>
        <p:nvSpPr>
          <p:cNvPr id="1993" name="Google Shape;1993;p99"/>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C9CFD8"/>
                </a:solidFill>
                <a:latin typeface="Manrope"/>
                <a:ea typeface="Manrope"/>
                <a:cs typeface="Manrope"/>
                <a:sym typeface="Manrope"/>
              </a:rPr>
              <a:t>A Hitachi Group Company</a:t>
            </a:r>
            <a:endParaRPr sz="1100"/>
          </a:p>
        </p:txBody>
      </p:sp>
      <p:sp>
        <p:nvSpPr>
          <p:cNvPr id="1994" name="Google Shape;1994;p99"/>
          <p:cNvSpPr txBox="1"/>
          <p:nvPr/>
        </p:nvSpPr>
        <p:spPr>
          <a:xfrm>
            <a:off x="822982" y="1371600"/>
            <a:ext cx="5486546"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SECTION 06</a:t>
            </a:r>
            <a:endParaRPr sz="1100"/>
          </a:p>
        </p:txBody>
      </p:sp>
      <p:sp>
        <p:nvSpPr>
          <p:cNvPr id="1995" name="Google Shape;1995;p99"/>
          <p:cNvSpPr txBox="1"/>
          <p:nvPr/>
        </p:nvSpPr>
        <p:spPr>
          <a:xfrm>
            <a:off x="822982" y="1714500"/>
            <a:ext cx="6172500" cy="1546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4800">
                <a:solidFill>
                  <a:srgbClr val="FFFFFF"/>
                </a:solidFill>
                <a:latin typeface="Manrope"/>
                <a:ea typeface="Manrope"/>
                <a:cs typeface="Manrope"/>
                <a:sym typeface="Manrope"/>
              </a:rPr>
              <a:t>Testing, Debugging</a:t>
            </a:r>
            <a:br>
              <a:rPr b="1" i="0" lang="en-GB" sz="4800">
                <a:solidFill>
                  <a:srgbClr val="FFFFFF"/>
                </a:solidFill>
                <a:latin typeface="Manrope"/>
                <a:ea typeface="Manrope"/>
                <a:cs typeface="Manrope"/>
                <a:sym typeface="Manrope"/>
              </a:rPr>
            </a:br>
            <a:r>
              <a:rPr b="1" i="0" lang="en-GB" sz="4800">
                <a:solidFill>
                  <a:srgbClr val="FFFFFF"/>
                </a:solidFill>
                <a:latin typeface="Manrope"/>
                <a:ea typeface="Manrope"/>
                <a:cs typeface="Manrope"/>
                <a:sym typeface="Manrope"/>
              </a:rPr>
              <a:t>&amp; Review.</a:t>
            </a:r>
            <a:endParaRPr sz="200"/>
          </a:p>
        </p:txBody>
      </p:sp>
      <p:sp>
        <p:nvSpPr>
          <p:cNvPr id="1996" name="Google Shape;1996;p99"/>
          <p:cNvSpPr txBox="1"/>
          <p:nvPr/>
        </p:nvSpPr>
        <p:spPr>
          <a:xfrm>
            <a:off x="822982" y="3429000"/>
            <a:ext cx="6172365" cy="8229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700">
                <a:solidFill>
                  <a:srgbClr val="C9CFD8"/>
                </a:solidFill>
                <a:latin typeface="Manrope"/>
                <a:ea typeface="Manrope"/>
                <a:cs typeface="Manrope"/>
                <a:sym typeface="Manrope"/>
              </a:rPr>
              <a:t>The model as a quality partner — sometimes excellent, sometimes confidently wrong. Both useful, if you know which is which.</a:t>
            </a:r>
            <a:endParaRPr sz="1100"/>
          </a:p>
        </p:txBody>
      </p:sp>
      <p:sp>
        <p:nvSpPr>
          <p:cNvPr id="1997" name="Google Shape;1997;p99"/>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FFFFFF"/>
                </a:solidFill>
                <a:latin typeface="Courier New"/>
                <a:ea typeface="Courier New"/>
                <a:cs typeface="Courier New"/>
                <a:sym typeface="Courier New"/>
              </a:rPr>
              <a:t>globallogic.com</a:t>
            </a:r>
            <a:endParaRPr sz="1100"/>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1" name="Shape 2001"/>
        <p:cNvGrpSpPr/>
        <p:nvPr/>
      </p:nvGrpSpPr>
      <p:grpSpPr>
        <a:xfrm>
          <a:off x="0" y="0"/>
          <a:ext cx="0" cy="0"/>
          <a:chOff x="0" y="0"/>
          <a:chExt cx="0" cy="0"/>
        </a:xfrm>
      </p:grpSpPr>
      <p:sp>
        <p:nvSpPr>
          <p:cNvPr id="2002" name="Google Shape;2002;p100"/>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2003" name="Google Shape;2003;p100"/>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2004" name="Google Shape;2004;p100"/>
          <p:cNvSpPr txBox="1"/>
          <p:nvPr/>
        </p:nvSpPr>
        <p:spPr>
          <a:xfrm>
            <a:off x="822982" y="720090"/>
            <a:ext cx="54865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SECTION 06</a:t>
            </a:r>
            <a:endParaRPr sz="1100"/>
          </a:p>
        </p:txBody>
      </p:sp>
      <p:sp>
        <p:nvSpPr>
          <p:cNvPr id="2005" name="Google Shape;2005;p100"/>
          <p:cNvSpPr txBox="1"/>
          <p:nvPr/>
        </p:nvSpPr>
        <p:spPr>
          <a:xfrm>
            <a:off x="822982" y="946404"/>
            <a:ext cx="7406700" cy="43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400">
                <a:solidFill>
                  <a:srgbClr val="1B1F2A"/>
                </a:solidFill>
                <a:latin typeface="Manrope"/>
                <a:ea typeface="Manrope"/>
                <a:cs typeface="Manrope"/>
                <a:sym typeface="Manrope"/>
              </a:rPr>
              <a:t>Three numbers worth tracking on AI-assisted QA.</a:t>
            </a:r>
            <a:endParaRPr sz="800"/>
          </a:p>
        </p:txBody>
      </p:sp>
      <p:sp>
        <p:nvSpPr>
          <p:cNvPr id="2006" name="Google Shape;2006;p100"/>
          <p:cNvSpPr txBox="1"/>
          <p:nvPr/>
        </p:nvSpPr>
        <p:spPr>
          <a:xfrm>
            <a:off x="822982" y="1522476"/>
            <a:ext cx="7406837"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Measurable outcomes from teams that paired AI tooling with deliberate quality processes over a six-week ramp-up period.</a:t>
            </a:r>
            <a:endParaRPr sz="1100"/>
          </a:p>
        </p:txBody>
      </p:sp>
      <p:sp>
        <p:nvSpPr>
          <p:cNvPr id="2007" name="Google Shape;2007;p100"/>
          <p:cNvSpPr/>
          <p:nvPr/>
        </p:nvSpPr>
        <p:spPr>
          <a:xfrm>
            <a:off x="822982"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008" name="Google Shape;2008;p100"/>
          <p:cNvSpPr txBox="1"/>
          <p:nvPr/>
        </p:nvSpPr>
        <p:spPr>
          <a:xfrm>
            <a:off x="822982"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+18 PP</a:t>
            </a:r>
            <a:endParaRPr sz="1100"/>
          </a:p>
        </p:txBody>
      </p:sp>
      <p:sp>
        <p:nvSpPr>
          <p:cNvPr id="2009" name="Google Shape;2009;p100"/>
          <p:cNvSpPr txBox="1"/>
          <p:nvPr/>
        </p:nvSpPr>
        <p:spPr>
          <a:xfrm>
            <a:off x="822982" y="2242566"/>
            <a:ext cx="2468946" cy="30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Test coverage uplift</a:t>
            </a:r>
            <a:endParaRPr sz="1100"/>
          </a:p>
        </p:txBody>
      </p:sp>
      <p:sp>
        <p:nvSpPr>
          <p:cNvPr id="2010" name="Google Shape;2010;p100"/>
          <p:cNvSpPr txBox="1"/>
          <p:nvPr/>
        </p:nvSpPr>
        <p:spPr>
          <a:xfrm>
            <a:off x="822975" y="2840250"/>
            <a:ext cx="2469000" cy="915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Average gain on legacy projects when AI test generation is paired with a coverage gate. The gate matters — without it, the tests don't get written.</a:t>
            </a:r>
            <a:endParaRPr sz="1100"/>
          </a:p>
        </p:txBody>
      </p:sp>
      <p:sp>
        <p:nvSpPr>
          <p:cNvPr id="2011" name="Google Shape;2011;p100"/>
          <p:cNvSpPr/>
          <p:nvPr/>
        </p:nvSpPr>
        <p:spPr>
          <a:xfrm>
            <a:off x="3429091"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012" name="Google Shape;2012;p100"/>
          <p:cNvSpPr txBox="1"/>
          <p:nvPr/>
        </p:nvSpPr>
        <p:spPr>
          <a:xfrm>
            <a:off x="3429091"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2.4×</a:t>
            </a:r>
            <a:endParaRPr sz="1100"/>
          </a:p>
        </p:txBody>
      </p:sp>
      <p:sp>
        <p:nvSpPr>
          <p:cNvPr id="2013" name="Google Shape;2013;p100"/>
          <p:cNvSpPr txBox="1"/>
          <p:nvPr/>
        </p:nvSpPr>
        <p:spPr>
          <a:xfrm>
            <a:off x="3429091" y="2242566"/>
            <a:ext cx="2468946" cy="30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Bugs caught at review</a:t>
            </a:r>
            <a:endParaRPr sz="1100"/>
          </a:p>
        </p:txBody>
      </p:sp>
      <p:sp>
        <p:nvSpPr>
          <p:cNvPr id="2014" name="Google Shape;2014;p100"/>
          <p:cNvSpPr txBox="1"/>
          <p:nvPr/>
        </p:nvSpPr>
        <p:spPr>
          <a:xfrm>
            <a:off x="3429100" y="2840262"/>
            <a:ext cx="2469000" cy="1085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More issues found earlier when AI runs a first-pass review before the human reviewer. Style nits, null dereferences, and obvious edge cases are surfaced at PR time, not production.</a:t>
            </a:r>
            <a:endParaRPr sz="1100"/>
          </a:p>
        </p:txBody>
      </p:sp>
      <p:sp>
        <p:nvSpPr>
          <p:cNvPr id="2015" name="Google Shape;2015;p100"/>
          <p:cNvSpPr/>
          <p:nvPr/>
        </p:nvSpPr>
        <p:spPr>
          <a:xfrm>
            <a:off x="6035201"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016" name="Google Shape;2016;p100"/>
          <p:cNvSpPr txBox="1"/>
          <p:nvPr/>
        </p:nvSpPr>
        <p:spPr>
          <a:xfrm>
            <a:off x="6035201"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~30 %</a:t>
            </a:r>
            <a:endParaRPr sz="1100"/>
          </a:p>
        </p:txBody>
      </p:sp>
      <p:sp>
        <p:nvSpPr>
          <p:cNvPr id="2017" name="Google Shape;2017;p100"/>
          <p:cNvSpPr txBox="1"/>
          <p:nvPr/>
        </p:nvSpPr>
        <p:spPr>
          <a:xfrm>
            <a:off x="6035201" y="2242566"/>
            <a:ext cx="2468946" cy="30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Time saved on flake triage</a:t>
            </a:r>
            <a:endParaRPr sz="1100"/>
          </a:p>
        </p:txBody>
      </p:sp>
      <p:sp>
        <p:nvSpPr>
          <p:cNvPr id="2018" name="Google Shape;2018;p100"/>
          <p:cNvSpPr txBox="1"/>
          <p:nvPr/>
        </p:nvSpPr>
        <p:spPr>
          <a:xfrm>
            <a:off x="6035200" y="2829312"/>
            <a:ext cx="2469000" cy="915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Models are good at scanning logs and reproducing flakes with minimal input. They are not reliably good at fixing the root cause alone — always verify the proposed fix.</a:t>
            </a:r>
            <a:endParaRPr sz="1100"/>
          </a:p>
        </p:txBody>
      </p:sp>
      <p:sp>
        <p:nvSpPr>
          <p:cNvPr id="2019" name="Google Shape;2019;p100"/>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3" name="Shape 2023"/>
        <p:cNvGrpSpPr/>
        <p:nvPr/>
      </p:nvGrpSpPr>
      <p:grpSpPr>
        <a:xfrm>
          <a:off x="0" y="0"/>
          <a:ext cx="0" cy="0"/>
          <a:chOff x="0" y="0"/>
          <a:chExt cx="0" cy="0"/>
        </a:xfrm>
      </p:grpSpPr>
      <p:sp>
        <p:nvSpPr>
          <p:cNvPr id="2024" name="Google Shape;2024;p101"/>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2025" name="Google Shape;2025;p101"/>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2026" name="Google Shape;2026;p101"/>
          <p:cNvSpPr txBox="1"/>
          <p:nvPr/>
        </p:nvSpPr>
        <p:spPr>
          <a:xfrm>
            <a:off x="822982" y="720090"/>
            <a:ext cx="54865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SECTION 06</a:t>
            </a:r>
            <a:endParaRPr sz="1100"/>
          </a:p>
        </p:txBody>
      </p:sp>
      <p:sp>
        <p:nvSpPr>
          <p:cNvPr id="2027" name="Google Shape;2027;p101"/>
          <p:cNvSpPr txBox="1"/>
          <p:nvPr/>
        </p:nvSpPr>
        <p:spPr>
          <a:xfrm>
            <a:off x="822982" y="946404"/>
            <a:ext cx="7406837" cy="4114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a:solidFill>
                  <a:srgbClr val="1B1F2A"/>
                </a:solidFill>
                <a:latin typeface="Manrope"/>
                <a:ea typeface="Manrope"/>
                <a:cs typeface="Manrope"/>
                <a:sym typeface="Manrope"/>
              </a:rPr>
              <a:t>Eight QA tasks AI does consistently well.</a:t>
            </a:r>
            <a:endParaRPr sz="1100"/>
          </a:p>
        </p:txBody>
      </p:sp>
      <p:sp>
        <p:nvSpPr>
          <p:cNvPr id="2028" name="Google Shape;2028;p101"/>
          <p:cNvSpPr txBox="1"/>
          <p:nvPr/>
        </p:nvSpPr>
        <p:spPr>
          <a:xfrm>
            <a:off x="822982" y="1440180"/>
            <a:ext cx="7406837" cy="22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Roughly in order of value for most teams in their first month of AI-assisted testing.</a:t>
            </a:r>
            <a:endParaRPr sz="1100"/>
          </a:p>
        </p:txBody>
      </p:sp>
      <p:sp>
        <p:nvSpPr>
          <p:cNvPr id="2029" name="Google Shape;2029;p101"/>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
        <p:nvSpPr>
          <p:cNvPr id="2030" name="Google Shape;2030;p101"/>
          <p:cNvSpPr/>
          <p:nvPr/>
        </p:nvSpPr>
        <p:spPr>
          <a:xfrm>
            <a:off x="853975" y="1839300"/>
            <a:ext cx="7407000" cy="2421000"/>
          </a:xfrm>
          <a:prstGeom prst="rect">
            <a:avLst/>
          </a:prstGeom>
          <a:solidFill>
            <a:srgbClr val="F1F2F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031" name="Google Shape;2031;p101"/>
          <p:cNvSpPr txBox="1"/>
          <p:nvPr/>
        </p:nvSpPr>
        <p:spPr>
          <a:xfrm>
            <a:off x="822982" y="1865376"/>
            <a:ext cx="36348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01  </a:t>
            </a:r>
            <a:r>
              <a:rPr b="1" lang="en-GB" sz="1200">
                <a:solidFill>
                  <a:srgbClr val="1B1F2A"/>
                </a:solidFill>
                <a:latin typeface="Manrope"/>
                <a:ea typeface="Manrope"/>
                <a:cs typeface="Manrope"/>
                <a:sym typeface="Manrope"/>
              </a:rPr>
              <a:t>Edge-case enumeration</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'Given this signature, what cases am I likely missing?' Almost always surfaces three you forgot.</a:t>
            </a:r>
            <a:endParaRPr sz="1100"/>
          </a:p>
        </p:txBody>
      </p:sp>
      <p:sp>
        <p:nvSpPr>
          <p:cNvPr id="2032" name="Google Shape;2032;p101"/>
          <p:cNvSpPr txBox="1"/>
          <p:nvPr/>
        </p:nvSpPr>
        <p:spPr>
          <a:xfrm>
            <a:off x="822982" y="2385446"/>
            <a:ext cx="36348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02  </a:t>
            </a:r>
            <a:r>
              <a:rPr b="1" lang="en-GB" sz="1200">
                <a:solidFill>
                  <a:srgbClr val="1B1F2A"/>
                </a:solidFill>
                <a:latin typeface="Manrope"/>
                <a:ea typeface="Manrope"/>
                <a:cs typeface="Manrope"/>
                <a:sym typeface="Manrope"/>
              </a:rPr>
              <a:t>Property-based test seeds</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Generators and invariants written from a function description in seconds.</a:t>
            </a:r>
            <a:endParaRPr sz="1100"/>
          </a:p>
        </p:txBody>
      </p:sp>
      <p:sp>
        <p:nvSpPr>
          <p:cNvPr id="2033" name="Google Shape;2033;p101"/>
          <p:cNvSpPr txBox="1"/>
          <p:nvPr/>
        </p:nvSpPr>
        <p:spPr>
          <a:xfrm>
            <a:off x="822982" y="2919441"/>
            <a:ext cx="36348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03  </a:t>
            </a:r>
            <a:r>
              <a:rPr b="1" lang="en-GB" sz="1200">
                <a:solidFill>
                  <a:srgbClr val="1B1F2A"/>
                </a:solidFill>
                <a:latin typeface="Manrope"/>
                <a:ea typeface="Manrope"/>
                <a:cs typeface="Manrope"/>
                <a:sym typeface="Manrope"/>
              </a:rPr>
              <a:t>Stack-trace explanation</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Paste the trace; get a readable hypothesis. Treat it as a starting point, not a verdict.</a:t>
            </a:r>
            <a:endParaRPr sz="1100"/>
          </a:p>
        </p:txBody>
      </p:sp>
      <p:sp>
        <p:nvSpPr>
          <p:cNvPr id="2034" name="Google Shape;2034;p101"/>
          <p:cNvSpPr txBox="1"/>
          <p:nvPr/>
        </p:nvSpPr>
        <p:spPr>
          <a:xfrm>
            <a:off x="822982" y="3664011"/>
            <a:ext cx="36348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04  </a:t>
            </a:r>
            <a:r>
              <a:rPr b="1" lang="en-GB" sz="1200">
                <a:solidFill>
                  <a:srgbClr val="1B1F2A"/>
                </a:solidFill>
                <a:latin typeface="Manrope"/>
                <a:ea typeface="Manrope"/>
                <a:cs typeface="Manrope"/>
                <a:sym typeface="Manrope"/>
              </a:rPr>
              <a:t>Repro minimisation</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'Reduce this 200-line failing test to the smallest case that still fails.'</a:t>
            </a:r>
            <a:endParaRPr sz="1100"/>
          </a:p>
        </p:txBody>
      </p:sp>
      <p:sp>
        <p:nvSpPr>
          <p:cNvPr id="2035" name="Google Shape;2035;p101"/>
          <p:cNvSpPr txBox="1"/>
          <p:nvPr/>
        </p:nvSpPr>
        <p:spPr>
          <a:xfrm>
            <a:off x="4869310" y="1865376"/>
            <a:ext cx="36348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05  </a:t>
            </a:r>
            <a:r>
              <a:rPr b="1" lang="en-GB" sz="1200">
                <a:solidFill>
                  <a:srgbClr val="1B1F2A"/>
                </a:solidFill>
                <a:latin typeface="Manrope"/>
                <a:ea typeface="Manrope"/>
                <a:cs typeface="Manrope"/>
                <a:sym typeface="Manrope"/>
              </a:rPr>
              <a:t>Fixture &amp; seed data</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Realistic test data on demand, generated to your exact schema, in volume.</a:t>
            </a:r>
            <a:endParaRPr sz="1100"/>
          </a:p>
        </p:txBody>
      </p:sp>
      <p:sp>
        <p:nvSpPr>
          <p:cNvPr id="2036" name="Google Shape;2036;p101"/>
          <p:cNvSpPr txBox="1"/>
          <p:nvPr/>
        </p:nvSpPr>
        <p:spPr>
          <a:xfrm>
            <a:off x="4869310" y="2427271"/>
            <a:ext cx="36348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06  </a:t>
            </a:r>
            <a:r>
              <a:rPr b="1" lang="en-GB" sz="1200">
                <a:solidFill>
                  <a:srgbClr val="1B1F2A"/>
                </a:solidFill>
                <a:latin typeface="Manrope"/>
                <a:ea typeface="Manrope"/>
                <a:cs typeface="Manrope"/>
                <a:sym typeface="Manrope"/>
              </a:rPr>
              <a:t>Snapshot diff explanation</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Why a snapshot test broke, in human terms, with a prediction of which change caused it.</a:t>
            </a:r>
            <a:endParaRPr sz="1100"/>
          </a:p>
        </p:txBody>
      </p:sp>
      <p:sp>
        <p:nvSpPr>
          <p:cNvPr id="2037" name="Google Shape;2037;p101"/>
          <p:cNvSpPr txBox="1"/>
          <p:nvPr/>
        </p:nvSpPr>
        <p:spPr>
          <a:xfrm>
            <a:off x="4803635" y="2979803"/>
            <a:ext cx="36348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07  </a:t>
            </a:r>
            <a:r>
              <a:rPr b="1" lang="en-GB" sz="1200">
                <a:solidFill>
                  <a:srgbClr val="1B1F2A"/>
                </a:solidFill>
                <a:latin typeface="Manrope"/>
                <a:ea typeface="Manrope"/>
                <a:cs typeface="Manrope"/>
                <a:sym typeface="Manrope"/>
              </a:rPr>
              <a:t>Review-comment first pass</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Style, naming, missed null checks — before a human reviewer's time is spent on them.</a:t>
            </a:r>
            <a:endParaRPr sz="1100"/>
          </a:p>
        </p:txBody>
      </p:sp>
      <p:sp>
        <p:nvSpPr>
          <p:cNvPr id="2038" name="Google Shape;2038;p101"/>
          <p:cNvSpPr txBox="1"/>
          <p:nvPr/>
        </p:nvSpPr>
        <p:spPr>
          <a:xfrm>
            <a:off x="4803635" y="3648486"/>
            <a:ext cx="36348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08  </a:t>
            </a:r>
            <a:r>
              <a:rPr b="1" lang="en-GB" sz="1200">
                <a:solidFill>
                  <a:srgbClr val="1B1F2A"/>
                </a:solidFill>
                <a:latin typeface="Manrope"/>
                <a:ea typeface="Manrope"/>
                <a:cs typeface="Manrope"/>
                <a:sym typeface="Manrope"/>
              </a:rPr>
              <a:t>Migration safety scans</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'Here's a schema change. What old code paths still assume the old shape?'</a:t>
            </a:r>
            <a:endParaRPr sz="1100"/>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2" name="Shape 2042"/>
        <p:cNvGrpSpPr/>
        <p:nvPr/>
      </p:nvGrpSpPr>
      <p:grpSpPr>
        <a:xfrm>
          <a:off x="0" y="0"/>
          <a:ext cx="0" cy="0"/>
          <a:chOff x="0" y="0"/>
          <a:chExt cx="0" cy="0"/>
        </a:xfrm>
      </p:grpSpPr>
      <p:sp>
        <p:nvSpPr>
          <p:cNvPr id="2043" name="Google Shape;2043;p102"/>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2044" name="Google Shape;2044;p102"/>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2045" name="Google Shape;2045;p102"/>
          <p:cNvSpPr txBox="1"/>
          <p:nvPr/>
        </p:nvSpPr>
        <p:spPr>
          <a:xfrm>
            <a:off x="822982" y="720090"/>
            <a:ext cx="54865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SECTION 06</a:t>
            </a:r>
            <a:endParaRPr sz="1100"/>
          </a:p>
        </p:txBody>
      </p:sp>
      <p:sp>
        <p:nvSpPr>
          <p:cNvPr id="2046" name="Google Shape;2046;p102"/>
          <p:cNvSpPr txBox="1"/>
          <p:nvPr/>
        </p:nvSpPr>
        <p:spPr>
          <a:xfrm>
            <a:off x="822982" y="946404"/>
            <a:ext cx="7406837"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a:solidFill>
                  <a:srgbClr val="1B1F2A"/>
                </a:solidFill>
                <a:latin typeface="Manrope"/>
                <a:ea typeface="Manrope"/>
                <a:cs typeface="Manrope"/>
                <a:sym typeface="Manrope"/>
              </a:rPr>
              <a:t>Pure human review vs. AI-assisted review.</a:t>
            </a:r>
            <a:endParaRPr sz="1100"/>
          </a:p>
        </p:txBody>
      </p:sp>
      <p:sp>
        <p:nvSpPr>
          <p:cNvPr id="2047" name="Google Shape;2047;p102"/>
          <p:cNvSpPr/>
          <p:nvPr/>
        </p:nvSpPr>
        <p:spPr>
          <a:xfrm>
            <a:off x="822982" y="1474470"/>
            <a:ext cx="3497673" cy="30861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048" name="Google Shape;2048;p102"/>
          <p:cNvSpPr/>
          <p:nvPr/>
        </p:nvSpPr>
        <p:spPr>
          <a:xfrm>
            <a:off x="4800728" y="1474470"/>
            <a:ext cx="3497673" cy="3086100"/>
          </a:xfrm>
          <a:prstGeom prst="rect">
            <a:avLst/>
          </a:prstGeom>
          <a:solidFill>
            <a:srgbClr val="FFE3D2"/>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049" name="Google Shape;2049;p102"/>
          <p:cNvSpPr/>
          <p:nvPr/>
        </p:nvSpPr>
        <p:spPr>
          <a:xfrm>
            <a:off x="822982" y="1474470"/>
            <a:ext cx="3497673" cy="329184"/>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050" name="Google Shape;2050;p102"/>
          <p:cNvSpPr txBox="1"/>
          <p:nvPr/>
        </p:nvSpPr>
        <p:spPr>
          <a:xfrm>
            <a:off x="960146" y="1501902"/>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300">
                <a:solidFill>
                  <a:srgbClr val="FFFFFF"/>
                </a:solidFill>
                <a:latin typeface="Manrope"/>
                <a:ea typeface="Manrope"/>
                <a:cs typeface="Manrope"/>
                <a:sym typeface="Manrope"/>
              </a:rPr>
              <a:t>Pure Human Review</a:t>
            </a:r>
            <a:endParaRPr sz="1100"/>
          </a:p>
        </p:txBody>
      </p:sp>
      <p:sp>
        <p:nvSpPr>
          <p:cNvPr id="2051" name="Google Shape;2051;p102"/>
          <p:cNvSpPr/>
          <p:nvPr/>
        </p:nvSpPr>
        <p:spPr>
          <a:xfrm>
            <a:off x="4800728" y="1474470"/>
            <a:ext cx="3497673" cy="329184"/>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052" name="Google Shape;2052;p102"/>
          <p:cNvSpPr txBox="1"/>
          <p:nvPr/>
        </p:nvSpPr>
        <p:spPr>
          <a:xfrm>
            <a:off x="4937892" y="1501902"/>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300">
                <a:solidFill>
                  <a:srgbClr val="FFFFFF"/>
                </a:solidFill>
                <a:latin typeface="Manrope"/>
                <a:ea typeface="Manrope"/>
                <a:cs typeface="Manrope"/>
                <a:sym typeface="Manrope"/>
              </a:rPr>
              <a:t>AI-Assisted Review</a:t>
            </a:r>
            <a:endParaRPr sz="1100"/>
          </a:p>
        </p:txBody>
      </p:sp>
      <p:sp>
        <p:nvSpPr>
          <p:cNvPr id="2053" name="Google Shape;2053;p102"/>
          <p:cNvSpPr txBox="1"/>
          <p:nvPr/>
        </p:nvSpPr>
        <p:spPr>
          <a:xfrm>
            <a:off x="925855" y="19339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Slow, careful, expensive — quality scales with attention</a:t>
            </a:r>
            <a:endParaRPr sz="1100"/>
          </a:p>
        </p:txBody>
      </p:sp>
      <p:sp>
        <p:nvSpPr>
          <p:cNvPr id="2054" name="Google Shape;2054;p102"/>
          <p:cNvSpPr txBox="1"/>
          <p:nvPr/>
        </p:nvSpPr>
        <p:spPr>
          <a:xfrm>
            <a:off x="925855" y="22768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Reviewer absorbs naming, style, and bugs alongside design concerns</a:t>
            </a:r>
            <a:endParaRPr sz="1100"/>
          </a:p>
        </p:txBody>
      </p:sp>
      <p:sp>
        <p:nvSpPr>
          <p:cNvPr id="2055" name="Google Shape;2055;p102"/>
          <p:cNvSpPr txBox="1"/>
          <p:nvPr/>
        </p:nvSpPr>
        <p:spPr>
          <a:xfrm>
            <a:off x="925855" y="26197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Bandwidth-bound — only so many PRs per day per reviewer</a:t>
            </a:r>
            <a:endParaRPr sz="1100"/>
          </a:p>
        </p:txBody>
      </p:sp>
      <p:sp>
        <p:nvSpPr>
          <p:cNvPr id="2056" name="Google Shape;2056;p102"/>
          <p:cNvSpPr txBox="1"/>
          <p:nvPr/>
        </p:nvSpPr>
        <p:spPr>
          <a:xfrm>
            <a:off x="925855" y="29626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Style nits and obvious bugs consume time meant for architecture</a:t>
            </a:r>
            <a:endParaRPr sz="1100"/>
          </a:p>
        </p:txBody>
      </p:sp>
      <p:sp>
        <p:nvSpPr>
          <p:cNvPr id="2057" name="Google Shape;2057;p102"/>
          <p:cNvSpPr txBox="1"/>
          <p:nvPr/>
        </p:nvSpPr>
        <p:spPr>
          <a:xfrm>
            <a:off x="925855" y="33055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No consistent first-pass standard across reviewers</a:t>
            </a:r>
            <a:endParaRPr sz="1100"/>
          </a:p>
        </p:txBody>
      </p:sp>
      <p:sp>
        <p:nvSpPr>
          <p:cNvPr id="2058" name="Google Shape;2058;p102"/>
          <p:cNvSpPr txBox="1"/>
          <p:nvPr/>
        </p:nvSpPr>
        <p:spPr>
          <a:xfrm>
            <a:off x="4903601" y="19339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Two passes, two complementary skill sets</a:t>
            </a:r>
            <a:endParaRPr sz="1100"/>
          </a:p>
        </p:txBody>
      </p:sp>
      <p:sp>
        <p:nvSpPr>
          <p:cNvPr id="2059" name="Google Shape;2059;p102"/>
          <p:cNvSpPr txBox="1"/>
          <p:nvPr/>
        </p:nvSpPr>
        <p:spPr>
          <a:xfrm>
            <a:off x="4903601" y="22768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AI flags naming, style, cheap bugs, missed cases</a:t>
            </a:r>
            <a:endParaRPr sz="1100"/>
          </a:p>
        </p:txBody>
      </p:sp>
      <p:sp>
        <p:nvSpPr>
          <p:cNvPr id="2060" name="Google Shape;2060;p102"/>
          <p:cNvSpPr txBox="1"/>
          <p:nvPr/>
        </p:nvSpPr>
        <p:spPr>
          <a:xfrm>
            <a:off x="4903601" y="26197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Human reviewer arrives with easy issues already triaged</a:t>
            </a:r>
            <a:endParaRPr sz="1100"/>
          </a:p>
        </p:txBody>
      </p:sp>
      <p:sp>
        <p:nvSpPr>
          <p:cNvPr id="2061" name="Google Shape;2061;p102"/>
          <p:cNvSpPr txBox="1"/>
          <p:nvPr/>
        </p:nvSpPr>
        <p:spPr>
          <a:xfrm>
            <a:off x="4903601" y="29626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Their time goes to design, intent, and long-term code shape</a:t>
            </a:r>
            <a:endParaRPr sz="1100"/>
          </a:p>
        </p:txBody>
      </p:sp>
      <p:sp>
        <p:nvSpPr>
          <p:cNvPr id="2062" name="Google Shape;2062;p102"/>
          <p:cNvSpPr txBox="1"/>
          <p:nvPr/>
        </p:nvSpPr>
        <p:spPr>
          <a:xfrm>
            <a:off x="4903601" y="33055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Throughput rises without quality dropping — if the human still signs off</a:t>
            </a:r>
            <a:endParaRPr sz="1100"/>
          </a:p>
        </p:txBody>
      </p:sp>
      <p:sp>
        <p:nvSpPr>
          <p:cNvPr id="2063" name="Google Shape;2063;p102"/>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7" name="Shape 2067"/>
        <p:cNvGrpSpPr/>
        <p:nvPr/>
      </p:nvGrpSpPr>
      <p:grpSpPr>
        <a:xfrm>
          <a:off x="0" y="0"/>
          <a:ext cx="0" cy="0"/>
          <a:chOff x="0" y="0"/>
          <a:chExt cx="0" cy="0"/>
        </a:xfrm>
      </p:grpSpPr>
      <p:sp>
        <p:nvSpPr>
          <p:cNvPr id="2068" name="Google Shape;2068;p103"/>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2069" name="Google Shape;2069;p103"/>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2070" name="Google Shape;2070;p103"/>
          <p:cNvSpPr txBox="1"/>
          <p:nvPr/>
        </p:nvSpPr>
        <p:spPr>
          <a:xfrm>
            <a:off x="822982" y="946404"/>
            <a:ext cx="7406837"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a:solidFill>
                  <a:srgbClr val="1B1F2A"/>
                </a:solidFill>
                <a:latin typeface="Manrope"/>
                <a:ea typeface="Manrope"/>
                <a:cs typeface="Manrope"/>
                <a:sym typeface="Manrope"/>
              </a:rPr>
              <a:t>Four limits of AI-assisted testing to respect.</a:t>
            </a:r>
            <a:endParaRPr sz="1100"/>
          </a:p>
        </p:txBody>
      </p:sp>
      <p:sp>
        <p:nvSpPr>
          <p:cNvPr id="2071" name="Google Shape;2071;p103"/>
          <p:cNvSpPr txBox="1"/>
          <p:nvPr/>
        </p:nvSpPr>
        <p:spPr>
          <a:xfrm>
            <a:off x="822982" y="1426464"/>
            <a:ext cx="7406837" cy="22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The model is a powerful QA partner. It is not a replacement for test judgment.</a:t>
            </a:r>
            <a:endParaRPr sz="1100"/>
          </a:p>
        </p:txBody>
      </p:sp>
      <p:sp>
        <p:nvSpPr>
          <p:cNvPr id="2072" name="Google Shape;2072;p103"/>
          <p:cNvSpPr/>
          <p:nvPr/>
        </p:nvSpPr>
        <p:spPr>
          <a:xfrm>
            <a:off x="822982" y="1885950"/>
            <a:ext cx="1920291" cy="20574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073" name="Google Shape;2073;p103"/>
          <p:cNvSpPr txBox="1"/>
          <p:nvPr/>
        </p:nvSpPr>
        <p:spPr>
          <a:xfrm>
            <a:off x="960146" y="2009394"/>
            <a:ext cx="1645964"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01 · ROOT CAUSE IS STILL HUMAN WORK</a:t>
            </a:r>
            <a:endParaRPr sz="1100"/>
          </a:p>
        </p:txBody>
      </p:sp>
      <p:sp>
        <p:nvSpPr>
          <p:cNvPr id="2074" name="Google Shape;2074;p103"/>
          <p:cNvSpPr txBox="1"/>
          <p:nvPr/>
        </p:nvSpPr>
        <p:spPr>
          <a:xfrm>
            <a:off x="960146" y="2284914"/>
            <a:ext cx="16461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Hypothesis, not verdict</a:t>
            </a:r>
            <a:endParaRPr sz="1100"/>
          </a:p>
        </p:txBody>
      </p:sp>
      <p:sp>
        <p:nvSpPr>
          <p:cNvPr id="2075" name="Google Shape;2075;p103"/>
          <p:cNvSpPr txBox="1"/>
          <p:nvPr/>
        </p:nvSpPr>
        <p:spPr>
          <a:xfrm>
            <a:off x="960146" y="2640330"/>
            <a:ext cx="1645964" cy="12001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8B95A6"/>
                </a:solidFill>
                <a:latin typeface="Manrope"/>
                <a:ea typeface="Manrope"/>
                <a:cs typeface="Manrope"/>
                <a:sym typeface="Manrope"/>
              </a:rPr>
              <a:t>The model generates plausible hypotheses. Confirming which one is correct requires running experiments — that's still engineering work.</a:t>
            </a:r>
            <a:endParaRPr sz="1100"/>
          </a:p>
        </p:txBody>
      </p:sp>
      <p:sp>
        <p:nvSpPr>
          <p:cNvPr id="2076" name="Google Shape;2076;p103"/>
          <p:cNvSpPr/>
          <p:nvPr/>
        </p:nvSpPr>
        <p:spPr>
          <a:xfrm>
            <a:off x="2880437" y="1885950"/>
            <a:ext cx="1920291" cy="20574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077" name="Google Shape;2077;p103"/>
          <p:cNvSpPr txBox="1"/>
          <p:nvPr/>
        </p:nvSpPr>
        <p:spPr>
          <a:xfrm>
            <a:off x="3017600" y="2009394"/>
            <a:ext cx="1645964"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02 · TEST QUALITY MIRRORS PROMPT QUALITY</a:t>
            </a:r>
            <a:endParaRPr sz="1100"/>
          </a:p>
        </p:txBody>
      </p:sp>
      <p:sp>
        <p:nvSpPr>
          <p:cNvPr id="2078" name="Google Shape;2078;p103"/>
          <p:cNvSpPr txBox="1"/>
          <p:nvPr/>
        </p:nvSpPr>
        <p:spPr>
          <a:xfrm>
            <a:off x="3017600" y="2284914"/>
            <a:ext cx="16461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Garbage in, coverage out</a:t>
            </a:r>
            <a:endParaRPr sz="1100"/>
          </a:p>
        </p:txBody>
      </p:sp>
      <p:sp>
        <p:nvSpPr>
          <p:cNvPr id="2079" name="Google Shape;2079;p103"/>
          <p:cNvSpPr txBox="1"/>
          <p:nvPr/>
        </p:nvSpPr>
        <p:spPr>
          <a:xfrm>
            <a:off x="3017600" y="2640330"/>
            <a:ext cx="1645964" cy="12001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8B95A6"/>
                </a:solidFill>
                <a:latin typeface="Manrope"/>
                <a:ea typeface="Manrope"/>
                <a:cs typeface="Manrope"/>
                <a:sym typeface="Manrope"/>
              </a:rPr>
              <a:t>Vague prompts produce superficial tests. Specific prompts — with the function signature, invariants, and known edge cases — produce tests worth keeping.</a:t>
            </a:r>
            <a:endParaRPr sz="1100"/>
          </a:p>
        </p:txBody>
      </p:sp>
      <p:sp>
        <p:nvSpPr>
          <p:cNvPr id="2080" name="Google Shape;2080;p103"/>
          <p:cNvSpPr/>
          <p:nvPr/>
        </p:nvSpPr>
        <p:spPr>
          <a:xfrm>
            <a:off x="4937892" y="1885950"/>
            <a:ext cx="1920291" cy="20574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081" name="Google Shape;2081;p103"/>
          <p:cNvSpPr txBox="1"/>
          <p:nvPr/>
        </p:nvSpPr>
        <p:spPr>
          <a:xfrm>
            <a:off x="5075055" y="2009394"/>
            <a:ext cx="1645964"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03 · NO DOMAIN SEMANTICS</a:t>
            </a:r>
            <a:endParaRPr sz="1100"/>
          </a:p>
        </p:txBody>
      </p:sp>
      <p:sp>
        <p:nvSpPr>
          <p:cNvPr id="2082" name="Google Shape;2082;p103"/>
          <p:cNvSpPr txBox="1"/>
          <p:nvPr/>
        </p:nvSpPr>
        <p:spPr>
          <a:xfrm>
            <a:off x="5075055" y="2241121"/>
            <a:ext cx="16461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Syntax without meaning</a:t>
            </a:r>
            <a:endParaRPr sz="1100"/>
          </a:p>
        </p:txBody>
      </p:sp>
      <p:sp>
        <p:nvSpPr>
          <p:cNvPr id="2083" name="Google Shape;2083;p103"/>
          <p:cNvSpPr txBox="1"/>
          <p:nvPr/>
        </p:nvSpPr>
        <p:spPr>
          <a:xfrm>
            <a:off x="5075055" y="2640330"/>
            <a:ext cx="1645964" cy="12001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8B95A6"/>
                </a:solidFill>
                <a:latin typeface="Manrope"/>
                <a:ea typeface="Manrope"/>
                <a:cs typeface="Manrope"/>
                <a:sym typeface="Manrope"/>
              </a:rPr>
              <a:t>The model knows language rules. It doesn't know your business rules. A test that passes syntactically may be semantically wrong for your domain.</a:t>
            </a:r>
            <a:endParaRPr sz="1100"/>
          </a:p>
        </p:txBody>
      </p:sp>
      <p:sp>
        <p:nvSpPr>
          <p:cNvPr id="2084" name="Google Shape;2084;p103"/>
          <p:cNvSpPr/>
          <p:nvPr/>
        </p:nvSpPr>
        <p:spPr>
          <a:xfrm>
            <a:off x="6995346" y="1885950"/>
            <a:ext cx="1920291" cy="20574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085" name="Google Shape;2085;p103"/>
          <p:cNvSpPr txBox="1"/>
          <p:nvPr/>
        </p:nvSpPr>
        <p:spPr>
          <a:xfrm>
            <a:off x="7132510" y="2009394"/>
            <a:ext cx="1645964"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04 · CONFIDENCE IS NOT CORRECTNESS</a:t>
            </a:r>
            <a:endParaRPr sz="1100"/>
          </a:p>
        </p:txBody>
      </p:sp>
      <p:sp>
        <p:nvSpPr>
          <p:cNvPr id="2086" name="Google Shape;2086;p103"/>
          <p:cNvSpPr txBox="1"/>
          <p:nvPr/>
        </p:nvSpPr>
        <p:spPr>
          <a:xfrm>
            <a:off x="7132510" y="2263017"/>
            <a:ext cx="16461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Hallucination in tests too</a:t>
            </a:r>
            <a:endParaRPr sz="1100"/>
          </a:p>
        </p:txBody>
      </p:sp>
      <p:sp>
        <p:nvSpPr>
          <p:cNvPr id="2087" name="Google Shape;2087;p103"/>
          <p:cNvSpPr txBox="1"/>
          <p:nvPr/>
        </p:nvSpPr>
        <p:spPr>
          <a:xfrm>
            <a:off x="7132510" y="2640330"/>
            <a:ext cx="1645964" cy="12001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8B95A6"/>
                </a:solidFill>
                <a:latin typeface="Manrope"/>
                <a:ea typeface="Manrope"/>
                <a:cs typeface="Manrope"/>
                <a:sym typeface="Manrope"/>
              </a:rPr>
              <a:t>A confidently-written test can assert the wrong thing. Always read AI-generated tests before trusting the green checkmark.</a:t>
            </a:r>
            <a:endParaRPr sz="1100"/>
          </a:p>
        </p:txBody>
      </p:sp>
      <p:sp>
        <p:nvSpPr>
          <p:cNvPr id="2088" name="Google Shape;2088;p103"/>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2" name="Shape 2092"/>
        <p:cNvGrpSpPr/>
        <p:nvPr/>
      </p:nvGrpSpPr>
      <p:grpSpPr>
        <a:xfrm>
          <a:off x="0" y="0"/>
          <a:ext cx="0" cy="0"/>
          <a:chOff x="0" y="0"/>
          <a:chExt cx="0" cy="0"/>
        </a:xfrm>
      </p:grpSpPr>
      <p:sp>
        <p:nvSpPr>
          <p:cNvPr id="2093" name="Google Shape;2093;p104"/>
          <p:cNvSpPr/>
          <p:nvPr/>
        </p:nvSpPr>
        <p:spPr>
          <a:xfrm>
            <a:off x="0" y="0"/>
            <a:ext cx="9144015" cy="5143500"/>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094" name="Google Shape;2094;p104"/>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FFFFFF"/>
                </a:solidFill>
                <a:latin typeface="Manrope"/>
                <a:ea typeface="Manrope"/>
                <a:cs typeface="Manrope"/>
                <a:sym typeface="Manrope"/>
              </a:rPr>
              <a:t>GlobalLogic</a:t>
            </a:r>
            <a:endParaRPr sz="1100"/>
          </a:p>
        </p:txBody>
      </p:sp>
      <p:sp>
        <p:nvSpPr>
          <p:cNvPr id="2095" name="Google Shape;2095;p104"/>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C9CFD8"/>
                </a:solidFill>
                <a:latin typeface="Manrope"/>
                <a:ea typeface="Manrope"/>
                <a:cs typeface="Manrope"/>
                <a:sym typeface="Manrope"/>
              </a:rPr>
              <a:t>A Hitachi Group Company</a:t>
            </a:r>
            <a:endParaRPr sz="1100"/>
          </a:p>
        </p:txBody>
      </p:sp>
      <p:sp>
        <p:nvSpPr>
          <p:cNvPr id="2096" name="Google Shape;2096;p104"/>
          <p:cNvSpPr txBox="1"/>
          <p:nvPr/>
        </p:nvSpPr>
        <p:spPr>
          <a:xfrm>
            <a:off x="822982" y="1714500"/>
            <a:ext cx="6172500" cy="160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5000">
                <a:solidFill>
                  <a:srgbClr val="FFFFFF"/>
                </a:solidFill>
                <a:latin typeface="Manrope"/>
                <a:ea typeface="Manrope"/>
                <a:cs typeface="Manrope"/>
                <a:sym typeface="Manrope"/>
              </a:rPr>
              <a:t>Agents &amp;</a:t>
            </a:r>
            <a:br>
              <a:rPr b="1" i="0" lang="en-GB" sz="5000">
                <a:solidFill>
                  <a:srgbClr val="FFFFFF"/>
                </a:solidFill>
                <a:latin typeface="Manrope"/>
                <a:ea typeface="Manrope"/>
                <a:cs typeface="Manrope"/>
                <a:sym typeface="Manrope"/>
              </a:rPr>
            </a:br>
            <a:r>
              <a:rPr b="1" i="0" lang="en-GB" sz="5000">
                <a:solidFill>
                  <a:srgbClr val="FFFFFF"/>
                </a:solidFill>
                <a:latin typeface="Manrope"/>
                <a:ea typeface="Manrope"/>
                <a:cs typeface="Manrope"/>
                <a:sym typeface="Manrope"/>
              </a:rPr>
              <a:t>Agentic Systems.</a:t>
            </a:r>
            <a:endParaRPr sz="100"/>
          </a:p>
        </p:txBody>
      </p:sp>
      <p:sp>
        <p:nvSpPr>
          <p:cNvPr id="2097" name="Google Shape;2097;p104"/>
          <p:cNvSpPr txBox="1"/>
          <p:nvPr/>
        </p:nvSpPr>
        <p:spPr>
          <a:xfrm>
            <a:off x="822982" y="3429000"/>
            <a:ext cx="6172365" cy="8229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700">
                <a:solidFill>
                  <a:srgbClr val="C9CFD8"/>
                </a:solidFill>
                <a:latin typeface="Manrope"/>
                <a:ea typeface="Manrope"/>
                <a:cs typeface="Manrope"/>
                <a:sym typeface="Manrope"/>
              </a:rPr>
              <a:t>Models that don't just answer — they read, run, retry, and report back. The shape of work changes when the assistant can act.</a:t>
            </a:r>
            <a:endParaRPr sz="1100"/>
          </a:p>
        </p:txBody>
      </p:sp>
      <p:sp>
        <p:nvSpPr>
          <p:cNvPr id="2098" name="Google Shape;2098;p104"/>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FFFFFF"/>
                </a:solidFill>
                <a:latin typeface="Courier New"/>
                <a:ea typeface="Courier New"/>
                <a:cs typeface="Courier New"/>
                <a:sym typeface="Courier New"/>
              </a:rPr>
              <a:t>globallogic.com</a:t>
            </a:r>
            <a:endParaRPr sz="1100"/>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2" name="Shape 2102"/>
        <p:cNvGrpSpPr/>
        <p:nvPr/>
      </p:nvGrpSpPr>
      <p:grpSpPr>
        <a:xfrm>
          <a:off x="0" y="0"/>
          <a:ext cx="0" cy="0"/>
          <a:chOff x="0" y="0"/>
          <a:chExt cx="0" cy="0"/>
        </a:xfrm>
      </p:grpSpPr>
      <p:sp>
        <p:nvSpPr>
          <p:cNvPr id="2103" name="Google Shape;2103;p105"/>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2104" name="Google Shape;2104;p105"/>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2105" name="Google Shape;2105;p105"/>
          <p:cNvSpPr txBox="1"/>
          <p:nvPr/>
        </p:nvSpPr>
        <p:spPr>
          <a:xfrm>
            <a:off x="822982" y="946404"/>
            <a:ext cx="7406837" cy="49377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700">
                <a:solidFill>
                  <a:srgbClr val="1B1F2A"/>
                </a:solidFill>
                <a:latin typeface="Manrope"/>
                <a:ea typeface="Manrope"/>
                <a:cs typeface="Manrope"/>
                <a:sym typeface="Manrope"/>
              </a:rPr>
              <a:t>An agent is a model with a loop and tools.</a:t>
            </a:r>
            <a:endParaRPr sz="1100"/>
          </a:p>
        </p:txBody>
      </p:sp>
      <p:sp>
        <p:nvSpPr>
          <p:cNvPr id="2106" name="Google Shape;2106;p105"/>
          <p:cNvSpPr txBox="1"/>
          <p:nvPr/>
        </p:nvSpPr>
        <p:spPr>
          <a:xfrm>
            <a:off x="822982" y="1522476"/>
            <a:ext cx="7406837"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A chat assistant answers once. An agent answers, observes the result, decides what to do next, and tries again — until i…</a:t>
            </a:r>
            <a:endParaRPr sz="1100"/>
          </a:p>
        </p:txBody>
      </p:sp>
      <p:sp>
        <p:nvSpPr>
          <p:cNvPr id="2107" name="Google Shape;2107;p105"/>
          <p:cNvSpPr/>
          <p:nvPr/>
        </p:nvSpPr>
        <p:spPr>
          <a:xfrm>
            <a:off x="822982"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108" name="Google Shape;2108;p105"/>
          <p:cNvSpPr txBox="1"/>
          <p:nvPr/>
        </p:nvSpPr>
        <p:spPr>
          <a:xfrm>
            <a:off x="822982"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THE MODEL</a:t>
            </a:r>
            <a:endParaRPr sz="1100"/>
          </a:p>
        </p:txBody>
      </p:sp>
      <p:sp>
        <p:nvSpPr>
          <p:cNvPr id="2109" name="Google Shape;2109;p105"/>
          <p:cNvSpPr txBox="1"/>
          <p:nvPr/>
        </p:nvSpPr>
        <p:spPr>
          <a:xfrm>
            <a:off x="822982" y="2242566"/>
            <a:ext cx="2468946" cy="30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The reasoner</a:t>
            </a:r>
            <a:endParaRPr sz="1100"/>
          </a:p>
        </p:txBody>
      </p:sp>
      <p:sp>
        <p:nvSpPr>
          <p:cNvPr id="2110" name="Google Shape;2110;p105"/>
          <p:cNvSpPr txBox="1"/>
          <p:nvPr/>
        </p:nvSpPr>
        <p:spPr>
          <a:xfrm>
            <a:off x="822975" y="2823600"/>
            <a:ext cx="2469000" cy="746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Decides what to do next based on the goal, the conversation so far, and the last tool result. The intelligence of the system lives here.</a:t>
            </a:r>
            <a:endParaRPr sz="1100"/>
          </a:p>
        </p:txBody>
      </p:sp>
      <p:sp>
        <p:nvSpPr>
          <p:cNvPr id="2111" name="Google Shape;2111;p105"/>
          <p:cNvSpPr/>
          <p:nvPr/>
        </p:nvSpPr>
        <p:spPr>
          <a:xfrm>
            <a:off x="3429091"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112" name="Google Shape;2112;p105"/>
          <p:cNvSpPr txBox="1"/>
          <p:nvPr/>
        </p:nvSpPr>
        <p:spPr>
          <a:xfrm>
            <a:off x="3429091"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THE LOOP</a:t>
            </a:r>
            <a:endParaRPr sz="1100"/>
          </a:p>
        </p:txBody>
      </p:sp>
      <p:sp>
        <p:nvSpPr>
          <p:cNvPr id="2113" name="Google Shape;2113;p105"/>
          <p:cNvSpPr txBox="1"/>
          <p:nvPr/>
        </p:nvSpPr>
        <p:spPr>
          <a:xfrm>
            <a:off x="3429091" y="2242566"/>
            <a:ext cx="2468946" cy="30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What makes it autonomous</a:t>
            </a:r>
            <a:endParaRPr sz="1100"/>
          </a:p>
        </p:txBody>
      </p:sp>
      <p:sp>
        <p:nvSpPr>
          <p:cNvPr id="2114" name="Google Shape;2114;p105"/>
          <p:cNvSpPr txBox="1"/>
          <p:nvPr/>
        </p:nvSpPr>
        <p:spPr>
          <a:xfrm>
            <a:off x="3429063" y="2823600"/>
            <a:ext cx="2469000" cy="915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The agent's output is re-fed as input, along with tool results. This loop is what enables multi-step work without continuous human input.</a:t>
            </a:r>
            <a:endParaRPr sz="1100"/>
          </a:p>
        </p:txBody>
      </p:sp>
      <p:sp>
        <p:nvSpPr>
          <p:cNvPr id="2115" name="Google Shape;2115;p105"/>
          <p:cNvSpPr/>
          <p:nvPr/>
        </p:nvSpPr>
        <p:spPr>
          <a:xfrm>
            <a:off x="6035201"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116" name="Google Shape;2116;p105"/>
          <p:cNvSpPr txBox="1"/>
          <p:nvPr/>
        </p:nvSpPr>
        <p:spPr>
          <a:xfrm>
            <a:off x="6035201"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THE TOOLS</a:t>
            </a:r>
            <a:endParaRPr sz="1100"/>
          </a:p>
        </p:txBody>
      </p:sp>
      <p:sp>
        <p:nvSpPr>
          <p:cNvPr id="2117" name="Google Shape;2117;p105"/>
          <p:cNvSpPr txBox="1"/>
          <p:nvPr/>
        </p:nvSpPr>
        <p:spPr>
          <a:xfrm>
            <a:off x="6035201" y="2242566"/>
            <a:ext cx="2468946" cy="30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How it acts on the world</a:t>
            </a:r>
            <a:endParaRPr sz="1100"/>
          </a:p>
        </p:txBody>
      </p:sp>
      <p:sp>
        <p:nvSpPr>
          <p:cNvPr id="2118" name="Google Shape;2118;p105"/>
          <p:cNvSpPr txBox="1"/>
          <p:nvPr/>
        </p:nvSpPr>
        <p:spPr>
          <a:xfrm>
            <a:off x="6035200" y="2780050"/>
            <a:ext cx="2469000" cy="915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Read files, run shell commands, query databases, hit APIs, open PRs. Without tools, an agent is just a chat assistant that won't stop talking.</a:t>
            </a:r>
            <a:endParaRPr sz="1100"/>
          </a:p>
        </p:txBody>
      </p:sp>
      <p:sp>
        <p:nvSpPr>
          <p:cNvPr id="2119" name="Google Shape;2119;p105"/>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3" name="Shape 2123"/>
        <p:cNvGrpSpPr/>
        <p:nvPr/>
      </p:nvGrpSpPr>
      <p:grpSpPr>
        <a:xfrm>
          <a:off x="0" y="0"/>
          <a:ext cx="0" cy="0"/>
          <a:chOff x="0" y="0"/>
          <a:chExt cx="0" cy="0"/>
        </a:xfrm>
      </p:grpSpPr>
      <p:sp>
        <p:nvSpPr>
          <p:cNvPr id="2124" name="Google Shape;2124;p106"/>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2125" name="Google Shape;2125;p106"/>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2126" name="Google Shape;2126;p106"/>
          <p:cNvSpPr txBox="1"/>
          <p:nvPr/>
        </p:nvSpPr>
        <p:spPr>
          <a:xfrm>
            <a:off x="822982" y="946404"/>
            <a:ext cx="7406837"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a:solidFill>
                  <a:srgbClr val="1B1F2A"/>
                </a:solidFill>
                <a:latin typeface="Manrope"/>
                <a:ea typeface="Manrope"/>
                <a:cs typeface="Manrope"/>
                <a:sym typeface="Manrope"/>
              </a:rPr>
              <a:t>The agent inner loop — four steps, repeated until done.</a:t>
            </a:r>
            <a:endParaRPr sz="1100"/>
          </a:p>
        </p:txBody>
      </p:sp>
      <p:sp>
        <p:nvSpPr>
          <p:cNvPr id="2127" name="Google Shape;2127;p106"/>
          <p:cNvSpPr/>
          <p:nvPr/>
        </p:nvSpPr>
        <p:spPr>
          <a:xfrm>
            <a:off x="788691" y="1885950"/>
            <a:ext cx="480073" cy="3429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128" name="Google Shape;2128;p106"/>
          <p:cNvSpPr txBox="1"/>
          <p:nvPr/>
        </p:nvSpPr>
        <p:spPr>
          <a:xfrm>
            <a:off x="822982" y="1913382"/>
            <a:ext cx="411491" cy="3086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a:solidFill>
                  <a:srgbClr val="FFFFFF"/>
                </a:solidFill>
                <a:latin typeface="Courier New"/>
                <a:ea typeface="Courier New"/>
                <a:cs typeface="Courier New"/>
                <a:sym typeface="Courier New"/>
              </a:rPr>
              <a:t>01</a:t>
            </a:r>
            <a:endParaRPr sz="1100"/>
          </a:p>
        </p:txBody>
      </p:sp>
      <p:sp>
        <p:nvSpPr>
          <p:cNvPr id="2129" name="Google Shape;2129;p106"/>
          <p:cNvSpPr txBox="1"/>
          <p:nvPr/>
        </p:nvSpPr>
        <p:spPr>
          <a:xfrm>
            <a:off x="788691" y="2331720"/>
            <a:ext cx="181741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400">
                <a:solidFill>
                  <a:srgbClr val="1B1F2A"/>
                </a:solidFill>
                <a:latin typeface="Manrope"/>
                <a:ea typeface="Manrope"/>
                <a:cs typeface="Manrope"/>
                <a:sym typeface="Manrope"/>
              </a:rPr>
              <a:t>Observe</a:t>
            </a:r>
            <a:endParaRPr sz="1100"/>
          </a:p>
        </p:txBody>
      </p:sp>
      <p:sp>
        <p:nvSpPr>
          <p:cNvPr id="2130" name="Google Shape;2130;p106"/>
          <p:cNvSpPr txBox="1"/>
          <p:nvPr/>
        </p:nvSpPr>
        <p:spPr>
          <a:xfrm>
            <a:off x="788691" y="2674620"/>
            <a:ext cx="1817418" cy="22631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Read the goal, conversation history, and latest tool results. Build a picture of where things stand and what has been tried.</a:t>
            </a:r>
            <a:endParaRPr sz="1100"/>
          </a:p>
        </p:txBody>
      </p:sp>
      <p:sp>
        <p:nvSpPr>
          <p:cNvPr id="2131" name="Google Shape;2131;p106"/>
          <p:cNvSpPr/>
          <p:nvPr/>
        </p:nvSpPr>
        <p:spPr>
          <a:xfrm>
            <a:off x="2674691" y="1885950"/>
            <a:ext cx="480073" cy="3429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132" name="Google Shape;2132;p106"/>
          <p:cNvSpPr txBox="1"/>
          <p:nvPr/>
        </p:nvSpPr>
        <p:spPr>
          <a:xfrm>
            <a:off x="2708982" y="1913382"/>
            <a:ext cx="411491" cy="3086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a:solidFill>
                  <a:srgbClr val="FFFFFF"/>
                </a:solidFill>
                <a:latin typeface="Courier New"/>
                <a:ea typeface="Courier New"/>
                <a:cs typeface="Courier New"/>
                <a:sym typeface="Courier New"/>
              </a:rPr>
              <a:t>02</a:t>
            </a:r>
            <a:endParaRPr sz="1100"/>
          </a:p>
        </p:txBody>
      </p:sp>
      <p:sp>
        <p:nvSpPr>
          <p:cNvPr id="2133" name="Google Shape;2133;p106"/>
          <p:cNvSpPr txBox="1"/>
          <p:nvPr/>
        </p:nvSpPr>
        <p:spPr>
          <a:xfrm>
            <a:off x="2674691" y="2331720"/>
            <a:ext cx="181741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400">
                <a:solidFill>
                  <a:srgbClr val="1B1F2A"/>
                </a:solidFill>
                <a:latin typeface="Manrope"/>
                <a:ea typeface="Manrope"/>
                <a:cs typeface="Manrope"/>
                <a:sym typeface="Manrope"/>
              </a:rPr>
              <a:t>Plan</a:t>
            </a:r>
            <a:endParaRPr sz="1100"/>
          </a:p>
        </p:txBody>
      </p:sp>
      <p:sp>
        <p:nvSpPr>
          <p:cNvPr id="2134" name="Google Shape;2134;p106"/>
          <p:cNvSpPr txBox="1"/>
          <p:nvPr/>
        </p:nvSpPr>
        <p:spPr>
          <a:xfrm>
            <a:off x="2674691" y="2674620"/>
            <a:ext cx="1817418" cy="22631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Decide what to do next: call a tool, ask a clarifying question, or declare completion. This is the step where the model's judgment matters most.</a:t>
            </a:r>
            <a:endParaRPr sz="1100"/>
          </a:p>
        </p:txBody>
      </p:sp>
      <p:sp>
        <p:nvSpPr>
          <p:cNvPr id="2135" name="Google Shape;2135;p106"/>
          <p:cNvSpPr/>
          <p:nvPr/>
        </p:nvSpPr>
        <p:spPr>
          <a:xfrm>
            <a:off x="4560692" y="1885950"/>
            <a:ext cx="480073" cy="3429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136" name="Google Shape;2136;p106"/>
          <p:cNvSpPr txBox="1"/>
          <p:nvPr/>
        </p:nvSpPr>
        <p:spPr>
          <a:xfrm>
            <a:off x="4594982" y="1913382"/>
            <a:ext cx="411491" cy="3086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a:solidFill>
                  <a:srgbClr val="FFFFFF"/>
                </a:solidFill>
                <a:latin typeface="Courier New"/>
                <a:ea typeface="Courier New"/>
                <a:cs typeface="Courier New"/>
                <a:sym typeface="Courier New"/>
              </a:rPr>
              <a:t>03</a:t>
            </a:r>
            <a:endParaRPr sz="1100"/>
          </a:p>
        </p:txBody>
      </p:sp>
      <p:sp>
        <p:nvSpPr>
          <p:cNvPr id="2137" name="Google Shape;2137;p106"/>
          <p:cNvSpPr txBox="1"/>
          <p:nvPr/>
        </p:nvSpPr>
        <p:spPr>
          <a:xfrm>
            <a:off x="4560692" y="2331720"/>
            <a:ext cx="181741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400">
                <a:solidFill>
                  <a:srgbClr val="1B1F2A"/>
                </a:solidFill>
                <a:latin typeface="Manrope"/>
                <a:ea typeface="Manrope"/>
                <a:cs typeface="Manrope"/>
                <a:sym typeface="Manrope"/>
              </a:rPr>
              <a:t>Act</a:t>
            </a:r>
            <a:endParaRPr sz="1100"/>
          </a:p>
        </p:txBody>
      </p:sp>
      <p:sp>
        <p:nvSpPr>
          <p:cNvPr id="2138" name="Google Shape;2138;p106"/>
          <p:cNvSpPr txBox="1"/>
          <p:nvPr/>
        </p:nvSpPr>
        <p:spPr>
          <a:xfrm>
            <a:off x="4560692" y="2674620"/>
            <a:ext cx="1817418" cy="22631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Execute the chosen tool with the chosen arguments. The result comes back as text the model reads on the next turn.</a:t>
            </a:r>
            <a:endParaRPr sz="1100"/>
          </a:p>
        </p:txBody>
      </p:sp>
      <p:sp>
        <p:nvSpPr>
          <p:cNvPr id="2139" name="Google Shape;2139;p106"/>
          <p:cNvSpPr/>
          <p:nvPr/>
        </p:nvSpPr>
        <p:spPr>
          <a:xfrm>
            <a:off x="6446692" y="1885950"/>
            <a:ext cx="480073" cy="3429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140" name="Google Shape;2140;p106"/>
          <p:cNvSpPr txBox="1"/>
          <p:nvPr/>
        </p:nvSpPr>
        <p:spPr>
          <a:xfrm>
            <a:off x="6480983" y="1913382"/>
            <a:ext cx="411491" cy="3086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a:solidFill>
                  <a:srgbClr val="FFFFFF"/>
                </a:solidFill>
                <a:latin typeface="Courier New"/>
                <a:ea typeface="Courier New"/>
                <a:cs typeface="Courier New"/>
                <a:sym typeface="Courier New"/>
              </a:rPr>
              <a:t>04</a:t>
            </a:r>
            <a:endParaRPr sz="1100"/>
          </a:p>
        </p:txBody>
      </p:sp>
      <p:sp>
        <p:nvSpPr>
          <p:cNvPr id="2141" name="Google Shape;2141;p106"/>
          <p:cNvSpPr txBox="1"/>
          <p:nvPr/>
        </p:nvSpPr>
        <p:spPr>
          <a:xfrm>
            <a:off x="6446692" y="2331720"/>
            <a:ext cx="181741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400">
                <a:solidFill>
                  <a:srgbClr val="1B1F2A"/>
                </a:solidFill>
                <a:latin typeface="Manrope"/>
                <a:ea typeface="Manrope"/>
                <a:cs typeface="Manrope"/>
                <a:sym typeface="Manrope"/>
              </a:rPr>
              <a:t>Reflect</a:t>
            </a:r>
            <a:endParaRPr sz="1100"/>
          </a:p>
        </p:txBody>
      </p:sp>
      <p:sp>
        <p:nvSpPr>
          <p:cNvPr id="2142" name="Google Shape;2142;p106"/>
          <p:cNvSpPr txBox="1"/>
          <p:nvPr/>
        </p:nvSpPr>
        <p:spPr>
          <a:xfrm>
            <a:off x="6446692" y="2674620"/>
            <a:ext cx="1817418" cy="22631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Did this action get us closer to the goal? If yes, continue. If no, change the plan. If the budget is spent, hand back to the human.</a:t>
            </a:r>
            <a:endParaRPr sz="1100"/>
          </a:p>
        </p:txBody>
      </p:sp>
      <p:sp>
        <p:nvSpPr>
          <p:cNvPr id="2143" name="Google Shape;2143;p106"/>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7" name="Shape 2147"/>
        <p:cNvGrpSpPr/>
        <p:nvPr/>
      </p:nvGrpSpPr>
      <p:grpSpPr>
        <a:xfrm>
          <a:off x="0" y="0"/>
          <a:ext cx="0" cy="0"/>
          <a:chOff x="0" y="0"/>
          <a:chExt cx="0" cy="0"/>
        </a:xfrm>
      </p:grpSpPr>
      <p:sp>
        <p:nvSpPr>
          <p:cNvPr id="2148" name="Google Shape;2148;p107"/>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2149" name="Google Shape;2149;p107"/>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2150" name="Google Shape;2150;p107"/>
          <p:cNvSpPr txBox="1"/>
          <p:nvPr/>
        </p:nvSpPr>
        <p:spPr>
          <a:xfrm>
            <a:off x="822982" y="946404"/>
            <a:ext cx="7406837"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a:solidFill>
                  <a:srgbClr val="1B1F2A"/>
                </a:solidFill>
                <a:latin typeface="Manrope"/>
                <a:ea typeface="Manrope"/>
                <a:cs typeface="Manrope"/>
                <a:sym typeface="Manrope"/>
              </a:rPr>
              <a:t>Four kinds of work to delegate to an agent.</a:t>
            </a:r>
            <a:endParaRPr sz="1100"/>
          </a:p>
        </p:txBody>
      </p:sp>
      <p:sp>
        <p:nvSpPr>
          <p:cNvPr id="2151" name="Google Shape;2151;p107"/>
          <p:cNvSpPr txBox="1"/>
          <p:nvPr/>
        </p:nvSpPr>
        <p:spPr>
          <a:xfrm>
            <a:off x="822982" y="1426464"/>
            <a:ext cx="7406837" cy="22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If a task fits one of these shapes, an agent is probably the right tool. If not, a chat assistant likely is.</a:t>
            </a:r>
            <a:endParaRPr sz="1100"/>
          </a:p>
        </p:txBody>
      </p:sp>
      <p:sp>
        <p:nvSpPr>
          <p:cNvPr id="2152" name="Google Shape;2152;p107"/>
          <p:cNvSpPr/>
          <p:nvPr/>
        </p:nvSpPr>
        <p:spPr>
          <a:xfrm>
            <a:off x="822982" y="1885950"/>
            <a:ext cx="1920291" cy="20574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153" name="Google Shape;2153;p107"/>
          <p:cNvSpPr txBox="1"/>
          <p:nvPr/>
        </p:nvSpPr>
        <p:spPr>
          <a:xfrm>
            <a:off x="960146" y="2009394"/>
            <a:ext cx="1645964"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01 · INVESTIGATE</a:t>
            </a:r>
            <a:endParaRPr sz="1100"/>
          </a:p>
        </p:txBody>
      </p:sp>
      <p:sp>
        <p:nvSpPr>
          <p:cNvPr id="2154" name="Google Shape;2154;p107"/>
          <p:cNvSpPr txBox="1"/>
          <p:nvPr/>
        </p:nvSpPr>
        <p:spPr>
          <a:xfrm>
            <a:off x="960146" y="2208276"/>
            <a:ext cx="1645964"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Read and reason across files</a:t>
            </a:r>
            <a:endParaRPr sz="1100"/>
          </a:p>
        </p:txBody>
      </p:sp>
      <p:sp>
        <p:nvSpPr>
          <p:cNvPr id="2155" name="Google Shape;2155;p107"/>
          <p:cNvSpPr txBox="1"/>
          <p:nvPr/>
        </p:nvSpPr>
        <p:spPr>
          <a:xfrm>
            <a:off x="960146" y="2640330"/>
            <a:ext cx="1645964" cy="12001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8B95A6"/>
                </a:solidFill>
                <a:latin typeface="Manrope"/>
                <a:ea typeface="Manrope"/>
                <a:cs typeface="Manrope"/>
                <a:sym typeface="Manrope"/>
              </a:rPr>
              <a:t>Where do we handle webhook retries? The agent reads files, traces call paths, replies with citations and line numbers.</a:t>
            </a:r>
            <a:endParaRPr sz="1100"/>
          </a:p>
        </p:txBody>
      </p:sp>
      <p:sp>
        <p:nvSpPr>
          <p:cNvPr id="2156" name="Google Shape;2156;p107"/>
          <p:cNvSpPr/>
          <p:nvPr/>
        </p:nvSpPr>
        <p:spPr>
          <a:xfrm>
            <a:off x="2880437" y="1885950"/>
            <a:ext cx="1920291" cy="20574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157" name="Google Shape;2157;p107"/>
          <p:cNvSpPr txBox="1"/>
          <p:nvPr/>
        </p:nvSpPr>
        <p:spPr>
          <a:xfrm>
            <a:off x="3017600" y="2009394"/>
            <a:ext cx="1645964"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02 · IMPLEMENT</a:t>
            </a:r>
            <a:endParaRPr sz="1100"/>
          </a:p>
        </p:txBody>
      </p:sp>
      <p:sp>
        <p:nvSpPr>
          <p:cNvPr id="2158" name="Google Shape;2158;p107"/>
          <p:cNvSpPr txBox="1"/>
          <p:nvPr/>
        </p:nvSpPr>
        <p:spPr>
          <a:xfrm>
            <a:off x="3017600" y="2208276"/>
            <a:ext cx="1645964"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Plan, edit, test, iterate</a:t>
            </a:r>
            <a:endParaRPr sz="1100"/>
          </a:p>
        </p:txBody>
      </p:sp>
      <p:sp>
        <p:nvSpPr>
          <p:cNvPr id="2159" name="Google Shape;2159;p107"/>
          <p:cNvSpPr txBox="1"/>
          <p:nvPr/>
        </p:nvSpPr>
        <p:spPr>
          <a:xfrm>
            <a:off x="3017600" y="2640330"/>
            <a:ext cx="1645964" cy="12001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8B95A6"/>
                </a:solidFill>
                <a:latin typeface="Manrope"/>
                <a:ea typeface="Manrope"/>
                <a:cs typeface="Manrope"/>
                <a:sym typeface="Manrope"/>
              </a:rPr>
              <a:t>Given a ticket, the agent drafts the change, runs the tests, fixes what breaks, and opens a PR with a summary of decisions made.</a:t>
            </a:r>
            <a:endParaRPr sz="1100"/>
          </a:p>
        </p:txBody>
      </p:sp>
      <p:sp>
        <p:nvSpPr>
          <p:cNvPr id="2160" name="Google Shape;2160;p107"/>
          <p:cNvSpPr/>
          <p:nvPr/>
        </p:nvSpPr>
        <p:spPr>
          <a:xfrm>
            <a:off x="4937892" y="1885950"/>
            <a:ext cx="1920291" cy="20574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161" name="Google Shape;2161;p107"/>
          <p:cNvSpPr txBox="1"/>
          <p:nvPr/>
        </p:nvSpPr>
        <p:spPr>
          <a:xfrm>
            <a:off x="5075055" y="2009394"/>
            <a:ext cx="1645964"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03 · MIGRATE</a:t>
            </a:r>
            <a:endParaRPr sz="1100"/>
          </a:p>
        </p:txBody>
      </p:sp>
      <p:sp>
        <p:nvSpPr>
          <p:cNvPr id="2162" name="Google Shape;2162;p107"/>
          <p:cNvSpPr txBox="1"/>
          <p:nvPr/>
        </p:nvSpPr>
        <p:spPr>
          <a:xfrm>
            <a:off x="5075055" y="2208276"/>
            <a:ext cx="1645964"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The same change, many places</a:t>
            </a:r>
            <a:endParaRPr sz="1100"/>
          </a:p>
        </p:txBody>
      </p:sp>
      <p:sp>
        <p:nvSpPr>
          <p:cNvPr id="2163" name="Google Shape;2163;p107"/>
          <p:cNvSpPr txBox="1"/>
          <p:nvPr/>
        </p:nvSpPr>
        <p:spPr>
          <a:xfrm>
            <a:off x="5075055" y="2640330"/>
            <a:ext cx="1645964" cy="12001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8B95A6"/>
                </a:solidFill>
                <a:latin typeface="Manrope"/>
                <a:ea typeface="Manrope"/>
                <a:cs typeface="Manrope"/>
                <a:sym typeface="Manrope"/>
              </a:rPr>
              <a:t>'Replace this deprecated API call across 40 files.' Bulk, mechanical, perfectly suited to a tireless executor.</a:t>
            </a:r>
            <a:endParaRPr sz="1100"/>
          </a:p>
        </p:txBody>
      </p:sp>
      <p:sp>
        <p:nvSpPr>
          <p:cNvPr id="2164" name="Google Shape;2164;p107"/>
          <p:cNvSpPr/>
          <p:nvPr/>
        </p:nvSpPr>
        <p:spPr>
          <a:xfrm>
            <a:off x="6995346" y="1885950"/>
            <a:ext cx="1920291" cy="20574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165" name="Google Shape;2165;p107"/>
          <p:cNvSpPr txBox="1"/>
          <p:nvPr/>
        </p:nvSpPr>
        <p:spPr>
          <a:xfrm>
            <a:off x="7132510" y="2009394"/>
            <a:ext cx="1645964"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04 · OPERATE</a:t>
            </a:r>
            <a:endParaRPr sz="1100"/>
          </a:p>
        </p:txBody>
      </p:sp>
      <p:sp>
        <p:nvSpPr>
          <p:cNvPr id="2166" name="Google Shape;2166;p107"/>
          <p:cNvSpPr txBox="1"/>
          <p:nvPr/>
        </p:nvSpPr>
        <p:spPr>
          <a:xfrm>
            <a:off x="7132510" y="2208276"/>
            <a:ext cx="1645964"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Triage, alert, hand off</a:t>
            </a:r>
            <a:endParaRPr sz="1100"/>
          </a:p>
        </p:txBody>
      </p:sp>
      <p:sp>
        <p:nvSpPr>
          <p:cNvPr id="2167" name="Google Shape;2167;p107"/>
          <p:cNvSpPr txBox="1"/>
          <p:nvPr/>
        </p:nvSpPr>
        <p:spPr>
          <a:xfrm>
            <a:off x="7132510" y="2640330"/>
            <a:ext cx="1645964" cy="12001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8B95A6"/>
                </a:solidFill>
                <a:latin typeface="Manrope"/>
                <a:ea typeface="Manrope"/>
                <a:cs typeface="Manrope"/>
                <a:sym typeface="Manrope"/>
              </a:rPr>
              <a:t>Watch an alert queue, summarise incidents, draft runbook steps. Human in the loop for any destructive action.</a:t>
            </a:r>
            <a:endParaRPr sz="1100"/>
          </a:p>
        </p:txBody>
      </p:sp>
      <p:sp>
        <p:nvSpPr>
          <p:cNvPr id="2168" name="Google Shape;2168;p107"/>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2" name="Shape 2172"/>
        <p:cNvGrpSpPr/>
        <p:nvPr/>
      </p:nvGrpSpPr>
      <p:grpSpPr>
        <a:xfrm>
          <a:off x="0" y="0"/>
          <a:ext cx="0" cy="0"/>
          <a:chOff x="0" y="0"/>
          <a:chExt cx="0" cy="0"/>
        </a:xfrm>
      </p:grpSpPr>
      <p:sp>
        <p:nvSpPr>
          <p:cNvPr id="2173" name="Google Shape;2173;p108"/>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2174" name="Google Shape;2174;p108"/>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2175" name="Google Shape;2175;p108"/>
          <p:cNvSpPr txBox="1"/>
          <p:nvPr/>
        </p:nvSpPr>
        <p:spPr>
          <a:xfrm>
            <a:off x="822982" y="946404"/>
            <a:ext cx="7406700" cy="423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300">
                <a:solidFill>
                  <a:srgbClr val="1B1F2A"/>
                </a:solidFill>
                <a:latin typeface="Manrope"/>
                <a:ea typeface="Manrope"/>
                <a:cs typeface="Manrope"/>
                <a:sym typeface="Manrope"/>
              </a:rPr>
              <a:t>What tool use actually looks like under the hood.</a:t>
            </a:r>
            <a:endParaRPr sz="700"/>
          </a:p>
        </p:txBody>
      </p:sp>
      <p:sp>
        <p:nvSpPr>
          <p:cNvPr id="2176" name="Google Shape;2176;p108"/>
          <p:cNvSpPr txBox="1"/>
          <p:nvPr/>
        </p:nvSpPr>
        <p:spPr>
          <a:xfrm>
            <a:off x="822982" y="1522476"/>
            <a:ext cx="7406837"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The model emits a structured request. Your code runs the function. The result is fed back into the conversation. Repeat.…</a:t>
            </a:r>
            <a:endParaRPr sz="1100"/>
          </a:p>
        </p:txBody>
      </p:sp>
      <p:sp>
        <p:nvSpPr>
          <p:cNvPr id="2177" name="Google Shape;2177;p108"/>
          <p:cNvSpPr/>
          <p:nvPr/>
        </p:nvSpPr>
        <p:spPr>
          <a:xfrm>
            <a:off x="822982"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178" name="Google Shape;2178;p108"/>
          <p:cNvSpPr txBox="1"/>
          <p:nvPr/>
        </p:nvSpPr>
        <p:spPr>
          <a:xfrm>
            <a:off x="822982"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STEP 1</a:t>
            </a:r>
            <a:endParaRPr sz="1100"/>
          </a:p>
        </p:txBody>
      </p:sp>
      <p:sp>
        <p:nvSpPr>
          <p:cNvPr id="2179" name="Google Shape;2179;p108"/>
          <p:cNvSpPr txBox="1"/>
          <p:nvPr/>
        </p:nvSpPr>
        <p:spPr>
          <a:xfrm>
            <a:off x="822982" y="2242566"/>
            <a:ext cx="2468946" cy="30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Declare tools</a:t>
            </a:r>
            <a:endParaRPr sz="1100"/>
          </a:p>
        </p:txBody>
      </p:sp>
      <p:sp>
        <p:nvSpPr>
          <p:cNvPr id="2180" name="Google Shape;2180;p108"/>
          <p:cNvSpPr txBox="1"/>
          <p:nvPr/>
        </p:nvSpPr>
        <p:spPr>
          <a:xfrm>
            <a:off x="822982" y="2558034"/>
            <a:ext cx="2468946" cy="19202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You define typed function schemas — name, description, input parameters. The model reads these as part of its context and decides when to call them.</a:t>
            </a:r>
            <a:endParaRPr sz="1100"/>
          </a:p>
        </p:txBody>
      </p:sp>
      <p:sp>
        <p:nvSpPr>
          <p:cNvPr id="2181" name="Google Shape;2181;p108"/>
          <p:cNvSpPr/>
          <p:nvPr/>
        </p:nvSpPr>
        <p:spPr>
          <a:xfrm>
            <a:off x="3429091"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182" name="Google Shape;2182;p108"/>
          <p:cNvSpPr txBox="1"/>
          <p:nvPr/>
        </p:nvSpPr>
        <p:spPr>
          <a:xfrm>
            <a:off x="3429091"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STEP 2</a:t>
            </a:r>
            <a:endParaRPr sz="1100"/>
          </a:p>
        </p:txBody>
      </p:sp>
      <p:sp>
        <p:nvSpPr>
          <p:cNvPr id="2183" name="Google Shape;2183;p108"/>
          <p:cNvSpPr txBox="1"/>
          <p:nvPr/>
        </p:nvSpPr>
        <p:spPr>
          <a:xfrm>
            <a:off x="3429091" y="2242566"/>
            <a:ext cx="2468946" cy="30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Model replies with a call</a:t>
            </a:r>
            <a:endParaRPr sz="1100"/>
          </a:p>
        </p:txBody>
      </p:sp>
      <p:sp>
        <p:nvSpPr>
          <p:cNvPr id="2184" name="Google Shape;2184;p108"/>
          <p:cNvSpPr txBox="1"/>
          <p:nvPr/>
        </p:nvSpPr>
        <p:spPr>
          <a:xfrm>
            <a:off x="3429091" y="2558034"/>
            <a:ext cx="2468946" cy="19202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Instead of a text response, the model emits a structured tool_use block: the function name and arguments it wants to invoke.</a:t>
            </a:r>
            <a:endParaRPr sz="1100"/>
          </a:p>
        </p:txBody>
      </p:sp>
      <p:sp>
        <p:nvSpPr>
          <p:cNvPr id="2185" name="Google Shape;2185;p108"/>
          <p:cNvSpPr/>
          <p:nvPr/>
        </p:nvSpPr>
        <p:spPr>
          <a:xfrm>
            <a:off x="6035201"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186" name="Google Shape;2186;p108"/>
          <p:cNvSpPr txBox="1"/>
          <p:nvPr/>
        </p:nvSpPr>
        <p:spPr>
          <a:xfrm>
            <a:off x="6035201"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8B95A6"/>
                </a:solidFill>
                <a:latin typeface="Courier New"/>
                <a:ea typeface="Courier New"/>
                <a:cs typeface="Courier New"/>
                <a:sym typeface="Courier New"/>
              </a:rPr>
              <a:t>STEP 3</a:t>
            </a:r>
            <a:endParaRPr sz="1100"/>
          </a:p>
        </p:txBody>
      </p:sp>
      <p:sp>
        <p:nvSpPr>
          <p:cNvPr id="2187" name="Google Shape;2187;p108"/>
          <p:cNvSpPr txBox="1"/>
          <p:nvPr/>
        </p:nvSpPr>
        <p:spPr>
          <a:xfrm>
            <a:off x="6035201" y="2242566"/>
            <a:ext cx="2468946" cy="304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500">
                <a:solidFill>
                  <a:srgbClr val="1B1F2A"/>
                </a:solidFill>
                <a:latin typeface="Manrope"/>
                <a:ea typeface="Manrope"/>
                <a:cs typeface="Manrope"/>
                <a:sym typeface="Manrope"/>
              </a:rPr>
              <a:t>You run it and return the result</a:t>
            </a:r>
            <a:endParaRPr sz="1100"/>
          </a:p>
        </p:txBody>
      </p:sp>
      <p:sp>
        <p:nvSpPr>
          <p:cNvPr id="2188" name="Google Shape;2188;p108"/>
          <p:cNvSpPr txBox="1"/>
          <p:nvPr/>
        </p:nvSpPr>
        <p:spPr>
          <a:xfrm>
            <a:off x="6035200" y="2711305"/>
            <a:ext cx="2469000" cy="746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Your code executes the function and passes the output back as a tool_result message. The model reads this on the next turn.</a:t>
            </a:r>
            <a:endParaRPr sz="1100"/>
          </a:p>
        </p:txBody>
      </p:sp>
      <p:sp>
        <p:nvSpPr>
          <p:cNvPr id="2189" name="Google Shape;2189;p108"/>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3" name="Shape 2193"/>
        <p:cNvGrpSpPr/>
        <p:nvPr/>
      </p:nvGrpSpPr>
      <p:grpSpPr>
        <a:xfrm>
          <a:off x="0" y="0"/>
          <a:ext cx="0" cy="0"/>
          <a:chOff x="0" y="0"/>
          <a:chExt cx="0" cy="0"/>
        </a:xfrm>
      </p:grpSpPr>
      <p:sp>
        <p:nvSpPr>
          <p:cNvPr id="2194" name="Google Shape;2194;p109"/>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2195" name="Google Shape;2195;p109"/>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2196" name="Google Shape;2196;p109"/>
          <p:cNvSpPr txBox="1"/>
          <p:nvPr/>
        </p:nvSpPr>
        <p:spPr>
          <a:xfrm>
            <a:off x="822982" y="946404"/>
            <a:ext cx="7406837"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a:solidFill>
                  <a:srgbClr val="1B1F2A"/>
                </a:solidFill>
                <a:latin typeface="Manrope"/>
                <a:ea typeface="Manrope"/>
                <a:cs typeface="Manrope"/>
                <a:sym typeface="Manrope"/>
              </a:rPr>
              <a:t>Ten rules for agents that don't bite.</a:t>
            </a:r>
            <a:endParaRPr sz="1100"/>
          </a:p>
        </p:txBody>
      </p:sp>
      <p:sp>
        <p:nvSpPr>
          <p:cNvPr id="2197" name="Google Shape;2197;p109"/>
          <p:cNvSpPr txBox="1"/>
          <p:nvPr/>
        </p:nvSpPr>
        <p:spPr>
          <a:xfrm>
            <a:off x="822982" y="1426464"/>
            <a:ext cx="7406837" cy="2095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Each was learned the hard way on a real client engagement.</a:t>
            </a:r>
            <a:endParaRPr sz="1100"/>
          </a:p>
        </p:txBody>
      </p:sp>
      <p:sp>
        <p:nvSpPr>
          <p:cNvPr id="2198" name="Google Shape;2198;p109"/>
          <p:cNvSpPr/>
          <p:nvPr/>
        </p:nvSpPr>
        <p:spPr>
          <a:xfrm>
            <a:off x="822982" y="1817370"/>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199" name="Google Shape;2199;p109"/>
          <p:cNvSpPr txBox="1"/>
          <p:nvPr/>
        </p:nvSpPr>
        <p:spPr>
          <a:xfrm>
            <a:off x="918996" y="1872234"/>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01</a:t>
            </a:r>
            <a:endParaRPr sz="1100"/>
          </a:p>
        </p:txBody>
      </p:sp>
      <p:sp>
        <p:nvSpPr>
          <p:cNvPr id="2200" name="Google Shape;2200;p109"/>
          <p:cNvSpPr txBox="1"/>
          <p:nvPr/>
        </p:nvSpPr>
        <p:spPr>
          <a:xfrm>
            <a:off x="918996" y="2023110"/>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Reversible by default</a:t>
            </a:r>
            <a:endParaRPr sz="1100"/>
          </a:p>
        </p:txBody>
      </p:sp>
      <p:sp>
        <p:nvSpPr>
          <p:cNvPr id="2201" name="Google Shape;2201;p109"/>
          <p:cNvSpPr txBox="1"/>
          <p:nvPr/>
        </p:nvSpPr>
        <p:spPr>
          <a:xfrm>
            <a:off x="918996" y="2379726"/>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Every agent action should have a backout. Destructive operations get an extra approval step.</a:t>
            </a:r>
            <a:endParaRPr sz="1100"/>
          </a:p>
        </p:txBody>
      </p:sp>
      <p:sp>
        <p:nvSpPr>
          <p:cNvPr id="2202" name="Google Shape;2202;p109"/>
          <p:cNvSpPr/>
          <p:nvPr/>
        </p:nvSpPr>
        <p:spPr>
          <a:xfrm>
            <a:off x="2853004" y="1817370"/>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203" name="Google Shape;2203;p109"/>
          <p:cNvSpPr txBox="1"/>
          <p:nvPr/>
        </p:nvSpPr>
        <p:spPr>
          <a:xfrm>
            <a:off x="2949019" y="1872234"/>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02</a:t>
            </a:r>
            <a:endParaRPr sz="1100"/>
          </a:p>
        </p:txBody>
      </p:sp>
      <p:sp>
        <p:nvSpPr>
          <p:cNvPr id="2204" name="Google Shape;2204;p109"/>
          <p:cNvSpPr txBox="1"/>
          <p:nvPr/>
        </p:nvSpPr>
        <p:spPr>
          <a:xfrm>
            <a:off x="2949019" y="2023110"/>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Bound the loop</a:t>
            </a:r>
            <a:endParaRPr sz="1100"/>
          </a:p>
        </p:txBody>
      </p:sp>
      <p:sp>
        <p:nvSpPr>
          <p:cNvPr id="2205" name="Google Shape;2205;p109"/>
          <p:cNvSpPr txBox="1"/>
          <p:nvPr/>
        </p:nvSpPr>
        <p:spPr>
          <a:xfrm>
            <a:off x="2949019" y="2379726"/>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Maximum steps, wall-clock time, and dollar budget. The model never decides 'enough is enough.'</a:t>
            </a:r>
            <a:endParaRPr sz="1100"/>
          </a:p>
        </p:txBody>
      </p:sp>
      <p:sp>
        <p:nvSpPr>
          <p:cNvPr id="2206" name="Google Shape;2206;p109"/>
          <p:cNvSpPr/>
          <p:nvPr/>
        </p:nvSpPr>
        <p:spPr>
          <a:xfrm>
            <a:off x="4883026" y="1817370"/>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207" name="Google Shape;2207;p109"/>
          <p:cNvSpPr txBox="1"/>
          <p:nvPr/>
        </p:nvSpPr>
        <p:spPr>
          <a:xfrm>
            <a:off x="4979041" y="1872234"/>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03</a:t>
            </a:r>
            <a:endParaRPr sz="1100"/>
          </a:p>
        </p:txBody>
      </p:sp>
      <p:sp>
        <p:nvSpPr>
          <p:cNvPr id="2208" name="Google Shape;2208;p109"/>
          <p:cNvSpPr txBox="1"/>
          <p:nvPr/>
        </p:nvSpPr>
        <p:spPr>
          <a:xfrm>
            <a:off x="4979041" y="2023110"/>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Narrow the tool surface</a:t>
            </a:r>
            <a:endParaRPr sz="1100"/>
          </a:p>
        </p:txBody>
      </p:sp>
      <p:sp>
        <p:nvSpPr>
          <p:cNvPr id="2209" name="Google Shape;2209;p109"/>
          <p:cNvSpPr txBox="1"/>
          <p:nvPr/>
        </p:nvSpPr>
        <p:spPr>
          <a:xfrm>
            <a:off x="4979041" y="2379726"/>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Five sharp tools beat fifty fuzzy ones. Limit blast radius by limiting what the agent can touch.</a:t>
            </a:r>
            <a:endParaRPr sz="1100"/>
          </a:p>
        </p:txBody>
      </p:sp>
      <p:sp>
        <p:nvSpPr>
          <p:cNvPr id="2210" name="Google Shape;2210;p109"/>
          <p:cNvSpPr/>
          <p:nvPr/>
        </p:nvSpPr>
        <p:spPr>
          <a:xfrm>
            <a:off x="6913048" y="1817370"/>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211" name="Google Shape;2211;p109"/>
          <p:cNvSpPr txBox="1"/>
          <p:nvPr/>
        </p:nvSpPr>
        <p:spPr>
          <a:xfrm>
            <a:off x="7009063" y="1872234"/>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04</a:t>
            </a:r>
            <a:endParaRPr sz="1100"/>
          </a:p>
        </p:txBody>
      </p:sp>
      <p:sp>
        <p:nvSpPr>
          <p:cNvPr id="2212" name="Google Shape;2212;p109"/>
          <p:cNvSpPr txBox="1"/>
          <p:nvPr/>
        </p:nvSpPr>
        <p:spPr>
          <a:xfrm>
            <a:off x="7009063" y="2023110"/>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Type the inputs</a:t>
            </a:r>
            <a:endParaRPr sz="1100"/>
          </a:p>
        </p:txBody>
      </p:sp>
      <p:sp>
        <p:nvSpPr>
          <p:cNvPr id="2213" name="Google Shape;2213;p109"/>
          <p:cNvSpPr txBox="1"/>
          <p:nvPr/>
        </p:nvSpPr>
        <p:spPr>
          <a:xfrm>
            <a:off x="7009063" y="2379726"/>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Every tool has a JSON schema. Every output is validated. No 'looks like a path' — just paths.</a:t>
            </a:r>
            <a:endParaRPr sz="1100"/>
          </a:p>
        </p:txBody>
      </p:sp>
      <p:sp>
        <p:nvSpPr>
          <p:cNvPr id="2214" name="Google Shape;2214;p109"/>
          <p:cNvSpPr/>
          <p:nvPr/>
        </p:nvSpPr>
        <p:spPr>
          <a:xfrm>
            <a:off x="822982" y="3072384"/>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215" name="Google Shape;2215;p109"/>
          <p:cNvSpPr txBox="1"/>
          <p:nvPr/>
        </p:nvSpPr>
        <p:spPr>
          <a:xfrm>
            <a:off x="918996" y="3127248"/>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05</a:t>
            </a:r>
            <a:endParaRPr sz="1100"/>
          </a:p>
        </p:txBody>
      </p:sp>
      <p:sp>
        <p:nvSpPr>
          <p:cNvPr id="2216" name="Google Shape;2216;p109"/>
          <p:cNvSpPr txBox="1"/>
          <p:nvPr/>
        </p:nvSpPr>
        <p:spPr>
          <a:xfrm>
            <a:off x="918996" y="3278124"/>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Make failure cheap</a:t>
            </a:r>
            <a:endParaRPr sz="1100"/>
          </a:p>
        </p:txBody>
      </p:sp>
      <p:sp>
        <p:nvSpPr>
          <p:cNvPr id="2217" name="Google Shape;2217;p109"/>
          <p:cNvSpPr txBox="1"/>
          <p:nvPr/>
        </p:nvSpPr>
        <p:spPr>
          <a:xfrm>
            <a:off x="918996" y="3634740"/>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Sandboxes, ephemeral branches, dry-run modes. The agent must be allowed to fail safely.</a:t>
            </a:r>
            <a:endParaRPr sz="1100"/>
          </a:p>
        </p:txBody>
      </p:sp>
      <p:sp>
        <p:nvSpPr>
          <p:cNvPr id="2218" name="Google Shape;2218;p109"/>
          <p:cNvSpPr/>
          <p:nvPr/>
        </p:nvSpPr>
        <p:spPr>
          <a:xfrm>
            <a:off x="2853004" y="3072384"/>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219" name="Google Shape;2219;p109"/>
          <p:cNvSpPr txBox="1"/>
          <p:nvPr/>
        </p:nvSpPr>
        <p:spPr>
          <a:xfrm>
            <a:off x="2949019" y="3127248"/>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06</a:t>
            </a:r>
            <a:endParaRPr sz="1100"/>
          </a:p>
        </p:txBody>
      </p:sp>
      <p:sp>
        <p:nvSpPr>
          <p:cNvPr id="2220" name="Google Shape;2220;p109"/>
          <p:cNvSpPr txBox="1"/>
          <p:nvPr/>
        </p:nvSpPr>
        <p:spPr>
          <a:xfrm>
            <a:off x="2949019" y="3278124"/>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Evaluate the loop end-to-end</a:t>
            </a:r>
            <a:endParaRPr sz="1100"/>
          </a:p>
        </p:txBody>
      </p:sp>
      <p:sp>
        <p:nvSpPr>
          <p:cNvPr id="2221" name="Google Shape;2221;p109"/>
          <p:cNvSpPr txBox="1"/>
          <p:nvPr/>
        </p:nvSpPr>
        <p:spPr>
          <a:xfrm>
            <a:off x="2949019" y="3634740"/>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Model-only evals miss orchestration bugs. Eval on golden tasks that exercise the full agent loop.</a:t>
            </a:r>
            <a:endParaRPr sz="1100"/>
          </a:p>
        </p:txBody>
      </p:sp>
      <p:sp>
        <p:nvSpPr>
          <p:cNvPr id="2222" name="Google Shape;2222;p109"/>
          <p:cNvSpPr/>
          <p:nvPr/>
        </p:nvSpPr>
        <p:spPr>
          <a:xfrm>
            <a:off x="4883026" y="3072384"/>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223" name="Google Shape;2223;p109"/>
          <p:cNvSpPr txBox="1"/>
          <p:nvPr/>
        </p:nvSpPr>
        <p:spPr>
          <a:xfrm>
            <a:off x="4979041" y="3127248"/>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07</a:t>
            </a:r>
            <a:endParaRPr sz="1100"/>
          </a:p>
        </p:txBody>
      </p:sp>
      <p:sp>
        <p:nvSpPr>
          <p:cNvPr id="2224" name="Google Shape;2224;p109"/>
          <p:cNvSpPr txBox="1"/>
          <p:nvPr/>
        </p:nvSpPr>
        <p:spPr>
          <a:xfrm>
            <a:off x="4979041" y="3278124"/>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Log everything</a:t>
            </a:r>
            <a:endParaRPr sz="1100"/>
          </a:p>
        </p:txBody>
      </p:sp>
      <p:sp>
        <p:nvSpPr>
          <p:cNvPr id="2225" name="Google Shape;2225;p109"/>
          <p:cNvSpPr txBox="1"/>
          <p:nvPr/>
        </p:nvSpPr>
        <p:spPr>
          <a:xfrm>
            <a:off x="4979041" y="3634740"/>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Every prompt, tool call, and decision — with privacy controls. Without logs you cannot debug an agent.</a:t>
            </a:r>
            <a:endParaRPr sz="1100"/>
          </a:p>
        </p:txBody>
      </p:sp>
      <p:sp>
        <p:nvSpPr>
          <p:cNvPr id="2226" name="Google Shape;2226;p109"/>
          <p:cNvSpPr/>
          <p:nvPr/>
        </p:nvSpPr>
        <p:spPr>
          <a:xfrm>
            <a:off x="6913048" y="3072384"/>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227" name="Google Shape;2227;p109"/>
          <p:cNvSpPr txBox="1"/>
          <p:nvPr/>
        </p:nvSpPr>
        <p:spPr>
          <a:xfrm>
            <a:off x="7009063" y="3127248"/>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a:solidFill>
                  <a:srgbClr val="FF671F"/>
                </a:solidFill>
                <a:latin typeface="Courier New"/>
                <a:ea typeface="Courier New"/>
                <a:cs typeface="Courier New"/>
                <a:sym typeface="Courier New"/>
              </a:rPr>
              <a:t>08</a:t>
            </a:r>
            <a:endParaRPr sz="1100"/>
          </a:p>
        </p:txBody>
      </p:sp>
      <p:sp>
        <p:nvSpPr>
          <p:cNvPr id="2228" name="Google Shape;2228;p109"/>
          <p:cNvSpPr txBox="1"/>
          <p:nvPr/>
        </p:nvSpPr>
        <p:spPr>
          <a:xfrm>
            <a:off x="7009063" y="3278124"/>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Surface what the agent is doing</a:t>
            </a:r>
            <a:endParaRPr sz="1100"/>
          </a:p>
        </p:txBody>
      </p:sp>
      <p:sp>
        <p:nvSpPr>
          <p:cNvPr id="2229" name="Google Shape;2229;p109"/>
          <p:cNvSpPr txBox="1"/>
          <p:nvPr/>
        </p:nvSpPr>
        <p:spPr>
          <a:xfrm>
            <a:off x="7009063" y="3634740"/>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black-box agent is a trust-killer. Show progress in real time.</a:t>
            </a:r>
            <a:endParaRPr sz="1100"/>
          </a:p>
        </p:txBody>
      </p:sp>
      <p:sp>
        <p:nvSpPr>
          <p:cNvPr id="2230" name="Google Shape;2230;p109"/>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4" name="Shape 2234"/>
        <p:cNvGrpSpPr/>
        <p:nvPr/>
      </p:nvGrpSpPr>
      <p:grpSpPr>
        <a:xfrm>
          <a:off x="0" y="0"/>
          <a:ext cx="0" cy="0"/>
          <a:chOff x="0" y="0"/>
          <a:chExt cx="0" cy="0"/>
        </a:xfrm>
      </p:grpSpPr>
      <p:sp>
        <p:nvSpPr>
          <p:cNvPr id="2235" name="Google Shape;2235;p110"/>
          <p:cNvSpPr txBox="1"/>
          <p:nvPr/>
        </p:nvSpPr>
        <p:spPr>
          <a:xfrm>
            <a:off x="822982" y="342900"/>
            <a:ext cx="2743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2236" name="Google Shape;2236;p110"/>
          <p:cNvSpPr txBox="1"/>
          <p:nvPr/>
        </p:nvSpPr>
        <p:spPr>
          <a:xfrm>
            <a:off x="822982" y="562356"/>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2237" name="Google Shape;2237;p110"/>
          <p:cNvSpPr txBox="1"/>
          <p:nvPr/>
        </p:nvSpPr>
        <p:spPr>
          <a:xfrm>
            <a:off x="822982" y="687189"/>
            <a:ext cx="548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AGENTIC AI</a:t>
            </a:r>
            <a:endParaRPr sz="1100"/>
          </a:p>
        </p:txBody>
      </p:sp>
      <p:sp>
        <p:nvSpPr>
          <p:cNvPr id="2238" name="Google Shape;2238;p110"/>
          <p:cNvSpPr txBox="1"/>
          <p:nvPr/>
        </p:nvSpPr>
        <p:spPr>
          <a:xfrm>
            <a:off x="799957" y="948629"/>
            <a:ext cx="7544100" cy="592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700" u="none" cap="none" strike="noStrike">
                <a:solidFill>
                  <a:srgbClr val="1B1F2A"/>
                </a:solidFill>
                <a:latin typeface="Manrope"/>
                <a:ea typeface="Manrope"/>
                <a:cs typeface="Manrope"/>
                <a:sym typeface="Manrope"/>
              </a:rPr>
              <a:t>Agentic AI: how to define</a:t>
            </a:r>
            <a:endParaRPr b="1" i="0" sz="1700" u="none" cap="none" strike="noStrike">
              <a:solidFill>
                <a:srgbClr val="1B1F2A"/>
              </a:solidFill>
              <a:latin typeface="Manrope"/>
              <a:ea typeface="Manrope"/>
              <a:cs typeface="Manrope"/>
              <a:sym typeface="Manrope"/>
            </a:endParaRPr>
          </a:p>
          <a:p>
            <a:pPr indent="0" lvl="0" marL="0" marR="0" rtl="0" algn="l">
              <a:spcBef>
                <a:spcPts val="0"/>
              </a:spcBef>
              <a:spcAft>
                <a:spcPts val="0"/>
              </a:spcAft>
              <a:buNone/>
            </a:pPr>
            <a:r>
              <a:rPr b="1" i="0" lang="en-GB" sz="1700" u="none" cap="none" strike="noStrike">
                <a:solidFill>
                  <a:srgbClr val="1B1F2A"/>
                </a:solidFill>
                <a:latin typeface="Manrope"/>
                <a:ea typeface="Manrope"/>
                <a:cs typeface="Manrope"/>
                <a:sym typeface="Manrope"/>
              </a:rPr>
              <a:t> tools and drive an agent loop.</a:t>
            </a:r>
            <a:endParaRPr sz="1100"/>
          </a:p>
        </p:txBody>
      </p:sp>
      <p:sp>
        <p:nvSpPr>
          <p:cNvPr id="2239" name="Google Shape;2239;p110"/>
          <p:cNvSpPr/>
          <p:nvPr/>
        </p:nvSpPr>
        <p:spPr>
          <a:xfrm>
            <a:off x="822982" y="1474470"/>
            <a:ext cx="41100" cy="1371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240" name="Google Shape;2240;p110"/>
          <p:cNvSpPr txBox="1"/>
          <p:nvPr/>
        </p:nvSpPr>
        <p:spPr>
          <a:xfrm>
            <a:off x="946429" y="1453896"/>
            <a:ext cx="31206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000" u="none" cap="none" strike="noStrike">
                <a:solidFill>
                  <a:srgbClr val="1B1F2A"/>
                </a:solidFill>
                <a:latin typeface="Manrope"/>
                <a:ea typeface="Manrope"/>
                <a:cs typeface="Manrope"/>
                <a:sym typeface="Manrope"/>
              </a:rPr>
              <a:t>Step 1 · Declare Tools</a:t>
            </a:r>
            <a:endParaRPr sz="1100"/>
          </a:p>
        </p:txBody>
      </p:sp>
      <p:sp>
        <p:nvSpPr>
          <p:cNvPr id="2241" name="Google Shape;2241;p110"/>
          <p:cNvSpPr txBox="1"/>
          <p:nvPr/>
        </p:nvSpPr>
        <p:spPr>
          <a:xfrm>
            <a:off x="946429" y="1639062"/>
            <a:ext cx="3120600" cy="315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Each tool has a name, description, and typed schema. The model reads these exactly like function signatures.</a:t>
            </a:r>
            <a:endParaRPr sz="1100"/>
          </a:p>
        </p:txBody>
      </p:sp>
      <p:sp>
        <p:nvSpPr>
          <p:cNvPr id="2242" name="Google Shape;2242;p110"/>
          <p:cNvSpPr/>
          <p:nvPr/>
        </p:nvSpPr>
        <p:spPr>
          <a:xfrm>
            <a:off x="822982" y="2228850"/>
            <a:ext cx="41100" cy="1371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243" name="Google Shape;2243;p110"/>
          <p:cNvSpPr txBox="1"/>
          <p:nvPr/>
        </p:nvSpPr>
        <p:spPr>
          <a:xfrm>
            <a:off x="946429" y="2208276"/>
            <a:ext cx="31206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000" u="none" cap="none" strike="noStrike">
                <a:solidFill>
                  <a:srgbClr val="1B1F2A"/>
                </a:solidFill>
                <a:latin typeface="Manrope"/>
                <a:ea typeface="Manrope"/>
                <a:cs typeface="Manrope"/>
                <a:sym typeface="Manrope"/>
              </a:rPr>
              <a:t>Step 2 · Model Replies</a:t>
            </a:r>
            <a:endParaRPr sz="1100"/>
          </a:p>
        </p:txBody>
      </p:sp>
      <p:sp>
        <p:nvSpPr>
          <p:cNvPr id="2244" name="Google Shape;2244;p110"/>
          <p:cNvSpPr txBox="1"/>
          <p:nvPr/>
        </p:nvSpPr>
        <p:spPr>
          <a:xfrm>
            <a:off x="946429" y="2393442"/>
            <a:ext cx="3120600" cy="315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Instead of text, the model emits a structured tool_use block — function name + the arguments it wants to invoke.</a:t>
            </a:r>
            <a:endParaRPr sz="1100"/>
          </a:p>
        </p:txBody>
      </p:sp>
      <p:sp>
        <p:nvSpPr>
          <p:cNvPr id="2245" name="Google Shape;2245;p110"/>
          <p:cNvSpPr/>
          <p:nvPr/>
        </p:nvSpPr>
        <p:spPr>
          <a:xfrm>
            <a:off x="822982" y="2983230"/>
            <a:ext cx="41100" cy="1371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246" name="Google Shape;2246;p110"/>
          <p:cNvSpPr txBox="1"/>
          <p:nvPr/>
        </p:nvSpPr>
        <p:spPr>
          <a:xfrm>
            <a:off x="946429" y="2962656"/>
            <a:ext cx="31206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000" u="none" cap="none" strike="noStrike">
                <a:solidFill>
                  <a:srgbClr val="1B1F2A"/>
                </a:solidFill>
                <a:latin typeface="Manrope"/>
                <a:ea typeface="Manrope"/>
                <a:cs typeface="Manrope"/>
                <a:sym typeface="Manrope"/>
              </a:rPr>
              <a:t>Step 3 · You Execute</a:t>
            </a:r>
            <a:endParaRPr sz="1100"/>
          </a:p>
        </p:txBody>
      </p:sp>
      <p:sp>
        <p:nvSpPr>
          <p:cNvPr id="2247" name="Google Shape;2247;p110"/>
          <p:cNvSpPr txBox="1"/>
          <p:nvPr/>
        </p:nvSpPr>
        <p:spPr>
          <a:xfrm>
            <a:off x="946429" y="3147822"/>
            <a:ext cx="3120600" cy="315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Your code runs the real function and feeds the result back as a tool_result message. The model reads it next turn.</a:t>
            </a:r>
            <a:endParaRPr sz="1100"/>
          </a:p>
        </p:txBody>
      </p:sp>
      <p:sp>
        <p:nvSpPr>
          <p:cNvPr id="2248" name="Google Shape;2248;p110"/>
          <p:cNvSpPr/>
          <p:nvPr/>
        </p:nvSpPr>
        <p:spPr>
          <a:xfrm>
            <a:off x="822982" y="3737610"/>
            <a:ext cx="41100" cy="1371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249" name="Google Shape;2249;p110"/>
          <p:cNvSpPr txBox="1"/>
          <p:nvPr/>
        </p:nvSpPr>
        <p:spPr>
          <a:xfrm>
            <a:off x="946429" y="3717036"/>
            <a:ext cx="3120600" cy="22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000" u="none" cap="none" strike="noStrike">
                <a:solidFill>
                  <a:srgbClr val="1B1F2A"/>
                </a:solidFill>
                <a:latin typeface="Manrope"/>
                <a:ea typeface="Manrope"/>
                <a:cs typeface="Manrope"/>
                <a:sym typeface="Manrope"/>
              </a:rPr>
              <a:t>Step 4 · Loop Until Done</a:t>
            </a:r>
            <a:endParaRPr sz="1100"/>
          </a:p>
        </p:txBody>
      </p:sp>
      <p:sp>
        <p:nvSpPr>
          <p:cNvPr id="2250" name="Google Shape;2250;p110"/>
          <p:cNvSpPr txBox="1"/>
          <p:nvPr/>
        </p:nvSpPr>
        <p:spPr>
          <a:xfrm>
            <a:off x="946429" y="3902202"/>
            <a:ext cx="3120600" cy="315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Repeat until stop_reason = 'end_turn', or a step / dollar budget is exceeded. Never let the model decide 'enough'.</a:t>
            </a:r>
            <a:endParaRPr sz="1100"/>
          </a:p>
        </p:txBody>
      </p:sp>
      <p:sp>
        <p:nvSpPr>
          <p:cNvPr id="2251" name="Google Shape;2251;p110"/>
          <p:cNvSpPr/>
          <p:nvPr/>
        </p:nvSpPr>
        <p:spPr>
          <a:xfrm>
            <a:off x="4217775" y="481725"/>
            <a:ext cx="4766400" cy="4576500"/>
          </a:xfrm>
          <a:prstGeom prst="rect">
            <a:avLst/>
          </a:prstGeom>
          <a:solidFill>
            <a:srgbClr val="131722"/>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252" name="Google Shape;2252;p110"/>
          <p:cNvSpPr/>
          <p:nvPr/>
        </p:nvSpPr>
        <p:spPr>
          <a:xfrm>
            <a:off x="4217782" y="1337310"/>
            <a:ext cx="1646100" cy="192000"/>
          </a:xfrm>
          <a:prstGeom prst="rect">
            <a:avLst/>
          </a:prstGeom>
          <a:solidFill>
            <a:srgbClr val="1E263A"/>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253" name="Google Shape;2253;p110"/>
          <p:cNvSpPr txBox="1"/>
          <p:nvPr/>
        </p:nvSpPr>
        <p:spPr>
          <a:xfrm>
            <a:off x="4300081" y="1364742"/>
            <a:ext cx="15087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100"/>
          </a:p>
        </p:txBody>
      </p:sp>
      <p:sp>
        <p:nvSpPr>
          <p:cNvPr id="2254" name="Google Shape;2254;p110"/>
          <p:cNvSpPr txBox="1"/>
          <p:nvPr/>
        </p:nvSpPr>
        <p:spPr>
          <a:xfrm>
            <a:off x="4300071" y="609065"/>
            <a:ext cx="4492200" cy="4132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GB" sz="1000">
                <a:solidFill>
                  <a:srgbClr val="636F88"/>
                </a:solidFill>
                <a:latin typeface="Courier New"/>
                <a:ea typeface="Courier New"/>
                <a:cs typeface="Courier New"/>
                <a:sym typeface="Courier New"/>
              </a:rPr>
              <a:t>// 1. Declare tools the model may call</a:t>
            </a:r>
            <a:endParaRPr sz="1100"/>
          </a:p>
          <a:p>
            <a:pPr indent="0" lvl="0" marL="0" marR="0" rtl="0" algn="l">
              <a:spcBef>
                <a:spcPts val="0"/>
              </a:spcBef>
              <a:spcAft>
                <a:spcPts val="0"/>
              </a:spcAft>
              <a:buNone/>
            </a:pPr>
            <a:r>
              <a:rPr lang="en-GB" sz="1000">
                <a:solidFill>
                  <a:srgbClr val="C792EA"/>
                </a:solidFill>
                <a:latin typeface="Courier New"/>
                <a:ea typeface="Courier New"/>
                <a:cs typeface="Courier New"/>
                <a:sym typeface="Courier New"/>
              </a:rPr>
              <a:t>const </a:t>
            </a:r>
            <a:r>
              <a:rPr lang="en-GB" sz="1000">
                <a:solidFill>
                  <a:srgbClr val="FFFFFF"/>
                </a:solidFill>
                <a:latin typeface="Courier New"/>
                <a:ea typeface="Courier New"/>
                <a:cs typeface="Courier New"/>
                <a:sym typeface="Courier New"/>
              </a:rPr>
              <a:t>tools</a:t>
            </a:r>
            <a:r>
              <a:rPr lang="en-GB" sz="1000">
                <a:solidFill>
                  <a:srgbClr val="FF9955"/>
                </a:solidFill>
                <a:latin typeface="Courier New"/>
                <a:ea typeface="Courier New"/>
                <a:cs typeface="Courier New"/>
                <a:sym typeface="Courier New"/>
              </a:rPr>
              <a:t> = [{</a:t>
            </a:r>
            <a:endParaRPr sz="1100"/>
          </a:p>
          <a:p>
            <a:pPr indent="0" lvl="0" marL="0" marR="0" rtl="0" algn="l">
              <a:spcBef>
                <a:spcPts val="0"/>
              </a:spcBef>
              <a:spcAft>
                <a:spcPts val="0"/>
              </a:spcAft>
              <a:buNone/>
            </a:pPr>
            <a:r>
              <a:rPr lang="en-GB" sz="1000">
                <a:solidFill>
                  <a:srgbClr val="FFFFFF"/>
                </a:solidFill>
                <a:latin typeface="Courier New"/>
                <a:ea typeface="Courier New"/>
                <a:cs typeface="Courier New"/>
                <a:sym typeface="Courier New"/>
              </a:rPr>
              <a:t>  name</a:t>
            </a:r>
            <a:r>
              <a:rPr lang="en-GB" sz="1000">
                <a:solidFill>
                  <a:srgbClr val="FF9955"/>
                </a:solidFill>
                <a:latin typeface="Courier New"/>
                <a:ea typeface="Courier New"/>
                <a:cs typeface="Courier New"/>
                <a:sym typeface="Courier New"/>
              </a:rPr>
              <a:t>: "read_file",</a:t>
            </a:r>
            <a:endParaRPr sz="1100"/>
          </a:p>
          <a:p>
            <a:pPr indent="0" lvl="0" marL="0" marR="0" rtl="0" algn="l">
              <a:spcBef>
                <a:spcPts val="0"/>
              </a:spcBef>
              <a:spcAft>
                <a:spcPts val="0"/>
              </a:spcAft>
              <a:buNone/>
            </a:pPr>
            <a:r>
              <a:rPr lang="en-GB" sz="1000">
                <a:solidFill>
                  <a:srgbClr val="FFFFFF"/>
                </a:solidFill>
                <a:latin typeface="Courier New"/>
                <a:ea typeface="Courier New"/>
                <a:cs typeface="Courier New"/>
                <a:sym typeface="Courier New"/>
              </a:rPr>
              <a:t>  description</a:t>
            </a:r>
            <a:r>
              <a:rPr lang="en-GB" sz="1000">
                <a:solidFill>
                  <a:srgbClr val="FF9955"/>
                </a:solidFill>
                <a:latin typeface="Courier New"/>
                <a:ea typeface="Courier New"/>
                <a:cs typeface="Courier New"/>
                <a:sym typeface="Courier New"/>
              </a:rPr>
              <a:t>: </a:t>
            </a:r>
            <a:r>
              <a:rPr lang="en-GB" sz="1000">
                <a:solidFill>
                  <a:srgbClr val="A3BE8C"/>
                </a:solidFill>
                <a:latin typeface="Courier New"/>
                <a:ea typeface="Courier New"/>
                <a:cs typeface="Courier New"/>
                <a:sym typeface="Courier New"/>
              </a:rPr>
              <a:t>"Read a file by path"</a:t>
            </a:r>
            <a:r>
              <a:rPr lang="en-GB" sz="1000">
                <a:solidFill>
                  <a:srgbClr val="FF9955"/>
                </a:solidFill>
                <a:latin typeface="Courier New"/>
                <a:ea typeface="Courier New"/>
                <a:cs typeface="Courier New"/>
                <a:sym typeface="Courier New"/>
              </a:rPr>
              <a:t>,</a:t>
            </a:r>
            <a:endParaRPr sz="1100"/>
          </a:p>
          <a:p>
            <a:pPr indent="0" lvl="0" marL="0" marR="0" rtl="0" algn="l">
              <a:spcBef>
                <a:spcPts val="0"/>
              </a:spcBef>
              <a:spcAft>
                <a:spcPts val="0"/>
              </a:spcAft>
              <a:buNone/>
            </a:pPr>
            <a:r>
              <a:rPr lang="en-GB" sz="1000">
                <a:solidFill>
                  <a:srgbClr val="FF9955"/>
                </a:solidFill>
                <a:latin typeface="Courier New"/>
                <a:ea typeface="Courier New"/>
                <a:cs typeface="Courier New"/>
                <a:sym typeface="Courier New"/>
              </a:rPr>
              <a:t>  input_schema: { path: </a:t>
            </a:r>
            <a:r>
              <a:rPr lang="en-GB" sz="1000">
                <a:solidFill>
                  <a:srgbClr val="A3BE8C"/>
                </a:solidFill>
                <a:latin typeface="Courier New"/>
                <a:ea typeface="Courier New"/>
                <a:cs typeface="Courier New"/>
                <a:sym typeface="Courier New"/>
              </a:rPr>
              <a:t>"string"</a:t>
            </a:r>
            <a:r>
              <a:rPr lang="en-GB" sz="1000">
                <a:solidFill>
                  <a:srgbClr val="FF9955"/>
                </a:solidFill>
                <a:latin typeface="Courier New"/>
                <a:ea typeface="Courier New"/>
                <a:cs typeface="Courier New"/>
                <a:sym typeface="Courier New"/>
              </a:rPr>
              <a:t> }</a:t>
            </a:r>
            <a:endParaRPr sz="1100"/>
          </a:p>
          <a:p>
            <a:pPr indent="0" lvl="0" marL="0" marR="0" rtl="0" algn="l">
              <a:spcBef>
                <a:spcPts val="0"/>
              </a:spcBef>
              <a:spcAft>
                <a:spcPts val="0"/>
              </a:spcAft>
              <a:buNone/>
            </a:pPr>
            <a:r>
              <a:rPr lang="en-GB" sz="1000">
                <a:solidFill>
                  <a:srgbClr val="FF9955"/>
                </a:solidFill>
                <a:latin typeface="Courier New"/>
                <a:ea typeface="Courier New"/>
                <a:cs typeface="Courier New"/>
                <a:sym typeface="Courier New"/>
              </a:rPr>
              <a:t>}, {</a:t>
            </a:r>
            <a:endParaRPr sz="1100"/>
          </a:p>
          <a:p>
            <a:pPr indent="0" lvl="0" marL="0" marR="0" rtl="0" algn="l">
              <a:spcBef>
                <a:spcPts val="0"/>
              </a:spcBef>
              <a:spcAft>
                <a:spcPts val="0"/>
              </a:spcAft>
              <a:buNone/>
            </a:pPr>
            <a:r>
              <a:rPr lang="en-GB" sz="1000">
                <a:solidFill>
                  <a:srgbClr val="FFFFFF"/>
                </a:solidFill>
                <a:latin typeface="Courier New"/>
                <a:ea typeface="Courier New"/>
                <a:cs typeface="Courier New"/>
                <a:sym typeface="Courier New"/>
              </a:rPr>
              <a:t>  name</a:t>
            </a:r>
            <a:r>
              <a:rPr lang="en-GB" sz="1000">
                <a:solidFill>
                  <a:srgbClr val="FF9955"/>
                </a:solidFill>
                <a:latin typeface="Courier New"/>
                <a:ea typeface="Courier New"/>
                <a:cs typeface="Courier New"/>
                <a:sym typeface="Courier New"/>
              </a:rPr>
              <a:t>: "run_tests",</a:t>
            </a:r>
            <a:endParaRPr sz="1100"/>
          </a:p>
          <a:p>
            <a:pPr indent="0" lvl="0" marL="0" marR="0" rtl="0" algn="l">
              <a:spcBef>
                <a:spcPts val="0"/>
              </a:spcBef>
              <a:spcAft>
                <a:spcPts val="0"/>
              </a:spcAft>
              <a:buNone/>
            </a:pPr>
            <a:r>
              <a:rPr lang="en-GB" sz="1000">
                <a:solidFill>
                  <a:srgbClr val="FFFFFF"/>
                </a:solidFill>
                <a:latin typeface="Courier New"/>
                <a:ea typeface="Courier New"/>
                <a:cs typeface="Courier New"/>
                <a:sym typeface="Courier New"/>
              </a:rPr>
              <a:t>  description</a:t>
            </a:r>
            <a:r>
              <a:rPr lang="en-GB" sz="1000">
                <a:solidFill>
                  <a:srgbClr val="FF9955"/>
                </a:solidFill>
                <a:latin typeface="Courier New"/>
                <a:ea typeface="Courier New"/>
                <a:cs typeface="Courier New"/>
                <a:sym typeface="Courier New"/>
              </a:rPr>
              <a:t>: </a:t>
            </a:r>
            <a:r>
              <a:rPr lang="en-GB" sz="1000">
                <a:solidFill>
                  <a:srgbClr val="A3BE8C"/>
                </a:solidFill>
                <a:latin typeface="Courier New"/>
                <a:ea typeface="Courier New"/>
                <a:cs typeface="Courier New"/>
                <a:sym typeface="Courier New"/>
              </a:rPr>
              <a:t>"Run test suite, return stdout"</a:t>
            </a:r>
            <a:endParaRPr sz="1100"/>
          </a:p>
          <a:p>
            <a:pPr indent="0" lvl="0" marL="0" marR="0" rtl="0" algn="l">
              <a:spcBef>
                <a:spcPts val="0"/>
              </a:spcBef>
              <a:spcAft>
                <a:spcPts val="0"/>
              </a:spcAft>
              <a:buNone/>
            </a:pPr>
            <a:r>
              <a:rPr lang="en-GB" sz="1000">
                <a:solidFill>
                  <a:srgbClr val="FF9955"/>
                </a:solidFill>
                <a:latin typeface="Courier New"/>
                <a:ea typeface="Courier New"/>
                <a:cs typeface="Courier New"/>
                <a:sym typeface="Courier New"/>
              </a:rPr>
              <a:t>}]</a:t>
            </a:r>
            <a:endParaRPr sz="1100"/>
          </a:p>
          <a:p>
            <a:pPr indent="0" lvl="0" marL="0" marR="0" rtl="0" algn="l">
              <a:spcBef>
                <a:spcPts val="0"/>
              </a:spcBef>
              <a:spcAft>
                <a:spcPts val="0"/>
              </a:spcAft>
              <a:buNone/>
            </a:pPr>
            <a:r>
              <a:t/>
            </a:r>
            <a:endParaRPr sz="1000">
              <a:solidFill>
                <a:srgbClr val="FF9955"/>
              </a:solidFill>
              <a:latin typeface="Courier New"/>
              <a:ea typeface="Courier New"/>
              <a:cs typeface="Courier New"/>
              <a:sym typeface="Courier New"/>
            </a:endParaRPr>
          </a:p>
          <a:p>
            <a:pPr indent="0" lvl="0" marL="0" marR="0" rtl="0" algn="l">
              <a:spcBef>
                <a:spcPts val="0"/>
              </a:spcBef>
              <a:spcAft>
                <a:spcPts val="0"/>
              </a:spcAft>
              <a:buNone/>
            </a:pPr>
            <a:r>
              <a:rPr lang="en-GB" sz="1000">
                <a:solidFill>
                  <a:srgbClr val="636F88"/>
                </a:solidFill>
                <a:latin typeface="Courier New"/>
                <a:ea typeface="Courier New"/>
                <a:cs typeface="Courier New"/>
                <a:sym typeface="Courier New"/>
              </a:rPr>
              <a:t>// 2. Seed conversation with the user goal</a:t>
            </a:r>
            <a:endParaRPr sz="1100"/>
          </a:p>
          <a:p>
            <a:pPr indent="0" lvl="0" marL="0" marR="0" rtl="0" algn="l">
              <a:spcBef>
                <a:spcPts val="0"/>
              </a:spcBef>
              <a:spcAft>
                <a:spcPts val="0"/>
              </a:spcAft>
              <a:buNone/>
            </a:pPr>
            <a:r>
              <a:rPr lang="en-GB" sz="1000">
                <a:solidFill>
                  <a:srgbClr val="C792EA"/>
                </a:solidFill>
                <a:latin typeface="Courier New"/>
                <a:ea typeface="Courier New"/>
                <a:cs typeface="Courier New"/>
                <a:sym typeface="Courier New"/>
              </a:rPr>
              <a:t>const </a:t>
            </a:r>
            <a:r>
              <a:rPr lang="en-GB" sz="1000">
                <a:solidFill>
                  <a:srgbClr val="FFFFFF"/>
                </a:solidFill>
                <a:latin typeface="Courier New"/>
                <a:ea typeface="Courier New"/>
                <a:cs typeface="Courier New"/>
                <a:sym typeface="Courier New"/>
              </a:rPr>
              <a:t>history</a:t>
            </a:r>
            <a:r>
              <a:rPr lang="en-GB" sz="1000">
                <a:solidFill>
                  <a:srgbClr val="FF9955"/>
                </a:solidFill>
                <a:latin typeface="Courier New"/>
                <a:ea typeface="Courier New"/>
                <a:cs typeface="Courier New"/>
                <a:sym typeface="Courier New"/>
              </a:rPr>
              <a:t>: </a:t>
            </a:r>
            <a:r>
              <a:rPr lang="en-GB" sz="1000">
                <a:solidFill>
                  <a:srgbClr val="88C0D0"/>
                </a:solidFill>
                <a:latin typeface="Courier New"/>
                <a:ea typeface="Courier New"/>
                <a:cs typeface="Courier New"/>
                <a:sym typeface="Courier New"/>
              </a:rPr>
              <a:t>Msg[]</a:t>
            </a:r>
            <a:r>
              <a:rPr lang="en-GB" sz="1000">
                <a:solidFill>
                  <a:srgbClr val="FF9955"/>
                </a:solidFill>
                <a:latin typeface="Courier New"/>
                <a:ea typeface="Courier New"/>
                <a:cs typeface="Courier New"/>
                <a:sym typeface="Courier New"/>
              </a:rPr>
              <a:t> = </a:t>
            </a:r>
            <a:endParaRPr sz="1100"/>
          </a:p>
          <a:p>
            <a:pPr indent="0" lvl="0" marL="0" marR="0" rtl="0" algn="l">
              <a:spcBef>
                <a:spcPts val="0"/>
              </a:spcBef>
              <a:spcAft>
                <a:spcPts val="0"/>
              </a:spcAft>
              <a:buNone/>
            </a:pPr>
            <a:r>
              <a:rPr lang="en-GB" sz="1000">
                <a:solidFill>
                  <a:srgbClr val="FF9955"/>
                </a:solidFill>
                <a:latin typeface="Courier New"/>
                <a:ea typeface="Courier New"/>
                <a:cs typeface="Courier New"/>
                <a:sym typeface="Courier New"/>
              </a:rPr>
              <a:t>  [{ role: "user", content: goal }]</a:t>
            </a:r>
            <a:endParaRPr sz="1100"/>
          </a:p>
          <a:p>
            <a:pPr indent="0" lvl="0" marL="0" marR="0" rtl="0" algn="l">
              <a:spcBef>
                <a:spcPts val="0"/>
              </a:spcBef>
              <a:spcAft>
                <a:spcPts val="0"/>
              </a:spcAft>
              <a:buNone/>
            </a:pPr>
            <a:r>
              <a:t/>
            </a:r>
            <a:endParaRPr sz="1000">
              <a:solidFill>
                <a:srgbClr val="FF9955"/>
              </a:solidFill>
              <a:latin typeface="Courier New"/>
              <a:ea typeface="Courier New"/>
              <a:cs typeface="Courier New"/>
              <a:sym typeface="Courier New"/>
            </a:endParaRPr>
          </a:p>
          <a:p>
            <a:pPr indent="0" lvl="0" marL="0" marR="0" rtl="0" algn="l">
              <a:spcBef>
                <a:spcPts val="0"/>
              </a:spcBef>
              <a:spcAft>
                <a:spcPts val="0"/>
              </a:spcAft>
              <a:buNone/>
            </a:pPr>
            <a:r>
              <a:rPr lang="en-GB" sz="1000">
                <a:solidFill>
                  <a:srgbClr val="636F88"/>
                </a:solidFill>
                <a:latin typeface="Courier New"/>
                <a:ea typeface="Courier New"/>
                <a:cs typeface="Courier New"/>
                <a:sym typeface="Courier New"/>
              </a:rPr>
              <a:t>// 3. Loop until done or budget spent</a:t>
            </a:r>
            <a:endParaRPr sz="1100"/>
          </a:p>
          <a:p>
            <a:pPr indent="0" lvl="0" marL="0" marR="0" rtl="0" algn="l">
              <a:spcBef>
                <a:spcPts val="0"/>
              </a:spcBef>
              <a:spcAft>
                <a:spcPts val="0"/>
              </a:spcAft>
              <a:buNone/>
            </a:pPr>
            <a:r>
              <a:rPr lang="en-GB" sz="1000">
                <a:solidFill>
                  <a:srgbClr val="C792EA"/>
                </a:solidFill>
                <a:latin typeface="Courier New"/>
                <a:ea typeface="Courier New"/>
                <a:cs typeface="Courier New"/>
                <a:sym typeface="Courier New"/>
              </a:rPr>
              <a:t>for (let </a:t>
            </a:r>
            <a:r>
              <a:rPr lang="en-GB" sz="1000">
                <a:solidFill>
                  <a:srgbClr val="FFFFFF"/>
                </a:solidFill>
                <a:latin typeface="Courier New"/>
                <a:ea typeface="Courier New"/>
                <a:cs typeface="Courier New"/>
                <a:sym typeface="Courier New"/>
              </a:rPr>
              <a:t>i</a:t>
            </a:r>
            <a:r>
              <a:rPr lang="en-GB" sz="1000">
                <a:solidFill>
                  <a:srgbClr val="FF9955"/>
                </a:solidFill>
                <a:latin typeface="Courier New"/>
                <a:ea typeface="Courier New"/>
                <a:cs typeface="Courier New"/>
                <a:sym typeface="Courier New"/>
              </a:rPr>
              <a:t> = </a:t>
            </a:r>
            <a:r>
              <a:rPr lang="en-GB" sz="1000">
                <a:solidFill>
                  <a:srgbClr val="EBCB8B"/>
                </a:solidFill>
                <a:latin typeface="Courier New"/>
                <a:ea typeface="Courier New"/>
                <a:cs typeface="Courier New"/>
                <a:sym typeface="Courier New"/>
              </a:rPr>
              <a:t>0</a:t>
            </a:r>
            <a:r>
              <a:rPr lang="en-GB" sz="1000">
                <a:solidFill>
                  <a:srgbClr val="FF9955"/>
                </a:solidFill>
                <a:latin typeface="Courier New"/>
                <a:ea typeface="Courier New"/>
                <a:cs typeface="Courier New"/>
                <a:sym typeface="Courier New"/>
              </a:rPr>
              <a:t>; i &lt; </a:t>
            </a:r>
            <a:r>
              <a:rPr lang="en-GB" sz="1000">
                <a:solidFill>
                  <a:srgbClr val="EBCB8B"/>
                </a:solidFill>
                <a:latin typeface="Courier New"/>
                <a:ea typeface="Courier New"/>
                <a:cs typeface="Courier New"/>
                <a:sym typeface="Courier New"/>
              </a:rPr>
              <a:t>MAX_STEPS</a:t>
            </a:r>
            <a:r>
              <a:rPr lang="en-GB" sz="1000">
                <a:solidFill>
                  <a:srgbClr val="FF9955"/>
                </a:solidFill>
                <a:latin typeface="Courier New"/>
                <a:ea typeface="Courier New"/>
                <a:cs typeface="Courier New"/>
                <a:sym typeface="Courier New"/>
              </a:rPr>
              <a:t>; i++) {</a:t>
            </a:r>
            <a:endParaRPr sz="1100"/>
          </a:p>
          <a:p>
            <a:pPr indent="0" lvl="0" marL="0" marR="0" rtl="0" algn="l">
              <a:spcBef>
                <a:spcPts val="0"/>
              </a:spcBef>
              <a:spcAft>
                <a:spcPts val="0"/>
              </a:spcAft>
              <a:buNone/>
            </a:pPr>
            <a:r>
              <a:rPr lang="en-GB" sz="1000">
                <a:solidFill>
                  <a:srgbClr val="C792EA"/>
                </a:solidFill>
                <a:latin typeface="Courier New"/>
                <a:ea typeface="Courier New"/>
                <a:cs typeface="Courier New"/>
                <a:sym typeface="Courier New"/>
              </a:rPr>
              <a:t>  const </a:t>
            </a:r>
            <a:r>
              <a:rPr lang="en-GB" sz="1000">
                <a:solidFill>
                  <a:srgbClr val="FFFFFF"/>
                </a:solidFill>
                <a:latin typeface="Courier New"/>
                <a:ea typeface="Courier New"/>
                <a:cs typeface="Courier New"/>
                <a:sym typeface="Courier New"/>
              </a:rPr>
              <a:t>res</a:t>
            </a:r>
            <a:r>
              <a:rPr lang="en-GB" sz="1000">
                <a:solidFill>
                  <a:srgbClr val="FF9955"/>
                </a:solidFill>
                <a:latin typeface="Courier New"/>
                <a:ea typeface="Courier New"/>
                <a:cs typeface="Courier New"/>
                <a:sym typeface="Courier New"/>
              </a:rPr>
              <a:t> = </a:t>
            </a:r>
            <a:r>
              <a:rPr lang="en-GB" sz="1000">
                <a:solidFill>
                  <a:srgbClr val="C792EA"/>
                </a:solidFill>
                <a:latin typeface="Courier New"/>
                <a:ea typeface="Courier New"/>
                <a:cs typeface="Courier New"/>
                <a:sym typeface="Courier New"/>
              </a:rPr>
              <a:t>await </a:t>
            </a:r>
            <a:r>
              <a:rPr lang="en-GB" sz="1000">
                <a:solidFill>
                  <a:srgbClr val="88C0D0"/>
                </a:solidFill>
                <a:latin typeface="Courier New"/>
                <a:ea typeface="Courier New"/>
                <a:cs typeface="Courier New"/>
                <a:sym typeface="Courier New"/>
              </a:rPr>
              <a:t>model</a:t>
            </a:r>
            <a:r>
              <a:rPr lang="en-GB" sz="1000">
                <a:solidFill>
                  <a:srgbClr val="FF9955"/>
                </a:solidFill>
                <a:latin typeface="Courier New"/>
                <a:ea typeface="Courier New"/>
                <a:cs typeface="Courier New"/>
                <a:sym typeface="Courier New"/>
              </a:rPr>
              <a:t>.create(</a:t>
            </a:r>
            <a:endParaRPr sz="1100"/>
          </a:p>
          <a:p>
            <a:pPr indent="0" lvl="0" marL="0" marR="0" rtl="0" algn="l">
              <a:spcBef>
                <a:spcPts val="0"/>
              </a:spcBef>
              <a:spcAft>
                <a:spcPts val="0"/>
              </a:spcAft>
              <a:buNone/>
            </a:pPr>
            <a:r>
              <a:rPr lang="en-GB" sz="1000">
                <a:solidFill>
                  <a:srgbClr val="FF9955"/>
                </a:solidFill>
                <a:latin typeface="Courier New"/>
                <a:ea typeface="Courier New"/>
                <a:cs typeface="Courier New"/>
                <a:sym typeface="Courier New"/>
              </a:rPr>
              <a:t>    { system, messages: history, tools })</a:t>
            </a:r>
            <a:endParaRPr sz="1100"/>
          </a:p>
          <a:p>
            <a:pPr indent="0" lvl="0" marL="0" marR="0" rtl="0" algn="l">
              <a:spcBef>
                <a:spcPts val="0"/>
              </a:spcBef>
              <a:spcAft>
                <a:spcPts val="0"/>
              </a:spcAft>
              <a:buNone/>
            </a:pPr>
            <a:r>
              <a:rPr lang="en-GB" sz="1000">
                <a:solidFill>
                  <a:srgbClr val="FF9955"/>
                </a:solidFill>
                <a:latin typeface="Courier New"/>
                <a:ea typeface="Courier New"/>
                <a:cs typeface="Courier New"/>
                <a:sym typeface="Courier New"/>
              </a:rPr>
              <a:t>  if (res.stop_reason === </a:t>
            </a:r>
            <a:r>
              <a:rPr lang="en-GB" sz="1000">
                <a:solidFill>
                  <a:srgbClr val="A3BE8C"/>
                </a:solidFill>
                <a:latin typeface="Courier New"/>
                <a:ea typeface="Courier New"/>
                <a:cs typeface="Courier New"/>
                <a:sym typeface="Courier New"/>
              </a:rPr>
              <a:t>"end_turn"</a:t>
            </a:r>
            <a:r>
              <a:rPr lang="en-GB" sz="1000">
                <a:solidFill>
                  <a:srgbClr val="FF9955"/>
                </a:solidFill>
                <a:latin typeface="Courier New"/>
                <a:ea typeface="Courier New"/>
                <a:cs typeface="Courier New"/>
                <a:sym typeface="Courier New"/>
              </a:rPr>
              <a:t>) return res.text</a:t>
            </a:r>
            <a:endParaRPr sz="1100"/>
          </a:p>
          <a:p>
            <a:pPr indent="0" lvl="0" marL="0" marR="0" rtl="0" algn="l">
              <a:spcBef>
                <a:spcPts val="0"/>
              </a:spcBef>
              <a:spcAft>
                <a:spcPts val="0"/>
              </a:spcAft>
              <a:buNone/>
            </a:pPr>
            <a:r>
              <a:rPr lang="en-GB" sz="1000">
                <a:solidFill>
                  <a:srgbClr val="FF9955"/>
                </a:solidFill>
                <a:latin typeface="Courier New"/>
                <a:ea typeface="Courier New"/>
                <a:cs typeface="Courier New"/>
                <a:sym typeface="Courier New"/>
              </a:rPr>
              <a:t>  for (const call of res.toolCalls) {</a:t>
            </a:r>
            <a:endParaRPr sz="1100"/>
          </a:p>
          <a:p>
            <a:pPr indent="0" lvl="0" marL="0" marR="0" rtl="0" algn="l">
              <a:spcBef>
                <a:spcPts val="0"/>
              </a:spcBef>
              <a:spcAft>
                <a:spcPts val="0"/>
              </a:spcAft>
              <a:buNone/>
            </a:pPr>
            <a:r>
              <a:rPr lang="en-GB" sz="1000">
                <a:solidFill>
                  <a:srgbClr val="C792EA"/>
                </a:solidFill>
                <a:latin typeface="Courier New"/>
                <a:ea typeface="Courier New"/>
                <a:cs typeface="Courier New"/>
                <a:sym typeface="Courier New"/>
              </a:rPr>
              <a:t>    const </a:t>
            </a:r>
            <a:r>
              <a:rPr lang="en-GB" sz="1000">
                <a:solidFill>
                  <a:srgbClr val="FFFFFF"/>
                </a:solidFill>
                <a:latin typeface="Courier New"/>
                <a:ea typeface="Courier New"/>
                <a:cs typeface="Courier New"/>
                <a:sym typeface="Courier New"/>
              </a:rPr>
              <a:t>out</a:t>
            </a:r>
            <a:r>
              <a:rPr lang="en-GB" sz="1000">
                <a:solidFill>
                  <a:srgbClr val="FF9955"/>
                </a:solidFill>
                <a:latin typeface="Courier New"/>
                <a:ea typeface="Courier New"/>
                <a:cs typeface="Courier New"/>
                <a:sym typeface="Courier New"/>
              </a:rPr>
              <a:t> = await tools[call.name](call.args)</a:t>
            </a:r>
            <a:endParaRPr sz="1100"/>
          </a:p>
          <a:p>
            <a:pPr indent="0" lvl="0" marL="0" marR="0" rtl="0" algn="l">
              <a:spcBef>
                <a:spcPts val="0"/>
              </a:spcBef>
              <a:spcAft>
                <a:spcPts val="0"/>
              </a:spcAft>
              <a:buNone/>
            </a:pPr>
            <a:r>
              <a:rPr lang="en-GB" sz="1000">
                <a:solidFill>
                  <a:srgbClr val="FF9955"/>
                </a:solidFill>
                <a:latin typeface="Courier New"/>
                <a:ea typeface="Courier New"/>
                <a:cs typeface="Courier New"/>
                <a:sym typeface="Courier New"/>
              </a:rPr>
              <a:t>    history.push({ role: "tool", content: out })</a:t>
            </a:r>
            <a:endParaRPr sz="1100"/>
          </a:p>
          <a:p>
            <a:pPr indent="0" lvl="0" marL="0" marR="0" rtl="0" algn="l">
              <a:spcBef>
                <a:spcPts val="0"/>
              </a:spcBef>
              <a:spcAft>
                <a:spcPts val="0"/>
              </a:spcAft>
              <a:buNone/>
            </a:pPr>
            <a:r>
              <a:rPr lang="en-GB" sz="1000">
                <a:solidFill>
                  <a:srgbClr val="FF9955"/>
                </a:solidFill>
                <a:latin typeface="Courier New"/>
                <a:ea typeface="Courier New"/>
                <a:cs typeface="Courier New"/>
                <a:sym typeface="Courier New"/>
              </a:rPr>
              <a:t>  }</a:t>
            </a:r>
            <a:endParaRPr sz="1100"/>
          </a:p>
          <a:p>
            <a:pPr indent="0" lvl="0" marL="0" marR="0" rtl="0" algn="l">
              <a:spcBef>
                <a:spcPts val="0"/>
              </a:spcBef>
              <a:spcAft>
                <a:spcPts val="0"/>
              </a:spcAft>
              <a:buNone/>
            </a:pPr>
            <a:r>
              <a:rPr lang="en-GB" sz="1000">
                <a:solidFill>
                  <a:srgbClr val="FF9955"/>
                </a:solidFill>
                <a:latin typeface="Courier New"/>
                <a:ea typeface="Courier New"/>
                <a:cs typeface="Courier New"/>
                <a:sym typeface="Courier New"/>
              </a:rPr>
              <a:t>}</a:t>
            </a:r>
            <a:endParaRPr sz="1100"/>
          </a:p>
          <a:p>
            <a:pPr indent="0" lvl="0" marL="0" marR="0" rtl="0" algn="l">
              <a:spcBef>
                <a:spcPts val="0"/>
              </a:spcBef>
              <a:spcAft>
                <a:spcPts val="0"/>
              </a:spcAft>
              <a:buNone/>
            </a:pPr>
            <a:r>
              <a:rPr lang="en-GB" sz="1000">
                <a:solidFill>
                  <a:srgbClr val="C792EA"/>
                </a:solidFill>
                <a:latin typeface="Courier New"/>
                <a:ea typeface="Courier New"/>
                <a:cs typeface="Courier New"/>
                <a:sym typeface="Courier New"/>
              </a:rPr>
              <a:t>throw new </a:t>
            </a:r>
            <a:r>
              <a:rPr lang="en-GB" sz="1000">
                <a:solidFill>
                  <a:srgbClr val="88C0D0"/>
                </a:solidFill>
                <a:latin typeface="Courier New"/>
                <a:ea typeface="Courier New"/>
                <a:cs typeface="Courier New"/>
                <a:sym typeface="Courier New"/>
              </a:rPr>
              <a:t>BudgetExceeded</a:t>
            </a:r>
            <a:r>
              <a:rPr lang="en-GB" sz="1000">
                <a:solidFill>
                  <a:srgbClr val="FF9955"/>
                </a:solidFill>
                <a:latin typeface="Courier New"/>
                <a:ea typeface="Courier New"/>
                <a:cs typeface="Courier New"/>
                <a:sym typeface="Courier New"/>
              </a:rPr>
              <a:t>("agent did not converge")</a:t>
            </a:r>
            <a:endParaRPr sz="1100"/>
          </a:p>
        </p:txBody>
      </p:sp>
      <p:sp>
        <p:nvSpPr>
          <p:cNvPr id="2255" name="Google Shape;2255;p110"/>
          <p:cNvSpPr txBox="1"/>
          <p:nvPr/>
        </p:nvSpPr>
        <p:spPr>
          <a:xfrm>
            <a:off x="822982" y="4732020"/>
            <a:ext cx="274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9" name="Shape 2259"/>
        <p:cNvGrpSpPr/>
        <p:nvPr/>
      </p:nvGrpSpPr>
      <p:grpSpPr>
        <a:xfrm>
          <a:off x="0" y="0"/>
          <a:ext cx="0" cy="0"/>
          <a:chOff x="0" y="0"/>
          <a:chExt cx="0" cy="0"/>
        </a:xfrm>
      </p:grpSpPr>
      <p:sp>
        <p:nvSpPr>
          <p:cNvPr id="2260" name="Google Shape;2260;p111"/>
          <p:cNvSpPr/>
          <p:nvPr/>
        </p:nvSpPr>
        <p:spPr>
          <a:xfrm>
            <a:off x="0" y="0"/>
            <a:ext cx="9144000" cy="5143500"/>
          </a:xfrm>
          <a:prstGeom prst="rect">
            <a:avLst/>
          </a:prstGeom>
          <a:solidFill>
            <a:srgbClr val="CCCCCC"/>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261" name="Google Shape;2261;p111"/>
          <p:cNvSpPr txBox="1"/>
          <p:nvPr/>
        </p:nvSpPr>
        <p:spPr>
          <a:xfrm>
            <a:off x="822982" y="342900"/>
            <a:ext cx="2743200" cy="253800"/>
          </a:xfrm>
          <a:prstGeom prst="rect">
            <a:avLst/>
          </a:prstGeom>
          <a:solidFill>
            <a:srgbClr val="CCCCCC"/>
          </a:solid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200">
                <a:solidFill>
                  <a:schemeClr val="dk1"/>
                </a:solidFill>
                <a:latin typeface="Manrope"/>
                <a:ea typeface="Manrope"/>
                <a:cs typeface="Manrope"/>
                <a:sym typeface="Manrope"/>
              </a:rPr>
              <a:t>GlobalLogic</a:t>
            </a:r>
            <a:endParaRPr sz="1100">
              <a:solidFill>
                <a:schemeClr val="dk1"/>
              </a:solidFill>
            </a:endParaRPr>
          </a:p>
        </p:txBody>
      </p:sp>
      <p:sp>
        <p:nvSpPr>
          <p:cNvPr id="2262" name="Google Shape;2262;p111"/>
          <p:cNvSpPr txBox="1"/>
          <p:nvPr/>
        </p:nvSpPr>
        <p:spPr>
          <a:xfrm>
            <a:off x="822982" y="562356"/>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lang="en-GB" sz="800">
                <a:solidFill>
                  <a:schemeClr val="dk1"/>
                </a:solidFill>
                <a:latin typeface="Manrope"/>
                <a:ea typeface="Manrope"/>
                <a:cs typeface="Manrope"/>
                <a:sym typeface="Manrope"/>
              </a:rPr>
              <a:t>A Hitachi Group Company</a:t>
            </a:r>
            <a:endParaRPr sz="1100">
              <a:solidFill>
                <a:schemeClr val="dk1"/>
              </a:solidFill>
            </a:endParaRPr>
          </a:p>
        </p:txBody>
      </p:sp>
      <p:sp>
        <p:nvSpPr>
          <p:cNvPr id="2263" name="Google Shape;2263;p111"/>
          <p:cNvSpPr txBox="1"/>
          <p:nvPr/>
        </p:nvSpPr>
        <p:spPr>
          <a:xfrm>
            <a:off x="822982" y="720090"/>
            <a:ext cx="548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800">
                <a:solidFill>
                  <a:schemeClr val="dk1"/>
                </a:solidFill>
                <a:latin typeface="Courier New"/>
                <a:ea typeface="Courier New"/>
                <a:cs typeface="Courier New"/>
                <a:sym typeface="Courier New"/>
              </a:rPr>
              <a:t>AGENTIC AI</a:t>
            </a:r>
            <a:endParaRPr sz="1100">
              <a:solidFill>
                <a:schemeClr val="dk1"/>
              </a:solidFill>
            </a:endParaRPr>
          </a:p>
        </p:txBody>
      </p:sp>
      <p:sp>
        <p:nvSpPr>
          <p:cNvPr id="2264" name="Google Shape;2264;p111"/>
          <p:cNvSpPr txBox="1"/>
          <p:nvPr/>
        </p:nvSpPr>
        <p:spPr>
          <a:xfrm>
            <a:off x="822982" y="946404"/>
            <a:ext cx="7544100" cy="377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2000">
                <a:solidFill>
                  <a:schemeClr val="dk1"/>
                </a:solidFill>
                <a:latin typeface="Manrope"/>
                <a:ea typeface="Manrope"/>
                <a:cs typeface="Manrope"/>
                <a:sym typeface="Manrope"/>
              </a:rPr>
              <a:t>How tools are called inside an agent loop — end to end.</a:t>
            </a:r>
            <a:endParaRPr sz="1100">
              <a:solidFill>
                <a:schemeClr val="dk1"/>
              </a:solidFill>
            </a:endParaRPr>
          </a:p>
        </p:txBody>
      </p:sp>
      <p:sp>
        <p:nvSpPr>
          <p:cNvPr id="2265" name="Google Shape;2265;p111"/>
          <p:cNvSpPr/>
          <p:nvPr/>
        </p:nvSpPr>
        <p:spPr>
          <a:xfrm>
            <a:off x="617236" y="1783080"/>
            <a:ext cx="1371600" cy="754500"/>
          </a:xfrm>
          <a:prstGeom prst="rect">
            <a:avLst/>
          </a:prstGeom>
          <a:solidFill>
            <a:srgbClr val="0A0D1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266" name="Google Shape;2266;p111"/>
          <p:cNvSpPr/>
          <p:nvPr/>
        </p:nvSpPr>
        <p:spPr>
          <a:xfrm>
            <a:off x="582946" y="1748790"/>
            <a:ext cx="1371600" cy="754500"/>
          </a:xfrm>
          <a:prstGeom prst="rect">
            <a:avLst/>
          </a:prstGeom>
          <a:solidFill>
            <a:schemeClr val="lt1"/>
          </a:solidFill>
          <a:ln cap="flat" cmpd="sng" w="9525">
            <a:solidFill>
              <a:srgbClr val="FF671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267" name="Google Shape;2267;p111"/>
          <p:cNvSpPr txBox="1"/>
          <p:nvPr/>
        </p:nvSpPr>
        <p:spPr>
          <a:xfrm>
            <a:off x="651527" y="1803654"/>
            <a:ext cx="1234500" cy="177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700">
                <a:solidFill>
                  <a:schemeClr val="dk1"/>
                </a:solidFill>
                <a:latin typeface="Courier New"/>
                <a:ea typeface="Courier New"/>
                <a:cs typeface="Courier New"/>
                <a:sym typeface="Courier New"/>
              </a:rPr>
              <a:t>GOAL</a:t>
            </a:r>
            <a:endParaRPr sz="1100">
              <a:solidFill>
                <a:schemeClr val="dk1"/>
              </a:solidFill>
            </a:endParaRPr>
          </a:p>
        </p:txBody>
      </p:sp>
      <p:sp>
        <p:nvSpPr>
          <p:cNvPr id="2268" name="Google Shape;2268;p111"/>
          <p:cNvSpPr txBox="1"/>
          <p:nvPr/>
        </p:nvSpPr>
        <p:spPr>
          <a:xfrm>
            <a:off x="651527" y="1981962"/>
            <a:ext cx="1234500" cy="377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lang="en-GB" sz="1000">
                <a:solidFill>
                  <a:schemeClr val="dk1"/>
                </a:solidFill>
                <a:latin typeface="Manrope"/>
                <a:ea typeface="Manrope"/>
                <a:cs typeface="Manrope"/>
                <a:sym typeface="Manrope"/>
              </a:rPr>
              <a:t>User / System</a:t>
            </a:r>
            <a:br>
              <a:rPr b="0" lang="en-GB" sz="1000">
                <a:solidFill>
                  <a:schemeClr val="dk1"/>
                </a:solidFill>
                <a:latin typeface="Manrope"/>
                <a:ea typeface="Manrope"/>
                <a:cs typeface="Manrope"/>
                <a:sym typeface="Manrope"/>
              </a:rPr>
            </a:br>
            <a:r>
              <a:rPr b="0" lang="en-GB" sz="1000">
                <a:solidFill>
                  <a:schemeClr val="dk1"/>
                </a:solidFill>
                <a:latin typeface="Manrope"/>
                <a:ea typeface="Manrope"/>
                <a:cs typeface="Manrope"/>
                <a:sym typeface="Manrope"/>
              </a:rPr>
              <a:t>Prompt</a:t>
            </a:r>
            <a:endParaRPr sz="1100">
              <a:solidFill>
                <a:schemeClr val="dk1"/>
              </a:solidFill>
            </a:endParaRPr>
          </a:p>
        </p:txBody>
      </p:sp>
      <p:sp>
        <p:nvSpPr>
          <p:cNvPr id="2269" name="Google Shape;2269;p111"/>
          <p:cNvSpPr/>
          <p:nvPr/>
        </p:nvSpPr>
        <p:spPr>
          <a:xfrm>
            <a:off x="1995731" y="2098548"/>
            <a:ext cx="164700" cy="549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270" name="Google Shape;2270;p111"/>
          <p:cNvSpPr/>
          <p:nvPr/>
        </p:nvSpPr>
        <p:spPr>
          <a:xfrm>
            <a:off x="2112320" y="2036826"/>
            <a:ext cx="109800" cy="171600"/>
          </a:xfrm>
          <a:prstGeom prst="roundRect">
            <a:avLst>
              <a:gd fmla="val 16667" name="adj"/>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271" name="Google Shape;2271;p111"/>
          <p:cNvSpPr/>
          <p:nvPr/>
        </p:nvSpPr>
        <p:spPr>
          <a:xfrm>
            <a:off x="2276917" y="1783080"/>
            <a:ext cx="1371600" cy="754500"/>
          </a:xfrm>
          <a:prstGeom prst="rect">
            <a:avLst/>
          </a:prstGeom>
          <a:solidFill>
            <a:srgbClr val="0A0D1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272" name="Google Shape;2272;p111"/>
          <p:cNvSpPr/>
          <p:nvPr/>
        </p:nvSpPr>
        <p:spPr>
          <a:xfrm>
            <a:off x="2242626" y="1748790"/>
            <a:ext cx="1371600" cy="754500"/>
          </a:xfrm>
          <a:prstGeom prst="rect">
            <a:avLst/>
          </a:prstGeom>
          <a:solidFill>
            <a:srgbClr val="FF671F"/>
          </a:solidFill>
          <a:ln cap="flat" cmpd="sng" w="9525">
            <a:solidFill>
              <a:srgbClr val="FF671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273" name="Google Shape;2273;p111"/>
          <p:cNvSpPr txBox="1"/>
          <p:nvPr/>
        </p:nvSpPr>
        <p:spPr>
          <a:xfrm>
            <a:off x="2311208" y="1803654"/>
            <a:ext cx="1234500" cy="177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700">
                <a:solidFill>
                  <a:schemeClr val="dk1"/>
                </a:solidFill>
                <a:latin typeface="Courier New"/>
                <a:ea typeface="Courier New"/>
                <a:cs typeface="Courier New"/>
                <a:sym typeface="Courier New"/>
              </a:rPr>
              <a:t>01 MODEL</a:t>
            </a:r>
            <a:endParaRPr sz="1100">
              <a:solidFill>
                <a:schemeClr val="dk1"/>
              </a:solidFill>
            </a:endParaRPr>
          </a:p>
        </p:txBody>
      </p:sp>
      <p:sp>
        <p:nvSpPr>
          <p:cNvPr id="2274" name="Google Shape;2274;p111"/>
          <p:cNvSpPr txBox="1"/>
          <p:nvPr/>
        </p:nvSpPr>
        <p:spPr>
          <a:xfrm>
            <a:off x="2311208" y="1981962"/>
            <a:ext cx="1234500" cy="377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lang="en-GB" sz="1000">
                <a:solidFill>
                  <a:schemeClr val="dk1"/>
                </a:solidFill>
                <a:latin typeface="Manrope"/>
                <a:ea typeface="Manrope"/>
                <a:cs typeface="Manrope"/>
                <a:sym typeface="Manrope"/>
              </a:rPr>
              <a:t>Reasons about</a:t>
            </a:r>
            <a:br>
              <a:rPr b="0" lang="en-GB" sz="1000">
                <a:solidFill>
                  <a:schemeClr val="dk1"/>
                </a:solidFill>
                <a:latin typeface="Manrope"/>
                <a:ea typeface="Manrope"/>
                <a:cs typeface="Manrope"/>
                <a:sym typeface="Manrope"/>
              </a:rPr>
            </a:br>
            <a:r>
              <a:rPr b="0" lang="en-GB" sz="1000">
                <a:solidFill>
                  <a:schemeClr val="dk1"/>
                </a:solidFill>
                <a:latin typeface="Manrope"/>
                <a:ea typeface="Manrope"/>
                <a:cs typeface="Manrope"/>
                <a:sym typeface="Manrope"/>
              </a:rPr>
              <a:t>goal + history</a:t>
            </a:r>
            <a:endParaRPr sz="1100">
              <a:solidFill>
                <a:schemeClr val="dk1"/>
              </a:solidFill>
            </a:endParaRPr>
          </a:p>
        </p:txBody>
      </p:sp>
      <p:sp>
        <p:nvSpPr>
          <p:cNvPr id="2275" name="Google Shape;2275;p111"/>
          <p:cNvSpPr/>
          <p:nvPr/>
        </p:nvSpPr>
        <p:spPr>
          <a:xfrm>
            <a:off x="3655411" y="2098548"/>
            <a:ext cx="164700" cy="549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276" name="Google Shape;2276;p111"/>
          <p:cNvSpPr/>
          <p:nvPr/>
        </p:nvSpPr>
        <p:spPr>
          <a:xfrm>
            <a:off x="3772001" y="2036826"/>
            <a:ext cx="109800" cy="171600"/>
          </a:xfrm>
          <a:prstGeom prst="roundRect">
            <a:avLst>
              <a:gd fmla="val 16667" name="adj"/>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277" name="Google Shape;2277;p111"/>
          <p:cNvSpPr/>
          <p:nvPr/>
        </p:nvSpPr>
        <p:spPr>
          <a:xfrm>
            <a:off x="3936597" y="1783080"/>
            <a:ext cx="1371600" cy="754500"/>
          </a:xfrm>
          <a:prstGeom prst="rect">
            <a:avLst/>
          </a:prstGeom>
          <a:solidFill>
            <a:srgbClr val="0A0D1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278" name="Google Shape;2278;p111"/>
          <p:cNvSpPr/>
          <p:nvPr/>
        </p:nvSpPr>
        <p:spPr>
          <a:xfrm>
            <a:off x="3902306" y="1748790"/>
            <a:ext cx="1371600" cy="754500"/>
          </a:xfrm>
          <a:prstGeom prst="rect">
            <a:avLst/>
          </a:prstGeom>
          <a:solidFill>
            <a:schemeClr val="lt1"/>
          </a:solidFill>
          <a:ln cap="flat" cmpd="sng" w="19050">
            <a:solidFill>
              <a:srgbClr val="FF671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279" name="Google Shape;2279;p111"/>
          <p:cNvSpPr txBox="1"/>
          <p:nvPr/>
        </p:nvSpPr>
        <p:spPr>
          <a:xfrm>
            <a:off x="3970888" y="1803654"/>
            <a:ext cx="1234500" cy="177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700">
                <a:solidFill>
                  <a:schemeClr val="dk1"/>
                </a:solidFill>
                <a:latin typeface="Courier New"/>
                <a:ea typeface="Courier New"/>
                <a:cs typeface="Courier New"/>
                <a:sym typeface="Courier New"/>
              </a:rPr>
              <a:t>02 TOOL_USE</a:t>
            </a:r>
            <a:endParaRPr sz="1100">
              <a:solidFill>
                <a:schemeClr val="dk1"/>
              </a:solidFill>
            </a:endParaRPr>
          </a:p>
        </p:txBody>
      </p:sp>
      <p:sp>
        <p:nvSpPr>
          <p:cNvPr id="2280" name="Google Shape;2280;p111"/>
          <p:cNvSpPr txBox="1"/>
          <p:nvPr/>
        </p:nvSpPr>
        <p:spPr>
          <a:xfrm>
            <a:off x="3970888" y="1981962"/>
            <a:ext cx="1234500" cy="377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lang="en-GB" sz="1000">
                <a:solidFill>
                  <a:schemeClr val="dk1"/>
                </a:solidFill>
                <a:latin typeface="Manrope"/>
                <a:ea typeface="Manrope"/>
                <a:cs typeface="Manrope"/>
                <a:sym typeface="Manrope"/>
              </a:rPr>
              <a:t>Emits structured</a:t>
            </a:r>
            <a:br>
              <a:rPr b="0" lang="en-GB" sz="1000">
                <a:solidFill>
                  <a:schemeClr val="dk1"/>
                </a:solidFill>
                <a:latin typeface="Manrope"/>
                <a:ea typeface="Manrope"/>
                <a:cs typeface="Manrope"/>
                <a:sym typeface="Manrope"/>
              </a:rPr>
            </a:br>
            <a:r>
              <a:rPr b="0" lang="en-GB" sz="1000">
                <a:solidFill>
                  <a:schemeClr val="dk1"/>
                </a:solidFill>
                <a:latin typeface="Manrope"/>
                <a:ea typeface="Manrope"/>
                <a:cs typeface="Manrope"/>
                <a:sym typeface="Manrope"/>
              </a:rPr>
              <a:t>tool_use block</a:t>
            </a:r>
            <a:endParaRPr sz="1100">
              <a:solidFill>
                <a:schemeClr val="dk1"/>
              </a:solidFill>
            </a:endParaRPr>
          </a:p>
        </p:txBody>
      </p:sp>
      <p:sp>
        <p:nvSpPr>
          <p:cNvPr id="2281" name="Google Shape;2281;p111"/>
          <p:cNvSpPr/>
          <p:nvPr/>
        </p:nvSpPr>
        <p:spPr>
          <a:xfrm>
            <a:off x="5315092" y="2098548"/>
            <a:ext cx="164700" cy="549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282" name="Google Shape;2282;p111"/>
          <p:cNvSpPr/>
          <p:nvPr/>
        </p:nvSpPr>
        <p:spPr>
          <a:xfrm>
            <a:off x="5431681" y="2036826"/>
            <a:ext cx="109800" cy="171600"/>
          </a:xfrm>
          <a:prstGeom prst="roundRect">
            <a:avLst>
              <a:gd fmla="val 16667" name="adj"/>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283" name="Google Shape;2283;p111"/>
          <p:cNvSpPr/>
          <p:nvPr/>
        </p:nvSpPr>
        <p:spPr>
          <a:xfrm>
            <a:off x="5596277" y="1783080"/>
            <a:ext cx="1371600" cy="754500"/>
          </a:xfrm>
          <a:prstGeom prst="rect">
            <a:avLst/>
          </a:prstGeom>
          <a:solidFill>
            <a:srgbClr val="0A0D1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284" name="Google Shape;2284;p111"/>
          <p:cNvSpPr/>
          <p:nvPr/>
        </p:nvSpPr>
        <p:spPr>
          <a:xfrm>
            <a:off x="5561986" y="1748790"/>
            <a:ext cx="1371600" cy="754500"/>
          </a:xfrm>
          <a:prstGeom prst="rect">
            <a:avLst/>
          </a:prstGeom>
          <a:solidFill>
            <a:srgbClr val="FF671F"/>
          </a:solidFill>
          <a:ln cap="flat" cmpd="sng" w="9525">
            <a:solidFill>
              <a:srgbClr val="FF671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285" name="Google Shape;2285;p111"/>
          <p:cNvSpPr txBox="1"/>
          <p:nvPr/>
        </p:nvSpPr>
        <p:spPr>
          <a:xfrm>
            <a:off x="5630568" y="1803654"/>
            <a:ext cx="1234500" cy="177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700">
                <a:solidFill>
                  <a:schemeClr val="dk1"/>
                </a:solidFill>
                <a:latin typeface="Courier New"/>
                <a:ea typeface="Courier New"/>
                <a:cs typeface="Courier New"/>
                <a:sym typeface="Courier New"/>
              </a:rPr>
              <a:t>03 EXECUTOR</a:t>
            </a:r>
            <a:endParaRPr sz="1100">
              <a:solidFill>
                <a:schemeClr val="dk1"/>
              </a:solidFill>
            </a:endParaRPr>
          </a:p>
        </p:txBody>
      </p:sp>
      <p:sp>
        <p:nvSpPr>
          <p:cNvPr id="2286" name="Google Shape;2286;p111"/>
          <p:cNvSpPr txBox="1"/>
          <p:nvPr/>
        </p:nvSpPr>
        <p:spPr>
          <a:xfrm>
            <a:off x="5630568" y="1981962"/>
            <a:ext cx="1234500" cy="377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lang="en-GB" sz="1000">
                <a:solidFill>
                  <a:schemeClr val="dk1"/>
                </a:solidFill>
                <a:latin typeface="Manrope"/>
                <a:ea typeface="Manrope"/>
                <a:cs typeface="Manrope"/>
                <a:sym typeface="Manrope"/>
              </a:rPr>
              <a:t>Your code runs</a:t>
            </a:r>
            <a:br>
              <a:rPr b="0" lang="en-GB" sz="1000">
                <a:solidFill>
                  <a:schemeClr val="dk1"/>
                </a:solidFill>
                <a:latin typeface="Manrope"/>
                <a:ea typeface="Manrope"/>
                <a:cs typeface="Manrope"/>
                <a:sym typeface="Manrope"/>
              </a:rPr>
            </a:br>
            <a:r>
              <a:rPr b="0" lang="en-GB" sz="1000">
                <a:solidFill>
                  <a:schemeClr val="dk1"/>
                </a:solidFill>
                <a:latin typeface="Manrope"/>
                <a:ea typeface="Manrope"/>
                <a:cs typeface="Manrope"/>
                <a:sym typeface="Manrope"/>
              </a:rPr>
              <a:t>the function</a:t>
            </a:r>
            <a:endParaRPr sz="1100">
              <a:solidFill>
                <a:schemeClr val="dk1"/>
              </a:solidFill>
            </a:endParaRPr>
          </a:p>
        </p:txBody>
      </p:sp>
      <p:sp>
        <p:nvSpPr>
          <p:cNvPr id="2287" name="Google Shape;2287;p111"/>
          <p:cNvSpPr/>
          <p:nvPr/>
        </p:nvSpPr>
        <p:spPr>
          <a:xfrm>
            <a:off x="6974772" y="2098548"/>
            <a:ext cx="164700" cy="549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288" name="Google Shape;2288;p111"/>
          <p:cNvSpPr/>
          <p:nvPr/>
        </p:nvSpPr>
        <p:spPr>
          <a:xfrm>
            <a:off x="7091361" y="2036826"/>
            <a:ext cx="109800" cy="171600"/>
          </a:xfrm>
          <a:prstGeom prst="roundRect">
            <a:avLst>
              <a:gd fmla="val 16667" name="adj"/>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289" name="Google Shape;2289;p111"/>
          <p:cNvSpPr/>
          <p:nvPr/>
        </p:nvSpPr>
        <p:spPr>
          <a:xfrm>
            <a:off x="7255957" y="1783080"/>
            <a:ext cx="1371600" cy="754500"/>
          </a:xfrm>
          <a:prstGeom prst="rect">
            <a:avLst/>
          </a:prstGeom>
          <a:solidFill>
            <a:srgbClr val="3D85C6"/>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290" name="Google Shape;2290;p111"/>
          <p:cNvSpPr/>
          <p:nvPr/>
        </p:nvSpPr>
        <p:spPr>
          <a:xfrm>
            <a:off x="7221667" y="1748790"/>
            <a:ext cx="1371600" cy="754500"/>
          </a:xfrm>
          <a:prstGeom prst="rect">
            <a:avLst/>
          </a:prstGeom>
          <a:solidFill>
            <a:schemeClr val="lt1"/>
          </a:solidFill>
          <a:ln cap="flat" cmpd="sng" w="9525">
            <a:solidFill>
              <a:srgbClr val="FF671F"/>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291" name="Google Shape;2291;p111"/>
          <p:cNvSpPr txBox="1"/>
          <p:nvPr/>
        </p:nvSpPr>
        <p:spPr>
          <a:xfrm>
            <a:off x="7290248" y="1803654"/>
            <a:ext cx="1234500" cy="177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700">
                <a:solidFill>
                  <a:schemeClr val="dk1"/>
                </a:solidFill>
                <a:latin typeface="Courier New"/>
                <a:ea typeface="Courier New"/>
                <a:cs typeface="Courier New"/>
                <a:sym typeface="Courier New"/>
              </a:rPr>
              <a:t>04 RESULT</a:t>
            </a:r>
            <a:endParaRPr sz="1100">
              <a:solidFill>
                <a:schemeClr val="dk1"/>
              </a:solidFill>
            </a:endParaRPr>
          </a:p>
        </p:txBody>
      </p:sp>
      <p:sp>
        <p:nvSpPr>
          <p:cNvPr id="2292" name="Google Shape;2292;p111"/>
          <p:cNvSpPr txBox="1"/>
          <p:nvPr/>
        </p:nvSpPr>
        <p:spPr>
          <a:xfrm>
            <a:off x="7290248" y="1981962"/>
            <a:ext cx="1234500" cy="377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lang="en-GB" sz="1000">
                <a:solidFill>
                  <a:schemeClr val="dk1"/>
                </a:solidFill>
                <a:latin typeface="Manrope"/>
                <a:ea typeface="Manrope"/>
                <a:cs typeface="Manrope"/>
                <a:sym typeface="Manrope"/>
              </a:rPr>
              <a:t>Output fed back</a:t>
            </a:r>
            <a:br>
              <a:rPr b="0" lang="en-GB" sz="1000">
                <a:solidFill>
                  <a:schemeClr val="dk1"/>
                </a:solidFill>
                <a:latin typeface="Manrope"/>
                <a:ea typeface="Manrope"/>
                <a:cs typeface="Manrope"/>
                <a:sym typeface="Manrope"/>
              </a:rPr>
            </a:br>
            <a:r>
              <a:rPr b="0" lang="en-GB" sz="1000">
                <a:solidFill>
                  <a:schemeClr val="dk1"/>
                </a:solidFill>
                <a:latin typeface="Manrope"/>
                <a:ea typeface="Manrope"/>
                <a:cs typeface="Manrope"/>
                <a:sym typeface="Manrope"/>
              </a:rPr>
              <a:t>to model</a:t>
            </a:r>
            <a:endParaRPr sz="1100">
              <a:solidFill>
                <a:schemeClr val="dk1"/>
              </a:solidFill>
            </a:endParaRPr>
          </a:p>
        </p:txBody>
      </p:sp>
      <p:sp>
        <p:nvSpPr>
          <p:cNvPr id="2293" name="Google Shape;2293;p111"/>
          <p:cNvSpPr/>
          <p:nvPr/>
        </p:nvSpPr>
        <p:spPr>
          <a:xfrm>
            <a:off x="1255047" y="2640330"/>
            <a:ext cx="27300" cy="123300"/>
          </a:xfrm>
          <a:prstGeom prst="rect">
            <a:avLst/>
          </a:prstGeom>
          <a:solidFill>
            <a:srgbClr val="8B95A6"/>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294" name="Google Shape;2294;p111"/>
          <p:cNvSpPr/>
          <p:nvPr/>
        </p:nvSpPr>
        <p:spPr>
          <a:xfrm>
            <a:off x="2914728" y="2640330"/>
            <a:ext cx="27300" cy="123300"/>
          </a:xfrm>
          <a:prstGeom prst="rect">
            <a:avLst/>
          </a:prstGeom>
          <a:solidFill>
            <a:srgbClr val="8B95A6"/>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295" name="Google Shape;2295;p111"/>
          <p:cNvSpPr/>
          <p:nvPr/>
        </p:nvSpPr>
        <p:spPr>
          <a:xfrm>
            <a:off x="4574408" y="2640330"/>
            <a:ext cx="27300" cy="123300"/>
          </a:xfrm>
          <a:prstGeom prst="rect">
            <a:avLst/>
          </a:prstGeom>
          <a:solidFill>
            <a:srgbClr val="8B95A6"/>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296" name="Google Shape;2296;p111"/>
          <p:cNvSpPr/>
          <p:nvPr/>
        </p:nvSpPr>
        <p:spPr>
          <a:xfrm>
            <a:off x="6234088" y="2640330"/>
            <a:ext cx="27300" cy="123300"/>
          </a:xfrm>
          <a:prstGeom prst="rect">
            <a:avLst/>
          </a:prstGeom>
          <a:solidFill>
            <a:srgbClr val="8B95A6"/>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297" name="Google Shape;2297;p111"/>
          <p:cNvSpPr/>
          <p:nvPr/>
        </p:nvSpPr>
        <p:spPr>
          <a:xfrm>
            <a:off x="7893768" y="2640330"/>
            <a:ext cx="27300" cy="123300"/>
          </a:xfrm>
          <a:prstGeom prst="rect">
            <a:avLst/>
          </a:prstGeom>
          <a:solidFill>
            <a:srgbClr val="8B95A6"/>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298" name="Google Shape;2298;p111"/>
          <p:cNvSpPr txBox="1"/>
          <p:nvPr/>
        </p:nvSpPr>
        <p:spPr>
          <a:xfrm>
            <a:off x="582946" y="2791206"/>
            <a:ext cx="1371600" cy="3156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lang="en-GB" sz="800">
                <a:solidFill>
                  <a:schemeClr val="dk1"/>
                </a:solidFill>
                <a:latin typeface="Manrope"/>
                <a:ea typeface="Manrope"/>
                <a:cs typeface="Manrope"/>
                <a:sym typeface="Manrope"/>
              </a:rPr>
              <a:t>"Fix the rate-limiter</a:t>
            </a:r>
            <a:br>
              <a:rPr b="0" lang="en-GB" sz="800">
                <a:solidFill>
                  <a:schemeClr val="dk1"/>
                </a:solidFill>
                <a:latin typeface="Manrope"/>
                <a:ea typeface="Manrope"/>
                <a:cs typeface="Manrope"/>
                <a:sym typeface="Manrope"/>
              </a:rPr>
            </a:br>
            <a:r>
              <a:rPr b="0" lang="en-GB" sz="800">
                <a:solidFill>
                  <a:schemeClr val="dk1"/>
                </a:solidFill>
                <a:latin typeface="Manrope"/>
                <a:ea typeface="Manrope"/>
                <a:cs typeface="Manrope"/>
                <a:sym typeface="Manrope"/>
              </a:rPr>
              <a:t>in auth service"</a:t>
            </a:r>
            <a:endParaRPr sz="1100">
              <a:solidFill>
                <a:schemeClr val="dk1"/>
              </a:solidFill>
            </a:endParaRPr>
          </a:p>
        </p:txBody>
      </p:sp>
      <p:sp>
        <p:nvSpPr>
          <p:cNvPr id="2299" name="Google Shape;2299;p111"/>
          <p:cNvSpPr txBox="1"/>
          <p:nvPr/>
        </p:nvSpPr>
        <p:spPr>
          <a:xfrm>
            <a:off x="2242626" y="2791206"/>
            <a:ext cx="1371600" cy="4386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lang="en-GB" sz="800">
                <a:solidFill>
                  <a:schemeClr val="dk1"/>
                </a:solidFill>
                <a:latin typeface="Manrope"/>
                <a:ea typeface="Manrope"/>
                <a:cs typeface="Manrope"/>
                <a:sym typeface="Manrope"/>
              </a:rPr>
              <a:t>Decides: call</a:t>
            </a:r>
            <a:br>
              <a:rPr b="0" lang="en-GB" sz="800">
                <a:solidFill>
                  <a:schemeClr val="dk1"/>
                </a:solidFill>
                <a:latin typeface="Manrope"/>
                <a:ea typeface="Manrope"/>
                <a:cs typeface="Manrope"/>
                <a:sym typeface="Manrope"/>
              </a:rPr>
            </a:br>
            <a:r>
              <a:rPr b="0" lang="en-GB" sz="800">
                <a:solidFill>
                  <a:schemeClr val="dk1"/>
                </a:solidFill>
                <a:latin typeface="Manrope"/>
                <a:ea typeface="Manrope"/>
                <a:cs typeface="Manrope"/>
                <a:sym typeface="Manrope"/>
              </a:rPr>
              <a:t>read_file('auth.ts')</a:t>
            </a:r>
            <a:br>
              <a:rPr b="0" lang="en-GB" sz="800">
                <a:solidFill>
                  <a:schemeClr val="dk1"/>
                </a:solidFill>
                <a:latin typeface="Manrope"/>
                <a:ea typeface="Manrope"/>
                <a:cs typeface="Manrope"/>
                <a:sym typeface="Manrope"/>
              </a:rPr>
            </a:br>
            <a:r>
              <a:rPr b="0" lang="en-GB" sz="800">
                <a:solidFill>
                  <a:schemeClr val="dk1"/>
                </a:solidFill>
                <a:latin typeface="Manrope"/>
                <a:ea typeface="Manrope"/>
                <a:cs typeface="Manrope"/>
                <a:sym typeface="Manrope"/>
              </a:rPr>
              <a:t>first</a:t>
            </a:r>
            <a:endParaRPr sz="1100">
              <a:solidFill>
                <a:schemeClr val="dk1"/>
              </a:solidFill>
            </a:endParaRPr>
          </a:p>
        </p:txBody>
      </p:sp>
      <p:sp>
        <p:nvSpPr>
          <p:cNvPr id="2300" name="Google Shape;2300;p111"/>
          <p:cNvSpPr txBox="1"/>
          <p:nvPr/>
        </p:nvSpPr>
        <p:spPr>
          <a:xfrm>
            <a:off x="3902306" y="2791206"/>
            <a:ext cx="1371600" cy="4386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lang="en-GB" sz="800">
                <a:solidFill>
                  <a:schemeClr val="dk1"/>
                </a:solidFill>
                <a:latin typeface="Manrope"/>
                <a:ea typeface="Manrope"/>
                <a:cs typeface="Manrope"/>
                <a:sym typeface="Manrope"/>
              </a:rPr>
              <a:t>{ name:"read_file",</a:t>
            </a:r>
            <a:br>
              <a:rPr b="0" lang="en-GB" sz="800">
                <a:solidFill>
                  <a:schemeClr val="dk1"/>
                </a:solidFill>
                <a:latin typeface="Manrope"/>
                <a:ea typeface="Manrope"/>
                <a:cs typeface="Manrope"/>
                <a:sym typeface="Manrope"/>
              </a:rPr>
            </a:br>
            <a:r>
              <a:rPr b="0" lang="en-GB" sz="800">
                <a:solidFill>
                  <a:schemeClr val="dk1"/>
                </a:solidFill>
                <a:latin typeface="Manrope"/>
                <a:ea typeface="Manrope"/>
                <a:cs typeface="Manrope"/>
                <a:sym typeface="Manrope"/>
              </a:rPr>
              <a:t>  input:{path:</a:t>
            </a:r>
            <a:br>
              <a:rPr b="0" lang="en-GB" sz="800">
                <a:solidFill>
                  <a:schemeClr val="dk1"/>
                </a:solidFill>
                <a:latin typeface="Manrope"/>
                <a:ea typeface="Manrope"/>
                <a:cs typeface="Manrope"/>
                <a:sym typeface="Manrope"/>
              </a:rPr>
            </a:br>
            <a:r>
              <a:rPr b="0" lang="en-GB" sz="800">
                <a:solidFill>
                  <a:schemeClr val="dk1"/>
                </a:solidFill>
                <a:latin typeface="Manrope"/>
                <a:ea typeface="Manrope"/>
                <a:cs typeface="Manrope"/>
                <a:sym typeface="Manrope"/>
              </a:rPr>
              <a:t>  "auth.ts"} }</a:t>
            </a:r>
            <a:endParaRPr sz="1100">
              <a:solidFill>
                <a:schemeClr val="dk1"/>
              </a:solidFill>
            </a:endParaRPr>
          </a:p>
        </p:txBody>
      </p:sp>
      <p:sp>
        <p:nvSpPr>
          <p:cNvPr id="2301" name="Google Shape;2301;p111"/>
          <p:cNvSpPr txBox="1"/>
          <p:nvPr/>
        </p:nvSpPr>
        <p:spPr>
          <a:xfrm>
            <a:off x="5561986" y="2791206"/>
            <a:ext cx="1371600" cy="4386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lang="en-GB" sz="800">
                <a:solidFill>
                  <a:schemeClr val="dk1"/>
                </a:solidFill>
                <a:latin typeface="Manrope"/>
                <a:ea typeface="Manrope"/>
                <a:cs typeface="Manrope"/>
                <a:sym typeface="Manrope"/>
              </a:rPr>
              <a:t>Reads file from</a:t>
            </a:r>
            <a:br>
              <a:rPr b="0" lang="en-GB" sz="800">
                <a:solidFill>
                  <a:schemeClr val="dk1"/>
                </a:solidFill>
                <a:latin typeface="Manrope"/>
                <a:ea typeface="Manrope"/>
                <a:cs typeface="Manrope"/>
                <a:sym typeface="Manrope"/>
              </a:rPr>
            </a:br>
            <a:r>
              <a:rPr b="0" lang="en-GB" sz="800">
                <a:solidFill>
                  <a:schemeClr val="dk1"/>
                </a:solidFill>
                <a:latin typeface="Manrope"/>
                <a:ea typeface="Manrope"/>
                <a:cs typeface="Manrope"/>
                <a:sym typeface="Manrope"/>
              </a:rPr>
              <a:t>disk, returns</a:t>
            </a:r>
            <a:br>
              <a:rPr b="0" lang="en-GB" sz="800">
                <a:solidFill>
                  <a:schemeClr val="dk1"/>
                </a:solidFill>
                <a:latin typeface="Manrope"/>
                <a:ea typeface="Manrope"/>
                <a:cs typeface="Manrope"/>
                <a:sym typeface="Manrope"/>
              </a:rPr>
            </a:br>
            <a:r>
              <a:rPr b="0" lang="en-GB" sz="800">
                <a:solidFill>
                  <a:schemeClr val="dk1"/>
                </a:solidFill>
                <a:latin typeface="Manrope"/>
                <a:ea typeface="Manrope"/>
                <a:cs typeface="Manrope"/>
                <a:sym typeface="Manrope"/>
              </a:rPr>
              <a:t>240 lines of code</a:t>
            </a:r>
            <a:endParaRPr sz="1100">
              <a:solidFill>
                <a:schemeClr val="dk1"/>
              </a:solidFill>
            </a:endParaRPr>
          </a:p>
        </p:txBody>
      </p:sp>
      <p:sp>
        <p:nvSpPr>
          <p:cNvPr id="2302" name="Google Shape;2302;p111"/>
          <p:cNvSpPr txBox="1"/>
          <p:nvPr/>
        </p:nvSpPr>
        <p:spPr>
          <a:xfrm>
            <a:off x="7221667" y="2791206"/>
            <a:ext cx="1371600" cy="4386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0" lang="en-GB" sz="800">
                <a:solidFill>
                  <a:schemeClr val="dk1"/>
                </a:solidFill>
                <a:latin typeface="Manrope"/>
                <a:ea typeface="Manrope"/>
                <a:cs typeface="Manrope"/>
                <a:sym typeface="Manrope"/>
              </a:rPr>
              <a:t>Model sees source,</a:t>
            </a:r>
            <a:br>
              <a:rPr b="0" lang="en-GB" sz="800">
                <a:solidFill>
                  <a:schemeClr val="dk1"/>
                </a:solidFill>
                <a:latin typeface="Manrope"/>
                <a:ea typeface="Manrope"/>
                <a:cs typeface="Manrope"/>
                <a:sym typeface="Manrope"/>
              </a:rPr>
            </a:br>
            <a:r>
              <a:rPr b="0" lang="en-GB" sz="800">
                <a:solidFill>
                  <a:schemeClr val="dk1"/>
                </a:solidFill>
                <a:latin typeface="Manrope"/>
                <a:ea typeface="Manrope"/>
                <a:cs typeface="Manrope"/>
                <a:sym typeface="Manrope"/>
              </a:rPr>
              <a:t>plans the patch,</a:t>
            </a:r>
            <a:br>
              <a:rPr b="0" lang="en-GB" sz="800">
                <a:solidFill>
                  <a:schemeClr val="dk1"/>
                </a:solidFill>
                <a:latin typeface="Manrope"/>
                <a:ea typeface="Manrope"/>
                <a:cs typeface="Manrope"/>
                <a:sym typeface="Manrope"/>
              </a:rPr>
            </a:br>
            <a:r>
              <a:rPr b="0" lang="en-GB" sz="800">
                <a:solidFill>
                  <a:schemeClr val="dk1"/>
                </a:solidFill>
                <a:latin typeface="Manrope"/>
                <a:ea typeface="Manrope"/>
                <a:cs typeface="Manrope"/>
                <a:sym typeface="Manrope"/>
              </a:rPr>
              <a:t>calls write_file next</a:t>
            </a:r>
            <a:endParaRPr sz="1100">
              <a:solidFill>
                <a:schemeClr val="dk1"/>
              </a:solidFill>
            </a:endParaRPr>
          </a:p>
        </p:txBody>
      </p:sp>
      <p:sp>
        <p:nvSpPr>
          <p:cNvPr id="2303" name="Google Shape;2303;p111"/>
          <p:cNvSpPr/>
          <p:nvPr/>
        </p:nvSpPr>
        <p:spPr>
          <a:xfrm>
            <a:off x="7886910" y="2503170"/>
            <a:ext cx="41100" cy="9669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304" name="Google Shape;2304;p111"/>
          <p:cNvSpPr/>
          <p:nvPr/>
        </p:nvSpPr>
        <p:spPr>
          <a:xfrm>
            <a:off x="2907870" y="3429000"/>
            <a:ext cx="5020200" cy="411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305" name="Google Shape;2305;p111"/>
          <p:cNvSpPr/>
          <p:nvPr/>
        </p:nvSpPr>
        <p:spPr>
          <a:xfrm>
            <a:off x="2907870" y="2503170"/>
            <a:ext cx="41100" cy="9669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306" name="Google Shape;2306;p111"/>
          <p:cNvSpPr/>
          <p:nvPr/>
        </p:nvSpPr>
        <p:spPr>
          <a:xfrm>
            <a:off x="2859862" y="2489454"/>
            <a:ext cx="150900" cy="137100"/>
          </a:xfrm>
          <a:prstGeom prst="roundRect">
            <a:avLst>
              <a:gd fmla="val 16667" name="adj"/>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307" name="Google Shape;2307;p111"/>
          <p:cNvSpPr txBox="1"/>
          <p:nvPr/>
        </p:nvSpPr>
        <p:spPr>
          <a:xfrm>
            <a:off x="2674691" y="3497580"/>
            <a:ext cx="5486400" cy="3156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GB" sz="800">
                <a:solidFill>
                  <a:schemeClr val="dk1"/>
                </a:solidFill>
                <a:latin typeface="Courier New"/>
                <a:ea typeface="Courier New"/>
                <a:cs typeface="Courier New"/>
                <a:sym typeface="Courier New"/>
              </a:rPr>
              <a:t>LOOP — model re-reads result, plans next action, repeats until end_turn or budget exceeded</a:t>
            </a:r>
            <a:endParaRPr sz="1100">
              <a:solidFill>
                <a:schemeClr val="dk1"/>
              </a:solidFill>
            </a:endParaRPr>
          </a:p>
        </p:txBody>
      </p:sp>
      <p:sp>
        <p:nvSpPr>
          <p:cNvPr id="2308" name="Google Shape;2308;p111"/>
          <p:cNvSpPr txBox="1"/>
          <p:nvPr/>
        </p:nvSpPr>
        <p:spPr>
          <a:xfrm>
            <a:off x="68582" y="1885950"/>
            <a:ext cx="4800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700">
                <a:solidFill>
                  <a:schemeClr val="dk1"/>
                </a:solidFill>
                <a:latin typeface="Courier New"/>
                <a:ea typeface="Courier New"/>
                <a:cs typeface="Courier New"/>
                <a:sym typeface="Courier New"/>
              </a:rPr>
              <a:t>INTELLIGENCE</a:t>
            </a:r>
            <a:endParaRPr sz="1100">
              <a:solidFill>
                <a:schemeClr val="dk1"/>
              </a:solidFill>
            </a:endParaRPr>
          </a:p>
        </p:txBody>
      </p:sp>
      <p:sp>
        <p:nvSpPr>
          <p:cNvPr id="2309" name="Google Shape;2309;p111"/>
          <p:cNvSpPr txBox="1"/>
          <p:nvPr/>
        </p:nvSpPr>
        <p:spPr>
          <a:xfrm>
            <a:off x="68582" y="2125980"/>
            <a:ext cx="4800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lang="en-GB" sz="700">
                <a:solidFill>
                  <a:schemeClr val="dk1"/>
                </a:solidFill>
                <a:latin typeface="Courier New"/>
                <a:ea typeface="Courier New"/>
                <a:cs typeface="Courier New"/>
                <a:sym typeface="Courier New"/>
              </a:rPr>
              <a:t>YOUR CODE</a:t>
            </a:r>
            <a:endParaRPr sz="1100">
              <a:solidFill>
                <a:schemeClr val="dk1"/>
              </a:solidFill>
            </a:endParaRPr>
          </a:p>
        </p:txBody>
      </p:sp>
      <p:sp>
        <p:nvSpPr>
          <p:cNvPr id="2310" name="Google Shape;2310;p111"/>
          <p:cNvSpPr txBox="1"/>
          <p:nvPr/>
        </p:nvSpPr>
        <p:spPr>
          <a:xfrm>
            <a:off x="2537528" y="4080510"/>
            <a:ext cx="12345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100">
              <a:solidFill>
                <a:schemeClr val="dk1"/>
              </a:solidFill>
            </a:endParaRPr>
          </a:p>
        </p:txBody>
      </p:sp>
      <p:sp>
        <p:nvSpPr>
          <p:cNvPr id="2311" name="Google Shape;2311;p111"/>
          <p:cNvSpPr txBox="1"/>
          <p:nvPr/>
        </p:nvSpPr>
        <p:spPr>
          <a:xfrm>
            <a:off x="822982" y="4732020"/>
            <a:ext cx="274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lang="en-GB" sz="800">
                <a:solidFill>
                  <a:schemeClr val="dk1"/>
                </a:solidFill>
                <a:latin typeface="Courier New"/>
                <a:ea typeface="Courier New"/>
                <a:cs typeface="Courier New"/>
                <a:sym typeface="Courier New"/>
              </a:rPr>
              <a:t>globallogic.com</a:t>
            </a:r>
            <a:endParaRPr sz="1100">
              <a:solidFill>
                <a:schemeClr val="dk1"/>
              </a:solidFil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5" name="Shape 2315"/>
        <p:cNvGrpSpPr/>
        <p:nvPr/>
      </p:nvGrpSpPr>
      <p:grpSpPr>
        <a:xfrm>
          <a:off x="0" y="0"/>
          <a:ext cx="0" cy="0"/>
          <a:chOff x="0" y="0"/>
          <a:chExt cx="0" cy="0"/>
        </a:xfrm>
      </p:grpSpPr>
      <p:sp>
        <p:nvSpPr>
          <p:cNvPr id="2316" name="Google Shape;2316;p112"/>
          <p:cNvSpPr/>
          <p:nvPr/>
        </p:nvSpPr>
        <p:spPr>
          <a:xfrm>
            <a:off x="0" y="0"/>
            <a:ext cx="9144015" cy="5143500"/>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317" name="Google Shape;2317;p112"/>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FFFFFF"/>
                </a:solidFill>
                <a:latin typeface="Manrope"/>
                <a:ea typeface="Manrope"/>
                <a:cs typeface="Manrope"/>
                <a:sym typeface="Manrope"/>
              </a:rPr>
              <a:t>GlobalLogic</a:t>
            </a:r>
            <a:endParaRPr sz="1100"/>
          </a:p>
        </p:txBody>
      </p:sp>
      <p:sp>
        <p:nvSpPr>
          <p:cNvPr id="2318" name="Google Shape;2318;p112"/>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C9CFD8"/>
                </a:solidFill>
                <a:latin typeface="Manrope"/>
                <a:ea typeface="Manrope"/>
                <a:cs typeface="Manrope"/>
                <a:sym typeface="Manrope"/>
              </a:rPr>
              <a:t>A Hitachi Group Company</a:t>
            </a:r>
            <a:endParaRPr sz="1100"/>
          </a:p>
        </p:txBody>
      </p:sp>
      <p:sp>
        <p:nvSpPr>
          <p:cNvPr id="2319" name="Google Shape;2319;p112"/>
          <p:cNvSpPr txBox="1"/>
          <p:nvPr/>
        </p:nvSpPr>
        <p:spPr>
          <a:xfrm>
            <a:off x="822982" y="1714500"/>
            <a:ext cx="6172500" cy="1546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4800">
                <a:solidFill>
                  <a:srgbClr val="FFFFFF"/>
                </a:solidFill>
                <a:latin typeface="Manrope"/>
                <a:ea typeface="Manrope"/>
                <a:cs typeface="Manrope"/>
                <a:sym typeface="Manrope"/>
              </a:rPr>
              <a:t>RAG &amp; Giving the</a:t>
            </a:r>
            <a:br>
              <a:rPr b="1" i="0" lang="en-GB" sz="4800">
                <a:solidFill>
                  <a:srgbClr val="FFFFFF"/>
                </a:solidFill>
                <a:latin typeface="Manrope"/>
                <a:ea typeface="Manrope"/>
                <a:cs typeface="Manrope"/>
                <a:sym typeface="Manrope"/>
              </a:rPr>
            </a:br>
            <a:r>
              <a:rPr b="1" i="0" lang="en-GB" sz="4800">
                <a:solidFill>
                  <a:srgbClr val="FFFFFF"/>
                </a:solidFill>
                <a:latin typeface="Manrope"/>
                <a:ea typeface="Manrope"/>
                <a:cs typeface="Manrope"/>
                <a:sym typeface="Manrope"/>
              </a:rPr>
              <a:t>Model Your Data.</a:t>
            </a:r>
            <a:endParaRPr sz="100"/>
          </a:p>
        </p:txBody>
      </p:sp>
      <p:sp>
        <p:nvSpPr>
          <p:cNvPr id="2320" name="Google Shape;2320;p112"/>
          <p:cNvSpPr txBox="1"/>
          <p:nvPr/>
        </p:nvSpPr>
        <p:spPr>
          <a:xfrm>
            <a:off x="822982" y="3429000"/>
            <a:ext cx="6172365" cy="8229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700">
                <a:solidFill>
                  <a:srgbClr val="C9CFD8"/>
                </a:solidFill>
                <a:latin typeface="Manrope"/>
                <a:ea typeface="Manrope"/>
                <a:cs typeface="Manrope"/>
                <a:sym typeface="Manrope"/>
              </a:rPr>
              <a:t>RAG is not a magic word. It is the engineering pattern that makes a generic model accurate inside your specific domain.</a:t>
            </a:r>
            <a:endParaRPr sz="1100"/>
          </a:p>
        </p:txBody>
      </p:sp>
      <p:sp>
        <p:nvSpPr>
          <p:cNvPr id="2321" name="Google Shape;2321;p112"/>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FFFFFF"/>
                </a:solidFill>
                <a:latin typeface="Courier New"/>
                <a:ea typeface="Courier New"/>
                <a:cs typeface="Courier New"/>
                <a:sym typeface="Courier New"/>
              </a:rPr>
              <a:t>globallogic.com</a:t>
            </a:r>
            <a:endParaRPr sz="1100"/>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5" name="Shape 2325"/>
        <p:cNvGrpSpPr/>
        <p:nvPr/>
      </p:nvGrpSpPr>
      <p:grpSpPr>
        <a:xfrm>
          <a:off x="0" y="0"/>
          <a:ext cx="0" cy="0"/>
          <a:chOff x="0" y="0"/>
          <a:chExt cx="0" cy="0"/>
        </a:xfrm>
      </p:grpSpPr>
      <p:sp>
        <p:nvSpPr>
          <p:cNvPr id="2326" name="Google Shape;2326;p113"/>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2327" name="Google Shape;2327;p113"/>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2328" name="Google Shape;2328;p113"/>
          <p:cNvSpPr txBox="1"/>
          <p:nvPr/>
        </p:nvSpPr>
        <p:spPr>
          <a:xfrm>
            <a:off x="822982" y="946404"/>
            <a:ext cx="7406837"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a:solidFill>
                  <a:srgbClr val="1B1F2A"/>
                </a:solidFill>
                <a:latin typeface="Manrope"/>
                <a:ea typeface="Manrope"/>
                <a:cs typeface="Manrope"/>
                <a:sym typeface="Manrope"/>
              </a:rPr>
              <a:t>RAG: the model takes its exam open-book.</a:t>
            </a:r>
            <a:endParaRPr sz="1100"/>
          </a:p>
        </p:txBody>
      </p:sp>
      <p:sp>
        <p:nvSpPr>
          <p:cNvPr id="2329" name="Google Shape;2329;p113"/>
          <p:cNvSpPr/>
          <p:nvPr/>
        </p:nvSpPr>
        <p:spPr>
          <a:xfrm>
            <a:off x="822982" y="1495044"/>
            <a:ext cx="3429091"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330" name="Google Shape;2330;p113"/>
          <p:cNvSpPr/>
          <p:nvPr/>
        </p:nvSpPr>
        <p:spPr>
          <a:xfrm>
            <a:off x="4869310" y="1495044"/>
            <a:ext cx="3429091"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331" name="Google Shape;2331;p113"/>
          <p:cNvSpPr txBox="1"/>
          <p:nvPr/>
        </p:nvSpPr>
        <p:spPr>
          <a:xfrm>
            <a:off x="822982" y="1577340"/>
            <a:ext cx="3429091"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800">
                <a:solidFill>
                  <a:srgbClr val="1B1F2A"/>
                </a:solidFill>
                <a:latin typeface="Manrope"/>
                <a:ea typeface="Manrope"/>
                <a:cs typeface="Manrope"/>
                <a:sym typeface="Manrope"/>
              </a:rPr>
              <a:t>What RAG Is</a:t>
            </a:r>
            <a:endParaRPr sz="1100"/>
          </a:p>
        </p:txBody>
      </p:sp>
      <p:sp>
        <p:nvSpPr>
          <p:cNvPr id="2332" name="Google Shape;2332;p113"/>
          <p:cNvSpPr txBox="1"/>
          <p:nvPr/>
        </p:nvSpPr>
        <p:spPr>
          <a:xfrm>
            <a:off x="822982" y="1933956"/>
            <a:ext cx="3429091" cy="2400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200">
                <a:solidFill>
                  <a:srgbClr val="8B95A6"/>
                </a:solidFill>
                <a:latin typeface="Manrope"/>
                <a:ea typeface="Manrope"/>
                <a:cs typeface="Manrope"/>
                <a:sym typeface="Manrope"/>
              </a:rPr>
              <a:t>Retrieval-Augmented Generation. You find the relevant passages from your knowledge base, hand them to the model alongside the question, and ask for an answer that cites them. The model reads rather than recalls. This works because models are far better at reading from context than at retrieving specific facts from training memory — and it makes them accurate in your domain without the cost of fine-tuning.</a:t>
            </a:r>
            <a:endParaRPr sz="1100"/>
          </a:p>
        </p:txBody>
      </p:sp>
      <p:sp>
        <p:nvSpPr>
          <p:cNvPr id="2333" name="Google Shape;2333;p113"/>
          <p:cNvSpPr txBox="1"/>
          <p:nvPr/>
        </p:nvSpPr>
        <p:spPr>
          <a:xfrm>
            <a:off x="4869310" y="1577340"/>
            <a:ext cx="3429091"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800">
                <a:solidFill>
                  <a:srgbClr val="1B1F2A"/>
                </a:solidFill>
                <a:latin typeface="Manrope"/>
                <a:ea typeface="Manrope"/>
                <a:cs typeface="Manrope"/>
                <a:sym typeface="Manrope"/>
              </a:rPr>
              <a:t>Why RAG Over Fine-Tuning</a:t>
            </a:r>
            <a:endParaRPr sz="1100"/>
          </a:p>
        </p:txBody>
      </p:sp>
      <p:sp>
        <p:nvSpPr>
          <p:cNvPr id="2334" name="Google Shape;2334;p113"/>
          <p:cNvSpPr txBox="1"/>
          <p:nvPr/>
        </p:nvSpPr>
        <p:spPr>
          <a:xfrm>
            <a:off x="4869310" y="1933956"/>
            <a:ext cx="3429091" cy="2400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200">
                <a:solidFill>
                  <a:srgbClr val="8B95A6"/>
                </a:solidFill>
                <a:latin typeface="Manrope"/>
                <a:ea typeface="Manrope"/>
                <a:cs typeface="Manrope"/>
                <a:sym typeface="Manrope"/>
              </a:rPr>
              <a:t>Fine-tuning teaches new behaviour or style — not facts. Your runbook, your contract, your codebase doesn't need to be baked into the model's weights; it needs to be retrievable at query time. RAG is also debuggable: when an answer is wrong, you can inspect exactly which chunks were retrieved. That auditability is more valuable than it sounds, especially in regulated industries.</a:t>
            </a:r>
            <a:endParaRPr sz="1100"/>
          </a:p>
        </p:txBody>
      </p:sp>
      <p:sp>
        <p:nvSpPr>
          <p:cNvPr id="2335" name="Google Shape;2335;p113"/>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9" name="Shape 2339"/>
        <p:cNvGrpSpPr/>
        <p:nvPr/>
      </p:nvGrpSpPr>
      <p:grpSpPr>
        <a:xfrm>
          <a:off x="0" y="0"/>
          <a:ext cx="0" cy="0"/>
          <a:chOff x="0" y="0"/>
          <a:chExt cx="0" cy="0"/>
        </a:xfrm>
      </p:grpSpPr>
      <p:sp>
        <p:nvSpPr>
          <p:cNvPr id="2340" name="Google Shape;2340;p114"/>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2341" name="Google Shape;2341;p114"/>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2342" name="Google Shape;2342;p114"/>
          <p:cNvSpPr txBox="1"/>
          <p:nvPr/>
        </p:nvSpPr>
        <p:spPr>
          <a:xfrm>
            <a:off x="822982" y="946404"/>
            <a:ext cx="7406837"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a:solidFill>
                  <a:srgbClr val="1B1F2A"/>
                </a:solidFill>
                <a:latin typeface="Manrope"/>
                <a:ea typeface="Manrope"/>
                <a:cs typeface="Manrope"/>
                <a:sym typeface="Manrope"/>
              </a:rPr>
              <a:t>The RAG pipeline — five steps from corpus to answer.</a:t>
            </a:r>
            <a:endParaRPr sz="1100"/>
          </a:p>
        </p:txBody>
      </p:sp>
      <p:sp>
        <p:nvSpPr>
          <p:cNvPr id="2343" name="Google Shape;2343;p114"/>
          <p:cNvSpPr/>
          <p:nvPr/>
        </p:nvSpPr>
        <p:spPr>
          <a:xfrm>
            <a:off x="2215193" y="2228850"/>
            <a:ext cx="123447" cy="54864"/>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344" name="Google Shape;2344;p114"/>
          <p:cNvSpPr/>
          <p:nvPr/>
        </p:nvSpPr>
        <p:spPr>
          <a:xfrm>
            <a:off x="788691" y="1885950"/>
            <a:ext cx="480073" cy="3429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345" name="Google Shape;2345;p114"/>
          <p:cNvSpPr txBox="1"/>
          <p:nvPr/>
        </p:nvSpPr>
        <p:spPr>
          <a:xfrm>
            <a:off x="822982" y="1913382"/>
            <a:ext cx="411491" cy="3086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a:solidFill>
                  <a:srgbClr val="FFFFFF"/>
                </a:solidFill>
                <a:latin typeface="Courier New"/>
                <a:ea typeface="Courier New"/>
                <a:cs typeface="Courier New"/>
                <a:sym typeface="Courier New"/>
              </a:rPr>
              <a:t>01</a:t>
            </a:r>
            <a:endParaRPr sz="1100"/>
          </a:p>
        </p:txBody>
      </p:sp>
      <p:sp>
        <p:nvSpPr>
          <p:cNvPr id="2346" name="Google Shape;2346;p114"/>
          <p:cNvSpPr txBox="1"/>
          <p:nvPr/>
        </p:nvSpPr>
        <p:spPr>
          <a:xfrm>
            <a:off x="788691" y="2331720"/>
            <a:ext cx="144021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400">
                <a:solidFill>
                  <a:srgbClr val="1B1F2A"/>
                </a:solidFill>
                <a:latin typeface="Manrope"/>
                <a:ea typeface="Manrope"/>
                <a:cs typeface="Manrope"/>
                <a:sym typeface="Manrope"/>
              </a:rPr>
              <a:t>Chunk</a:t>
            </a:r>
            <a:endParaRPr sz="1100"/>
          </a:p>
        </p:txBody>
      </p:sp>
      <p:sp>
        <p:nvSpPr>
          <p:cNvPr id="2347" name="Google Shape;2347;p114"/>
          <p:cNvSpPr txBox="1"/>
          <p:nvPr/>
        </p:nvSpPr>
        <p:spPr>
          <a:xfrm>
            <a:off x="788691" y="2674620"/>
            <a:ext cx="1440218" cy="22631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Split documents into passages of ~256–512 tokens with overlap, on natural sentence and paragraph boundaries.</a:t>
            </a:r>
            <a:endParaRPr sz="1100"/>
          </a:p>
        </p:txBody>
      </p:sp>
      <p:sp>
        <p:nvSpPr>
          <p:cNvPr id="2348" name="Google Shape;2348;p114"/>
          <p:cNvSpPr/>
          <p:nvPr/>
        </p:nvSpPr>
        <p:spPr>
          <a:xfrm>
            <a:off x="3723993" y="2228850"/>
            <a:ext cx="123447" cy="54864"/>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349" name="Google Shape;2349;p114"/>
          <p:cNvSpPr/>
          <p:nvPr/>
        </p:nvSpPr>
        <p:spPr>
          <a:xfrm>
            <a:off x="2297491" y="1885950"/>
            <a:ext cx="480073" cy="3429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350" name="Google Shape;2350;p114"/>
          <p:cNvSpPr txBox="1"/>
          <p:nvPr/>
        </p:nvSpPr>
        <p:spPr>
          <a:xfrm>
            <a:off x="2331782" y="1913382"/>
            <a:ext cx="411491" cy="3086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a:solidFill>
                  <a:srgbClr val="FFFFFF"/>
                </a:solidFill>
                <a:latin typeface="Courier New"/>
                <a:ea typeface="Courier New"/>
                <a:cs typeface="Courier New"/>
                <a:sym typeface="Courier New"/>
              </a:rPr>
              <a:t>02</a:t>
            </a:r>
            <a:endParaRPr sz="1100"/>
          </a:p>
        </p:txBody>
      </p:sp>
      <p:sp>
        <p:nvSpPr>
          <p:cNvPr id="2351" name="Google Shape;2351;p114"/>
          <p:cNvSpPr txBox="1"/>
          <p:nvPr/>
        </p:nvSpPr>
        <p:spPr>
          <a:xfrm>
            <a:off x="2297491" y="2331720"/>
            <a:ext cx="144021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400">
                <a:solidFill>
                  <a:srgbClr val="1B1F2A"/>
                </a:solidFill>
                <a:latin typeface="Manrope"/>
                <a:ea typeface="Manrope"/>
                <a:cs typeface="Manrope"/>
                <a:sym typeface="Manrope"/>
              </a:rPr>
              <a:t>Embed</a:t>
            </a:r>
            <a:endParaRPr sz="1100"/>
          </a:p>
        </p:txBody>
      </p:sp>
      <p:sp>
        <p:nvSpPr>
          <p:cNvPr id="2352" name="Google Shape;2352;p114"/>
          <p:cNvSpPr txBox="1"/>
          <p:nvPr/>
        </p:nvSpPr>
        <p:spPr>
          <a:xfrm>
            <a:off x="2297491" y="2674620"/>
            <a:ext cx="1440218" cy="22631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Each chunk goes through an embedding model and becomes a vector you can compare for semantic similarity.</a:t>
            </a:r>
            <a:endParaRPr sz="1100"/>
          </a:p>
        </p:txBody>
      </p:sp>
      <p:sp>
        <p:nvSpPr>
          <p:cNvPr id="2353" name="Google Shape;2353;p114"/>
          <p:cNvSpPr/>
          <p:nvPr/>
        </p:nvSpPr>
        <p:spPr>
          <a:xfrm>
            <a:off x="5232793" y="2228850"/>
            <a:ext cx="123447" cy="54864"/>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354" name="Google Shape;2354;p114"/>
          <p:cNvSpPr/>
          <p:nvPr/>
        </p:nvSpPr>
        <p:spPr>
          <a:xfrm>
            <a:off x="3806291" y="1885950"/>
            <a:ext cx="480073" cy="3429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355" name="Google Shape;2355;p114"/>
          <p:cNvSpPr txBox="1"/>
          <p:nvPr/>
        </p:nvSpPr>
        <p:spPr>
          <a:xfrm>
            <a:off x="3840582" y="1913382"/>
            <a:ext cx="411491" cy="3086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a:solidFill>
                  <a:srgbClr val="FFFFFF"/>
                </a:solidFill>
                <a:latin typeface="Courier New"/>
                <a:ea typeface="Courier New"/>
                <a:cs typeface="Courier New"/>
                <a:sym typeface="Courier New"/>
              </a:rPr>
              <a:t>03</a:t>
            </a:r>
            <a:endParaRPr sz="1100"/>
          </a:p>
        </p:txBody>
      </p:sp>
      <p:sp>
        <p:nvSpPr>
          <p:cNvPr id="2356" name="Google Shape;2356;p114"/>
          <p:cNvSpPr txBox="1"/>
          <p:nvPr/>
        </p:nvSpPr>
        <p:spPr>
          <a:xfrm>
            <a:off x="3806291" y="2331720"/>
            <a:ext cx="144021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400">
                <a:solidFill>
                  <a:srgbClr val="1B1F2A"/>
                </a:solidFill>
                <a:latin typeface="Manrope"/>
                <a:ea typeface="Manrope"/>
                <a:cs typeface="Manrope"/>
                <a:sym typeface="Manrope"/>
              </a:rPr>
              <a:t>Retrieve</a:t>
            </a:r>
            <a:endParaRPr sz="1100"/>
          </a:p>
        </p:txBody>
      </p:sp>
      <p:sp>
        <p:nvSpPr>
          <p:cNvPr id="2357" name="Google Shape;2357;p114"/>
          <p:cNvSpPr txBox="1"/>
          <p:nvPr/>
        </p:nvSpPr>
        <p:spPr>
          <a:xfrm>
            <a:off x="3806291" y="2674620"/>
            <a:ext cx="1440218" cy="22631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Embed the user's query the same way. Pull the top-K most similar chunks from the vector index.</a:t>
            </a:r>
            <a:endParaRPr sz="1100"/>
          </a:p>
        </p:txBody>
      </p:sp>
      <p:sp>
        <p:nvSpPr>
          <p:cNvPr id="2358" name="Google Shape;2358;p114"/>
          <p:cNvSpPr/>
          <p:nvPr/>
        </p:nvSpPr>
        <p:spPr>
          <a:xfrm>
            <a:off x="6741594" y="2228850"/>
            <a:ext cx="123447" cy="54864"/>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359" name="Google Shape;2359;p114"/>
          <p:cNvSpPr/>
          <p:nvPr/>
        </p:nvSpPr>
        <p:spPr>
          <a:xfrm>
            <a:off x="5315092" y="1885950"/>
            <a:ext cx="480073" cy="3429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360" name="Google Shape;2360;p114"/>
          <p:cNvSpPr txBox="1"/>
          <p:nvPr/>
        </p:nvSpPr>
        <p:spPr>
          <a:xfrm>
            <a:off x="5349383" y="1913382"/>
            <a:ext cx="411491" cy="3086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a:solidFill>
                  <a:srgbClr val="FFFFFF"/>
                </a:solidFill>
                <a:latin typeface="Courier New"/>
                <a:ea typeface="Courier New"/>
                <a:cs typeface="Courier New"/>
                <a:sym typeface="Courier New"/>
              </a:rPr>
              <a:t>04</a:t>
            </a:r>
            <a:endParaRPr sz="1100"/>
          </a:p>
        </p:txBody>
      </p:sp>
      <p:sp>
        <p:nvSpPr>
          <p:cNvPr id="2361" name="Google Shape;2361;p114"/>
          <p:cNvSpPr txBox="1"/>
          <p:nvPr/>
        </p:nvSpPr>
        <p:spPr>
          <a:xfrm>
            <a:off x="5315092" y="2331720"/>
            <a:ext cx="144021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400">
                <a:solidFill>
                  <a:srgbClr val="1B1F2A"/>
                </a:solidFill>
                <a:latin typeface="Manrope"/>
                <a:ea typeface="Manrope"/>
                <a:cs typeface="Manrope"/>
                <a:sym typeface="Manrope"/>
              </a:rPr>
              <a:t>Generate</a:t>
            </a:r>
            <a:endParaRPr sz="1100"/>
          </a:p>
        </p:txBody>
      </p:sp>
      <p:sp>
        <p:nvSpPr>
          <p:cNvPr id="2362" name="Google Shape;2362;p114"/>
          <p:cNvSpPr txBox="1"/>
          <p:nvPr/>
        </p:nvSpPr>
        <p:spPr>
          <a:xfrm>
            <a:off x="5315092" y="2674620"/>
            <a:ext cx="1440218" cy="22631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Pass the query and chunks to the model with instruction to answer using only that context. No hallucination permitted.</a:t>
            </a:r>
            <a:endParaRPr sz="1100"/>
          </a:p>
        </p:txBody>
      </p:sp>
      <p:sp>
        <p:nvSpPr>
          <p:cNvPr id="2363" name="Google Shape;2363;p114"/>
          <p:cNvSpPr/>
          <p:nvPr/>
        </p:nvSpPr>
        <p:spPr>
          <a:xfrm>
            <a:off x="6823892" y="1885950"/>
            <a:ext cx="480073" cy="3429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364" name="Google Shape;2364;p114"/>
          <p:cNvSpPr txBox="1"/>
          <p:nvPr/>
        </p:nvSpPr>
        <p:spPr>
          <a:xfrm>
            <a:off x="6858183" y="1913382"/>
            <a:ext cx="411491" cy="3086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a:solidFill>
                  <a:srgbClr val="FFFFFF"/>
                </a:solidFill>
                <a:latin typeface="Courier New"/>
                <a:ea typeface="Courier New"/>
                <a:cs typeface="Courier New"/>
                <a:sym typeface="Courier New"/>
              </a:rPr>
              <a:t>05</a:t>
            </a:r>
            <a:endParaRPr sz="1100"/>
          </a:p>
        </p:txBody>
      </p:sp>
      <p:sp>
        <p:nvSpPr>
          <p:cNvPr id="2365" name="Google Shape;2365;p114"/>
          <p:cNvSpPr txBox="1"/>
          <p:nvPr/>
        </p:nvSpPr>
        <p:spPr>
          <a:xfrm>
            <a:off x="6823892" y="2331720"/>
            <a:ext cx="144021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400">
                <a:solidFill>
                  <a:srgbClr val="1B1F2A"/>
                </a:solidFill>
                <a:latin typeface="Manrope"/>
                <a:ea typeface="Manrope"/>
                <a:cs typeface="Manrope"/>
                <a:sym typeface="Manrope"/>
              </a:rPr>
              <a:t>Cite</a:t>
            </a:r>
            <a:endParaRPr sz="1100"/>
          </a:p>
        </p:txBody>
      </p:sp>
      <p:sp>
        <p:nvSpPr>
          <p:cNvPr id="2366" name="Google Shape;2366;p114"/>
          <p:cNvSpPr txBox="1"/>
          <p:nvPr/>
        </p:nvSpPr>
        <p:spPr>
          <a:xfrm>
            <a:off x="6823892" y="2674620"/>
            <a:ext cx="1440218" cy="22631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Surface which chunks informed the answer. The user or downstream system can verify every claim against source material.</a:t>
            </a:r>
            <a:endParaRPr sz="1100"/>
          </a:p>
        </p:txBody>
      </p:sp>
      <p:sp>
        <p:nvSpPr>
          <p:cNvPr id="2367" name="Google Shape;2367;p114"/>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1" name="Shape 2371"/>
        <p:cNvGrpSpPr/>
        <p:nvPr/>
      </p:nvGrpSpPr>
      <p:grpSpPr>
        <a:xfrm>
          <a:off x="0" y="0"/>
          <a:ext cx="0" cy="0"/>
          <a:chOff x="0" y="0"/>
          <a:chExt cx="0" cy="0"/>
        </a:xfrm>
      </p:grpSpPr>
      <p:sp>
        <p:nvSpPr>
          <p:cNvPr id="2372" name="Google Shape;2372;p115"/>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2373" name="Google Shape;2373;p115"/>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2374" name="Google Shape;2374;p115"/>
          <p:cNvSpPr txBox="1"/>
          <p:nvPr/>
        </p:nvSpPr>
        <p:spPr>
          <a:xfrm>
            <a:off x="822982" y="946404"/>
            <a:ext cx="7406837"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a:solidFill>
                  <a:srgbClr val="1B1F2A"/>
                </a:solidFill>
                <a:latin typeface="Manrope"/>
                <a:ea typeface="Manrope"/>
                <a:cs typeface="Manrope"/>
                <a:sym typeface="Manrope"/>
              </a:rPr>
              <a:t>Four shapes of vector store — pick on operational fit.</a:t>
            </a:r>
            <a:endParaRPr sz="1100"/>
          </a:p>
        </p:txBody>
      </p:sp>
      <p:sp>
        <p:nvSpPr>
          <p:cNvPr id="2375" name="Google Shape;2375;p115"/>
          <p:cNvSpPr txBox="1"/>
          <p:nvPr/>
        </p:nvSpPr>
        <p:spPr>
          <a:xfrm>
            <a:off x="822982" y="1426464"/>
            <a:ext cx="7406837" cy="22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The fastest store is the one your team can already operate. Benchmark scores are much less important than reliability an…</a:t>
            </a:r>
            <a:endParaRPr sz="1100"/>
          </a:p>
        </p:txBody>
      </p:sp>
      <p:sp>
        <p:nvSpPr>
          <p:cNvPr id="2376" name="Google Shape;2376;p115"/>
          <p:cNvSpPr/>
          <p:nvPr/>
        </p:nvSpPr>
        <p:spPr>
          <a:xfrm>
            <a:off x="822982" y="1885950"/>
            <a:ext cx="1920291" cy="20574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377" name="Google Shape;2377;p115"/>
          <p:cNvSpPr txBox="1"/>
          <p:nvPr/>
        </p:nvSpPr>
        <p:spPr>
          <a:xfrm>
            <a:off x="960146" y="2009394"/>
            <a:ext cx="1645964"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POSTGRES EXTENSION</a:t>
            </a:r>
            <a:endParaRPr sz="1100"/>
          </a:p>
        </p:txBody>
      </p:sp>
      <p:sp>
        <p:nvSpPr>
          <p:cNvPr id="2378" name="Google Shape;2378;p115"/>
          <p:cNvSpPr txBox="1"/>
          <p:nvPr/>
        </p:nvSpPr>
        <p:spPr>
          <a:xfrm>
            <a:off x="960146" y="2208276"/>
            <a:ext cx="1645964"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pgvector</a:t>
            </a:r>
            <a:endParaRPr sz="1100"/>
          </a:p>
        </p:txBody>
      </p:sp>
      <p:sp>
        <p:nvSpPr>
          <p:cNvPr id="2379" name="Google Shape;2379;p115"/>
          <p:cNvSpPr txBox="1"/>
          <p:nvPr/>
        </p:nvSpPr>
        <p:spPr>
          <a:xfrm>
            <a:off x="960146" y="2640330"/>
            <a:ext cx="1645964" cy="12001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8B95A6"/>
                </a:solidFill>
                <a:latin typeface="Manrope"/>
                <a:ea typeface="Manrope"/>
                <a:cs typeface="Manrope"/>
                <a:sym typeface="Manrope"/>
              </a:rPr>
              <a:t>Vectors next to your relational data. Best when the team already runs Postgres. Supports both vector and hybrid search. Zero new infrastructure.</a:t>
            </a:r>
            <a:endParaRPr sz="1100"/>
          </a:p>
        </p:txBody>
      </p:sp>
      <p:sp>
        <p:nvSpPr>
          <p:cNvPr id="2380" name="Google Shape;2380;p115"/>
          <p:cNvSpPr/>
          <p:nvPr/>
        </p:nvSpPr>
        <p:spPr>
          <a:xfrm>
            <a:off x="2880437" y="1885950"/>
            <a:ext cx="1920291" cy="20574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381" name="Google Shape;2381;p115"/>
          <p:cNvSpPr txBox="1"/>
          <p:nvPr/>
        </p:nvSpPr>
        <p:spPr>
          <a:xfrm>
            <a:off x="3017600" y="2009394"/>
            <a:ext cx="1645964"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PURPOSE-BUILT</a:t>
            </a:r>
            <a:endParaRPr sz="1100"/>
          </a:p>
        </p:txBody>
      </p:sp>
      <p:sp>
        <p:nvSpPr>
          <p:cNvPr id="2382" name="Google Shape;2382;p115"/>
          <p:cNvSpPr txBox="1"/>
          <p:nvPr/>
        </p:nvSpPr>
        <p:spPr>
          <a:xfrm>
            <a:off x="3017600" y="2208276"/>
            <a:ext cx="1645964"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Pinecone, Weaviate, Qdrant</a:t>
            </a:r>
            <a:endParaRPr sz="1100"/>
          </a:p>
        </p:txBody>
      </p:sp>
      <p:sp>
        <p:nvSpPr>
          <p:cNvPr id="2383" name="Google Shape;2383;p115"/>
          <p:cNvSpPr txBox="1"/>
          <p:nvPr/>
        </p:nvSpPr>
        <p:spPr>
          <a:xfrm>
            <a:off x="3017600" y="2640330"/>
            <a:ext cx="1645964" cy="12001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8B95A6"/>
                </a:solidFill>
                <a:latin typeface="Manrope"/>
                <a:ea typeface="Manrope"/>
                <a:cs typeface="Manrope"/>
                <a:sym typeface="Manrope"/>
              </a:rPr>
              <a:t>Hosted services tuned for vector workloads. Pay-as-you-go, minimal ops, easy to scale. Right when you want retrieval without infra ownership.</a:t>
            </a:r>
            <a:endParaRPr sz="1100"/>
          </a:p>
        </p:txBody>
      </p:sp>
      <p:sp>
        <p:nvSpPr>
          <p:cNvPr id="2384" name="Google Shape;2384;p115"/>
          <p:cNvSpPr/>
          <p:nvPr/>
        </p:nvSpPr>
        <p:spPr>
          <a:xfrm>
            <a:off x="4937892" y="1885950"/>
            <a:ext cx="1920291" cy="20574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385" name="Google Shape;2385;p115"/>
          <p:cNvSpPr txBox="1"/>
          <p:nvPr/>
        </p:nvSpPr>
        <p:spPr>
          <a:xfrm>
            <a:off x="5075055" y="2009394"/>
            <a:ext cx="1645964"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SEARCH ENGINES</a:t>
            </a:r>
            <a:endParaRPr sz="1100"/>
          </a:p>
        </p:txBody>
      </p:sp>
      <p:sp>
        <p:nvSpPr>
          <p:cNvPr id="2386" name="Google Shape;2386;p115"/>
          <p:cNvSpPr txBox="1"/>
          <p:nvPr/>
        </p:nvSpPr>
        <p:spPr>
          <a:xfrm>
            <a:off x="5075055" y="2208276"/>
            <a:ext cx="1645964"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Elastic, OpenSearch</a:t>
            </a:r>
            <a:endParaRPr sz="1100"/>
          </a:p>
        </p:txBody>
      </p:sp>
      <p:sp>
        <p:nvSpPr>
          <p:cNvPr id="2387" name="Google Shape;2387;p115"/>
          <p:cNvSpPr txBox="1"/>
          <p:nvPr/>
        </p:nvSpPr>
        <p:spPr>
          <a:xfrm>
            <a:off x="5075055" y="2640330"/>
            <a:ext cx="1645964" cy="12001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8B95A6"/>
                </a:solidFill>
                <a:latin typeface="Manrope"/>
                <a:ea typeface="Manrope"/>
                <a:cs typeface="Manrope"/>
                <a:sym typeface="Manrope"/>
              </a:rPr>
              <a:t>Hybrid keyword + vector retrieval. Strong when text search and semantic search both matter for your use case. Familiar ops tooling.</a:t>
            </a:r>
            <a:endParaRPr sz="1100"/>
          </a:p>
        </p:txBody>
      </p:sp>
      <p:sp>
        <p:nvSpPr>
          <p:cNvPr id="2388" name="Google Shape;2388;p115"/>
          <p:cNvSpPr/>
          <p:nvPr/>
        </p:nvSpPr>
        <p:spPr>
          <a:xfrm>
            <a:off x="6995346" y="1885950"/>
            <a:ext cx="1920291" cy="20574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389" name="Google Shape;2389;p115"/>
          <p:cNvSpPr txBox="1"/>
          <p:nvPr/>
        </p:nvSpPr>
        <p:spPr>
          <a:xfrm>
            <a:off x="7132510" y="2009394"/>
            <a:ext cx="1645964"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EMBEDDED</a:t>
            </a:r>
            <a:endParaRPr sz="1100"/>
          </a:p>
        </p:txBody>
      </p:sp>
      <p:sp>
        <p:nvSpPr>
          <p:cNvPr id="2390" name="Google Shape;2390;p115"/>
          <p:cNvSpPr txBox="1"/>
          <p:nvPr/>
        </p:nvSpPr>
        <p:spPr>
          <a:xfrm>
            <a:off x="7132510" y="2208276"/>
            <a:ext cx="1645964"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1B1F2A"/>
                </a:solidFill>
                <a:latin typeface="Manrope"/>
                <a:ea typeface="Manrope"/>
                <a:cs typeface="Manrope"/>
                <a:sym typeface="Manrope"/>
              </a:rPr>
              <a:t>SQLite-vss, LanceDB</a:t>
            </a:r>
            <a:endParaRPr sz="1100"/>
          </a:p>
        </p:txBody>
      </p:sp>
      <p:sp>
        <p:nvSpPr>
          <p:cNvPr id="2391" name="Google Shape;2391;p115"/>
          <p:cNvSpPr txBox="1"/>
          <p:nvPr/>
        </p:nvSpPr>
        <p:spPr>
          <a:xfrm>
            <a:off x="7132510" y="2640330"/>
            <a:ext cx="1645964" cy="12001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a:solidFill>
                  <a:srgbClr val="8B95A6"/>
                </a:solidFill>
                <a:latin typeface="Manrope"/>
                <a:ea typeface="Manrope"/>
                <a:cs typeface="Manrope"/>
                <a:sym typeface="Manrope"/>
              </a:rPr>
              <a:t>Vectors inside the application binary. Right for small corpora, edge devices, and single-tenant developer tools.</a:t>
            </a:r>
            <a:endParaRPr sz="1100"/>
          </a:p>
        </p:txBody>
      </p:sp>
      <p:sp>
        <p:nvSpPr>
          <p:cNvPr id="2392" name="Google Shape;2392;p115"/>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6" name="Shape 2396"/>
        <p:cNvGrpSpPr/>
        <p:nvPr/>
      </p:nvGrpSpPr>
      <p:grpSpPr>
        <a:xfrm>
          <a:off x="0" y="0"/>
          <a:ext cx="0" cy="0"/>
          <a:chOff x="0" y="0"/>
          <a:chExt cx="0" cy="0"/>
        </a:xfrm>
      </p:grpSpPr>
      <p:sp>
        <p:nvSpPr>
          <p:cNvPr id="2397" name="Google Shape;2397;p116"/>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2398" name="Google Shape;2398;p116"/>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2399" name="Google Shape;2399;p116"/>
          <p:cNvSpPr txBox="1"/>
          <p:nvPr/>
        </p:nvSpPr>
        <p:spPr>
          <a:xfrm>
            <a:off x="822982" y="946404"/>
            <a:ext cx="7406837"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a:solidFill>
                  <a:srgbClr val="1B1F2A"/>
                </a:solidFill>
                <a:latin typeface="Manrope"/>
                <a:ea typeface="Manrope"/>
                <a:cs typeface="Manrope"/>
                <a:sym typeface="Manrope"/>
              </a:rPr>
              <a:t>Fine-tuning or RAG — which one?</a:t>
            </a:r>
            <a:endParaRPr sz="1100"/>
          </a:p>
        </p:txBody>
      </p:sp>
      <p:sp>
        <p:nvSpPr>
          <p:cNvPr id="2400" name="Google Shape;2400;p116"/>
          <p:cNvSpPr/>
          <p:nvPr/>
        </p:nvSpPr>
        <p:spPr>
          <a:xfrm>
            <a:off x="822982" y="1474470"/>
            <a:ext cx="3497673" cy="30861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401" name="Google Shape;2401;p116"/>
          <p:cNvSpPr/>
          <p:nvPr/>
        </p:nvSpPr>
        <p:spPr>
          <a:xfrm>
            <a:off x="4800728" y="1474470"/>
            <a:ext cx="3497673" cy="3086100"/>
          </a:xfrm>
          <a:prstGeom prst="rect">
            <a:avLst/>
          </a:prstGeom>
          <a:solidFill>
            <a:srgbClr val="FFE3D2"/>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402" name="Google Shape;2402;p116"/>
          <p:cNvSpPr/>
          <p:nvPr/>
        </p:nvSpPr>
        <p:spPr>
          <a:xfrm>
            <a:off x="822982" y="1474470"/>
            <a:ext cx="3497673" cy="329184"/>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403" name="Google Shape;2403;p116"/>
          <p:cNvSpPr txBox="1"/>
          <p:nvPr/>
        </p:nvSpPr>
        <p:spPr>
          <a:xfrm>
            <a:off x="960146" y="1501902"/>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300">
                <a:solidFill>
                  <a:srgbClr val="FFFFFF"/>
                </a:solidFill>
                <a:latin typeface="Manrope"/>
                <a:ea typeface="Manrope"/>
                <a:cs typeface="Manrope"/>
                <a:sym typeface="Manrope"/>
              </a:rPr>
              <a:t>Fine-Tuning — Teach New Behaviour</a:t>
            </a:r>
            <a:endParaRPr sz="1100"/>
          </a:p>
        </p:txBody>
      </p:sp>
      <p:sp>
        <p:nvSpPr>
          <p:cNvPr id="2404" name="Google Shape;2404;p116"/>
          <p:cNvSpPr/>
          <p:nvPr/>
        </p:nvSpPr>
        <p:spPr>
          <a:xfrm>
            <a:off x="4800728" y="1474470"/>
            <a:ext cx="3497673" cy="329184"/>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405" name="Google Shape;2405;p116"/>
          <p:cNvSpPr txBox="1"/>
          <p:nvPr/>
        </p:nvSpPr>
        <p:spPr>
          <a:xfrm>
            <a:off x="4937892" y="1501902"/>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300">
                <a:solidFill>
                  <a:srgbClr val="FFFFFF"/>
                </a:solidFill>
                <a:latin typeface="Manrope"/>
                <a:ea typeface="Manrope"/>
                <a:cs typeface="Manrope"/>
                <a:sym typeface="Manrope"/>
              </a:rPr>
              <a:t>RAG — Hand It the Right Facts</a:t>
            </a:r>
            <a:endParaRPr sz="1100"/>
          </a:p>
        </p:txBody>
      </p:sp>
      <p:sp>
        <p:nvSpPr>
          <p:cNvPr id="2406" name="Google Shape;2406;p116"/>
          <p:cNvSpPr txBox="1"/>
          <p:nvPr/>
        </p:nvSpPr>
        <p:spPr>
          <a:xfrm>
            <a:off x="925855" y="19339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Use when you need a specific style, tone, or skill the base model lacks</a:t>
            </a:r>
            <a:endParaRPr sz="1100"/>
          </a:p>
        </p:txBody>
      </p:sp>
      <p:sp>
        <p:nvSpPr>
          <p:cNvPr id="2407" name="Google Shape;2407;p116"/>
          <p:cNvSpPr txBox="1"/>
          <p:nvPr/>
        </p:nvSpPr>
        <p:spPr>
          <a:xfrm>
            <a:off x="925855" y="22768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Costs are upfront and recur when the base model is updated</a:t>
            </a:r>
            <a:endParaRPr sz="1100"/>
          </a:p>
        </p:txBody>
      </p:sp>
      <p:sp>
        <p:nvSpPr>
          <p:cNvPr id="2408" name="Google Shape;2408;p116"/>
          <p:cNvSpPr txBox="1"/>
          <p:nvPr/>
        </p:nvSpPr>
        <p:spPr>
          <a:xfrm>
            <a:off x="925855" y="26197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Hard to keep current — every data change is a new training run</a:t>
            </a:r>
            <a:endParaRPr sz="1100"/>
          </a:p>
        </p:txBody>
      </p:sp>
      <p:sp>
        <p:nvSpPr>
          <p:cNvPr id="2409" name="Google Shape;2409;p116"/>
          <p:cNvSpPr txBox="1"/>
          <p:nvPr/>
        </p:nvSpPr>
        <p:spPr>
          <a:xfrm>
            <a:off x="925855" y="29626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Right for narrow classification, brand voice, structured output formats</a:t>
            </a:r>
            <a:endParaRPr sz="1100"/>
          </a:p>
        </p:txBody>
      </p:sp>
      <p:sp>
        <p:nvSpPr>
          <p:cNvPr id="2410" name="Google Shape;2410;p116"/>
          <p:cNvSpPr txBox="1"/>
          <p:nvPr/>
        </p:nvSpPr>
        <p:spPr>
          <a:xfrm>
            <a:off x="925855" y="33055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Difficult to audit — behaviour change lives in weights, not in data</a:t>
            </a:r>
            <a:endParaRPr sz="1100"/>
          </a:p>
        </p:txBody>
      </p:sp>
      <p:sp>
        <p:nvSpPr>
          <p:cNvPr id="2411" name="Google Shape;2411;p116"/>
          <p:cNvSpPr txBox="1"/>
          <p:nvPr/>
        </p:nvSpPr>
        <p:spPr>
          <a:xfrm>
            <a:off x="4903601" y="19339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Use when the model needs your data, but already knows how to write</a:t>
            </a:r>
            <a:endParaRPr sz="1100"/>
          </a:p>
        </p:txBody>
      </p:sp>
      <p:sp>
        <p:nvSpPr>
          <p:cNvPr id="2412" name="Google Shape;2412;p116"/>
          <p:cNvSpPr txBox="1"/>
          <p:nvPr/>
        </p:nvSpPr>
        <p:spPr>
          <a:xfrm>
            <a:off x="4903601" y="22768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Cost is per-query inference; updating 'knowledge' means re-indexing</a:t>
            </a:r>
            <a:endParaRPr sz="1100"/>
          </a:p>
        </p:txBody>
      </p:sp>
      <p:sp>
        <p:nvSpPr>
          <p:cNvPr id="2413" name="Google Shape;2413;p116"/>
          <p:cNvSpPr txBox="1"/>
          <p:nvPr/>
        </p:nvSpPr>
        <p:spPr>
          <a:xfrm>
            <a:off x="4903601" y="26197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Easily debuggable — inspect exactly which chunks informed the answer</a:t>
            </a:r>
            <a:endParaRPr sz="1100"/>
          </a:p>
        </p:txBody>
      </p:sp>
      <p:sp>
        <p:nvSpPr>
          <p:cNvPr id="2414" name="Google Shape;2414;p116"/>
          <p:cNvSpPr txBox="1"/>
          <p:nvPr/>
        </p:nvSpPr>
        <p:spPr>
          <a:xfrm>
            <a:off x="4903601" y="29626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Right for the overwhelming majority of enterprise knowledge use cases</a:t>
            </a:r>
            <a:endParaRPr sz="1100"/>
          </a:p>
        </p:txBody>
      </p:sp>
      <p:sp>
        <p:nvSpPr>
          <p:cNvPr id="2415" name="Google Shape;2415;p116"/>
          <p:cNvSpPr txBox="1"/>
          <p:nvPr/>
        </p:nvSpPr>
        <p:spPr>
          <a:xfrm>
            <a:off x="4903601" y="33055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Updatable in near-real-time as your corpus evolves</a:t>
            </a:r>
            <a:endParaRPr sz="1100"/>
          </a:p>
        </p:txBody>
      </p:sp>
      <p:sp>
        <p:nvSpPr>
          <p:cNvPr id="2416" name="Google Shape;2416;p116"/>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0" name="Shape 2420"/>
        <p:cNvGrpSpPr/>
        <p:nvPr/>
      </p:nvGrpSpPr>
      <p:grpSpPr>
        <a:xfrm>
          <a:off x="0" y="0"/>
          <a:ext cx="0" cy="0"/>
          <a:chOff x="0" y="0"/>
          <a:chExt cx="0" cy="0"/>
        </a:xfrm>
      </p:grpSpPr>
      <p:sp>
        <p:nvSpPr>
          <p:cNvPr id="2421" name="Google Shape;2421;p117"/>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2422" name="Google Shape;2422;p117"/>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2423" name="Google Shape;2423;p117"/>
          <p:cNvSpPr txBox="1"/>
          <p:nvPr/>
        </p:nvSpPr>
        <p:spPr>
          <a:xfrm>
            <a:off x="822982" y="946404"/>
            <a:ext cx="7406837" cy="41148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a:solidFill>
                  <a:srgbClr val="1B1F2A"/>
                </a:solidFill>
                <a:latin typeface="Manrope"/>
                <a:ea typeface="Manrope"/>
                <a:cs typeface="Manrope"/>
                <a:sym typeface="Manrope"/>
              </a:rPr>
              <a:t>Eight failure modes RAG introduces.</a:t>
            </a:r>
            <a:endParaRPr sz="1100"/>
          </a:p>
        </p:txBody>
      </p:sp>
      <p:sp>
        <p:nvSpPr>
          <p:cNvPr id="2424" name="Google Shape;2424;p117"/>
          <p:cNvSpPr txBox="1"/>
          <p:nvPr/>
        </p:nvSpPr>
        <p:spPr>
          <a:xfrm>
            <a:off x="822982" y="1440180"/>
            <a:ext cx="7406837" cy="22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Most 'the AI hallucinated' bugs are one of these in disguise.</a:t>
            </a:r>
            <a:endParaRPr sz="1100"/>
          </a:p>
        </p:txBody>
      </p:sp>
      <p:sp>
        <p:nvSpPr>
          <p:cNvPr id="2425" name="Google Shape;2425;p117"/>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
        <p:nvSpPr>
          <p:cNvPr id="2426" name="Google Shape;2426;p117"/>
          <p:cNvSpPr/>
          <p:nvPr/>
        </p:nvSpPr>
        <p:spPr>
          <a:xfrm>
            <a:off x="711650" y="1883100"/>
            <a:ext cx="7792500" cy="2620200"/>
          </a:xfrm>
          <a:prstGeom prst="rect">
            <a:avLst/>
          </a:prstGeom>
          <a:solidFill>
            <a:srgbClr val="C9CFD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427" name="Google Shape;2427;p117"/>
          <p:cNvSpPr txBox="1"/>
          <p:nvPr/>
        </p:nvSpPr>
        <p:spPr>
          <a:xfrm>
            <a:off x="812034" y="1942014"/>
            <a:ext cx="36348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01  </a:t>
            </a:r>
            <a:r>
              <a:rPr b="1" lang="en-GB" sz="1200">
                <a:solidFill>
                  <a:srgbClr val="1B1F2A"/>
                </a:solidFill>
                <a:latin typeface="Manrope"/>
                <a:ea typeface="Manrope"/>
                <a:cs typeface="Manrope"/>
                <a:sym typeface="Manrope"/>
              </a:rPr>
              <a:t>Bad chunking — splits cut sentences</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Retrieval finds fragments; answers stay shallow and miss context.</a:t>
            </a:r>
            <a:endParaRPr sz="1100"/>
          </a:p>
        </p:txBody>
      </p:sp>
      <p:sp>
        <p:nvSpPr>
          <p:cNvPr id="2428" name="Google Shape;2428;p117"/>
          <p:cNvSpPr txBox="1"/>
          <p:nvPr/>
        </p:nvSpPr>
        <p:spPr>
          <a:xfrm>
            <a:off x="822982" y="2495821"/>
            <a:ext cx="36348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02  </a:t>
            </a:r>
            <a:r>
              <a:rPr b="1" lang="en-GB" sz="1200">
                <a:solidFill>
                  <a:srgbClr val="1B1F2A"/>
                </a:solidFill>
                <a:latin typeface="Manrope"/>
                <a:ea typeface="Manrope"/>
                <a:cs typeface="Manrope"/>
                <a:sym typeface="Manrope"/>
              </a:rPr>
              <a:t>Wrong embedding model</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Domain mismatch between the model used to embed the corpus and the query.</a:t>
            </a:r>
            <a:endParaRPr sz="1100"/>
          </a:p>
        </p:txBody>
      </p:sp>
      <p:sp>
        <p:nvSpPr>
          <p:cNvPr id="2429" name="Google Shape;2429;p117"/>
          <p:cNvSpPr txBox="1"/>
          <p:nvPr/>
        </p:nvSpPr>
        <p:spPr>
          <a:xfrm>
            <a:off x="822982" y="3235749"/>
            <a:ext cx="36348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03  </a:t>
            </a:r>
            <a:r>
              <a:rPr b="1" lang="en-GB" sz="1200">
                <a:solidFill>
                  <a:srgbClr val="1B1F2A"/>
                </a:solidFill>
                <a:latin typeface="Manrope"/>
                <a:ea typeface="Manrope"/>
                <a:cs typeface="Manrope"/>
                <a:sym typeface="Manrope"/>
              </a:rPr>
              <a:t>Top-K blindness</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The right answer was at rank 7. Always test with adversarial queries.</a:t>
            </a:r>
            <a:endParaRPr sz="1100"/>
          </a:p>
        </p:txBody>
      </p:sp>
      <p:sp>
        <p:nvSpPr>
          <p:cNvPr id="2430" name="Google Shape;2430;p117"/>
          <p:cNvSpPr txBox="1"/>
          <p:nvPr/>
        </p:nvSpPr>
        <p:spPr>
          <a:xfrm>
            <a:off x="822982" y="3941411"/>
            <a:ext cx="36348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04  </a:t>
            </a:r>
            <a:r>
              <a:rPr b="1" lang="en-GB" sz="1200">
                <a:solidFill>
                  <a:srgbClr val="1B1F2A"/>
                </a:solidFill>
                <a:latin typeface="Manrope"/>
                <a:ea typeface="Manrope"/>
                <a:cs typeface="Manrope"/>
                <a:sym typeface="Manrope"/>
              </a:rPr>
              <a:t>Stale index</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Documents updated; the index wasn't. The model cites yesterday's policy with confidence.</a:t>
            </a:r>
            <a:endParaRPr sz="1100"/>
          </a:p>
        </p:txBody>
      </p:sp>
      <p:sp>
        <p:nvSpPr>
          <p:cNvPr id="2431" name="Google Shape;2431;p117"/>
          <p:cNvSpPr txBox="1"/>
          <p:nvPr/>
        </p:nvSpPr>
        <p:spPr>
          <a:xfrm>
            <a:off x="4869310" y="1909169"/>
            <a:ext cx="36348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05  </a:t>
            </a:r>
            <a:r>
              <a:rPr b="1" lang="en-GB" sz="1200">
                <a:solidFill>
                  <a:srgbClr val="1B1F2A"/>
                </a:solidFill>
                <a:latin typeface="Manrope"/>
                <a:ea typeface="Manrope"/>
                <a:cs typeface="Manrope"/>
                <a:sym typeface="Manrope"/>
              </a:rPr>
              <a:t>Permission leakage</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The retriever returns a chunk the user shouldn't see. Filter by ACL before the model sees it.</a:t>
            </a:r>
            <a:endParaRPr sz="1100"/>
          </a:p>
        </p:txBody>
      </p:sp>
      <p:sp>
        <p:nvSpPr>
          <p:cNvPr id="2432" name="Google Shape;2432;p117"/>
          <p:cNvSpPr txBox="1"/>
          <p:nvPr/>
        </p:nvSpPr>
        <p:spPr>
          <a:xfrm>
            <a:off x="4869310" y="2497267"/>
            <a:ext cx="36348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06  </a:t>
            </a:r>
            <a:r>
              <a:rPr b="1" lang="en-GB" sz="1200">
                <a:solidFill>
                  <a:srgbClr val="1B1F2A"/>
                </a:solidFill>
                <a:latin typeface="Manrope"/>
                <a:ea typeface="Manrope"/>
                <a:cs typeface="Manrope"/>
                <a:sym typeface="Manrope"/>
              </a:rPr>
              <a:t>Conflicting sources</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Two chunks contradict. Surface the conflict — don't let the model silently pick one.</a:t>
            </a:r>
            <a:endParaRPr sz="1100"/>
          </a:p>
        </p:txBody>
      </p:sp>
      <p:sp>
        <p:nvSpPr>
          <p:cNvPr id="2433" name="Google Shape;2433;p117"/>
          <p:cNvSpPr txBox="1"/>
          <p:nvPr/>
        </p:nvSpPr>
        <p:spPr>
          <a:xfrm>
            <a:off x="4869310" y="3205795"/>
            <a:ext cx="36348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07  </a:t>
            </a:r>
            <a:r>
              <a:rPr b="1" lang="en-GB" sz="1200">
                <a:solidFill>
                  <a:srgbClr val="1B1F2A"/>
                </a:solidFill>
                <a:latin typeface="Manrope"/>
                <a:ea typeface="Manrope"/>
                <a:cs typeface="Manrope"/>
                <a:sym typeface="Manrope"/>
              </a:rPr>
              <a:t>Vector-only retrieval</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Hybrid search (keyword + vector) almost always beats vectors alone. Don't skip BM25.</a:t>
            </a:r>
            <a:endParaRPr sz="1100"/>
          </a:p>
        </p:txBody>
      </p:sp>
      <p:sp>
        <p:nvSpPr>
          <p:cNvPr id="2434" name="Google Shape;2434;p117"/>
          <p:cNvSpPr txBox="1"/>
          <p:nvPr/>
        </p:nvSpPr>
        <p:spPr>
          <a:xfrm>
            <a:off x="4869310" y="3870541"/>
            <a:ext cx="3634800" cy="561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100">
                <a:solidFill>
                  <a:srgbClr val="FF671F"/>
                </a:solidFill>
                <a:latin typeface="Courier New"/>
                <a:ea typeface="Courier New"/>
                <a:cs typeface="Courier New"/>
                <a:sym typeface="Courier New"/>
              </a:rPr>
              <a:t>08  </a:t>
            </a:r>
            <a:r>
              <a:rPr b="1" lang="en-GB" sz="1200">
                <a:solidFill>
                  <a:srgbClr val="1B1F2A"/>
                </a:solidFill>
                <a:latin typeface="Manrope"/>
                <a:ea typeface="Manrope"/>
                <a:cs typeface="Manrope"/>
                <a:sym typeface="Manrope"/>
              </a:rPr>
              <a:t>No refusal path</a:t>
            </a:r>
            <a:endParaRPr sz="1100"/>
          </a:p>
          <a:p>
            <a:pPr indent="0" lvl="0" marL="0" marR="0" rtl="0" algn="l">
              <a:spcBef>
                <a:spcPts val="0"/>
              </a:spcBef>
              <a:spcAft>
                <a:spcPts val="0"/>
              </a:spcAft>
              <a:buNone/>
            </a:pPr>
            <a:r>
              <a:rPr lang="en-GB" sz="1000">
                <a:solidFill>
                  <a:srgbClr val="8B95A6"/>
                </a:solidFill>
                <a:latin typeface="Manrope"/>
                <a:ea typeface="Manrope"/>
                <a:cs typeface="Manrope"/>
                <a:sym typeface="Manrope"/>
              </a:rPr>
              <a:t>      Without explicit permission to say 'the sources don't say,' the model invents.</a:t>
            </a:r>
            <a:endParaRPr sz="1100"/>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8" name="Shape 2438"/>
        <p:cNvGrpSpPr/>
        <p:nvPr/>
      </p:nvGrpSpPr>
      <p:grpSpPr>
        <a:xfrm>
          <a:off x="0" y="0"/>
          <a:ext cx="0" cy="0"/>
          <a:chOff x="0" y="0"/>
          <a:chExt cx="0" cy="0"/>
        </a:xfrm>
      </p:grpSpPr>
      <p:sp>
        <p:nvSpPr>
          <p:cNvPr id="2439" name="Google Shape;2439;p118"/>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2440" name="Google Shape;2440;p118"/>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2441" name="Google Shape;2441;p118"/>
          <p:cNvSpPr txBox="1"/>
          <p:nvPr/>
        </p:nvSpPr>
        <p:spPr>
          <a:xfrm>
            <a:off x="822982" y="946404"/>
            <a:ext cx="7406837"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a:solidFill>
                  <a:srgbClr val="1B1F2A"/>
                </a:solidFill>
                <a:latin typeface="Manrope"/>
                <a:ea typeface="Manrope"/>
                <a:cs typeface="Manrope"/>
                <a:sym typeface="Manrope"/>
              </a:rPr>
              <a:t>Hybrid retrieval: why BM25 + vectors beats either alone.</a:t>
            </a:r>
            <a:endParaRPr sz="1100"/>
          </a:p>
        </p:txBody>
      </p:sp>
      <p:sp>
        <p:nvSpPr>
          <p:cNvPr id="2442" name="Google Shape;2442;p118"/>
          <p:cNvSpPr/>
          <p:nvPr/>
        </p:nvSpPr>
        <p:spPr>
          <a:xfrm>
            <a:off x="822982" y="1495044"/>
            <a:ext cx="3429091"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443" name="Google Shape;2443;p118"/>
          <p:cNvSpPr/>
          <p:nvPr/>
        </p:nvSpPr>
        <p:spPr>
          <a:xfrm>
            <a:off x="4869310" y="1495044"/>
            <a:ext cx="3429091"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444" name="Google Shape;2444;p118"/>
          <p:cNvSpPr txBox="1"/>
          <p:nvPr/>
        </p:nvSpPr>
        <p:spPr>
          <a:xfrm>
            <a:off x="822982" y="1577340"/>
            <a:ext cx="3429091"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800">
                <a:solidFill>
                  <a:srgbClr val="1B1F2A"/>
                </a:solidFill>
                <a:latin typeface="Manrope"/>
                <a:ea typeface="Manrope"/>
                <a:cs typeface="Manrope"/>
                <a:sym typeface="Manrope"/>
              </a:rPr>
              <a:t>What Each Brings</a:t>
            </a:r>
            <a:endParaRPr sz="1100"/>
          </a:p>
        </p:txBody>
      </p:sp>
      <p:sp>
        <p:nvSpPr>
          <p:cNvPr id="2445" name="Google Shape;2445;p118"/>
          <p:cNvSpPr txBox="1"/>
          <p:nvPr/>
        </p:nvSpPr>
        <p:spPr>
          <a:xfrm>
            <a:off x="822982" y="1933956"/>
            <a:ext cx="3429091" cy="2400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200">
                <a:solidFill>
                  <a:srgbClr val="8B95A6"/>
                </a:solidFill>
                <a:latin typeface="Manrope"/>
                <a:ea typeface="Manrope"/>
                <a:cs typeface="Manrope"/>
                <a:sym typeface="Manrope"/>
              </a:rPr>
              <a:t>BM25 (keyword search) is exact and efficient — when a user types a specific product code, a regulatory section number, or a technical acronym, it finds it reliably. Vector search is semantic — it finds conceptually similar passages even when the exact words differ. Neither alone covers the full range of real user queries. Hybrid retrieval runs both, then fuses the rankings.</a:t>
            </a:r>
            <a:endParaRPr sz="1100"/>
          </a:p>
        </p:txBody>
      </p:sp>
      <p:sp>
        <p:nvSpPr>
          <p:cNvPr id="2446" name="Google Shape;2446;p118"/>
          <p:cNvSpPr txBox="1"/>
          <p:nvPr/>
        </p:nvSpPr>
        <p:spPr>
          <a:xfrm>
            <a:off x="4869310" y="1577340"/>
            <a:ext cx="3429091"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800">
                <a:solidFill>
                  <a:srgbClr val="1B1F2A"/>
                </a:solidFill>
                <a:latin typeface="Manrope"/>
                <a:ea typeface="Manrope"/>
                <a:cs typeface="Manrope"/>
                <a:sym typeface="Manrope"/>
              </a:rPr>
              <a:t>How to Implement</a:t>
            </a:r>
            <a:endParaRPr sz="1100"/>
          </a:p>
        </p:txBody>
      </p:sp>
      <p:sp>
        <p:nvSpPr>
          <p:cNvPr id="2447" name="Google Shape;2447;p118"/>
          <p:cNvSpPr txBox="1"/>
          <p:nvPr/>
        </p:nvSpPr>
        <p:spPr>
          <a:xfrm>
            <a:off x="4869310" y="1933956"/>
            <a:ext cx="3429091" cy="2400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200">
                <a:solidFill>
                  <a:srgbClr val="8B95A6"/>
                </a:solidFill>
                <a:latin typeface="Manrope"/>
                <a:ea typeface="Manrope"/>
                <a:cs typeface="Manrope"/>
                <a:sym typeface="Manrope"/>
              </a:rPr>
              <a:t>Run BM25 and vector retrieval in parallel. Apply Reciprocal Rank Fusion (RRF) or a learned re-ranker to merge the two ranked lists. Most modern vector stores support this natively. Reranking with a cross-encoder model (Cohere Rerank, BGE Reranker) adds another quality layer for production use cases where precision is critical. The operational cost is modest; the quality gain is consistent.</a:t>
            </a:r>
            <a:endParaRPr sz="1100"/>
          </a:p>
        </p:txBody>
      </p:sp>
      <p:sp>
        <p:nvSpPr>
          <p:cNvPr id="2448" name="Google Shape;2448;p118"/>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2" name="Shape 2452"/>
        <p:cNvGrpSpPr/>
        <p:nvPr/>
      </p:nvGrpSpPr>
      <p:grpSpPr>
        <a:xfrm>
          <a:off x="0" y="0"/>
          <a:ext cx="0" cy="0"/>
          <a:chOff x="0" y="0"/>
          <a:chExt cx="0" cy="0"/>
        </a:xfrm>
      </p:grpSpPr>
      <p:sp>
        <p:nvSpPr>
          <p:cNvPr id="2453" name="Google Shape;2453;p119"/>
          <p:cNvSpPr/>
          <p:nvPr/>
        </p:nvSpPr>
        <p:spPr>
          <a:xfrm>
            <a:off x="0" y="0"/>
            <a:ext cx="9144015" cy="5143500"/>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454" name="Google Shape;2454;p119"/>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FFFFFF"/>
                </a:solidFill>
                <a:latin typeface="Manrope"/>
                <a:ea typeface="Manrope"/>
                <a:cs typeface="Manrope"/>
                <a:sym typeface="Manrope"/>
              </a:rPr>
              <a:t>GlobalLogic</a:t>
            </a:r>
            <a:endParaRPr sz="1100"/>
          </a:p>
        </p:txBody>
      </p:sp>
      <p:sp>
        <p:nvSpPr>
          <p:cNvPr id="2455" name="Google Shape;2455;p119"/>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C9CFD8"/>
                </a:solidFill>
                <a:latin typeface="Manrope"/>
                <a:ea typeface="Manrope"/>
                <a:cs typeface="Manrope"/>
                <a:sym typeface="Manrope"/>
              </a:rPr>
              <a:t>A Hitachi Group Company</a:t>
            </a:r>
            <a:endParaRPr sz="1100"/>
          </a:p>
        </p:txBody>
      </p:sp>
      <p:sp>
        <p:nvSpPr>
          <p:cNvPr id="2456" name="Google Shape;2456;p119"/>
          <p:cNvSpPr txBox="1"/>
          <p:nvPr/>
        </p:nvSpPr>
        <p:spPr>
          <a:xfrm>
            <a:off x="822982" y="1714500"/>
            <a:ext cx="6515274" cy="15087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4700" u="none" cap="none" strike="noStrike">
                <a:solidFill>
                  <a:srgbClr val="FFFFFF"/>
                </a:solidFill>
                <a:latin typeface="Manrope"/>
                <a:ea typeface="Manrope"/>
                <a:cs typeface="Manrope"/>
                <a:sym typeface="Manrope"/>
              </a:rPr>
              <a:t>AI Ethics &amp;</a:t>
            </a:r>
            <a:br>
              <a:rPr b="1" i="0" lang="en-GB" sz="4700" u="none" cap="none" strike="noStrike">
                <a:solidFill>
                  <a:srgbClr val="FFFFFF"/>
                </a:solidFill>
                <a:latin typeface="Manrope"/>
                <a:ea typeface="Manrope"/>
                <a:cs typeface="Manrope"/>
                <a:sym typeface="Manrope"/>
              </a:rPr>
            </a:br>
            <a:r>
              <a:rPr b="1" i="0" lang="en-GB" sz="4700" u="none" cap="none" strike="noStrike">
                <a:solidFill>
                  <a:srgbClr val="FFFFFF"/>
                </a:solidFill>
                <a:latin typeface="Manrope"/>
                <a:ea typeface="Manrope"/>
                <a:cs typeface="Manrope"/>
                <a:sym typeface="Manrope"/>
              </a:rPr>
              <a:t>Governance.</a:t>
            </a:r>
            <a:endParaRPr sz="1100"/>
          </a:p>
        </p:txBody>
      </p:sp>
      <p:sp>
        <p:nvSpPr>
          <p:cNvPr id="2457" name="Google Shape;2457;p119"/>
          <p:cNvSpPr txBox="1"/>
          <p:nvPr/>
        </p:nvSpPr>
        <p:spPr>
          <a:xfrm>
            <a:off x="822982" y="3497580"/>
            <a:ext cx="6515274" cy="8229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500" u="none" cap="none" strike="noStrike">
                <a:solidFill>
                  <a:srgbClr val="C9CFD8"/>
                </a:solidFill>
                <a:latin typeface="Manrope"/>
                <a:ea typeface="Manrope"/>
                <a:cs typeface="Manrope"/>
                <a:sym typeface="Manrope"/>
              </a:rPr>
              <a:t>Building AI systems developers can be proud of — and that organisations can defend. Accountability, transparency, and the guardrails that make AI trustworthy at scale.</a:t>
            </a:r>
            <a:endParaRPr sz="1100"/>
          </a:p>
        </p:txBody>
      </p:sp>
      <p:sp>
        <p:nvSpPr>
          <p:cNvPr id="2458" name="Google Shape;2458;p119"/>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FFFFFF"/>
                </a:solidFill>
                <a:latin typeface="Courier New"/>
                <a:ea typeface="Courier New"/>
                <a:cs typeface="Courier New"/>
                <a:sym typeface="Courier New"/>
              </a:rPr>
              <a:t>globallogic.com</a:t>
            </a:r>
            <a:endParaRPr sz="1100"/>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2" name="Shape 2462"/>
        <p:cNvGrpSpPr/>
        <p:nvPr/>
      </p:nvGrpSpPr>
      <p:grpSpPr>
        <a:xfrm>
          <a:off x="0" y="0"/>
          <a:ext cx="0" cy="0"/>
          <a:chOff x="0" y="0"/>
          <a:chExt cx="0" cy="0"/>
        </a:xfrm>
      </p:grpSpPr>
      <p:sp>
        <p:nvSpPr>
          <p:cNvPr id="2463" name="Google Shape;2463;p120"/>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2464" name="Google Shape;2464;p120"/>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2465" name="Google Shape;2465;p120"/>
          <p:cNvSpPr txBox="1"/>
          <p:nvPr/>
        </p:nvSpPr>
        <p:spPr>
          <a:xfrm>
            <a:off x="822982" y="720090"/>
            <a:ext cx="685818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GOVERNANCE WORKFLOW · HUMAN ACCOUNTABILITY</a:t>
            </a:r>
            <a:endParaRPr sz="1100"/>
          </a:p>
        </p:txBody>
      </p:sp>
      <p:sp>
        <p:nvSpPr>
          <p:cNvPr id="2466" name="Google Shape;2466;p120"/>
          <p:cNvSpPr/>
          <p:nvPr/>
        </p:nvSpPr>
        <p:spPr>
          <a:xfrm>
            <a:off x="0" y="0"/>
            <a:ext cx="9144015" cy="51435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467" name="Google Shape;2467;p120"/>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2468" name="Google Shape;2468;p120"/>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2469" name="Google Shape;2469;p120"/>
          <p:cNvSpPr txBox="1"/>
          <p:nvPr/>
        </p:nvSpPr>
        <p:spPr>
          <a:xfrm>
            <a:off x="822982" y="720090"/>
            <a:ext cx="685818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GOVERNANCE WORKFLOW  ·  THE CORE PRINCIPLE</a:t>
            </a:r>
            <a:endParaRPr sz="1100"/>
          </a:p>
        </p:txBody>
      </p:sp>
      <p:sp>
        <p:nvSpPr>
          <p:cNvPr id="2470" name="Google Shape;2470;p120"/>
          <p:cNvSpPr txBox="1"/>
          <p:nvPr/>
        </p:nvSpPr>
        <p:spPr>
          <a:xfrm>
            <a:off x="822982" y="1131570"/>
            <a:ext cx="3840582" cy="96012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300" u="none" cap="none" strike="noStrike">
                <a:solidFill>
                  <a:srgbClr val="1B1F2A"/>
                </a:solidFill>
                <a:latin typeface="Manrope"/>
                <a:ea typeface="Manrope"/>
                <a:cs typeface="Manrope"/>
                <a:sym typeface="Manrope"/>
              </a:rPr>
              <a:t>Maintaining 100%</a:t>
            </a:r>
            <a:br>
              <a:rPr b="1" i="0" lang="en-GB" sz="2300" u="none" cap="none" strike="noStrike">
                <a:solidFill>
                  <a:srgbClr val="1B1F2A"/>
                </a:solidFill>
                <a:latin typeface="Manrope"/>
                <a:ea typeface="Manrope"/>
                <a:cs typeface="Manrope"/>
                <a:sym typeface="Manrope"/>
              </a:rPr>
            </a:br>
            <a:r>
              <a:rPr b="1" i="0" lang="en-GB" sz="2300" u="none" cap="none" strike="noStrike">
                <a:solidFill>
                  <a:srgbClr val="1B1F2A"/>
                </a:solidFill>
                <a:latin typeface="Manrope"/>
                <a:ea typeface="Manrope"/>
                <a:cs typeface="Manrope"/>
                <a:sym typeface="Manrope"/>
              </a:rPr>
              <a:t>human accountability.</a:t>
            </a:r>
            <a:endParaRPr sz="1100"/>
          </a:p>
        </p:txBody>
      </p:sp>
      <p:sp>
        <p:nvSpPr>
          <p:cNvPr id="2471" name="Google Shape;2471;p120"/>
          <p:cNvSpPr/>
          <p:nvPr/>
        </p:nvSpPr>
        <p:spPr>
          <a:xfrm>
            <a:off x="822982" y="2228850"/>
            <a:ext cx="822982"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472" name="Google Shape;2472;p120"/>
          <p:cNvSpPr/>
          <p:nvPr/>
        </p:nvSpPr>
        <p:spPr>
          <a:xfrm>
            <a:off x="4663564" y="891540"/>
            <a:ext cx="4252073" cy="2880360"/>
          </a:xfrm>
          <a:prstGeom prst="rect">
            <a:avLst/>
          </a:prstGeom>
          <a:solidFill>
            <a:srgbClr val="1B1F2A"/>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473" name="Google Shape;2473;p120"/>
          <p:cNvSpPr/>
          <p:nvPr/>
        </p:nvSpPr>
        <p:spPr>
          <a:xfrm>
            <a:off x="4663564" y="891540"/>
            <a:ext cx="4252073" cy="41148"/>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474" name="Google Shape;2474;p120"/>
          <p:cNvSpPr txBox="1"/>
          <p:nvPr/>
        </p:nvSpPr>
        <p:spPr>
          <a:xfrm>
            <a:off x="4869310" y="1028700"/>
            <a:ext cx="3840582"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671F"/>
                </a:solidFill>
                <a:latin typeface="Courier New"/>
                <a:ea typeface="Courier New"/>
                <a:cs typeface="Courier New"/>
                <a:sym typeface="Courier New"/>
              </a:rPr>
              <a:t>THE GOLDEN RULE</a:t>
            </a:r>
            <a:endParaRPr sz="1100"/>
          </a:p>
        </p:txBody>
      </p:sp>
      <p:sp>
        <p:nvSpPr>
          <p:cNvPr id="2475" name="Google Shape;2475;p120"/>
          <p:cNvSpPr txBox="1"/>
          <p:nvPr/>
        </p:nvSpPr>
        <p:spPr>
          <a:xfrm>
            <a:off x="4869310" y="1268730"/>
            <a:ext cx="3840582" cy="8915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700" u="none" cap="none" strike="noStrike">
                <a:solidFill>
                  <a:srgbClr val="FFFFFF"/>
                </a:solidFill>
                <a:latin typeface="Manrope"/>
                <a:ea typeface="Manrope"/>
                <a:cs typeface="Manrope"/>
                <a:sym typeface="Manrope"/>
              </a:rPr>
              <a:t>AI drafts.</a:t>
            </a:r>
            <a:br>
              <a:rPr b="1" i="0" lang="en-GB" sz="2700" u="none" cap="none" strike="noStrike">
                <a:solidFill>
                  <a:srgbClr val="FFFFFF"/>
                </a:solidFill>
                <a:latin typeface="Manrope"/>
                <a:ea typeface="Manrope"/>
                <a:cs typeface="Manrope"/>
                <a:sym typeface="Manrope"/>
              </a:rPr>
            </a:br>
            <a:r>
              <a:rPr b="1" i="0" lang="en-GB" sz="2700" u="none" cap="none" strike="noStrike">
                <a:solidFill>
                  <a:srgbClr val="FFFFFF"/>
                </a:solidFill>
                <a:latin typeface="Manrope"/>
                <a:ea typeface="Manrope"/>
                <a:cs typeface="Manrope"/>
                <a:sym typeface="Manrope"/>
              </a:rPr>
              <a:t>Humans approve.</a:t>
            </a:r>
            <a:endParaRPr sz="1100"/>
          </a:p>
        </p:txBody>
      </p:sp>
      <p:sp>
        <p:nvSpPr>
          <p:cNvPr id="2476" name="Google Shape;2476;p120"/>
          <p:cNvSpPr/>
          <p:nvPr/>
        </p:nvSpPr>
        <p:spPr>
          <a:xfrm>
            <a:off x="4869310" y="2276856"/>
            <a:ext cx="3840582" cy="27432"/>
          </a:xfrm>
          <a:prstGeom prst="rect">
            <a:avLst/>
          </a:prstGeom>
          <a:solidFill>
            <a:srgbClr val="8B95A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477" name="Google Shape;2477;p120"/>
          <p:cNvSpPr txBox="1"/>
          <p:nvPr/>
        </p:nvSpPr>
        <p:spPr>
          <a:xfrm>
            <a:off x="4869310" y="2359152"/>
            <a:ext cx="3772001" cy="4800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300" u="none" cap="none" strike="noStrike">
                <a:solidFill>
                  <a:srgbClr val="FFE3D2"/>
                </a:solidFill>
                <a:latin typeface="Manrope"/>
                <a:ea typeface="Manrope"/>
                <a:cs typeface="Manrope"/>
                <a:sym typeface="Manrope"/>
              </a:rPr>
              <a:t>Captures 80% of efficiency gains while maintaining 100% of accountability.</a:t>
            </a:r>
            <a:endParaRPr sz="1100"/>
          </a:p>
        </p:txBody>
      </p:sp>
      <p:sp>
        <p:nvSpPr>
          <p:cNvPr id="2478" name="Google Shape;2478;p120"/>
          <p:cNvSpPr txBox="1"/>
          <p:nvPr/>
        </p:nvSpPr>
        <p:spPr>
          <a:xfrm>
            <a:off x="4869310" y="2880360"/>
            <a:ext cx="3772001" cy="82296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Over-relying on AI responses without human review is the most common mistake. Every developer and ops professional must own the output they ship.</a:t>
            </a:r>
            <a:endParaRPr sz="1100"/>
          </a:p>
        </p:txBody>
      </p:sp>
      <p:sp>
        <p:nvSpPr>
          <p:cNvPr id="2479" name="Google Shape;2479;p120"/>
          <p:cNvSpPr txBox="1"/>
          <p:nvPr/>
        </p:nvSpPr>
        <p:spPr>
          <a:xfrm>
            <a:off x="822982" y="2345436"/>
            <a:ext cx="3634837" cy="22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1" lang="en-GB" sz="1100" u="none" cap="none" strike="noStrike">
                <a:solidFill>
                  <a:srgbClr val="FF671F"/>
                </a:solidFill>
                <a:latin typeface="Manrope"/>
                <a:ea typeface="Manrope"/>
                <a:cs typeface="Manrope"/>
                <a:sym typeface="Manrope"/>
              </a:rPr>
              <a:t>AI accelerates. Humans decide.</a:t>
            </a:r>
            <a:endParaRPr sz="1100"/>
          </a:p>
        </p:txBody>
      </p:sp>
      <p:sp>
        <p:nvSpPr>
          <p:cNvPr id="2480" name="Google Shape;2480;p120"/>
          <p:cNvSpPr txBox="1"/>
          <p:nvPr/>
        </p:nvSpPr>
        <p:spPr>
          <a:xfrm>
            <a:off x="822982" y="2743200"/>
            <a:ext cx="3634837" cy="12344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Removing human review doesn't just create risk — it transfers liability. The engineer who ships the output owns the output, whether AI wrote it or not.</a:t>
            </a:r>
            <a:endParaRPr sz="1100"/>
          </a:p>
        </p:txBody>
      </p:sp>
      <p:sp>
        <p:nvSpPr>
          <p:cNvPr id="2481" name="Google Shape;2481;p120"/>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5" name="Shape 2485"/>
        <p:cNvGrpSpPr/>
        <p:nvPr/>
      </p:nvGrpSpPr>
      <p:grpSpPr>
        <a:xfrm>
          <a:off x="0" y="0"/>
          <a:ext cx="0" cy="0"/>
          <a:chOff x="0" y="0"/>
          <a:chExt cx="0" cy="0"/>
        </a:xfrm>
      </p:grpSpPr>
      <p:sp>
        <p:nvSpPr>
          <p:cNvPr id="2486" name="Google Shape;2486;p121"/>
          <p:cNvSpPr txBox="1"/>
          <p:nvPr/>
        </p:nvSpPr>
        <p:spPr>
          <a:xfrm>
            <a:off x="724447" y="342900"/>
            <a:ext cx="2743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2487" name="Google Shape;2487;p121"/>
          <p:cNvSpPr txBox="1"/>
          <p:nvPr/>
        </p:nvSpPr>
        <p:spPr>
          <a:xfrm>
            <a:off x="724447" y="562356"/>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2488" name="Google Shape;2488;p121"/>
          <p:cNvSpPr txBox="1"/>
          <p:nvPr/>
        </p:nvSpPr>
        <p:spPr>
          <a:xfrm>
            <a:off x="724447" y="720090"/>
            <a:ext cx="68583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GOVERNANCE WORKFLOW  ·  ARCHITECTURE</a:t>
            </a:r>
            <a:endParaRPr sz="1100"/>
          </a:p>
        </p:txBody>
      </p:sp>
      <p:sp>
        <p:nvSpPr>
          <p:cNvPr id="2489" name="Google Shape;2489;p121"/>
          <p:cNvSpPr txBox="1"/>
          <p:nvPr/>
        </p:nvSpPr>
        <p:spPr>
          <a:xfrm>
            <a:off x="724447" y="946404"/>
            <a:ext cx="7406700" cy="3771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000" u="none" cap="none" strike="noStrike">
                <a:solidFill>
                  <a:srgbClr val="1B1F2A"/>
                </a:solidFill>
                <a:latin typeface="Manrope"/>
                <a:ea typeface="Manrope"/>
                <a:cs typeface="Manrope"/>
                <a:sym typeface="Manrope"/>
              </a:rPr>
              <a:t>Human-in-the-Loop: Five-Step Governance Pipeline.</a:t>
            </a:r>
            <a:endParaRPr sz="1100"/>
          </a:p>
        </p:txBody>
      </p:sp>
      <p:sp>
        <p:nvSpPr>
          <p:cNvPr id="2490" name="Google Shape;2490;p121"/>
          <p:cNvSpPr txBox="1"/>
          <p:nvPr/>
        </p:nvSpPr>
        <p:spPr>
          <a:xfrm>
            <a:off x="724447" y="1426464"/>
            <a:ext cx="51435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Every AI output goes through this pipeline before reaching the user or customer. The Human Review Gate is non-negotiable.</a:t>
            </a:r>
            <a:endParaRPr sz="1100"/>
          </a:p>
        </p:txBody>
      </p:sp>
      <p:sp>
        <p:nvSpPr>
          <p:cNvPr id="2491" name="Google Shape;2491;p121"/>
          <p:cNvSpPr/>
          <p:nvPr/>
        </p:nvSpPr>
        <p:spPr>
          <a:xfrm>
            <a:off x="331146" y="1937455"/>
            <a:ext cx="1412700" cy="24345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492" name="Google Shape;2492;p121"/>
          <p:cNvSpPr/>
          <p:nvPr/>
        </p:nvSpPr>
        <p:spPr>
          <a:xfrm>
            <a:off x="331146" y="1937455"/>
            <a:ext cx="1412700" cy="3156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493" name="Google Shape;2493;p121"/>
          <p:cNvSpPr txBox="1"/>
          <p:nvPr/>
        </p:nvSpPr>
        <p:spPr>
          <a:xfrm>
            <a:off x="413444" y="1978603"/>
            <a:ext cx="3429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FFFF"/>
                </a:solidFill>
                <a:latin typeface="Courier New"/>
                <a:ea typeface="Courier New"/>
                <a:cs typeface="Courier New"/>
                <a:sym typeface="Courier New"/>
              </a:rPr>
              <a:t>01</a:t>
            </a:r>
            <a:endParaRPr sz="1100"/>
          </a:p>
        </p:txBody>
      </p:sp>
      <p:sp>
        <p:nvSpPr>
          <p:cNvPr id="2494" name="Google Shape;2494;p121"/>
          <p:cNvSpPr txBox="1"/>
          <p:nvPr/>
        </p:nvSpPr>
        <p:spPr>
          <a:xfrm>
            <a:off x="413444" y="2314645"/>
            <a:ext cx="13032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FFFFFF"/>
                </a:solidFill>
                <a:latin typeface="Manrope"/>
                <a:ea typeface="Manrope"/>
                <a:cs typeface="Manrope"/>
                <a:sym typeface="Manrope"/>
              </a:rPr>
              <a:t>Data Input</a:t>
            </a:r>
            <a:endParaRPr sz="1100"/>
          </a:p>
        </p:txBody>
      </p:sp>
      <p:sp>
        <p:nvSpPr>
          <p:cNvPr id="2495" name="Google Shape;2495;p121"/>
          <p:cNvSpPr txBox="1"/>
          <p:nvPr/>
        </p:nvSpPr>
        <p:spPr>
          <a:xfrm>
            <a:off x="413444" y="2657545"/>
            <a:ext cx="1303200" cy="762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FFFFFF"/>
                </a:solidFill>
                <a:latin typeface="Manrope"/>
                <a:ea typeface="Manrope"/>
                <a:cs typeface="Manrope"/>
                <a:sym typeface="Manrope"/>
              </a:rPr>
              <a:t>Raw data and user query enter the system. No PII or credentials pass to public tools.</a:t>
            </a:r>
            <a:endParaRPr sz="1100"/>
          </a:p>
        </p:txBody>
      </p:sp>
      <p:sp>
        <p:nvSpPr>
          <p:cNvPr id="2496" name="Google Shape;2496;p121"/>
          <p:cNvSpPr/>
          <p:nvPr/>
        </p:nvSpPr>
        <p:spPr>
          <a:xfrm>
            <a:off x="1757648" y="2966155"/>
            <a:ext cx="68700" cy="549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497" name="Google Shape;2497;p121"/>
          <p:cNvSpPr/>
          <p:nvPr/>
        </p:nvSpPr>
        <p:spPr>
          <a:xfrm>
            <a:off x="1702782" y="2897575"/>
            <a:ext cx="96000" cy="178200"/>
          </a:xfrm>
          <a:prstGeom prst="roundRect">
            <a:avLst>
              <a:gd fmla="val 16667" name="adj"/>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498" name="Google Shape;2498;p121"/>
          <p:cNvSpPr/>
          <p:nvPr/>
        </p:nvSpPr>
        <p:spPr>
          <a:xfrm>
            <a:off x="1826229" y="1937455"/>
            <a:ext cx="1412700" cy="24345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499" name="Google Shape;2499;p121"/>
          <p:cNvSpPr/>
          <p:nvPr/>
        </p:nvSpPr>
        <p:spPr>
          <a:xfrm>
            <a:off x="1826229" y="1937455"/>
            <a:ext cx="1412700" cy="3156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00" name="Google Shape;2500;p121"/>
          <p:cNvSpPr txBox="1"/>
          <p:nvPr/>
        </p:nvSpPr>
        <p:spPr>
          <a:xfrm>
            <a:off x="1908528" y="1978603"/>
            <a:ext cx="3429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FFFF"/>
                </a:solidFill>
                <a:latin typeface="Courier New"/>
                <a:ea typeface="Courier New"/>
                <a:cs typeface="Courier New"/>
                <a:sym typeface="Courier New"/>
              </a:rPr>
              <a:t>02</a:t>
            </a:r>
            <a:endParaRPr sz="1100"/>
          </a:p>
        </p:txBody>
      </p:sp>
      <p:sp>
        <p:nvSpPr>
          <p:cNvPr id="2501" name="Google Shape;2501;p121"/>
          <p:cNvSpPr txBox="1"/>
          <p:nvPr/>
        </p:nvSpPr>
        <p:spPr>
          <a:xfrm>
            <a:off x="1908528" y="2314645"/>
            <a:ext cx="13032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AI Processing</a:t>
            </a:r>
            <a:endParaRPr sz="1100"/>
          </a:p>
        </p:txBody>
      </p:sp>
      <p:sp>
        <p:nvSpPr>
          <p:cNvPr id="2502" name="Google Shape;2502;p121"/>
          <p:cNvSpPr txBox="1"/>
          <p:nvPr/>
        </p:nvSpPr>
        <p:spPr>
          <a:xfrm>
            <a:off x="1908528" y="2657545"/>
            <a:ext cx="1303200" cy="623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8B95A6"/>
                </a:solidFill>
                <a:latin typeface="Manrope"/>
                <a:ea typeface="Manrope"/>
                <a:cs typeface="Manrope"/>
                <a:sym typeface="Manrope"/>
              </a:rPr>
              <a:t>Model generates a draft response. This is a starting point, not a final answer.</a:t>
            </a:r>
            <a:endParaRPr sz="1100"/>
          </a:p>
        </p:txBody>
      </p:sp>
      <p:sp>
        <p:nvSpPr>
          <p:cNvPr id="2503" name="Google Shape;2503;p121"/>
          <p:cNvSpPr/>
          <p:nvPr/>
        </p:nvSpPr>
        <p:spPr>
          <a:xfrm>
            <a:off x="3252731" y="2966155"/>
            <a:ext cx="68700" cy="549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04" name="Google Shape;2504;p121"/>
          <p:cNvSpPr/>
          <p:nvPr/>
        </p:nvSpPr>
        <p:spPr>
          <a:xfrm>
            <a:off x="3197866" y="2897575"/>
            <a:ext cx="96000" cy="178200"/>
          </a:xfrm>
          <a:prstGeom prst="roundRect">
            <a:avLst>
              <a:gd fmla="val 16667" name="adj"/>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05" name="Google Shape;2505;p121"/>
          <p:cNvSpPr/>
          <p:nvPr/>
        </p:nvSpPr>
        <p:spPr>
          <a:xfrm>
            <a:off x="3321313" y="1937455"/>
            <a:ext cx="1412700" cy="24345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06" name="Google Shape;2506;p121"/>
          <p:cNvSpPr/>
          <p:nvPr/>
        </p:nvSpPr>
        <p:spPr>
          <a:xfrm>
            <a:off x="3321313" y="1937455"/>
            <a:ext cx="1412700" cy="3156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07" name="Google Shape;2507;p121"/>
          <p:cNvSpPr txBox="1"/>
          <p:nvPr/>
        </p:nvSpPr>
        <p:spPr>
          <a:xfrm>
            <a:off x="3403611" y="1978603"/>
            <a:ext cx="3429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FFFF"/>
                </a:solidFill>
                <a:latin typeface="Courier New"/>
                <a:ea typeface="Courier New"/>
                <a:cs typeface="Courier New"/>
                <a:sym typeface="Courier New"/>
              </a:rPr>
              <a:t>03</a:t>
            </a:r>
            <a:endParaRPr sz="1100"/>
          </a:p>
        </p:txBody>
      </p:sp>
      <p:sp>
        <p:nvSpPr>
          <p:cNvPr id="2508" name="Google Shape;2508;p121"/>
          <p:cNvSpPr txBox="1"/>
          <p:nvPr/>
        </p:nvSpPr>
        <p:spPr>
          <a:xfrm>
            <a:off x="3403611" y="2314645"/>
            <a:ext cx="13032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Draft Output</a:t>
            </a:r>
            <a:endParaRPr sz="1100"/>
          </a:p>
        </p:txBody>
      </p:sp>
      <p:sp>
        <p:nvSpPr>
          <p:cNvPr id="2509" name="Google Shape;2509;p121"/>
          <p:cNvSpPr txBox="1"/>
          <p:nvPr/>
        </p:nvSpPr>
        <p:spPr>
          <a:xfrm>
            <a:off x="3403611" y="2657545"/>
            <a:ext cx="1303200" cy="623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8B95A6"/>
                </a:solidFill>
                <a:latin typeface="Manrope"/>
                <a:ea typeface="Manrope"/>
                <a:cs typeface="Manrope"/>
                <a:sym typeface="Manrope"/>
              </a:rPr>
              <a:t>AI output is staged — not sent. It is routed to the human review queue automatically.</a:t>
            </a:r>
            <a:endParaRPr sz="1100"/>
          </a:p>
        </p:txBody>
      </p:sp>
      <p:sp>
        <p:nvSpPr>
          <p:cNvPr id="2510" name="Google Shape;2510;p121"/>
          <p:cNvSpPr/>
          <p:nvPr/>
        </p:nvSpPr>
        <p:spPr>
          <a:xfrm>
            <a:off x="4747815" y="2966155"/>
            <a:ext cx="68700" cy="549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11" name="Google Shape;2511;p121"/>
          <p:cNvSpPr/>
          <p:nvPr/>
        </p:nvSpPr>
        <p:spPr>
          <a:xfrm>
            <a:off x="4692950" y="2897575"/>
            <a:ext cx="96000" cy="178200"/>
          </a:xfrm>
          <a:prstGeom prst="roundRect">
            <a:avLst>
              <a:gd fmla="val 16667" name="adj"/>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12" name="Google Shape;2512;p121"/>
          <p:cNvSpPr/>
          <p:nvPr/>
        </p:nvSpPr>
        <p:spPr>
          <a:xfrm>
            <a:off x="4816397" y="1937455"/>
            <a:ext cx="1412700" cy="2434500"/>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13" name="Google Shape;2513;p121"/>
          <p:cNvSpPr/>
          <p:nvPr/>
        </p:nvSpPr>
        <p:spPr>
          <a:xfrm>
            <a:off x="4816397" y="1937455"/>
            <a:ext cx="1412700" cy="315600"/>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14" name="Google Shape;2514;p121"/>
          <p:cNvSpPr txBox="1"/>
          <p:nvPr/>
        </p:nvSpPr>
        <p:spPr>
          <a:xfrm>
            <a:off x="4898695" y="1978603"/>
            <a:ext cx="3429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FFFF"/>
                </a:solidFill>
                <a:latin typeface="Courier New"/>
                <a:ea typeface="Courier New"/>
                <a:cs typeface="Courier New"/>
                <a:sym typeface="Courier New"/>
              </a:rPr>
              <a:t>04</a:t>
            </a:r>
            <a:endParaRPr sz="1100"/>
          </a:p>
        </p:txBody>
      </p:sp>
      <p:sp>
        <p:nvSpPr>
          <p:cNvPr id="2515" name="Google Shape;2515;p121"/>
          <p:cNvSpPr txBox="1"/>
          <p:nvPr/>
        </p:nvSpPr>
        <p:spPr>
          <a:xfrm>
            <a:off x="4898695" y="2314645"/>
            <a:ext cx="1303200" cy="408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FFFFFF"/>
                </a:solidFill>
                <a:latin typeface="Manrope"/>
                <a:ea typeface="Manrope"/>
                <a:cs typeface="Manrope"/>
                <a:sym typeface="Manrope"/>
              </a:rPr>
              <a:t>Human Review Gate</a:t>
            </a:r>
            <a:endParaRPr sz="1100"/>
          </a:p>
        </p:txBody>
      </p:sp>
      <p:sp>
        <p:nvSpPr>
          <p:cNvPr id="2516" name="Google Shape;2516;p121"/>
          <p:cNvSpPr txBox="1"/>
          <p:nvPr/>
        </p:nvSpPr>
        <p:spPr>
          <a:xfrm>
            <a:off x="4898695" y="2657545"/>
            <a:ext cx="1303200" cy="900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FFFFFF"/>
                </a:solidFill>
                <a:latin typeface="Manrope"/>
                <a:ea typeface="Manrope"/>
                <a:cs typeface="Manrope"/>
                <a:sym typeface="Manrope"/>
              </a:rPr>
              <a:t>Engineer or operator reads, edits, and approves. For legal/emotional/high-stakes cases: manual intervention required.</a:t>
            </a:r>
            <a:endParaRPr sz="1100"/>
          </a:p>
        </p:txBody>
      </p:sp>
      <p:sp>
        <p:nvSpPr>
          <p:cNvPr id="2517" name="Google Shape;2517;p121"/>
          <p:cNvSpPr/>
          <p:nvPr/>
        </p:nvSpPr>
        <p:spPr>
          <a:xfrm>
            <a:off x="6242899" y="2966155"/>
            <a:ext cx="68700" cy="549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18" name="Google Shape;2518;p121"/>
          <p:cNvSpPr/>
          <p:nvPr/>
        </p:nvSpPr>
        <p:spPr>
          <a:xfrm>
            <a:off x="6188034" y="2897575"/>
            <a:ext cx="96000" cy="178200"/>
          </a:xfrm>
          <a:prstGeom prst="roundRect">
            <a:avLst>
              <a:gd fmla="val 16667" name="adj"/>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19" name="Google Shape;2519;p121"/>
          <p:cNvSpPr/>
          <p:nvPr/>
        </p:nvSpPr>
        <p:spPr>
          <a:xfrm>
            <a:off x="6311475" y="1937450"/>
            <a:ext cx="1371600" cy="24345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20" name="Google Shape;2520;p121"/>
          <p:cNvSpPr/>
          <p:nvPr/>
        </p:nvSpPr>
        <p:spPr>
          <a:xfrm>
            <a:off x="6311481" y="1937455"/>
            <a:ext cx="1412700" cy="3156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21" name="Google Shape;2521;p121"/>
          <p:cNvSpPr txBox="1"/>
          <p:nvPr/>
        </p:nvSpPr>
        <p:spPr>
          <a:xfrm>
            <a:off x="6393779" y="1978603"/>
            <a:ext cx="3429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FFFF"/>
                </a:solidFill>
                <a:latin typeface="Courier New"/>
                <a:ea typeface="Courier New"/>
                <a:cs typeface="Courier New"/>
                <a:sym typeface="Courier New"/>
              </a:rPr>
              <a:t>05</a:t>
            </a:r>
            <a:endParaRPr sz="1100"/>
          </a:p>
        </p:txBody>
      </p:sp>
      <p:sp>
        <p:nvSpPr>
          <p:cNvPr id="2522" name="Google Shape;2522;p121"/>
          <p:cNvSpPr txBox="1"/>
          <p:nvPr/>
        </p:nvSpPr>
        <p:spPr>
          <a:xfrm>
            <a:off x="6393779" y="2314645"/>
            <a:ext cx="13032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FFFFFF"/>
                </a:solidFill>
                <a:latin typeface="Manrope"/>
                <a:ea typeface="Manrope"/>
                <a:cs typeface="Manrope"/>
                <a:sym typeface="Manrope"/>
              </a:rPr>
              <a:t>Final Execution</a:t>
            </a:r>
            <a:endParaRPr sz="1100"/>
          </a:p>
        </p:txBody>
      </p:sp>
      <p:sp>
        <p:nvSpPr>
          <p:cNvPr id="2523" name="Google Shape;2523;p121"/>
          <p:cNvSpPr txBox="1"/>
          <p:nvPr/>
        </p:nvSpPr>
        <p:spPr>
          <a:xfrm>
            <a:off x="6393779" y="2657545"/>
            <a:ext cx="1303200" cy="762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FFFFFF"/>
                </a:solidFill>
                <a:latin typeface="Manrope"/>
                <a:ea typeface="Manrope"/>
                <a:cs typeface="Manrope"/>
                <a:sym typeface="Manrope"/>
              </a:rPr>
              <a:t>Only approved output is sent. Every step logged with timestamp, agent ID, and model version.</a:t>
            </a:r>
            <a:endParaRPr sz="1100"/>
          </a:p>
        </p:txBody>
      </p:sp>
      <p:sp>
        <p:nvSpPr>
          <p:cNvPr id="2524" name="Google Shape;2524;p121"/>
          <p:cNvSpPr/>
          <p:nvPr/>
        </p:nvSpPr>
        <p:spPr>
          <a:xfrm>
            <a:off x="7734474" y="1937450"/>
            <a:ext cx="1206900" cy="2434500"/>
          </a:xfrm>
          <a:prstGeom prst="rect">
            <a:avLst/>
          </a:prstGeom>
          <a:solidFill>
            <a:srgbClr val="EBF5F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25" name="Google Shape;2525;p121"/>
          <p:cNvSpPr txBox="1"/>
          <p:nvPr/>
        </p:nvSpPr>
        <p:spPr>
          <a:xfrm>
            <a:off x="7816769" y="2006035"/>
            <a:ext cx="1206900" cy="1770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700" u="none" cap="none" strike="noStrike">
                <a:solidFill>
                  <a:srgbClr val="FF671F"/>
                </a:solidFill>
                <a:latin typeface="Courier New"/>
                <a:ea typeface="Courier New"/>
                <a:cs typeface="Courier New"/>
                <a:sym typeface="Courier New"/>
              </a:rPr>
              <a:t>REVIEW CHECKLIST</a:t>
            </a:r>
            <a:endParaRPr sz="1100"/>
          </a:p>
        </p:txBody>
      </p:sp>
      <p:sp>
        <p:nvSpPr>
          <p:cNvPr id="2526" name="Google Shape;2526;p121"/>
          <p:cNvSpPr txBox="1"/>
          <p:nvPr/>
        </p:nvSpPr>
        <p:spPr>
          <a:xfrm>
            <a:off x="7816769" y="2225491"/>
            <a:ext cx="12069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2BB1A6"/>
                </a:solidFill>
                <a:latin typeface="Manrope"/>
                <a:ea typeface="Manrope"/>
                <a:cs typeface="Manrope"/>
                <a:sym typeface="Manrope"/>
              </a:rPr>
              <a:t>✓ Factual accuracy</a:t>
            </a:r>
            <a:endParaRPr sz="1100"/>
          </a:p>
        </p:txBody>
      </p:sp>
      <p:sp>
        <p:nvSpPr>
          <p:cNvPr id="2527" name="Google Shape;2527;p121"/>
          <p:cNvSpPr txBox="1"/>
          <p:nvPr/>
        </p:nvSpPr>
        <p:spPr>
          <a:xfrm>
            <a:off x="7816769" y="2486095"/>
            <a:ext cx="12069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2BB1A6"/>
                </a:solidFill>
                <a:latin typeface="Manrope"/>
                <a:ea typeface="Manrope"/>
                <a:cs typeface="Manrope"/>
                <a:sym typeface="Manrope"/>
              </a:rPr>
              <a:t>✓ Tone calibration</a:t>
            </a:r>
            <a:endParaRPr sz="1100"/>
          </a:p>
        </p:txBody>
      </p:sp>
      <p:sp>
        <p:nvSpPr>
          <p:cNvPr id="2528" name="Google Shape;2528;p121"/>
          <p:cNvSpPr txBox="1"/>
          <p:nvPr/>
        </p:nvSpPr>
        <p:spPr>
          <a:xfrm>
            <a:off x="7816769" y="2746699"/>
            <a:ext cx="12069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2BB1A6"/>
                </a:solidFill>
                <a:latin typeface="Manrope"/>
                <a:ea typeface="Manrope"/>
                <a:cs typeface="Manrope"/>
                <a:sym typeface="Manrope"/>
              </a:rPr>
              <a:t>✓ Completeness</a:t>
            </a:r>
            <a:endParaRPr sz="1100"/>
          </a:p>
        </p:txBody>
      </p:sp>
      <p:sp>
        <p:nvSpPr>
          <p:cNvPr id="2529" name="Google Shape;2529;p121"/>
          <p:cNvSpPr txBox="1"/>
          <p:nvPr/>
        </p:nvSpPr>
        <p:spPr>
          <a:xfrm>
            <a:off x="7816769" y="3007303"/>
            <a:ext cx="12069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2BB1A6"/>
                </a:solidFill>
                <a:latin typeface="Manrope"/>
                <a:ea typeface="Manrope"/>
                <a:cs typeface="Manrope"/>
                <a:sym typeface="Manrope"/>
              </a:rPr>
              <a:t>✓ No hallucinations</a:t>
            </a:r>
            <a:endParaRPr sz="1100"/>
          </a:p>
        </p:txBody>
      </p:sp>
      <p:sp>
        <p:nvSpPr>
          <p:cNvPr id="2530" name="Google Shape;2530;p121"/>
          <p:cNvSpPr txBox="1"/>
          <p:nvPr/>
        </p:nvSpPr>
        <p:spPr>
          <a:xfrm>
            <a:off x="7816769" y="3267907"/>
            <a:ext cx="12069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2BB1A6"/>
                </a:solidFill>
                <a:latin typeface="Manrope"/>
                <a:ea typeface="Manrope"/>
                <a:cs typeface="Manrope"/>
                <a:sym typeface="Manrope"/>
              </a:rPr>
              <a:t>✓ Personalisation</a:t>
            </a:r>
            <a:endParaRPr sz="1100"/>
          </a:p>
        </p:txBody>
      </p:sp>
      <p:sp>
        <p:nvSpPr>
          <p:cNvPr id="2531" name="Google Shape;2531;p121"/>
          <p:cNvSpPr txBox="1"/>
          <p:nvPr/>
        </p:nvSpPr>
        <p:spPr>
          <a:xfrm>
            <a:off x="7816769" y="3528511"/>
            <a:ext cx="12069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E5436B"/>
                </a:solidFill>
                <a:latin typeface="Manrope"/>
                <a:ea typeface="Manrope"/>
                <a:cs typeface="Manrope"/>
                <a:sym typeface="Manrope"/>
              </a:rPr>
              <a:t>✗ Legal/compliance</a:t>
            </a:r>
            <a:endParaRPr sz="1100"/>
          </a:p>
        </p:txBody>
      </p:sp>
      <p:sp>
        <p:nvSpPr>
          <p:cNvPr id="2532" name="Google Shape;2532;p121"/>
          <p:cNvSpPr txBox="1"/>
          <p:nvPr/>
        </p:nvSpPr>
        <p:spPr>
          <a:xfrm>
            <a:off x="7816769" y="3789115"/>
            <a:ext cx="12069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E5436B"/>
                </a:solidFill>
                <a:latin typeface="Manrope"/>
                <a:ea typeface="Manrope"/>
                <a:cs typeface="Manrope"/>
                <a:sym typeface="Manrope"/>
              </a:rPr>
              <a:t>✗ Emotional cases</a:t>
            </a:r>
            <a:endParaRPr sz="1100"/>
          </a:p>
        </p:txBody>
      </p:sp>
      <p:sp>
        <p:nvSpPr>
          <p:cNvPr id="2533" name="Google Shape;2533;p121"/>
          <p:cNvSpPr txBox="1"/>
          <p:nvPr/>
        </p:nvSpPr>
        <p:spPr>
          <a:xfrm>
            <a:off x="7816769" y="4049719"/>
            <a:ext cx="12069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E5436B"/>
                </a:solidFill>
                <a:latin typeface="Manrope"/>
                <a:ea typeface="Manrope"/>
                <a:cs typeface="Manrope"/>
                <a:sym typeface="Manrope"/>
              </a:rPr>
              <a:t>✗ High-stakes ops</a:t>
            </a:r>
            <a:endParaRPr sz="1100"/>
          </a:p>
        </p:txBody>
      </p:sp>
      <p:sp>
        <p:nvSpPr>
          <p:cNvPr id="2534" name="Google Shape;2534;p121"/>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8" name="Shape 2538"/>
        <p:cNvGrpSpPr/>
        <p:nvPr/>
      </p:nvGrpSpPr>
      <p:grpSpPr>
        <a:xfrm>
          <a:off x="0" y="0"/>
          <a:ext cx="0" cy="0"/>
          <a:chOff x="0" y="0"/>
          <a:chExt cx="0" cy="0"/>
        </a:xfrm>
      </p:grpSpPr>
      <p:sp>
        <p:nvSpPr>
          <p:cNvPr id="2539" name="Google Shape;2539;p122"/>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2540" name="Google Shape;2540;p122"/>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2541" name="Google Shape;2541;p122"/>
          <p:cNvSpPr txBox="1"/>
          <p:nvPr/>
        </p:nvSpPr>
        <p:spPr>
          <a:xfrm>
            <a:off x="822982" y="720090"/>
            <a:ext cx="685818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ETHICS &amp; GOVERNANCE  ·  THE ETHICAL IMPERATIVE</a:t>
            </a:r>
            <a:endParaRPr sz="1100"/>
          </a:p>
        </p:txBody>
      </p:sp>
      <p:sp>
        <p:nvSpPr>
          <p:cNvPr id="2542" name="Google Shape;2542;p122"/>
          <p:cNvSpPr txBox="1"/>
          <p:nvPr/>
        </p:nvSpPr>
        <p:spPr>
          <a:xfrm>
            <a:off x="822982" y="946404"/>
            <a:ext cx="7406837"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u="none" cap="none" strike="noStrike">
                <a:solidFill>
                  <a:srgbClr val="1B1F2A"/>
                </a:solidFill>
                <a:latin typeface="Manrope"/>
                <a:ea typeface="Manrope"/>
                <a:cs typeface="Manrope"/>
                <a:sym typeface="Manrope"/>
              </a:rPr>
              <a:t>Tool vs. Behaviour — the question that defines ethical AI.</a:t>
            </a:r>
            <a:endParaRPr sz="1100"/>
          </a:p>
        </p:txBody>
      </p:sp>
      <p:sp>
        <p:nvSpPr>
          <p:cNvPr id="2543" name="Google Shape;2543;p122"/>
          <p:cNvSpPr/>
          <p:nvPr/>
        </p:nvSpPr>
        <p:spPr>
          <a:xfrm>
            <a:off x="822982" y="1474470"/>
            <a:ext cx="3497673" cy="30861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44" name="Google Shape;2544;p122"/>
          <p:cNvSpPr/>
          <p:nvPr/>
        </p:nvSpPr>
        <p:spPr>
          <a:xfrm>
            <a:off x="4800728" y="1474470"/>
            <a:ext cx="3497673" cy="3086100"/>
          </a:xfrm>
          <a:prstGeom prst="rect">
            <a:avLst/>
          </a:prstGeom>
          <a:solidFill>
            <a:srgbClr val="FFE3D2"/>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45" name="Google Shape;2545;p122"/>
          <p:cNvSpPr/>
          <p:nvPr/>
        </p:nvSpPr>
        <p:spPr>
          <a:xfrm>
            <a:off x="822982" y="1474470"/>
            <a:ext cx="3497673" cy="329184"/>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46" name="Google Shape;2546;p122"/>
          <p:cNvSpPr txBox="1"/>
          <p:nvPr/>
        </p:nvSpPr>
        <p:spPr>
          <a:xfrm>
            <a:off x="960146" y="1501902"/>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300" u="none" cap="none" strike="noStrike">
                <a:solidFill>
                  <a:srgbClr val="FFFFFF"/>
                </a:solidFill>
                <a:latin typeface="Manrope"/>
                <a:ea typeface="Manrope"/>
                <a:cs typeface="Manrope"/>
                <a:sym typeface="Manrope"/>
              </a:rPr>
              <a:t>The Tool (What AI Is)</a:t>
            </a:r>
            <a:endParaRPr sz="1100"/>
          </a:p>
        </p:txBody>
      </p:sp>
      <p:sp>
        <p:nvSpPr>
          <p:cNvPr id="2547" name="Google Shape;2547;p122"/>
          <p:cNvSpPr/>
          <p:nvPr/>
        </p:nvSpPr>
        <p:spPr>
          <a:xfrm>
            <a:off x="4800728" y="1474470"/>
            <a:ext cx="3497673" cy="329184"/>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48" name="Google Shape;2548;p122"/>
          <p:cNvSpPr txBox="1"/>
          <p:nvPr/>
        </p:nvSpPr>
        <p:spPr>
          <a:xfrm>
            <a:off x="4937892" y="1501902"/>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300" u="none" cap="none" strike="noStrike">
                <a:solidFill>
                  <a:srgbClr val="FFFFFF"/>
                </a:solidFill>
                <a:latin typeface="Manrope"/>
                <a:ea typeface="Manrope"/>
                <a:cs typeface="Manrope"/>
                <a:sym typeface="Manrope"/>
              </a:rPr>
              <a:t>The Behaviour (What We Do)</a:t>
            </a:r>
            <a:endParaRPr sz="1100"/>
          </a:p>
        </p:txBody>
      </p:sp>
      <p:sp>
        <p:nvSpPr>
          <p:cNvPr id="2549" name="Google Shape;2549;p122"/>
          <p:cNvSpPr txBox="1"/>
          <p:nvPr/>
        </p:nvSpPr>
        <p:spPr>
          <a:xfrm>
            <a:off x="925855" y="19339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Technology is entirely neutral until applied</a:t>
            </a:r>
            <a:endParaRPr sz="1100"/>
          </a:p>
        </p:txBody>
      </p:sp>
      <p:sp>
        <p:nvSpPr>
          <p:cNvPr id="2550" name="Google Shape;2550;p122"/>
          <p:cNvSpPr txBox="1"/>
          <p:nvPr/>
        </p:nvSpPr>
        <p:spPr>
          <a:xfrm>
            <a:off x="925855" y="22768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The Black Box: creators cannot always explain the output</a:t>
            </a:r>
            <a:endParaRPr sz="1100"/>
          </a:p>
        </p:txBody>
      </p:sp>
      <p:sp>
        <p:nvSpPr>
          <p:cNvPr id="2551" name="Google Shape;2551;p122"/>
          <p:cNvSpPr txBox="1"/>
          <p:nvPr/>
        </p:nvSpPr>
        <p:spPr>
          <a:xfrm>
            <a:off x="925855" y="26197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Massive Scale: instant generation of text, images, deepfakes</a:t>
            </a:r>
            <a:endParaRPr sz="1100"/>
          </a:p>
        </p:txBody>
      </p:sp>
      <p:sp>
        <p:nvSpPr>
          <p:cNvPr id="2552" name="Google Shape;2552;p122"/>
          <p:cNvSpPr txBox="1"/>
          <p:nvPr/>
        </p:nvSpPr>
        <p:spPr>
          <a:xfrm>
            <a:off x="925855" y="29626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No intent, no conscience, no moral agency</a:t>
            </a:r>
            <a:endParaRPr sz="1100"/>
          </a:p>
        </p:txBody>
      </p:sp>
      <p:sp>
        <p:nvSpPr>
          <p:cNvPr id="2553" name="Google Shape;2553;p122"/>
          <p:cNvSpPr txBox="1"/>
          <p:nvPr/>
        </p:nvSpPr>
        <p:spPr>
          <a:xfrm>
            <a:off x="925855" y="33055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Cannot refuse unless instructed to</a:t>
            </a:r>
            <a:endParaRPr sz="1100"/>
          </a:p>
        </p:txBody>
      </p:sp>
      <p:sp>
        <p:nvSpPr>
          <p:cNvPr id="2554" name="Google Shape;2554;p122"/>
          <p:cNvSpPr txBox="1"/>
          <p:nvPr/>
        </p:nvSpPr>
        <p:spPr>
          <a:xfrm>
            <a:off x="4903601" y="19339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How we deploy it defines the ethical outcome</a:t>
            </a:r>
            <a:endParaRPr sz="1100"/>
          </a:p>
        </p:txBody>
      </p:sp>
      <p:sp>
        <p:nvSpPr>
          <p:cNvPr id="2555" name="Google Shape;2555;p122"/>
          <p:cNvSpPr txBox="1"/>
          <p:nvPr/>
        </p:nvSpPr>
        <p:spPr>
          <a:xfrm>
            <a:off x="4903601" y="22768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The guardrails we set and the data we feed it</a:t>
            </a:r>
            <a:endParaRPr sz="1100"/>
          </a:p>
        </p:txBody>
      </p:sp>
      <p:sp>
        <p:nvSpPr>
          <p:cNvPr id="2556" name="Google Shape;2556;p122"/>
          <p:cNvSpPr txBox="1"/>
          <p:nvPr/>
        </p:nvSpPr>
        <p:spPr>
          <a:xfrm>
            <a:off x="4903601" y="26197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Defines whether AI helps or harms</a:t>
            </a:r>
            <a:endParaRPr sz="1100"/>
          </a:p>
        </p:txBody>
      </p:sp>
      <p:sp>
        <p:nvSpPr>
          <p:cNvPr id="2557" name="Google Shape;2557;p122"/>
          <p:cNvSpPr txBox="1"/>
          <p:nvPr/>
        </p:nvSpPr>
        <p:spPr>
          <a:xfrm>
            <a:off x="4903601" y="29626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The mandate: move from 'Can we build this?' to 'Should we?'</a:t>
            </a:r>
            <a:endParaRPr sz="1100"/>
          </a:p>
        </p:txBody>
      </p:sp>
      <p:sp>
        <p:nvSpPr>
          <p:cNvPr id="2558" name="Google Shape;2558;p122"/>
          <p:cNvSpPr txBox="1"/>
          <p:nvPr/>
        </p:nvSpPr>
        <p:spPr>
          <a:xfrm>
            <a:off x="4903601" y="33055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1B1F2A"/>
                </a:solidFill>
                <a:latin typeface="Manrope"/>
                <a:ea typeface="Manrope"/>
                <a:cs typeface="Manrope"/>
                <a:sym typeface="Manrope"/>
              </a:rPr>
              <a:t>· Developers own the behaviour — not just the build</a:t>
            </a:r>
            <a:endParaRPr sz="1100"/>
          </a:p>
        </p:txBody>
      </p:sp>
      <p:sp>
        <p:nvSpPr>
          <p:cNvPr id="2559" name="Google Shape;2559;p122"/>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3" name="Shape 2563"/>
        <p:cNvGrpSpPr/>
        <p:nvPr/>
      </p:nvGrpSpPr>
      <p:grpSpPr>
        <a:xfrm>
          <a:off x="0" y="0"/>
          <a:ext cx="0" cy="0"/>
          <a:chOff x="0" y="0"/>
          <a:chExt cx="0" cy="0"/>
        </a:xfrm>
      </p:grpSpPr>
      <p:sp>
        <p:nvSpPr>
          <p:cNvPr id="2564" name="Google Shape;2564;p123"/>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2565" name="Google Shape;2565;p123"/>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2566" name="Google Shape;2566;p123"/>
          <p:cNvSpPr txBox="1"/>
          <p:nvPr/>
        </p:nvSpPr>
        <p:spPr>
          <a:xfrm>
            <a:off x="822982" y="720090"/>
            <a:ext cx="685818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ETHICS &amp; GOVERNANCE  ·  EVALUATION FRAMEWORK</a:t>
            </a:r>
            <a:endParaRPr sz="1100"/>
          </a:p>
        </p:txBody>
      </p:sp>
      <p:sp>
        <p:nvSpPr>
          <p:cNvPr id="2567" name="Google Shape;2567;p123"/>
          <p:cNvSpPr txBox="1"/>
          <p:nvPr/>
        </p:nvSpPr>
        <p:spPr>
          <a:xfrm>
            <a:off x="822982" y="946404"/>
            <a:ext cx="7406837" cy="493776"/>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u="none" cap="none" strike="noStrike">
                <a:solidFill>
                  <a:srgbClr val="1B1F2A"/>
                </a:solidFill>
                <a:latin typeface="Manrope"/>
                <a:ea typeface="Manrope"/>
                <a:cs typeface="Manrope"/>
                <a:sym typeface="Manrope"/>
              </a:rPr>
              <a:t>Three pillars to evaluate the integrity of any AI initiative.</a:t>
            </a:r>
            <a:endParaRPr sz="1100"/>
          </a:p>
        </p:txBody>
      </p:sp>
      <p:sp>
        <p:nvSpPr>
          <p:cNvPr id="2568" name="Google Shape;2568;p123"/>
          <p:cNvSpPr txBox="1"/>
          <p:nvPr/>
        </p:nvSpPr>
        <p:spPr>
          <a:xfrm>
            <a:off x="822982" y="1522476"/>
            <a:ext cx="7406837"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Use these three questions before shipping any AI feature to production.</a:t>
            </a:r>
            <a:endParaRPr sz="1100"/>
          </a:p>
        </p:txBody>
      </p:sp>
      <p:sp>
        <p:nvSpPr>
          <p:cNvPr id="2569" name="Google Shape;2569;p123"/>
          <p:cNvSpPr/>
          <p:nvPr/>
        </p:nvSpPr>
        <p:spPr>
          <a:xfrm>
            <a:off x="822982"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70" name="Google Shape;2570;p123"/>
          <p:cNvSpPr txBox="1"/>
          <p:nvPr/>
        </p:nvSpPr>
        <p:spPr>
          <a:xfrm>
            <a:off x="822982"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8B95A6"/>
                </a:solidFill>
                <a:latin typeface="Courier New"/>
                <a:ea typeface="Courier New"/>
                <a:cs typeface="Courier New"/>
                <a:sym typeface="Courier New"/>
              </a:rPr>
              <a:t>01 · INTENT (THE WHY)</a:t>
            </a:r>
            <a:endParaRPr sz="1100"/>
          </a:p>
        </p:txBody>
      </p:sp>
      <p:sp>
        <p:nvSpPr>
          <p:cNvPr id="2571" name="Google Shape;2571;p123"/>
          <p:cNvSpPr txBox="1"/>
          <p:nvPr/>
        </p:nvSpPr>
        <p:spPr>
          <a:xfrm>
            <a:off x="822982" y="2242566"/>
            <a:ext cx="2468946" cy="44577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400" u="none" cap="none" strike="noStrike">
                <a:solidFill>
                  <a:srgbClr val="1B1F2A"/>
                </a:solidFill>
                <a:latin typeface="Manrope"/>
                <a:ea typeface="Manrope"/>
                <a:cs typeface="Manrope"/>
                <a:sym typeface="Manrope"/>
              </a:rPr>
              <a:t>Is the primary goal to help the user?</a:t>
            </a:r>
            <a:endParaRPr sz="1100"/>
          </a:p>
        </p:txBody>
      </p:sp>
      <p:sp>
        <p:nvSpPr>
          <p:cNvPr id="2572" name="Google Shape;2572;p123"/>
          <p:cNvSpPr txBox="1"/>
          <p:nvPr/>
        </p:nvSpPr>
        <p:spPr>
          <a:xfrm>
            <a:off x="822982" y="2743200"/>
            <a:ext cx="2468946" cy="17487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Or is it to manipulate, extract, or optimise against user interests? If the system benefits the company at the user's expense — it fails this pillar. Honest answer required before design begins.</a:t>
            </a:r>
            <a:endParaRPr sz="1100"/>
          </a:p>
        </p:txBody>
      </p:sp>
      <p:sp>
        <p:nvSpPr>
          <p:cNvPr id="2573" name="Google Shape;2573;p123"/>
          <p:cNvSpPr/>
          <p:nvPr/>
        </p:nvSpPr>
        <p:spPr>
          <a:xfrm>
            <a:off x="3429091"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74" name="Google Shape;2574;p123"/>
          <p:cNvSpPr txBox="1"/>
          <p:nvPr/>
        </p:nvSpPr>
        <p:spPr>
          <a:xfrm>
            <a:off x="3429091"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8B95A6"/>
                </a:solidFill>
                <a:latin typeface="Courier New"/>
                <a:ea typeface="Courier New"/>
                <a:cs typeface="Courier New"/>
                <a:sym typeface="Courier New"/>
              </a:rPr>
              <a:t>02 · PROCESS (THE HOW)</a:t>
            </a:r>
            <a:endParaRPr sz="1100"/>
          </a:p>
        </p:txBody>
      </p:sp>
      <p:sp>
        <p:nvSpPr>
          <p:cNvPr id="2575" name="Google Shape;2575;p123"/>
          <p:cNvSpPr txBox="1"/>
          <p:nvPr/>
        </p:nvSpPr>
        <p:spPr>
          <a:xfrm>
            <a:off x="3429091" y="2242566"/>
            <a:ext cx="2468946" cy="44577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400" u="none" cap="none" strike="noStrike">
                <a:solidFill>
                  <a:srgbClr val="1B1F2A"/>
                </a:solidFill>
                <a:latin typeface="Manrope"/>
                <a:ea typeface="Manrope"/>
                <a:cs typeface="Manrope"/>
                <a:sym typeface="Manrope"/>
              </a:rPr>
              <a:t>How was the model built?</a:t>
            </a:r>
            <a:endParaRPr sz="1100"/>
          </a:p>
        </p:txBody>
      </p:sp>
      <p:sp>
        <p:nvSpPr>
          <p:cNvPr id="2576" name="Google Shape;2576;p123"/>
          <p:cNvSpPr txBox="1"/>
          <p:nvPr/>
        </p:nvSpPr>
        <p:spPr>
          <a:xfrm>
            <a:off x="3429091" y="2743200"/>
            <a:ext cx="2468946" cy="17487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Data Hygiene: Were sensitive identifiers removed? Was training data representative and bias-audited? Is there a paper trail for auditability? The process leaves evidence — or the absence of it.</a:t>
            </a:r>
            <a:endParaRPr sz="1100"/>
          </a:p>
        </p:txBody>
      </p:sp>
      <p:sp>
        <p:nvSpPr>
          <p:cNvPr id="2577" name="Google Shape;2577;p123"/>
          <p:cNvSpPr/>
          <p:nvPr/>
        </p:nvSpPr>
        <p:spPr>
          <a:xfrm>
            <a:off x="6035201" y="2023110"/>
            <a:ext cx="2468946"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78" name="Google Shape;2578;p123"/>
          <p:cNvSpPr txBox="1"/>
          <p:nvPr/>
        </p:nvSpPr>
        <p:spPr>
          <a:xfrm>
            <a:off x="6035201" y="2091690"/>
            <a:ext cx="24689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8B95A6"/>
                </a:solidFill>
                <a:latin typeface="Courier New"/>
                <a:ea typeface="Courier New"/>
                <a:cs typeface="Courier New"/>
                <a:sym typeface="Courier New"/>
              </a:rPr>
              <a:t>03 · OUTCOME (THE WHAT)</a:t>
            </a:r>
            <a:endParaRPr sz="1100"/>
          </a:p>
        </p:txBody>
      </p:sp>
      <p:sp>
        <p:nvSpPr>
          <p:cNvPr id="2579" name="Google Shape;2579;p123"/>
          <p:cNvSpPr txBox="1"/>
          <p:nvPr/>
        </p:nvSpPr>
        <p:spPr>
          <a:xfrm>
            <a:off x="6035201" y="2242566"/>
            <a:ext cx="2468946" cy="44577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400" u="none" cap="none" strike="noStrike">
                <a:solidFill>
                  <a:srgbClr val="1B1F2A"/>
                </a:solidFill>
                <a:latin typeface="Manrope"/>
                <a:ea typeface="Manrope"/>
                <a:cs typeface="Manrope"/>
                <a:sym typeface="Manrope"/>
              </a:rPr>
              <a:t>Who wins, and who loses?</a:t>
            </a:r>
            <a:endParaRPr sz="1100"/>
          </a:p>
        </p:txBody>
      </p:sp>
      <p:sp>
        <p:nvSpPr>
          <p:cNvPr id="2580" name="Google Shape;2580;p123"/>
          <p:cNvSpPr txBox="1"/>
          <p:nvPr/>
        </p:nvSpPr>
        <p:spPr>
          <a:xfrm>
            <a:off x="6035201" y="2743200"/>
            <a:ext cx="2468946" cy="17487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Does it create a digital divide? Are users notified they are interacting with AI? Does the system improve equity or erode it? Transparency is not optional — it's a legal requirement in most jurisdictions.</a:t>
            </a:r>
            <a:endParaRPr sz="1100"/>
          </a:p>
        </p:txBody>
      </p:sp>
      <p:sp>
        <p:nvSpPr>
          <p:cNvPr id="2581" name="Google Shape;2581;p123"/>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5" name="Shape 2585"/>
        <p:cNvGrpSpPr/>
        <p:nvPr/>
      </p:nvGrpSpPr>
      <p:grpSpPr>
        <a:xfrm>
          <a:off x="0" y="0"/>
          <a:ext cx="0" cy="0"/>
          <a:chOff x="0" y="0"/>
          <a:chExt cx="0" cy="0"/>
        </a:xfrm>
      </p:grpSpPr>
      <p:sp>
        <p:nvSpPr>
          <p:cNvPr id="2586" name="Google Shape;2586;p124"/>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2587" name="Google Shape;2587;p124"/>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2588" name="Google Shape;2588;p124"/>
          <p:cNvSpPr txBox="1"/>
          <p:nvPr/>
        </p:nvSpPr>
        <p:spPr>
          <a:xfrm>
            <a:off x="822982" y="720090"/>
            <a:ext cx="685818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APPROVED AI DIRECTORY  ·  CORE MODELS &amp; CLOUD PLATFORMS</a:t>
            </a:r>
            <a:endParaRPr sz="1100"/>
          </a:p>
        </p:txBody>
      </p:sp>
      <p:sp>
        <p:nvSpPr>
          <p:cNvPr id="2589" name="Google Shape;2589;p124"/>
          <p:cNvSpPr txBox="1"/>
          <p:nvPr/>
        </p:nvSpPr>
        <p:spPr>
          <a:xfrm>
            <a:off x="822982" y="946404"/>
            <a:ext cx="7406837"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u="none" cap="none" strike="noStrike">
                <a:solidFill>
                  <a:srgbClr val="1B1F2A"/>
                </a:solidFill>
                <a:latin typeface="Manrope"/>
                <a:ea typeface="Manrope"/>
                <a:cs typeface="Manrope"/>
                <a:sym typeface="Manrope"/>
              </a:rPr>
              <a:t>Approved AI: Core Models &amp; Cloud Platforms.</a:t>
            </a:r>
            <a:endParaRPr sz="1100"/>
          </a:p>
        </p:txBody>
      </p:sp>
      <p:sp>
        <p:nvSpPr>
          <p:cNvPr id="2590" name="Google Shape;2590;p124"/>
          <p:cNvSpPr txBox="1"/>
          <p:nvPr/>
        </p:nvSpPr>
        <p:spPr>
          <a:xfrm>
            <a:off x="822982" y="1426464"/>
            <a:ext cx="7406837" cy="22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Authorised foundational LLMs and enterprise infrastructure platforms for general knowledge work and secure deployment.</a:t>
            </a:r>
            <a:endParaRPr sz="1100"/>
          </a:p>
        </p:txBody>
      </p:sp>
      <p:sp>
        <p:nvSpPr>
          <p:cNvPr id="2591" name="Google Shape;2591;p124"/>
          <p:cNvSpPr/>
          <p:nvPr/>
        </p:nvSpPr>
        <p:spPr>
          <a:xfrm>
            <a:off x="822982" y="1885950"/>
            <a:ext cx="1920291" cy="20574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92" name="Google Shape;2592;p124"/>
          <p:cNvSpPr txBox="1"/>
          <p:nvPr/>
        </p:nvSpPr>
        <p:spPr>
          <a:xfrm>
            <a:off x="960146" y="2009394"/>
            <a:ext cx="1645964"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GEMINI FOR GOOGLE WORKSPACE</a:t>
            </a:r>
            <a:endParaRPr sz="1100"/>
          </a:p>
        </p:txBody>
      </p:sp>
      <p:sp>
        <p:nvSpPr>
          <p:cNvPr id="2593" name="Google Shape;2593;p124"/>
          <p:cNvSpPr txBox="1"/>
          <p:nvPr/>
        </p:nvSpPr>
        <p:spPr>
          <a:xfrm>
            <a:off x="959996" y="2233739"/>
            <a:ext cx="1646100" cy="315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1B1F2A"/>
                </a:solidFill>
                <a:latin typeface="Manrope"/>
                <a:ea typeface="Manrope"/>
                <a:cs typeface="Manrope"/>
                <a:sym typeface="Manrope"/>
              </a:rPr>
              <a:t>Company-wide license; everyone can access</a:t>
            </a:r>
            <a:endParaRPr sz="800"/>
          </a:p>
        </p:txBody>
      </p:sp>
      <p:sp>
        <p:nvSpPr>
          <p:cNvPr id="2594" name="Google Shape;2594;p124"/>
          <p:cNvSpPr txBox="1"/>
          <p:nvPr/>
        </p:nvSpPr>
        <p:spPr>
          <a:xfrm>
            <a:off x="960146" y="2640330"/>
            <a:ext cx="1645964" cy="12001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B95A6"/>
                </a:solidFill>
                <a:latin typeface="Manrope"/>
                <a:ea typeface="Manrope"/>
                <a:cs typeface="Manrope"/>
                <a:sym typeface="Manrope"/>
              </a:rPr>
              <a:t>General Chat &amp; Reasoning. Best for drafting, summarisation, and Q&amp;A grounded in Google Workspace data.</a:t>
            </a:r>
            <a:endParaRPr sz="1100"/>
          </a:p>
        </p:txBody>
      </p:sp>
      <p:sp>
        <p:nvSpPr>
          <p:cNvPr id="2595" name="Google Shape;2595;p124"/>
          <p:cNvSpPr/>
          <p:nvPr/>
        </p:nvSpPr>
        <p:spPr>
          <a:xfrm>
            <a:off x="2880437" y="1885950"/>
            <a:ext cx="1920291" cy="20574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596" name="Google Shape;2596;p124"/>
          <p:cNvSpPr txBox="1"/>
          <p:nvPr/>
        </p:nvSpPr>
        <p:spPr>
          <a:xfrm>
            <a:off x="3017600" y="2009394"/>
            <a:ext cx="1645964"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CHATGPT-5</a:t>
            </a:r>
            <a:endParaRPr sz="1100"/>
          </a:p>
        </p:txBody>
      </p:sp>
      <p:sp>
        <p:nvSpPr>
          <p:cNvPr id="2597" name="Google Shape;2597;p124"/>
          <p:cNvSpPr txBox="1"/>
          <p:nvPr/>
        </p:nvSpPr>
        <p:spPr>
          <a:xfrm>
            <a:off x="3017600" y="2208276"/>
            <a:ext cx="16461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1B1F2A"/>
                </a:solidFill>
                <a:latin typeface="Manrope"/>
                <a:ea typeface="Manrope"/>
                <a:cs typeface="Manrope"/>
                <a:sym typeface="Manrope"/>
              </a:rPr>
              <a:t>Advanced reasoning and drafting</a:t>
            </a:r>
            <a:endParaRPr sz="900"/>
          </a:p>
        </p:txBody>
      </p:sp>
      <p:sp>
        <p:nvSpPr>
          <p:cNvPr id="2598" name="Google Shape;2598;p124"/>
          <p:cNvSpPr txBox="1"/>
          <p:nvPr/>
        </p:nvSpPr>
        <p:spPr>
          <a:xfrm>
            <a:off x="3017600" y="2640330"/>
            <a:ext cx="1645964" cy="12001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B95A6"/>
                </a:solidFill>
                <a:latin typeface="Manrope"/>
                <a:ea typeface="Manrope"/>
                <a:cs typeface="Manrope"/>
                <a:sym typeface="Manrope"/>
              </a:rPr>
              <a:t>Strongest on complex multi-step reasoning, code explanation, and structured output generation for engineering tasks.</a:t>
            </a:r>
            <a:endParaRPr sz="1100"/>
          </a:p>
        </p:txBody>
      </p:sp>
      <p:sp>
        <p:nvSpPr>
          <p:cNvPr id="2599" name="Google Shape;2599;p124"/>
          <p:cNvSpPr/>
          <p:nvPr/>
        </p:nvSpPr>
        <p:spPr>
          <a:xfrm>
            <a:off x="4937892" y="1885950"/>
            <a:ext cx="1920291" cy="20574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600" name="Google Shape;2600;p124"/>
          <p:cNvSpPr txBox="1"/>
          <p:nvPr/>
        </p:nvSpPr>
        <p:spPr>
          <a:xfrm>
            <a:off x="5075055" y="2009394"/>
            <a:ext cx="1645964"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CLAUDE AI</a:t>
            </a:r>
            <a:endParaRPr sz="1100"/>
          </a:p>
        </p:txBody>
      </p:sp>
      <p:sp>
        <p:nvSpPr>
          <p:cNvPr id="2601" name="Google Shape;2601;p124"/>
          <p:cNvSpPr txBox="1"/>
          <p:nvPr/>
        </p:nvSpPr>
        <p:spPr>
          <a:xfrm>
            <a:off x="5075055" y="2208276"/>
            <a:ext cx="16461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1B1F2A"/>
                </a:solidFill>
                <a:latin typeface="Manrope"/>
                <a:ea typeface="Manrope"/>
                <a:cs typeface="Manrope"/>
                <a:sym typeface="Manrope"/>
              </a:rPr>
              <a:t>Large-context analysis &amp; documents</a:t>
            </a:r>
            <a:endParaRPr sz="900"/>
          </a:p>
        </p:txBody>
      </p:sp>
      <p:sp>
        <p:nvSpPr>
          <p:cNvPr id="2602" name="Google Shape;2602;p124"/>
          <p:cNvSpPr txBox="1"/>
          <p:nvPr/>
        </p:nvSpPr>
        <p:spPr>
          <a:xfrm>
            <a:off x="5075055" y="2640330"/>
            <a:ext cx="1645964" cy="12001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B95A6"/>
                </a:solidFill>
                <a:latin typeface="Manrope"/>
                <a:ea typeface="Manrope"/>
                <a:cs typeface="Manrope"/>
                <a:sym typeface="Manrope"/>
              </a:rPr>
              <a:t>Best for long-document analysis, nuanced reasoning, and careful summarisation. 200k+ token context window.</a:t>
            </a:r>
            <a:endParaRPr sz="1100"/>
          </a:p>
        </p:txBody>
      </p:sp>
      <p:sp>
        <p:nvSpPr>
          <p:cNvPr id="2603" name="Google Shape;2603;p124"/>
          <p:cNvSpPr/>
          <p:nvPr/>
        </p:nvSpPr>
        <p:spPr>
          <a:xfrm>
            <a:off x="6995346" y="1885950"/>
            <a:ext cx="1920291" cy="20574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604" name="Google Shape;2604;p124"/>
          <p:cNvSpPr txBox="1"/>
          <p:nvPr/>
        </p:nvSpPr>
        <p:spPr>
          <a:xfrm>
            <a:off x="7132510" y="2009394"/>
            <a:ext cx="1645964"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AZUREOPENAI / BEDROCK / VERTEX AI</a:t>
            </a:r>
            <a:endParaRPr sz="1100"/>
          </a:p>
        </p:txBody>
      </p:sp>
      <p:sp>
        <p:nvSpPr>
          <p:cNvPr id="2605" name="Google Shape;2605;p124"/>
          <p:cNvSpPr txBox="1"/>
          <p:nvPr/>
        </p:nvSpPr>
        <p:spPr>
          <a:xfrm>
            <a:off x="7132510" y="2263017"/>
            <a:ext cx="16461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1B1F2A"/>
                </a:solidFill>
                <a:latin typeface="Manrope"/>
                <a:ea typeface="Manrope"/>
                <a:cs typeface="Manrope"/>
                <a:sym typeface="Manrope"/>
              </a:rPr>
              <a:t>Enterprise cloud deployment</a:t>
            </a:r>
            <a:endParaRPr sz="900"/>
          </a:p>
        </p:txBody>
      </p:sp>
      <p:sp>
        <p:nvSpPr>
          <p:cNvPr id="2606" name="Google Shape;2606;p124"/>
          <p:cNvSpPr txBox="1"/>
          <p:nvPr/>
        </p:nvSpPr>
        <p:spPr>
          <a:xfrm>
            <a:off x="7132510" y="2640330"/>
            <a:ext cx="1645964" cy="12001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000" u="none" cap="none" strike="noStrike">
                <a:solidFill>
                  <a:srgbClr val="8B95A6"/>
                </a:solidFill>
                <a:latin typeface="Manrope"/>
                <a:ea typeface="Manrope"/>
                <a:cs typeface="Manrope"/>
                <a:sym typeface="Manrope"/>
              </a:rPr>
              <a:t>Secure enterprise deployment, API access, and custom model building. Infrastructure for regulated data environments.</a:t>
            </a:r>
            <a:endParaRPr sz="1100"/>
          </a:p>
        </p:txBody>
      </p:sp>
      <p:sp>
        <p:nvSpPr>
          <p:cNvPr id="2607" name="Google Shape;2607;p124"/>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1" name="Shape 2611"/>
        <p:cNvGrpSpPr/>
        <p:nvPr/>
      </p:nvGrpSpPr>
      <p:grpSpPr>
        <a:xfrm>
          <a:off x="0" y="0"/>
          <a:ext cx="0" cy="0"/>
          <a:chOff x="0" y="0"/>
          <a:chExt cx="0" cy="0"/>
        </a:xfrm>
      </p:grpSpPr>
      <p:sp>
        <p:nvSpPr>
          <p:cNvPr id="2612" name="Google Shape;2612;p125"/>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2613" name="Google Shape;2613;p125"/>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2614" name="Google Shape;2614;p125"/>
          <p:cNvSpPr txBox="1"/>
          <p:nvPr/>
        </p:nvSpPr>
        <p:spPr>
          <a:xfrm>
            <a:off x="822982" y="720090"/>
            <a:ext cx="685818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APPROVED AI DIRECTORY  ·  SPECIALIZED &amp; COLLABORATIVE TOOLS</a:t>
            </a:r>
            <a:endParaRPr sz="1100"/>
          </a:p>
        </p:txBody>
      </p:sp>
      <p:sp>
        <p:nvSpPr>
          <p:cNvPr id="2615" name="Google Shape;2615;p125"/>
          <p:cNvSpPr txBox="1"/>
          <p:nvPr/>
        </p:nvSpPr>
        <p:spPr>
          <a:xfrm>
            <a:off x="822982" y="946404"/>
            <a:ext cx="7406700" cy="315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600" u="none" cap="none" strike="noStrike">
                <a:solidFill>
                  <a:srgbClr val="1B1F2A"/>
                </a:solidFill>
                <a:latin typeface="Manrope"/>
                <a:ea typeface="Manrope"/>
                <a:cs typeface="Manrope"/>
                <a:sym typeface="Manrope"/>
              </a:rPr>
              <a:t>Approved AI: Specialized &amp; Collaborative Tools for Engineering &amp; Design.</a:t>
            </a:r>
            <a:endParaRPr sz="600"/>
          </a:p>
        </p:txBody>
      </p:sp>
      <p:sp>
        <p:nvSpPr>
          <p:cNvPr id="2616" name="Google Shape;2616;p125"/>
          <p:cNvSpPr txBox="1"/>
          <p:nvPr/>
        </p:nvSpPr>
        <p:spPr>
          <a:xfrm>
            <a:off x="822982" y="1426464"/>
            <a:ext cx="7406837" cy="2095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Authorised point-solutions for engineering, design, and team productivity workflows.</a:t>
            </a:r>
            <a:endParaRPr sz="1100"/>
          </a:p>
        </p:txBody>
      </p:sp>
      <p:sp>
        <p:nvSpPr>
          <p:cNvPr id="2617" name="Google Shape;2617;p125"/>
          <p:cNvSpPr/>
          <p:nvPr/>
        </p:nvSpPr>
        <p:spPr>
          <a:xfrm>
            <a:off x="822982" y="1817370"/>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618" name="Google Shape;2618;p125"/>
          <p:cNvSpPr txBox="1"/>
          <p:nvPr/>
        </p:nvSpPr>
        <p:spPr>
          <a:xfrm>
            <a:off x="918996" y="1872234"/>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671F"/>
                </a:solidFill>
                <a:latin typeface="Courier New"/>
                <a:ea typeface="Courier New"/>
                <a:cs typeface="Courier New"/>
                <a:sym typeface="Courier New"/>
              </a:rPr>
              <a:t>01</a:t>
            </a:r>
            <a:endParaRPr sz="1100"/>
          </a:p>
        </p:txBody>
      </p:sp>
      <p:sp>
        <p:nvSpPr>
          <p:cNvPr id="2619" name="Google Shape;2619;p125"/>
          <p:cNvSpPr txBox="1"/>
          <p:nvPr/>
        </p:nvSpPr>
        <p:spPr>
          <a:xfrm>
            <a:off x="918996" y="2023110"/>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GitHub Copilot</a:t>
            </a:r>
            <a:endParaRPr sz="1100"/>
          </a:p>
        </p:txBody>
      </p:sp>
      <p:sp>
        <p:nvSpPr>
          <p:cNvPr id="2620" name="Google Shape;2620;p125"/>
          <p:cNvSpPr txBox="1"/>
          <p:nvPr/>
        </p:nvSpPr>
        <p:spPr>
          <a:xfrm>
            <a:off x="918996" y="2379726"/>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AI pair programmer. Inline code completion, review suggestions, test scaffolding.</a:t>
            </a:r>
            <a:endParaRPr sz="1100"/>
          </a:p>
        </p:txBody>
      </p:sp>
      <p:sp>
        <p:nvSpPr>
          <p:cNvPr id="2621" name="Google Shape;2621;p125"/>
          <p:cNvSpPr/>
          <p:nvPr/>
        </p:nvSpPr>
        <p:spPr>
          <a:xfrm>
            <a:off x="2853004" y="1817370"/>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622" name="Google Shape;2622;p125"/>
          <p:cNvSpPr txBox="1"/>
          <p:nvPr/>
        </p:nvSpPr>
        <p:spPr>
          <a:xfrm>
            <a:off x="2949019" y="1872234"/>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671F"/>
                </a:solidFill>
                <a:latin typeface="Courier New"/>
                <a:ea typeface="Courier New"/>
                <a:cs typeface="Courier New"/>
                <a:sym typeface="Courier New"/>
              </a:rPr>
              <a:t>02</a:t>
            </a:r>
            <a:endParaRPr sz="1100"/>
          </a:p>
        </p:txBody>
      </p:sp>
      <p:sp>
        <p:nvSpPr>
          <p:cNvPr id="2623" name="Google Shape;2623;p125"/>
          <p:cNvSpPr txBox="1"/>
          <p:nvPr/>
        </p:nvSpPr>
        <p:spPr>
          <a:xfrm>
            <a:off x="2949019" y="2023110"/>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Cursor</a:t>
            </a:r>
            <a:endParaRPr sz="1100"/>
          </a:p>
        </p:txBody>
      </p:sp>
      <p:sp>
        <p:nvSpPr>
          <p:cNvPr id="2624" name="Google Shape;2624;p125"/>
          <p:cNvSpPr txBox="1"/>
          <p:nvPr/>
        </p:nvSpPr>
        <p:spPr>
          <a:xfrm>
            <a:off x="2949019" y="2379726"/>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AI-first code editor. Repo-aware edits, multi-file refactoring, agent mode.</a:t>
            </a:r>
            <a:endParaRPr sz="1100"/>
          </a:p>
        </p:txBody>
      </p:sp>
      <p:sp>
        <p:nvSpPr>
          <p:cNvPr id="2625" name="Google Shape;2625;p125"/>
          <p:cNvSpPr/>
          <p:nvPr/>
        </p:nvSpPr>
        <p:spPr>
          <a:xfrm>
            <a:off x="4883026" y="1817370"/>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626" name="Google Shape;2626;p125"/>
          <p:cNvSpPr txBox="1"/>
          <p:nvPr/>
        </p:nvSpPr>
        <p:spPr>
          <a:xfrm>
            <a:off x="4979041" y="1872234"/>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671F"/>
                </a:solidFill>
                <a:latin typeface="Courier New"/>
                <a:ea typeface="Courier New"/>
                <a:cs typeface="Courier New"/>
                <a:sym typeface="Courier New"/>
              </a:rPr>
              <a:t>03</a:t>
            </a:r>
            <a:endParaRPr sz="1100"/>
          </a:p>
        </p:txBody>
      </p:sp>
      <p:sp>
        <p:nvSpPr>
          <p:cNvPr id="2627" name="Google Shape;2627;p125"/>
          <p:cNvSpPr txBox="1"/>
          <p:nvPr/>
        </p:nvSpPr>
        <p:spPr>
          <a:xfrm>
            <a:off x="4979041" y="2023110"/>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Amazon Q &amp; Transform</a:t>
            </a:r>
            <a:endParaRPr sz="1100"/>
          </a:p>
        </p:txBody>
      </p:sp>
      <p:sp>
        <p:nvSpPr>
          <p:cNvPr id="2628" name="Google Shape;2628;p125"/>
          <p:cNvSpPr txBox="1"/>
          <p:nvPr/>
        </p:nvSpPr>
        <p:spPr>
          <a:xfrm>
            <a:off x="4979041" y="2379726"/>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Business/Developer assistant. Code modernisation, architecture Q&amp;A.</a:t>
            </a:r>
            <a:endParaRPr sz="1100"/>
          </a:p>
        </p:txBody>
      </p:sp>
      <p:sp>
        <p:nvSpPr>
          <p:cNvPr id="2629" name="Google Shape;2629;p125"/>
          <p:cNvSpPr/>
          <p:nvPr/>
        </p:nvSpPr>
        <p:spPr>
          <a:xfrm>
            <a:off x="6913048" y="1817370"/>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630" name="Google Shape;2630;p125"/>
          <p:cNvSpPr txBox="1"/>
          <p:nvPr/>
        </p:nvSpPr>
        <p:spPr>
          <a:xfrm>
            <a:off x="7009063" y="1872234"/>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671F"/>
                </a:solidFill>
                <a:latin typeface="Courier New"/>
                <a:ea typeface="Courier New"/>
                <a:cs typeface="Courier New"/>
                <a:sym typeface="Courier New"/>
              </a:rPr>
              <a:t>04</a:t>
            </a:r>
            <a:endParaRPr sz="1100"/>
          </a:p>
        </p:txBody>
      </p:sp>
      <p:sp>
        <p:nvSpPr>
          <p:cNvPr id="2631" name="Google Shape;2631;p125"/>
          <p:cNvSpPr txBox="1"/>
          <p:nvPr/>
        </p:nvSpPr>
        <p:spPr>
          <a:xfrm>
            <a:off x="7009063" y="2023110"/>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Figma AI</a:t>
            </a:r>
            <a:endParaRPr sz="1100"/>
          </a:p>
        </p:txBody>
      </p:sp>
      <p:sp>
        <p:nvSpPr>
          <p:cNvPr id="2632" name="Google Shape;2632;p125"/>
          <p:cNvSpPr txBox="1"/>
          <p:nvPr/>
        </p:nvSpPr>
        <p:spPr>
          <a:xfrm>
            <a:off x="7009063" y="2379726"/>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Design generation and asset management. AI-assisted prototyping.</a:t>
            </a:r>
            <a:endParaRPr sz="1100"/>
          </a:p>
        </p:txBody>
      </p:sp>
      <p:sp>
        <p:nvSpPr>
          <p:cNvPr id="2633" name="Google Shape;2633;p125"/>
          <p:cNvSpPr/>
          <p:nvPr/>
        </p:nvSpPr>
        <p:spPr>
          <a:xfrm>
            <a:off x="822982" y="3072384"/>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634" name="Google Shape;2634;p125"/>
          <p:cNvSpPr txBox="1"/>
          <p:nvPr/>
        </p:nvSpPr>
        <p:spPr>
          <a:xfrm>
            <a:off x="918996" y="3127248"/>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671F"/>
                </a:solidFill>
                <a:latin typeface="Courier New"/>
                <a:ea typeface="Courier New"/>
                <a:cs typeface="Courier New"/>
                <a:sym typeface="Courier New"/>
              </a:rPr>
              <a:t>05</a:t>
            </a:r>
            <a:endParaRPr sz="1100"/>
          </a:p>
        </p:txBody>
      </p:sp>
      <p:sp>
        <p:nvSpPr>
          <p:cNvPr id="2635" name="Google Shape;2635;p125"/>
          <p:cNvSpPr txBox="1"/>
          <p:nvPr/>
        </p:nvSpPr>
        <p:spPr>
          <a:xfrm>
            <a:off x="918996" y="3278124"/>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Rovo (Atlassian Intelligence)</a:t>
            </a:r>
            <a:endParaRPr sz="1100"/>
          </a:p>
        </p:txBody>
      </p:sp>
      <p:sp>
        <p:nvSpPr>
          <p:cNvPr id="2636" name="Google Shape;2636;p125"/>
          <p:cNvSpPr txBox="1"/>
          <p:nvPr/>
        </p:nvSpPr>
        <p:spPr>
          <a:xfrm>
            <a:off x="918996" y="3634740"/>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Enterprise search, knowledge graphing. Connects Jira + Confluence.</a:t>
            </a:r>
            <a:endParaRPr sz="1100"/>
          </a:p>
        </p:txBody>
      </p:sp>
      <p:sp>
        <p:nvSpPr>
          <p:cNvPr id="2637" name="Google Shape;2637;p125"/>
          <p:cNvSpPr/>
          <p:nvPr/>
        </p:nvSpPr>
        <p:spPr>
          <a:xfrm>
            <a:off x="2853004" y="3072384"/>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638" name="Google Shape;2638;p125"/>
          <p:cNvSpPr txBox="1"/>
          <p:nvPr/>
        </p:nvSpPr>
        <p:spPr>
          <a:xfrm>
            <a:off x="2949019" y="3127248"/>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671F"/>
                </a:solidFill>
                <a:latin typeface="Courier New"/>
                <a:ea typeface="Courier New"/>
                <a:cs typeface="Courier New"/>
                <a:sym typeface="Courier New"/>
              </a:rPr>
              <a:t>06</a:t>
            </a:r>
            <a:endParaRPr sz="1100"/>
          </a:p>
        </p:txBody>
      </p:sp>
      <p:sp>
        <p:nvSpPr>
          <p:cNvPr id="2639" name="Google Shape;2639;p125"/>
          <p:cNvSpPr txBox="1"/>
          <p:nvPr/>
        </p:nvSpPr>
        <p:spPr>
          <a:xfrm>
            <a:off x="2949019" y="3278124"/>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Slack AI</a:t>
            </a:r>
            <a:endParaRPr sz="1100"/>
          </a:p>
        </p:txBody>
      </p:sp>
      <p:sp>
        <p:nvSpPr>
          <p:cNvPr id="2640" name="Google Shape;2640;p125"/>
          <p:cNvSpPr txBox="1"/>
          <p:nvPr/>
        </p:nvSpPr>
        <p:spPr>
          <a:xfrm>
            <a:off x="2949019" y="3634740"/>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Thread summarisation and workflow automation for ops teams.</a:t>
            </a:r>
            <a:endParaRPr sz="1100"/>
          </a:p>
        </p:txBody>
      </p:sp>
      <p:sp>
        <p:nvSpPr>
          <p:cNvPr id="2641" name="Google Shape;2641;p125"/>
          <p:cNvSpPr/>
          <p:nvPr/>
        </p:nvSpPr>
        <p:spPr>
          <a:xfrm>
            <a:off x="4883026" y="3072384"/>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642" name="Google Shape;2642;p125"/>
          <p:cNvSpPr txBox="1"/>
          <p:nvPr/>
        </p:nvSpPr>
        <p:spPr>
          <a:xfrm>
            <a:off x="4979041" y="3127248"/>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671F"/>
                </a:solidFill>
                <a:latin typeface="Courier New"/>
                <a:ea typeface="Courier New"/>
                <a:cs typeface="Courier New"/>
                <a:sym typeface="Courier New"/>
              </a:rPr>
              <a:t>07</a:t>
            </a:r>
            <a:endParaRPr sz="1100"/>
          </a:p>
        </p:txBody>
      </p:sp>
      <p:sp>
        <p:nvSpPr>
          <p:cNvPr id="2643" name="Google Shape;2643;p125"/>
          <p:cNvSpPr txBox="1"/>
          <p:nvPr/>
        </p:nvSpPr>
        <p:spPr>
          <a:xfrm>
            <a:off x="4979041" y="3278124"/>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DeepL</a:t>
            </a:r>
            <a:endParaRPr sz="1100"/>
          </a:p>
        </p:txBody>
      </p:sp>
      <p:sp>
        <p:nvSpPr>
          <p:cNvPr id="2644" name="Google Shape;2644;p125"/>
          <p:cNvSpPr txBox="1"/>
          <p:nvPr/>
        </p:nvSpPr>
        <p:spPr>
          <a:xfrm>
            <a:off x="4979041" y="3634740"/>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High-accuracy neural machine translation for global teams.</a:t>
            </a:r>
            <a:endParaRPr sz="1100"/>
          </a:p>
        </p:txBody>
      </p:sp>
      <p:sp>
        <p:nvSpPr>
          <p:cNvPr id="2645" name="Google Shape;2645;p125"/>
          <p:cNvSpPr/>
          <p:nvPr/>
        </p:nvSpPr>
        <p:spPr>
          <a:xfrm>
            <a:off x="6913048" y="3072384"/>
            <a:ext cx="1954582" cy="1179576"/>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646" name="Google Shape;2646;p125"/>
          <p:cNvSpPr txBox="1"/>
          <p:nvPr/>
        </p:nvSpPr>
        <p:spPr>
          <a:xfrm>
            <a:off x="7009063" y="3127248"/>
            <a:ext cx="342909"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900" u="none" cap="none" strike="noStrike">
                <a:solidFill>
                  <a:srgbClr val="FF671F"/>
                </a:solidFill>
                <a:latin typeface="Courier New"/>
                <a:ea typeface="Courier New"/>
                <a:cs typeface="Courier New"/>
                <a:sym typeface="Courier New"/>
              </a:rPr>
              <a:t>08</a:t>
            </a:r>
            <a:endParaRPr sz="1100"/>
          </a:p>
        </p:txBody>
      </p:sp>
      <p:sp>
        <p:nvSpPr>
          <p:cNvPr id="2647" name="Google Shape;2647;p125"/>
          <p:cNvSpPr txBox="1"/>
          <p:nvPr/>
        </p:nvSpPr>
        <p:spPr>
          <a:xfrm>
            <a:off x="7009063" y="3278124"/>
            <a:ext cx="1762553" cy="30861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u="none" cap="none" strike="noStrike">
                <a:solidFill>
                  <a:srgbClr val="1B1F2A"/>
                </a:solidFill>
                <a:latin typeface="Manrope"/>
                <a:ea typeface="Manrope"/>
                <a:cs typeface="Manrope"/>
                <a:sym typeface="Manrope"/>
              </a:rPr>
              <a:t>Miro</a:t>
            </a:r>
            <a:endParaRPr sz="1100"/>
          </a:p>
        </p:txBody>
      </p:sp>
      <p:sp>
        <p:nvSpPr>
          <p:cNvPr id="2648" name="Google Shape;2648;p125"/>
          <p:cNvSpPr txBox="1"/>
          <p:nvPr/>
        </p:nvSpPr>
        <p:spPr>
          <a:xfrm>
            <a:off x="7009063" y="3634740"/>
            <a:ext cx="1762553" cy="58293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AI whiteboarding and diagramming. Approved with conditions — configure opt-out.</a:t>
            </a:r>
            <a:endParaRPr sz="1100"/>
          </a:p>
        </p:txBody>
      </p:sp>
      <p:sp>
        <p:nvSpPr>
          <p:cNvPr id="2649" name="Google Shape;2649;p125"/>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3" name="Shape 2653"/>
        <p:cNvGrpSpPr/>
        <p:nvPr/>
      </p:nvGrpSpPr>
      <p:grpSpPr>
        <a:xfrm>
          <a:off x="0" y="0"/>
          <a:ext cx="0" cy="0"/>
          <a:chOff x="0" y="0"/>
          <a:chExt cx="0" cy="0"/>
        </a:xfrm>
      </p:grpSpPr>
      <p:sp>
        <p:nvSpPr>
          <p:cNvPr id="2654" name="Google Shape;2654;p126"/>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u="none" cap="none" strike="noStrike">
                <a:solidFill>
                  <a:srgbClr val="1B1F2A"/>
                </a:solidFill>
                <a:latin typeface="Manrope"/>
                <a:ea typeface="Manrope"/>
                <a:cs typeface="Manrope"/>
                <a:sym typeface="Manrope"/>
              </a:rPr>
              <a:t>GlobalLogic</a:t>
            </a:r>
            <a:endParaRPr sz="1100"/>
          </a:p>
        </p:txBody>
      </p:sp>
      <p:sp>
        <p:nvSpPr>
          <p:cNvPr id="2655" name="Google Shape;2655;p126"/>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Manrope"/>
                <a:ea typeface="Manrope"/>
                <a:cs typeface="Manrope"/>
                <a:sym typeface="Manrope"/>
              </a:rPr>
              <a:t>A Hitachi Group Company</a:t>
            </a:r>
            <a:endParaRPr sz="1100"/>
          </a:p>
        </p:txBody>
      </p:sp>
      <p:sp>
        <p:nvSpPr>
          <p:cNvPr id="2656" name="Google Shape;2656;p126"/>
          <p:cNvSpPr txBox="1"/>
          <p:nvPr/>
        </p:nvSpPr>
        <p:spPr>
          <a:xfrm>
            <a:off x="822982" y="720090"/>
            <a:ext cx="685818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u="none" cap="none" strike="noStrike">
                <a:solidFill>
                  <a:srgbClr val="FF671F"/>
                </a:solidFill>
                <a:latin typeface="Courier New"/>
                <a:ea typeface="Courier New"/>
                <a:cs typeface="Courier New"/>
                <a:sym typeface="Courier New"/>
              </a:rPr>
              <a:t>ETHICS &amp; GOVERNANCE  ·  DEVELOPER FRAMEWORK</a:t>
            </a:r>
            <a:endParaRPr sz="1100"/>
          </a:p>
        </p:txBody>
      </p:sp>
      <p:sp>
        <p:nvSpPr>
          <p:cNvPr id="2657" name="Google Shape;2657;p126"/>
          <p:cNvSpPr txBox="1"/>
          <p:nvPr/>
        </p:nvSpPr>
        <p:spPr>
          <a:xfrm>
            <a:off x="822982" y="946404"/>
            <a:ext cx="7406837"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u="none" cap="none" strike="noStrike">
                <a:solidFill>
                  <a:srgbClr val="1B1F2A"/>
                </a:solidFill>
                <a:latin typeface="Manrope"/>
                <a:ea typeface="Manrope"/>
                <a:cs typeface="Manrope"/>
                <a:sym typeface="Manrope"/>
              </a:rPr>
              <a:t>LISA: The Developer's AI Ethics Checklist.</a:t>
            </a:r>
            <a:endParaRPr sz="1100"/>
          </a:p>
        </p:txBody>
      </p:sp>
      <p:sp>
        <p:nvSpPr>
          <p:cNvPr id="2658" name="Google Shape;2658;p126"/>
          <p:cNvSpPr txBox="1"/>
          <p:nvPr/>
        </p:nvSpPr>
        <p:spPr>
          <a:xfrm>
            <a:off x="822982" y="1426464"/>
            <a:ext cx="7406837" cy="228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u="none" cap="none" strike="noStrike">
                <a:solidFill>
                  <a:srgbClr val="8B95A6"/>
                </a:solidFill>
                <a:latin typeface="Manrope"/>
                <a:ea typeface="Manrope"/>
                <a:cs typeface="Manrope"/>
                <a:sym typeface="Manrope"/>
              </a:rPr>
              <a:t>Four questions every developer must be able to answer before shipping any AI-powered feature to production. Run LISA at design, at code review, and at every model swap.</a:t>
            </a:r>
            <a:endParaRPr sz="1100"/>
          </a:p>
        </p:txBody>
      </p:sp>
      <p:sp>
        <p:nvSpPr>
          <p:cNvPr id="2659" name="Google Shape;2659;p126"/>
          <p:cNvSpPr/>
          <p:nvPr/>
        </p:nvSpPr>
        <p:spPr>
          <a:xfrm>
            <a:off x="625913" y="1851660"/>
            <a:ext cx="2023200" cy="2777400"/>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660" name="Google Shape;2660;p126"/>
          <p:cNvSpPr txBox="1"/>
          <p:nvPr/>
        </p:nvSpPr>
        <p:spPr>
          <a:xfrm>
            <a:off x="728786" y="1920240"/>
            <a:ext cx="582900" cy="715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4200" u="none" cap="none" strike="noStrike">
                <a:solidFill>
                  <a:srgbClr val="FFFFFF"/>
                </a:solidFill>
                <a:latin typeface="Manrope"/>
                <a:ea typeface="Manrope"/>
                <a:cs typeface="Manrope"/>
                <a:sym typeface="Manrope"/>
              </a:rPr>
              <a:t>L</a:t>
            </a:r>
            <a:endParaRPr sz="1100"/>
          </a:p>
        </p:txBody>
      </p:sp>
      <p:sp>
        <p:nvSpPr>
          <p:cNvPr id="2661" name="Google Shape;2661;p126"/>
          <p:cNvSpPr txBox="1"/>
          <p:nvPr/>
        </p:nvSpPr>
        <p:spPr>
          <a:xfrm>
            <a:off x="728786" y="2455164"/>
            <a:ext cx="18174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400" u="none" cap="none" strike="noStrike">
                <a:solidFill>
                  <a:srgbClr val="FFFFFF"/>
                </a:solidFill>
                <a:latin typeface="Manrope"/>
                <a:ea typeface="Manrope"/>
                <a:cs typeface="Manrope"/>
                <a:sym typeface="Manrope"/>
              </a:rPr>
              <a:t>Legal</a:t>
            </a:r>
            <a:endParaRPr sz="1100"/>
          </a:p>
        </p:txBody>
      </p:sp>
      <p:sp>
        <p:nvSpPr>
          <p:cNvPr id="2662" name="Google Shape;2662;p126"/>
          <p:cNvSpPr txBox="1"/>
          <p:nvPr/>
        </p:nvSpPr>
        <p:spPr>
          <a:xfrm>
            <a:off x="728786" y="2660904"/>
            <a:ext cx="18174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1" lang="en-GB" sz="900" u="none" cap="none" strike="noStrike">
                <a:solidFill>
                  <a:srgbClr val="FFFFFF"/>
                </a:solidFill>
                <a:latin typeface="Manrope"/>
                <a:ea typeface="Manrope"/>
                <a:cs typeface="Manrope"/>
                <a:sym typeface="Manrope"/>
              </a:rPr>
              <a:t>Is it compliant?</a:t>
            </a:r>
            <a:endParaRPr sz="1100"/>
          </a:p>
        </p:txBody>
      </p:sp>
      <p:sp>
        <p:nvSpPr>
          <p:cNvPr id="2663" name="Google Shape;2663;p126"/>
          <p:cNvSpPr/>
          <p:nvPr/>
        </p:nvSpPr>
        <p:spPr>
          <a:xfrm>
            <a:off x="728786" y="2894076"/>
            <a:ext cx="1817400" cy="207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664" name="Google Shape;2664;p126"/>
          <p:cNvSpPr txBox="1"/>
          <p:nvPr/>
        </p:nvSpPr>
        <p:spPr>
          <a:xfrm>
            <a:off x="728786" y="2983230"/>
            <a:ext cx="18174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FFFFFF"/>
                </a:solidFill>
                <a:latin typeface="Manrope"/>
                <a:ea typeface="Manrope"/>
                <a:cs typeface="Manrope"/>
                <a:sym typeface="Manrope"/>
              </a:rPr>
              <a:t>→  GDPR / CCPA / HIPAA — which apply?</a:t>
            </a:r>
            <a:endParaRPr sz="1100"/>
          </a:p>
        </p:txBody>
      </p:sp>
      <p:sp>
        <p:nvSpPr>
          <p:cNvPr id="2665" name="Google Shape;2665;p126"/>
          <p:cNvSpPr txBox="1"/>
          <p:nvPr/>
        </p:nvSpPr>
        <p:spPr>
          <a:xfrm>
            <a:off x="728786" y="3339846"/>
            <a:ext cx="18174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FFFFFF"/>
                </a:solidFill>
                <a:latin typeface="Manrope"/>
                <a:ea typeface="Manrope"/>
                <a:cs typeface="Manrope"/>
                <a:sym typeface="Manrope"/>
              </a:rPr>
              <a:t>→  Is this tool on the approved list?</a:t>
            </a:r>
            <a:endParaRPr sz="1100"/>
          </a:p>
        </p:txBody>
      </p:sp>
      <p:sp>
        <p:nvSpPr>
          <p:cNvPr id="2666" name="Google Shape;2666;p126"/>
          <p:cNvSpPr txBox="1"/>
          <p:nvPr/>
        </p:nvSpPr>
        <p:spPr>
          <a:xfrm>
            <a:off x="728786" y="3696462"/>
            <a:ext cx="18174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FFFFFF"/>
                </a:solidFill>
                <a:latin typeface="Manrope"/>
                <a:ea typeface="Manrope"/>
                <a:cs typeface="Manrope"/>
                <a:sym typeface="Manrope"/>
              </a:rPr>
              <a:t>→  Is data leaving the approved region?</a:t>
            </a:r>
            <a:endParaRPr sz="1100"/>
          </a:p>
        </p:txBody>
      </p:sp>
      <p:sp>
        <p:nvSpPr>
          <p:cNvPr id="2667" name="Google Shape;2667;p126"/>
          <p:cNvSpPr txBox="1"/>
          <p:nvPr/>
        </p:nvSpPr>
        <p:spPr>
          <a:xfrm>
            <a:off x="728786" y="4053078"/>
            <a:ext cx="18174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FFFFFF"/>
                </a:solidFill>
                <a:latin typeface="Manrope"/>
                <a:ea typeface="Manrope"/>
                <a:cs typeface="Manrope"/>
                <a:sym typeface="Manrope"/>
              </a:rPr>
              <a:t>→  Has legal reviewed the use case?</a:t>
            </a:r>
            <a:endParaRPr sz="1100"/>
          </a:p>
        </p:txBody>
      </p:sp>
      <p:sp>
        <p:nvSpPr>
          <p:cNvPr id="2668" name="Google Shape;2668;p126"/>
          <p:cNvSpPr/>
          <p:nvPr/>
        </p:nvSpPr>
        <p:spPr>
          <a:xfrm>
            <a:off x="2745091" y="1851660"/>
            <a:ext cx="2023200" cy="27774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669" name="Google Shape;2669;p126"/>
          <p:cNvSpPr txBox="1"/>
          <p:nvPr/>
        </p:nvSpPr>
        <p:spPr>
          <a:xfrm>
            <a:off x="2847964" y="1920240"/>
            <a:ext cx="582900" cy="715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4200" u="none" cap="none" strike="noStrike">
                <a:solidFill>
                  <a:srgbClr val="FFFFFF"/>
                </a:solidFill>
                <a:latin typeface="Manrope"/>
                <a:ea typeface="Manrope"/>
                <a:cs typeface="Manrope"/>
                <a:sym typeface="Manrope"/>
              </a:rPr>
              <a:t>I</a:t>
            </a:r>
            <a:endParaRPr sz="1100"/>
          </a:p>
        </p:txBody>
      </p:sp>
      <p:sp>
        <p:nvSpPr>
          <p:cNvPr id="2670" name="Google Shape;2670;p126"/>
          <p:cNvSpPr txBox="1"/>
          <p:nvPr/>
        </p:nvSpPr>
        <p:spPr>
          <a:xfrm>
            <a:off x="2847964" y="2455164"/>
            <a:ext cx="18174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400" u="none" cap="none" strike="noStrike">
                <a:solidFill>
                  <a:srgbClr val="FFFFFF"/>
                </a:solidFill>
                <a:latin typeface="Manrope"/>
                <a:ea typeface="Manrope"/>
                <a:cs typeface="Manrope"/>
                <a:sym typeface="Manrope"/>
              </a:rPr>
              <a:t>Impact</a:t>
            </a:r>
            <a:endParaRPr sz="1100"/>
          </a:p>
        </p:txBody>
      </p:sp>
      <p:sp>
        <p:nvSpPr>
          <p:cNvPr id="2671" name="Google Shape;2671;p126"/>
          <p:cNvSpPr txBox="1"/>
          <p:nvPr/>
        </p:nvSpPr>
        <p:spPr>
          <a:xfrm>
            <a:off x="2847964" y="2660904"/>
            <a:ext cx="18174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1" lang="en-GB" sz="900" u="none" cap="none" strike="noStrike">
                <a:solidFill>
                  <a:srgbClr val="FFFFFF"/>
                </a:solidFill>
                <a:latin typeface="Manrope"/>
                <a:ea typeface="Manrope"/>
                <a:cs typeface="Manrope"/>
                <a:sym typeface="Manrope"/>
              </a:rPr>
              <a:t>Who is affected?</a:t>
            </a:r>
            <a:endParaRPr sz="1100"/>
          </a:p>
        </p:txBody>
      </p:sp>
      <p:sp>
        <p:nvSpPr>
          <p:cNvPr id="2672" name="Google Shape;2672;p126"/>
          <p:cNvSpPr/>
          <p:nvPr/>
        </p:nvSpPr>
        <p:spPr>
          <a:xfrm>
            <a:off x="2847964" y="2894076"/>
            <a:ext cx="1817400" cy="207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673" name="Google Shape;2673;p126"/>
          <p:cNvSpPr txBox="1"/>
          <p:nvPr/>
        </p:nvSpPr>
        <p:spPr>
          <a:xfrm>
            <a:off x="2847964" y="2983230"/>
            <a:ext cx="18174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FFFFFF"/>
                </a:solidFill>
                <a:latin typeface="Manrope"/>
                <a:ea typeface="Manrope"/>
                <a:cs typeface="Manrope"/>
                <a:sym typeface="Manrope"/>
              </a:rPr>
              <a:t>→  Who benefits — and who bears risk?</a:t>
            </a:r>
            <a:endParaRPr sz="1100"/>
          </a:p>
        </p:txBody>
      </p:sp>
      <p:sp>
        <p:nvSpPr>
          <p:cNvPr id="2674" name="Google Shape;2674;p126"/>
          <p:cNvSpPr txBox="1"/>
          <p:nvPr/>
        </p:nvSpPr>
        <p:spPr>
          <a:xfrm>
            <a:off x="2847964" y="3339846"/>
            <a:ext cx="18174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FFFFFF"/>
                </a:solidFill>
                <a:latin typeface="Manrope"/>
                <a:ea typeface="Manrope"/>
                <a:cs typeface="Manrope"/>
                <a:sym typeface="Manrope"/>
              </a:rPr>
              <a:t>→  Is there training-data bias to audit?</a:t>
            </a:r>
            <a:endParaRPr sz="1100"/>
          </a:p>
        </p:txBody>
      </p:sp>
      <p:sp>
        <p:nvSpPr>
          <p:cNvPr id="2675" name="Google Shape;2675;p126"/>
          <p:cNvSpPr txBox="1"/>
          <p:nvPr/>
        </p:nvSpPr>
        <p:spPr>
          <a:xfrm>
            <a:off x="2847964" y="3696462"/>
            <a:ext cx="18174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FFFFFF"/>
                </a:solidFill>
                <a:latin typeface="Manrope"/>
                <a:ea typeface="Manrope"/>
                <a:cs typeface="Manrope"/>
                <a:sym typeface="Manrope"/>
              </a:rPr>
              <a:t>→  Does it create or reduce a digital divide?</a:t>
            </a:r>
            <a:endParaRPr sz="1100"/>
          </a:p>
        </p:txBody>
      </p:sp>
      <p:sp>
        <p:nvSpPr>
          <p:cNvPr id="2676" name="Google Shape;2676;p126"/>
          <p:cNvSpPr txBox="1"/>
          <p:nvPr/>
        </p:nvSpPr>
        <p:spPr>
          <a:xfrm>
            <a:off x="2847964" y="4053078"/>
            <a:ext cx="18174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FFFFFF"/>
                </a:solidFill>
                <a:latin typeface="Manrope"/>
                <a:ea typeface="Manrope"/>
                <a:cs typeface="Manrope"/>
                <a:sym typeface="Manrope"/>
              </a:rPr>
              <a:t>→  Are users informed they're talking to AI?</a:t>
            </a:r>
            <a:endParaRPr sz="1100"/>
          </a:p>
        </p:txBody>
      </p:sp>
      <p:sp>
        <p:nvSpPr>
          <p:cNvPr id="2677" name="Google Shape;2677;p126"/>
          <p:cNvSpPr/>
          <p:nvPr/>
        </p:nvSpPr>
        <p:spPr>
          <a:xfrm>
            <a:off x="4864270" y="1851660"/>
            <a:ext cx="2023200" cy="2777400"/>
          </a:xfrm>
          <a:prstGeom prst="rect">
            <a:avLst/>
          </a:prstGeom>
          <a:solidFill>
            <a:srgbClr val="2BB1A6"/>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678" name="Google Shape;2678;p126"/>
          <p:cNvSpPr txBox="1"/>
          <p:nvPr/>
        </p:nvSpPr>
        <p:spPr>
          <a:xfrm>
            <a:off x="4967143" y="1920240"/>
            <a:ext cx="582900" cy="715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4200" u="none" cap="none" strike="noStrike">
                <a:solidFill>
                  <a:srgbClr val="FFFFFF"/>
                </a:solidFill>
                <a:latin typeface="Manrope"/>
                <a:ea typeface="Manrope"/>
                <a:cs typeface="Manrope"/>
                <a:sym typeface="Manrope"/>
              </a:rPr>
              <a:t>S</a:t>
            </a:r>
            <a:endParaRPr sz="1100"/>
          </a:p>
        </p:txBody>
      </p:sp>
      <p:sp>
        <p:nvSpPr>
          <p:cNvPr id="2679" name="Google Shape;2679;p126"/>
          <p:cNvSpPr txBox="1"/>
          <p:nvPr/>
        </p:nvSpPr>
        <p:spPr>
          <a:xfrm>
            <a:off x="4967143" y="2455164"/>
            <a:ext cx="18174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400" u="none" cap="none" strike="noStrike">
                <a:solidFill>
                  <a:srgbClr val="FFFFFF"/>
                </a:solidFill>
                <a:latin typeface="Manrope"/>
                <a:ea typeface="Manrope"/>
                <a:cs typeface="Manrope"/>
                <a:sym typeface="Manrope"/>
              </a:rPr>
              <a:t>Security</a:t>
            </a:r>
            <a:endParaRPr sz="1100"/>
          </a:p>
        </p:txBody>
      </p:sp>
      <p:sp>
        <p:nvSpPr>
          <p:cNvPr id="2680" name="Google Shape;2680;p126"/>
          <p:cNvSpPr txBox="1"/>
          <p:nvPr/>
        </p:nvSpPr>
        <p:spPr>
          <a:xfrm>
            <a:off x="4967143" y="2660904"/>
            <a:ext cx="18174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1" lang="en-GB" sz="900" u="none" cap="none" strike="noStrike">
                <a:solidFill>
                  <a:srgbClr val="FFFFFF"/>
                </a:solidFill>
                <a:latin typeface="Manrope"/>
                <a:ea typeface="Manrope"/>
                <a:cs typeface="Manrope"/>
                <a:sym typeface="Manrope"/>
              </a:rPr>
              <a:t>Is data protected?</a:t>
            </a:r>
            <a:endParaRPr sz="1100"/>
          </a:p>
        </p:txBody>
      </p:sp>
      <p:sp>
        <p:nvSpPr>
          <p:cNvPr id="2681" name="Google Shape;2681;p126"/>
          <p:cNvSpPr/>
          <p:nvPr/>
        </p:nvSpPr>
        <p:spPr>
          <a:xfrm>
            <a:off x="4967143" y="2894076"/>
            <a:ext cx="1817400" cy="207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682" name="Google Shape;2682;p126"/>
          <p:cNvSpPr txBox="1"/>
          <p:nvPr/>
        </p:nvSpPr>
        <p:spPr>
          <a:xfrm>
            <a:off x="4967143" y="2983230"/>
            <a:ext cx="18174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FFFFFF"/>
                </a:solidFill>
                <a:latin typeface="Manrope"/>
                <a:ea typeface="Manrope"/>
                <a:cs typeface="Manrope"/>
                <a:sym typeface="Manrope"/>
              </a:rPr>
              <a:t>→  Where does input data go? Who sees it?</a:t>
            </a:r>
            <a:endParaRPr sz="1100"/>
          </a:p>
        </p:txBody>
      </p:sp>
      <p:sp>
        <p:nvSpPr>
          <p:cNvPr id="2683" name="Google Shape;2683;p126"/>
          <p:cNvSpPr txBox="1"/>
          <p:nvPr/>
        </p:nvSpPr>
        <p:spPr>
          <a:xfrm>
            <a:off x="4967143" y="3339846"/>
            <a:ext cx="18174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FFFFFF"/>
                </a:solidFill>
                <a:latin typeface="Manrope"/>
                <a:ea typeface="Manrope"/>
                <a:cs typeface="Manrope"/>
                <a:sym typeface="Manrope"/>
              </a:rPr>
              <a:t>→  Is PII redacted before it hits the model?</a:t>
            </a:r>
            <a:endParaRPr sz="1100"/>
          </a:p>
        </p:txBody>
      </p:sp>
      <p:sp>
        <p:nvSpPr>
          <p:cNvPr id="2684" name="Google Shape;2684;p126"/>
          <p:cNvSpPr txBox="1"/>
          <p:nvPr/>
        </p:nvSpPr>
        <p:spPr>
          <a:xfrm>
            <a:off x="4967143" y="3696462"/>
            <a:ext cx="18174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FFFFFF"/>
                </a:solidFill>
                <a:latin typeface="Manrope"/>
                <a:ea typeface="Manrope"/>
                <a:cs typeface="Manrope"/>
                <a:sym typeface="Manrope"/>
              </a:rPr>
              <a:t>→  What is the vendor's data retention policy?</a:t>
            </a:r>
            <a:endParaRPr sz="1100"/>
          </a:p>
        </p:txBody>
      </p:sp>
      <p:sp>
        <p:nvSpPr>
          <p:cNvPr id="2685" name="Google Shape;2685;p126"/>
          <p:cNvSpPr txBox="1"/>
          <p:nvPr/>
        </p:nvSpPr>
        <p:spPr>
          <a:xfrm>
            <a:off x="4967143" y="4053078"/>
            <a:ext cx="18174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FFFFFF"/>
                </a:solidFill>
                <a:latin typeface="Manrope"/>
                <a:ea typeface="Manrope"/>
                <a:cs typeface="Manrope"/>
                <a:sym typeface="Manrope"/>
              </a:rPr>
              <a:t>→  Is there a prompt-injection attack surface?</a:t>
            </a:r>
            <a:endParaRPr sz="1100"/>
          </a:p>
        </p:txBody>
      </p:sp>
      <p:sp>
        <p:nvSpPr>
          <p:cNvPr id="2686" name="Google Shape;2686;p126"/>
          <p:cNvSpPr/>
          <p:nvPr/>
        </p:nvSpPr>
        <p:spPr>
          <a:xfrm>
            <a:off x="6983448" y="1851660"/>
            <a:ext cx="2023200" cy="2777400"/>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687" name="Google Shape;2687;p126"/>
          <p:cNvSpPr txBox="1"/>
          <p:nvPr/>
        </p:nvSpPr>
        <p:spPr>
          <a:xfrm>
            <a:off x="7086321" y="1920240"/>
            <a:ext cx="582900" cy="715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4200" u="none" cap="none" strike="noStrike">
                <a:solidFill>
                  <a:srgbClr val="FFFFFF"/>
                </a:solidFill>
                <a:latin typeface="Manrope"/>
                <a:ea typeface="Manrope"/>
                <a:cs typeface="Manrope"/>
                <a:sym typeface="Manrope"/>
              </a:rPr>
              <a:t>A</a:t>
            </a:r>
            <a:endParaRPr sz="1100"/>
          </a:p>
        </p:txBody>
      </p:sp>
      <p:sp>
        <p:nvSpPr>
          <p:cNvPr id="2688" name="Google Shape;2688;p126"/>
          <p:cNvSpPr txBox="1"/>
          <p:nvPr/>
        </p:nvSpPr>
        <p:spPr>
          <a:xfrm>
            <a:off x="7086321" y="2455164"/>
            <a:ext cx="1817400" cy="284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400" u="none" cap="none" strike="noStrike">
                <a:solidFill>
                  <a:srgbClr val="FFFFFF"/>
                </a:solidFill>
                <a:latin typeface="Manrope"/>
                <a:ea typeface="Manrope"/>
                <a:cs typeface="Manrope"/>
                <a:sym typeface="Manrope"/>
              </a:rPr>
              <a:t>Accountability</a:t>
            </a:r>
            <a:endParaRPr sz="1100"/>
          </a:p>
        </p:txBody>
      </p:sp>
      <p:sp>
        <p:nvSpPr>
          <p:cNvPr id="2689" name="Google Shape;2689;p126"/>
          <p:cNvSpPr txBox="1"/>
          <p:nvPr/>
        </p:nvSpPr>
        <p:spPr>
          <a:xfrm>
            <a:off x="7086321" y="2660904"/>
            <a:ext cx="18174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1" lang="en-GB" sz="900" u="none" cap="none" strike="noStrike">
                <a:solidFill>
                  <a:srgbClr val="FFFFFF"/>
                </a:solidFill>
                <a:latin typeface="Manrope"/>
                <a:ea typeface="Manrope"/>
                <a:cs typeface="Manrope"/>
                <a:sym typeface="Manrope"/>
              </a:rPr>
              <a:t>Who owns the outcome?</a:t>
            </a:r>
            <a:endParaRPr sz="1100"/>
          </a:p>
        </p:txBody>
      </p:sp>
      <p:sp>
        <p:nvSpPr>
          <p:cNvPr id="2690" name="Google Shape;2690;p126"/>
          <p:cNvSpPr/>
          <p:nvPr/>
        </p:nvSpPr>
        <p:spPr>
          <a:xfrm>
            <a:off x="7086321" y="2894076"/>
            <a:ext cx="1817400" cy="20700"/>
          </a:xfrm>
          <a:prstGeom prst="rect">
            <a:avLst/>
          </a:prstGeom>
          <a:solidFill>
            <a:srgbClr val="FFFFF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691" name="Google Shape;2691;p126"/>
          <p:cNvSpPr txBox="1"/>
          <p:nvPr/>
        </p:nvSpPr>
        <p:spPr>
          <a:xfrm>
            <a:off x="7086321" y="2983230"/>
            <a:ext cx="18174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FFFFFF"/>
                </a:solidFill>
                <a:latin typeface="Manrope"/>
                <a:ea typeface="Manrope"/>
                <a:cs typeface="Manrope"/>
                <a:sym typeface="Manrope"/>
              </a:rPr>
              <a:t>→  Named person responsible for output?</a:t>
            </a:r>
            <a:endParaRPr sz="1100"/>
          </a:p>
        </p:txBody>
      </p:sp>
      <p:sp>
        <p:nvSpPr>
          <p:cNvPr id="2692" name="Google Shape;2692;p126"/>
          <p:cNvSpPr txBox="1"/>
          <p:nvPr/>
        </p:nvSpPr>
        <p:spPr>
          <a:xfrm>
            <a:off x="7086321" y="3339846"/>
            <a:ext cx="18174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FFFFFF"/>
                </a:solidFill>
                <a:latin typeface="Manrope"/>
                <a:ea typeface="Manrope"/>
                <a:cs typeface="Manrope"/>
                <a:sym typeface="Manrope"/>
              </a:rPr>
              <a:t>→  Is there a human review gate before action?</a:t>
            </a:r>
            <a:endParaRPr sz="1100"/>
          </a:p>
        </p:txBody>
      </p:sp>
      <p:sp>
        <p:nvSpPr>
          <p:cNvPr id="2693" name="Google Shape;2693;p126"/>
          <p:cNvSpPr txBox="1"/>
          <p:nvPr/>
        </p:nvSpPr>
        <p:spPr>
          <a:xfrm>
            <a:off x="7086321" y="3696462"/>
            <a:ext cx="18174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FFFFFF"/>
                </a:solidFill>
                <a:latin typeface="Manrope"/>
                <a:ea typeface="Manrope"/>
                <a:cs typeface="Manrope"/>
                <a:sym typeface="Manrope"/>
              </a:rPr>
              <a:t>→  Can every decision be explained + audited?</a:t>
            </a:r>
            <a:endParaRPr sz="1100"/>
          </a:p>
        </p:txBody>
      </p:sp>
      <p:sp>
        <p:nvSpPr>
          <p:cNvPr id="2694" name="Google Shape;2694;p126"/>
          <p:cNvSpPr txBox="1"/>
          <p:nvPr/>
        </p:nvSpPr>
        <p:spPr>
          <a:xfrm>
            <a:off x="7086321" y="4053078"/>
            <a:ext cx="1817400" cy="346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900" u="none" cap="none" strike="noStrike">
                <a:solidFill>
                  <a:srgbClr val="FFFFFF"/>
                </a:solidFill>
                <a:latin typeface="Manrope"/>
                <a:ea typeface="Manrope"/>
                <a:cs typeface="Manrope"/>
                <a:sym typeface="Manrope"/>
              </a:rPr>
              <a:t>→  What is the kill-switch procedure?</a:t>
            </a:r>
            <a:endParaRPr sz="1100"/>
          </a:p>
        </p:txBody>
      </p:sp>
      <p:sp>
        <p:nvSpPr>
          <p:cNvPr id="2695" name="Google Shape;2695;p126"/>
          <p:cNvSpPr/>
          <p:nvPr/>
        </p:nvSpPr>
        <p:spPr>
          <a:xfrm>
            <a:off x="822982" y="4718304"/>
            <a:ext cx="8024074" cy="27432"/>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2696" name="Google Shape;2696;p126"/>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u="none" cap="none" strike="noStrike">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0" name="Shape 2700"/>
        <p:cNvGrpSpPr/>
        <p:nvPr/>
      </p:nvGrpSpPr>
      <p:grpSpPr>
        <a:xfrm>
          <a:off x="0" y="0"/>
          <a:ext cx="0" cy="0"/>
          <a:chOff x="0" y="0"/>
          <a:chExt cx="0" cy="0"/>
        </a:xfrm>
      </p:grpSpPr>
      <p:sp>
        <p:nvSpPr>
          <p:cNvPr id="2701" name="Google Shape;2701;p127"/>
          <p:cNvSpPr/>
          <p:nvPr/>
        </p:nvSpPr>
        <p:spPr>
          <a:xfrm>
            <a:off x="21897" y="0"/>
            <a:ext cx="9144000" cy="5143500"/>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702" name="Google Shape;2702;p127"/>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FFFFFF"/>
                </a:solidFill>
                <a:latin typeface="Manrope"/>
                <a:ea typeface="Manrope"/>
                <a:cs typeface="Manrope"/>
                <a:sym typeface="Manrope"/>
              </a:rPr>
              <a:t>GlobalLogic</a:t>
            </a:r>
            <a:endParaRPr sz="1100"/>
          </a:p>
        </p:txBody>
      </p:sp>
      <p:sp>
        <p:nvSpPr>
          <p:cNvPr id="2703" name="Google Shape;2703;p127"/>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C9CFD8"/>
                </a:solidFill>
                <a:latin typeface="Manrope"/>
                <a:ea typeface="Manrope"/>
                <a:cs typeface="Manrope"/>
                <a:sym typeface="Manrope"/>
              </a:rPr>
              <a:t>A Hitachi Group Company</a:t>
            </a:r>
            <a:endParaRPr sz="1100"/>
          </a:p>
        </p:txBody>
      </p:sp>
      <p:sp>
        <p:nvSpPr>
          <p:cNvPr id="2704" name="Google Shape;2704;p127"/>
          <p:cNvSpPr txBox="1"/>
          <p:nvPr/>
        </p:nvSpPr>
        <p:spPr>
          <a:xfrm>
            <a:off x="822982" y="1714500"/>
            <a:ext cx="6172500" cy="1639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5100">
                <a:solidFill>
                  <a:srgbClr val="FFFFFF"/>
                </a:solidFill>
                <a:latin typeface="Manrope"/>
                <a:ea typeface="Manrope"/>
                <a:cs typeface="Manrope"/>
                <a:sym typeface="Manrope"/>
              </a:rPr>
              <a:t>AI Across the</a:t>
            </a:r>
            <a:br>
              <a:rPr b="1" i="0" lang="en-GB" sz="5100">
                <a:solidFill>
                  <a:srgbClr val="FFFFFF"/>
                </a:solidFill>
                <a:latin typeface="Manrope"/>
                <a:ea typeface="Manrope"/>
                <a:cs typeface="Manrope"/>
                <a:sym typeface="Manrope"/>
              </a:rPr>
            </a:br>
            <a:r>
              <a:rPr b="1" i="0" lang="en-GB" sz="5100">
                <a:solidFill>
                  <a:srgbClr val="FFFFFF"/>
                </a:solidFill>
                <a:latin typeface="Manrope"/>
                <a:ea typeface="Manrope"/>
                <a:cs typeface="Manrope"/>
                <a:sym typeface="Manrope"/>
              </a:rPr>
              <a:t>SDLC.</a:t>
            </a:r>
            <a:endParaRPr sz="200"/>
          </a:p>
        </p:txBody>
      </p:sp>
      <p:sp>
        <p:nvSpPr>
          <p:cNvPr id="2705" name="Google Shape;2705;p127"/>
          <p:cNvSpPr txBox="1"/>
          <p:nvPr/>
        </p:nvSpPr>
        <p:spPr>
          <a:xfrm>
            <a:off x="822982" y="3429000"/>
            <a:ext cx="61725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100"/>
          </a:p>
        </p:txBody>
      </p:sp>
      <p:sp>
        <p:nvSpPr>
          <p:cNvPr id="2706" name="Google Shape;2706;p127"/>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FFFFFF"/>
                </a:solidFill>
                <a:latin typeface="Courier New"/>
                <a:ea typeface="Courier New"/>
                <a:cs typeface="Courier New"/>
                <a:sym typeface="Courier New"/>
              </a:rPr>
              <a:t>globallogic.com</a:t>
            </a:r>
            <a:endParaRPr sz="1100"/>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0" name="Shape 2710"/>
        <p:cNvGrpSpPr/>
        <p:nvPr/>
      </p:nvGrpSpPr>
      <p:grpSpPr>
        <a:xfrm>
          <a:off x="0" y="0"/>
          <a:ext cx="0" cy="0"/>
          <a:chOff x="0" y="0"/>
          <a:chExt cx="0" cy="0"/>
        </a:xfrm>
      </p:grpSpPr>
      <p:sp>
        <p:nvSpPr>
          <p:cNvPr id="2711" name="Google Shape;2711;p128"/>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2712" name="Google Shape;2712;p128"/>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2713" name="Google Shape;2713;p128"/>
          <p:cNvSpPr txBox="1"/>
          <p:nvPr/>
        </p:nvSpPr>
        <p:spPr>
          <a:xfrm>
            <a:off x="822982" y="720090"/>
            <a:ext cx="5486546"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800">
                <a:solidFill>
                  <a:srgbClr val="FF671F"/>
                </a:solidFill>
                <a:latin typeface="Courier New"/>
                <a:ea typeface="Courier New"/>
                <a:cs typeface="Courier New"/>
                <a:sym typeface="Courier New"/>
              </a:rPr>
              <a:t>SECTION 12</a:t>
            </a:r>
            <a:endParaRPr sz="1100"/>
          </a:p>
        </p:txBody>
      </p:sp>
      <p:sp>
        <p:nvSpPr>
          <p:cNvPr id="2714" name="Google Shape;2714;p128"/>
          <p:cNvSpPr txBox="1"/>
          <p:nvPr/>
        </p:nvSpPr>
        <p:spPr>
          <a:xfrm>
            <a:off x="822982" y="946404"/>
            <a:ext cx="7406837"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a:solidFill>
                  <a:srgbClr val="1B1F2A"/>
                </a:solidFill>
                <a:latin typeface="Manrope"/>
                <a:ea typeface="Manrope"/>
                <a:cs typeface="Manrope"/>
                <a:sym typeface="Manrope"/>
              </a:rPr>
              <a:t>Six SDLC phases, six leverage points.</a:t>
            </a:r>
            <a:endParaRPr sz="1100"/>
          </a:p>
        </p:txBody>
      </p:sp>
      <p:sp>
        <p:nvSpPr>
          <p:cNvPr id="2715" name="Google Shape;2715;p128"/>
          <p:cNvSpPr/>
          <p:nvPr/>
        </p:nvSpPr>
        <p:spPr>
          <a:xfrm>
            <a:off x="1963726" y="2228850"/>
            <a:ext cx="123447" cy="54864"/>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716" name="Google Shape;2716;p128"/>
          <p:cNvSpPr/>
          <p:nvPr/>
        </p:nvSpPr>
        <p:spPr>
          <a:xfrm>
            <a:off x="788691" y="1885950"/>
            <a:ext cx="480073" cy="3429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717" name="Google Shape;2717;p128"/>
          <p:cNvSpPr txBox="1"/>
          <p:nvPr/>
        </p:nvSpPr>
        <p:spPr>
          <a:xfrm>
            <a:off x="822982" y="1913382"/>
            <a:ext cx="411600" cy="3087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a:solidFill>
                  <a:srgbClr val="FFFFFF"/>
                </a:solidFill>
                <a:latin typeface="Courier New"/>
                <a:ea typeface="Courier New"/>
                <a:cs typeface="Courier New"/>
                <a:sym typeface="Courier New"/>
              </a:rPr>
              <a:t>Discover</a:t>
            </a:r>
            <a:endParaRPr sz="1100"/>
          </a:p>
        </p:txBody>
      </p:sp>
      <p:sp>
        <p:nvSpPr>
          <p:cNvPr id="2718" name="Google Shape;2718;p128"/>
          <p:cNvSpPr txBox="1"/>
          <p:nvPr/>
        </p:nvSpPr>
        <p:spPr>
          <a:xfrm>
            <a:off x="788691" y="2331720"/>
            <a:ext cx="1188752"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400">
                <a:solidFill>
                  <a:srgbClr val="1B1F2A"/>
                </a:solidFill>
                <a:latin typeface="Manrope"/>
                <a:ea typeface="Manrope"/>
                <a:cs typeface="Manrope"/>
                <a:sym typeface="Manrope"/>
              </a:rPr>
              <a:t>Synthesise &amp; cluster</a:t>
            </a:r>
            <a:endParaRPr sz="1100"/>
          </a:p>
        </p:txBody>
      </p:sp>
      <p:sp>
        <p:nvSpPr>
          <p:cNvPr id="2719" name="Google Shape;2719;p128"/>
          <p:cNvSpPr txBox="1"/>
          <p:nvPr/>
        </p:nvSpPr>
        <p:spPr>
          <a:xfrm>
            <a:off x="788691" y="2674620"/>
            <a:ext cx="1188900" cy="22632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Cluster interview transcripts into themes with quotes. Draft personas from raw research. Two days of synthesis work in twenty minutes.</a:t>
            </a:r>
            <a:endParaRPr sz="1100"/>
          </a:p>
        </p:txBody>
      </p:sp>
      <p:sp>
        <p:nvSpPr>
          <p:cNvPr id="2720" name="Google Shape;2720;p128"/>
          <p:cNvSpPr/>
          <p:nvPr/>
        </p:nvSpPr>
        <p:spPr>
          <a:xfrm>
            <a:off x="3221060" y="2228850"/>
            <a:ext cx="123447" cy="54864"/>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721" name="Google Shape;2721;p128"/>
          <p:cNvSpPr/>
          <p:nvPr/>
        </p:nvSpPr>
        <p:spPr>
          <a:xfrm>
            <a:off x="2046025" y="1885950"/>
            <a:ext cx="480073" cy="3429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722" name="Google Shape;2722;p128"/>
          <p:cNvSpPr txBox="1"/>
          <p:nvPr/>
        </p:nvSpPr>
        <p:spPr>
          <a:xfrm>
            <a:off x="2080315" y="1913382"/>
            <a:ext cx="411491" cy="3086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a:solidFill>
                  <a:srgbClr val="FFFFFF"/>
                </a:solidFill>
                <a:latin typeface="Courier New"/>
                <a:ea typeface="Courier New"/>
                <a:cs typeface="Courier New"/>
                <a:sym typeface="Courier New"/>
              </a:rPr>
              <a:t>Design</a:t>
            </a:r>
            <a:endParaRPr sz="1100"/>
          </a:p>
        </p:txBody>
      </p:sp>
      <p:sp>
        <p:nvSpPr>
          <p:cNvPr id="2723" name="Google Shape;2723;p128"/>
          <p:cNvSpPr txBox="1"/>
          <p:nvPr/>
        </p:nvSpPr>
        <p:spPr>
          <a:xfrm>
            <a:off x="2046025" y="2331720"/>
            <a:ext cx="1188752"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400">
                <a:solidFill>
                  <a:srgbClr val="1B1F2A"/>
                </a:solidFill>
                <a:latin typeface="Manrope"/>
                <a:ea typeface="Manrope"/>
                <a:cs typeface="Manrope"/>
                <a:sym typeface="Manrope"/>
              </a:rPr>
              <a:t>Generate &amp; prototype</a:t>
            </a:r>
            <a:endParaRPr sz="1100"/>
          </a:p>
        </p:txBody>
      </p:sp>
      <p:sp>
        <p:nvSpPr>
          <p:cNvPr id="2724" name="Google Shape;2724;p128"/>
          <p:cNvSpPr txBox="1"/>
          <p:nvPr/>
        </p:nvSpPr>
        <p:spPr>
          <a:xfrm>
            <a:off x="2046025" y="2674620"/>
            <a:ext cx="1188752" cy="22631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Produce multiple design options from a brief. Prototype variants before committing to one. Run heuristic reviews against known patterns.</a:t>
            </a:r>
            <a:endParaRPr sz="1100"/>
          </a:p>
        </p:txBody>
      </p:sp>
      <p:sp>
        <p:nvSpPr>
          <p:cNvPr id="2725" name="Google Shape;2725;p128"/>
          <p:cNvSpPr/>
          <p:nvPr/>
        </p:nvSpPr>
        <p:spPr>
          <a:xfrm>
            <a:off x="4478393" y="2228850"/>
            <a:ext cx="123447" cy="54864"/>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726" name="Google Shape;2726;p128"/>
          <p:cNvSpPr/>
          <p:nvPr/>
        </p:nvSpPr>
        <p:spPr>
          <a:xfrm>
            <a:off x="3303358" y="1885950"/>
            <a:ext cx="480073" cy="3429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727" name="Google Shape;2727;p128"/>
          <p:cNvSpPr txBox="1"/>
          <p:nvPr/>
        </p:nvSpPr>
        <p:spPr>
          <a:xfrm>
            <a:off x="3337649" y="1913382"/>
            <a:ext cx="411491" cy="3086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a:solidFill>
                  <a:srgbClr val="FFFFFF"/>
                </a:solidFill>
                <a:latin typeface="Courier New"/>
                <a:ea typeface="Courier New"/>
                <a:cs typeface="Courier New"/>
                <a:sym typeface="Courier New"/>
              </a:rPr>
              <a:t>Build</a:t>
            </a:r>
            <a:endParaRPr sz="1100"/>
          </a:p>
        </p:txBody>
      </p:sp>
      <p:sp>
        <p:nvSpPr>
          <p:cNvPr id="2728" name="Google Shape;2728;p128"/>
          <p:cNvSpPr txBox="1"/>
          <p:nvPr/>
        </p:nvSpPr>
        <p:spPr>
          <a:xfrm>
            <a:off x="3303358" y="2331720"/>
            <a:ext cx="1188752"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400">
                <a:solidFill>
                  <a:srgbClr val="1B1F2A"/>
                </a:solidFill>
                <a:latin typeface="Manrope"/>
                <a:ea typeface="Manrope"/>
                <a:cs typeface="Manrope"/>
                <a:sym typeface="Manrope"/>
              </a:rPr>
              <a:t>Pair-program &amp; scaffold</a:t>
            </a:r>
            <a:endParaRPr sz="1100"/>
          </a:p>
        </p:txBody>
      </p:sp>
      <p:sp>
        <p:nvSpPr>
          <p:cNvPr id="2729" name="Google Shape;2729;p128"/>
          <p:cNvSpPr txBox="1"/>
          <p:nvPr/>
        </p:nvSpPr>
        <p:spPr>
          <a:xfrm>
            <a:off x="3303358" y="2674620"/>
            <a:ext cx="1188752" cy="22631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Inline completion, refactoring, test generation. The most-adopted AI surface in the industry — the one with the highest daily contact rate.</a:t>
            </a:r>
            <a:endParaRPr sz="1100"/>
          </a:p>
        </p:txBody>
      </p:sp>
      <p:sp>
        <p:nvSpPr>
          <p:cNvPr id="2730" name="Google Shape;2730;p128"/>
          <p:cNvSpPr/>
          <p:nvPr/>
        </p:nvSpPr>
        <p:spPr>
          <a:xfrm>
            <a:off x="5735727" y="2228850"/>
            <a:ext cx="123447" cy="54864"/>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731" name="Google Shape;2731;p128"/>
          <p:cNvSpPr/>
          <p:nvPr/>
        </p:nvSpPr>
        <p:spPr>
          <a:xfrm>
            <a:off x="4560692" y="1885950"/>
            <a:ext cx="480073" cy="3429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732" name="Google Shape;2732;p128"/>
          <p:cNvSpPr txBox="1"/>
          <p:nvPr/>
        </p:nvSpPr>
        <p:spPr>
          <a:xfrm>
            <a:off x="4594982" y="1913382"/>
            <a:ext cx="411491" cy="3086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a:solidFill>
                  <a:srgbClr val="FFFFFF"/>
                </a:solidFill>
                <a:latin typeface="Courier New"/>
                <a:ea typeface="Courier New"/>
                <a:cs typeface="Courier New"/>
                <a:sym typeface="Courier New"/>
              </a:rPr>
              <a:t>Validate</a:t>
            </a:r>
            <a:endParaRPr sz="1100"/>
          </a:p>
        </p:txBody>
      </p:sp>
      <p:sp>
        <p:nvSpPr>
          <p:cNvPr id="2733" name="Google Shape;2733;p128"/>
          <p:cNvSpPr txBox="1"/>
          <p:nvPr/>
        </p:nvSpPr>
        <p:spPr>
          <a:xfrm>
            <a:off x="4560692" y="2331720"/>
            <a:ext cx="1188752"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400">
                <a:solidFill>
                  <a:srgbClr val="1B1F2A"/>
                </a:solidFill>
                <a:latin typeface="Manrope"/>
                <a:ea typeface="Manrope"/>
                <a:cs typeface="Manrope"/>
                <a:sym typeface="Manrope"/>
              </a:rPr>
              <a:t>Expand &amp; adversarial</a:t>
            </a:r>
            <a:endParaRPr sz="1100"/>
          </a:p>
        </p:txBody>
      </p:sp>
      <p:sp>
        <p:nvSpPr>
          <p:cNvPr id="2734" name="Google Shape;2734;p128"/>
          <p:cNvSpPr txBox="1"/>
          <p:nvPr/>
        </p:nvSpPr>
        <p:spPr>
          <a:xfrm>
            <a:off x="4560692" y="2674620"/>
            <a:ext cx="1188752" cy="22631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Generate adversarial edge-case tests from the spec. Automate first-pass code review. Propose fix patches for known failure patterns.</a:t>
            </a:r>
            <a:endParaRPr sz="1100"/>
          </a:p>
        </p:txBody>
      </p:sp>
      <p:sp>
        <p:nvSpPr>
          <p:cNvPr id="2735" name="Google Shape;2735;p128"/>
          <p:cNvSpPr/>
          <p:nvPr/>
        </p:nvSpPr>
        <p:spPr>
          <a:xfrm>
            <a:off x="6993060" y="2228850"/>
            <a:ext cx="123447" cy="54864"/>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736" name="Google Shape;2736;p128"/>
          <p:cNvSpPr/>
          <p:nvPr/>
        </p:nvSpPr>
        <p:spPr>
          <a:xfrm>
            <a:off x="5818025" y="1885950"/>
            <a:ext cx="480073" cy="3429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737" name="Google Shape;2737;p128"/>
          <p:cNvSpPr txBox="1"/>
          <p:nvPr/>
        </p:nvSpPr>
        <p:spPr>
          <a:xfrm>
            <a:off x="5852316" y="1913382"/>
            <a:ext cx="411491" cy="3086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a:solidFill>
                  <a:srgbClr val="FFFFFF"/>
                </a:solidFill>
                <a:latin typeface="Courier New"/>
                <a:ea typeface="Courier New"/>
                <a:cs typeface="Courier New"/>
                <a:sym typeface="Courier New"/>
              </a:rPr>
              <a:t>Release</a:t>
            </a:r>
            <a:endParaRPr sz="1100"/>
          </a:p>
        </p:txBody>
      </p:sp>
      <p:sp>
        <p:nvSpPr>
          <p:cNvPr id="2738" name="Google Shape;2738;p128"/>
          <p:cNvSpPr txBox="1"/>
          <p:nvPr/>
        </p:nvSpPr>
        <p:spPr>
          <a:xfrm>
            <a:off x="5818025" y="2331720"/>
            <a:ext cx="1188752"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400">
                <a:solidFill>
                  <a:srgbClr val="1B1F2A"/>
                </a:solidFill>
                <a:latin typeface="Manrope"/>
                <a:ea typeface="Manrope"/>
                <a:cs typeface="Manrope"/>
                <a:sym typeface="Manrope"/>
              </a:rPr>
              <a:t>Draft &amp; verify</a:t>
            </a:r>
            <a:endParaRPr sz="1100"/>
          </a:p>
        </p:txBody>
      </p:sp>
      <p:sp>
        <p:nvSpPr>
          <p:cNvPr id="2739" name="Google Shape;2739;p128"/>
          <p:cNvSpPr txBox="1"/>
          <p:nvPr/>
        </p:nvSpPr>
        <p:spPr>
          <a:xfrm>
            <a:off x="5818025" y="2674620"/>
            <a:ext cx="1188752" cy="22631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Auto-generate release notes from merged PRs. Classify risks. Verify migration scripts against the target schema.</a:t>
            </a:r>
            <a:endParaRPr sz="1100"/>
          </a:p>
        </p:txBody>
      </p:sp>
      <p:sp>
        <p:nvSpPr>
          <p:cNvPr id="2740" name="Google Shape;2740;p128"/>
          <p:cNvSpPr/>
          <p:nvPr/>
        </p:nvSpPr>
        <p:spPr>
          <a:xfrm>
            <a:off x="7075359" y="1885950"/>
            <a:ext cx="480073" cy="342900"/>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741" name="Google Shape;2741;p128"/>
          <p:cNvSpPr txBox="1"/>
          <p:nvPr/>
        </p:nvSpPr>
        <p:spPr>
          <a:xfrm>
            <a:off x="7109650" y="1913382"/>
            <a:ext cx="411491" cy="30861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i="0" lang="en-GB" sz="1100">
                <a:solidFill>
                  <a:srgbClr val="FFFFFF"/>
                </a:solidFill>
                <a:latin typeface="Courier New"/>
                <a:ea typeface="Courier New"/>
                <a:cs typeface="Courier New"/>
                <a:sym typeface="Courier New"/>
              </a:rPr>
              <a:t>Operate</a:t>
            </a:r>
            <a:endParaRPr sz="1100"/>
          </a:p>
        </p:txBody>
      </p:sp>
      <p:sp>
        <p:nvSpPr>
          <p:cNvPr id="2742" name="Google Shape;2742;p128"/>
          <p:cNvSpPr txBox="1"/>
          <p:nvPr/>
        </p:nvSpPr>
        <p:spPr>
          <a:xfrm>
            <a:off x="7075359" y="2331720"/>
            <a:ext cx="1188752"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400">
                <a:solidFill>
                  <a:srgbClr val="1B1F2A"/>
                </a:solidFill>
                <a:latin typeface="Manrope"/>
                <a:ea typeface="Manrope"/>
                <a:cs typeface="Manrope"/>
                <a:sym typeface="Manrope"/>
              </a:rPr>
              <a:t>Triage &amp; postmortem</a:t>
            </a:r>
            <a:endParaRPr sz="1100"/>
          </a:p>
        </p:txBody>
      </p:sp>
      <p:sp>
        <p:nvSpPr>
          <p:cNvPr id="2743" name="Google Shape;2743;p128"/>
          <p:cNvSpPr txBox="1"/>
          <p:nvPr/>
        </p:nvSpPr>
        <p:spPr>
          <a:xfrm>
            <a:off x="7075359" y="2674620"/>
            <a:ext cx="1188752" cy="226314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8B95A6"/>
                </a:solidFill>
                <a:latin typeface="Manrope"/>
                <a:ea typeface="Manrope"/>
                <a:cs typeface="Manrope"/>
                <a:sym typeface="Manrope"/>
              </a:rPr>
              <a:t>Cluster alerts, propose root cause, summarise incidents. Draft runbook steps. Generate postmortem drafts from the incident timeline.</a:t>
            </a:r>
            <a:endParaRPr sz="1100"/>
          </a:p>
        </p:txBody>
      </p:sp>
      <p:sp>
        <p:nvSpPr>
          <p:cNvPr id="2744" name="Google Shape;2744;p128"/>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
        <p:nvSpPr>
          <p:cNvPr id="2745" name="Google Shape;2745;p128"/>
          <p:cNvSpPr txBox="1"/>
          <p:nvPr/>
        </p:nvSpPr>
        <p:spPr>
          <a:xfrm>
            <a:off x="7201092" y="4732020"/>
            <a:ext cx="1371637" cy="133350"/>
          </a:xfrm>
          <a:prstGeom prst="rect">
            <a:avLst/>
          </a:prstGeom>
          <a:noFill/>
          <a:ln>
            <a:noFill/>
          </a:ln>
        </p:spPr>
        <p:txBody>
          <a:bodyPr anchorCtr="0" anchor="t" bIns="34275" lIns="68575" spcFirstLastPara="1" rIns="68575" wrap="square" tIns="34275">
            <a:spAutoFit/>
          </a:bodyPr>
          <a:lstStyle/>
          <a:p>
            <a:pPr indent="0" lvl="0" marL="0" marR="0" rtl="0" algn="r">
              <a:spcBef>
                <a:spcPts val="0"/>
              </a:spcBef>
              <a:spcAft>
                <a:spcPts val="0"/>
              </a:spcAft>
              <a:buNone/>
            </a:pPr>
            <a:r>
              <a:rPr b="0" i="0" lang="en-GB" sz="800">
                <a:solidFill>
                  <a:srgbClr val="8B95A6"/>
                </a:solidFill>
                <a:latin typeface="Courier New"/>
                <a:ea typeface="Courier New"/>
                <a:cs typeface="Courier New"/>
                <a:sym typeface="Courier New"/>
              </a:rPr>
              <a:t>95 / 100</a:t>
            </a:r>
            <a:endParaRPr sz="1100"/>
          </a:p>
        </p:txBody>
      </p:sp>
      <p:sp>
        <p:nvSpPr>
          <p:cNvPr id="2746" name="Google Shape;2746;p128"/>
          <p:cNvSpPr/>
          <p:nvPr/>
        </p:nvSpPr>
        <p:spPr>
          <a:xfrm>
            <a:off x="0" y="0"/>
            <a:ext cx="9144000" cy="51435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000000"/>
              </a:solidFill>
              <a:latin typeface="Calibri"/>
              <a:ea typeface="Calibri"/>
              <a:cs typeface="Calibri"/>
              <a:sym typeface="Calibri"/>
            </a:endParaRPr>
          </a:p>
        </p:txBody>
      </p:sp>
      <p:sp>
        <p:nvSpPr>
          <p:cNvPr id="2747" name="Google Shape;2747;p128"/>
          <p:cNvSpPr txBox="1"/>
          <p:nvPr/>
        </p:nvSpPr>
        <p:spPr>
          <a:xfrm>
            <a:off x="822982" y="342900"/>
            <a:ext cx="27432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200">
                <a:solidFill>
                  <a:srgbClr val="1B1F2A"/>
                </a:solidFill>
                <a:latin typeface="Manrope"/>
                <a:ea typeface="Manrope"/>
                <a:cs typeface="Manrope"/>
                <a:sym typeface="Manrope"/>
              </a:rPr>
              <a:t>GlobalLogic</a:t>
            </a:r>
            <a:endParaRPr sz="1100"/>
          </a:p>
        </p:txBody>
      </p:sp>
      <p:sp>
        <p:nvSpPr>
          <p:cNvPr id="2748" name="Google Shape;2748;p128"/>
          <p:cNvSpPr txBox="1"/>
          <p:nvPr/>
        </p:nvSpPr>
        <p:spPr>
          <a:xfrm>
            <a:off x="822982" y="562356"/>
            <a:ext cx="34290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lang="en-GB" sz="800">
                <a:solidFill>
                  <a:srgbClr val="8B95A6"/>
                </a:solidFill>
                <a:latin typeface="Manrope"/>
                <a:ea typeface="Manrope"/>
                <a:cs typeface="Manrope"/>
                <a:sym typeface="Manrope"/>
              </a:rPr>
              <a:t>A Hitachi Group Company</a:t>
            </a:r>
            <a:endParaRPr sz="1100"/>
          </a:p>
        </p:txBody>
      </p:sp>
      <p:sp>
        <p:nvSpPr>
          <p:cNvPr id="2749" name="Google Shape;2749;p128"/>
          <p:cNvSpPr txBox="1"/>
          <p:nvPr/>
        </p:nvSpPr>
        <p:spPr>
          <a:xfrm>
            <a:off x="822982" y="720090"/>
            <a:ext cx="54864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800">
                <a:solidFill>
                  <a:srgbClr val="FF671F"/>
                </a:solidFill>
                <a:latin typeface="Courier New"/>
                <a:ea typeface="Courier New"/>
                <a:cs typeface="Courier New"/>
                <a:sym typeface="Courier New"/>
              </a:rPr>
              <a:t>SECTION 12</a:t>
            </a:r>
            <a:endParaRPr sz="1100"/>
          </a:p>
        </p:txBody>
      </p:sp>
      <p:sp>
        <p:nvSpPr>
          <p:cNvPr id="2750" name="Google Shape;2750;p128"/>
          <p:cNvSpPr txBox="1"/>
          <p:nvPr/>
        </p:nvSpPr>
        <p:spPr>
          <a:xfrm>
            <a:off x="822982" y="925830"/>
            <a:ext cx="6515400" cy="423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2300">
                <a:solidFill>
                  <a:srgbClr val="1B1F2A"/>
                </a:solidFill>
                <a:latin typeface="Manrope"/>
                <a:ea typeface="Manrope"/>
                <a:cs typeface="Manrope"/>
                <a:sym typeface="Manrope"/>
              </a:rPr>
              <a:t>Six SDLC phases, six leverage points.</a:t>
            </a:r>
            <a:endParaRPr sz="1100"/>
          </a:p>
        </p:txBody>
      </p:sp>
      <p:sp>
        <p:nvSpPr>
          <p:cNvPr id="2751" name="Google Shape;2751;p128"/>
          <p:cNvSpPr txBox="1"/>
          <p:nvPr/>
        </p:nvSpPr>
        <p:spPr>
          <a:xfrm>
            <a:off x="822982" y="1405889"/>
            <a:ext cx="67209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lang="en-GB" sz="1100">
                <a:solidFill>
                  <a:srgbClr val="8B95A6"/>
                </a:solidFill>
                <a:latin typeface="Manrope"/>
                <a:ea typeface="Manrope"/>
                <a:cs typeface="Manrope"/>
                <a:sym typeface="Manrope"/>
              </a:rPr>
              <a:t>AI doesn't replace a phase — it compresses the loop inside each one.</a:t>
            </a:r>
            <a:endParaRPr sz="1100"/>
          </a:p>
        </p:txBody>
      </p:sp>
      <p:sp>
        <p:nvSpPr>
          <p:cNvPr id="2752" name="Google Shape;2752;p128"/>
          <p:cNvSpPr/>
          <p:nvPr/>
        </p:nvSpPr>
        <p:spPr>
          <a:xfrm>
            <a:off x="727996" y="1769364"/>
            <a:ext cx="2434800" cy="12687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000000"/>
              </a:solidFill>
              <a:latin typeface="Calibri"/>
              <a:ea typeface="Calibri"/>
              <a:cs typeface="Calibri"/>
              <a:sym typeface="Calibri"/>
            </a:endParaRPr>
          </a:p>
        </p:txBody>
      </p:sp>
      <p:sp>
        <p:nvSpPr>
          <p:cNvPr id="2753" name="Google Shape;2753;p128"/>
          <p:cNvSpPr/>
          <p:nvPr/>
        </p:nvSpPr>
        <p:spPr>
          <a:xfrm>
            <a:off x="727996" y="1769364"/>
            <a:ext cx="2434800" cy="342900"/>
          </a:xfrm>
          <a:prstGeom prst="rect">
            <a:avLst/>
          </a:prstGeom>
          <a:solidFill>
            <a:srgbClr val="384358"/>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000000"/>
              </a:solidFill>
              <a:latin typeface="Calibri"/>
              <a:ea typeface="Calibri"/>
              <a:cs typeface="Calibri"/>
              <a:sym typeface="Calibri"/>
            </a:endParaRPr>
          </a:p>
        </p:txBody>
      </p:sp>
      <p:sp>
        <p:nvSpPr>
          <p:cNvPr id="2754" name="Google Shape;2754;p128"/>
          <p:cNvSpPr/>
          <p:nvPr/>
        </p:nvSpPr>
        <p:spPr>
          <a:xfrm>
            <a:off x="796577" y="1831086"/>
            <a:ext cx="288000" cy="2196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000000"/>
              </a:solidFill>
              <a:latin typeface="Calibri"/>
              <a:ea typeface="Calibri"/>
              <a:cs typeface="Calibri"/>
              <a:sym typeface="Calibri"/>
            </a:endParaRPr>
          </a:p>
        </p:txBody>
      </p:sp>
      <p:sp>
        <p:nvSpPr>
          <p:cNvPr id="2755" name="Google Shape;2755;p128"/>
          <p:cNvSpPr txBox="1"/>
          <p:nvPr/>
        </p:nvSpPr>
        <p:spPr>
          <a:xfrm>
            <a:off x="796577" y="1831086"/>
            <a:ext cx="288000" cy="207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GB" sz="900">
                <a:solidFill>
                  <a:srgbClr val="384358"/>
                </a:solidFill>
                <a:latin typeface="Courier New"/>
                <a:ea typeface="Courier New"/>
                <a:cs typeface="Courier New"/>
                <a:sym typeface="Courier New"/>
              </a:rPr>
              <a:t>01</a:t>
            </a:r>
            <a:endParaRPr sz="1100"/>
          </a:p>
        </p:txBody>
      </p:sp>
      <p:sp>
        <p:nvSpPr>
          <p:cNvPr id="2756" name="Google Shape;2756;p128"/>
          <p:cNvSpPr txBox="1"/>
          <p:nvPr/>
        </p:nvSpPr>
        <p:spPr>
          <a:xfrm>
            <a:off x="1139487" y="1858518"/>
            <a:ext cx="19410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900">
                <a:solidFill>
                  <a:srgbClr val="FFFFFF"/>
                </a:solidFill>
                <a:latin typeface="Courier New"/>
                <a:ea typeface="Courier New"/>
                <a:cs typeface="Courier New"/>
                <a:sym typeface="Courier New"/>
              </a:rPr>
              <a:t>DISCOVER</a:t>
            </a:r>
            <a:endParaRPr sz="1100"/>
          </a:p>
        </p:txBody>
      </p:sp>
      <p:sp>
        <p:nvSpPr>
          <p:cNvPr id="2757" name="Google Shape;2757;p128"/>
          <p:cNvSpPr txBox="1"/>
          <p:nvPr/>
        </p:nvSpPr>
        <p:spPr>
          <a:xfrm>
            <a:off x="824010" y="2180844"/>
            <a:ext cx="22425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200">
                <a:solidFill>
                  <a:srgbClr val="1B1F2A"/>
                </a:solidFill>
                <a:latin typeface="Manrope"/>
                <a:ea typeface="Manrope"/>
                <a:cs typeface="Manrope"/>
                <a:sym typeface="Manrope"/>
              </a:rPr>
              <a:t>Synthesise &amp; cluster</a:t>
            </a:r>
            <a:endParaRPr sz="1100"/>
          </a:p>
        </p:txBody>
      </p:sp>
      <p:sp>
        <p:nvSpPr>
          <p:cNvPr id="2758" name="Google Shape;2758;p128"/>
          <p:cNvSpPr txBox="1"/>
          <p:nvPr/>
        </p:nvSpPr>
        <p:spPr>
          <a:xfrm>
            <a:off x="824010" y="2427732"/>
            <a:ext cx="2242500" cy="623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lang="en-GB" sz="900">
                <a:solidFill>
                  <a:srgbClr val="8B95A6"/>
                </a:solidFill>
                <a:latin typeface="Manrope"/>
                <a:ea typeface="Manrope"/>
                <a:cs typeface="Manrope"/>
                <a:sym typeface="Manrope"/>
              </a:rPr>
              <a:t>Cluster interview transcripts into themes with quotes. Draft personas from raw research. Two days of synthesis work in twenty minutes.</a:t>
            </a:r>
            <a:endParaRPr sz="1100"/>
          </a:p>
        </p:txBody>
      </p:sp>
      <p:sp>
        <p:nvSpPr>
          <p:cNvPr id="2759" name="Google Shape;2759;p128"/>
          <p:cNvSpPr/>
          <p:nvPr/>
        </p:nvSpPr>
        <p:spPr>
          <a:xfrm>
            <a:off x="3354680" y="1769364"/>
            <a:ext cx="2434800" cy="12687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000000"/>
              </a:solidFill>
              <a:latin typeface="Calibri"/>
              <a:ea typeface="Calibri"/>
              <a:cs typeface="Calibri"/>
              <a:sym typeface="Calibri"/>
            </a:endParaRPr>
          </a:p>
        </p:txBody>
      </p:sp>
      <p:sp>
        <p:nvSpPr>
          <p:cNvPr id="2760" name="Google Shape;2760;p128"/>
          <p:cNvSpPr/>
          <p:nvPr/>
        </p:nvSpPr>
        <p:spPr>
          <a:xfrm>
            <a:off x="3354680" y="1769364"/>
            <a:ext cx="2434800" cy="3429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000000"/>
              </a:solidFill>
              <a:latin typeface="Calibri"/>
              <a:ea typeface="Calibri"/>
              <a:cs typeface="Calibri"/>
              <a:sym typeface="Calibri"/>
            </a:endParaRPr>
          </a:p>
        </p:txBody>
      </p:sp>
      <p:sp>
        <p:nvSpPr>
          <p:cNvPr id="2761" name="Google Shape;2761;p128"/>
          <p:cNvSpPr/>
          <p:nvPr/>
        </p:nvSpPr>
        <p:spPr>
          <a:xfrm>
            <a:off x="3423262" y="1831086"/>
            <a:ext cx="288000" cy="2196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000000"/>
              </a:solidFill>
              <a:latin typeface="Calibri"/>
              <a:ea typeface="Calibri"/>
              <a:cs typeface="Calibri"/>
              <a:sym typeface="Calibri"/>
            </a:endParaRPr>
          </a:p>
        </p:txBody>
      </p:sp>
      <p:sp>
        <p:nvSpPr>
          <p:cNvPr id="2762" name="Google Shape;2762;p128"/>
          <p:cNvSpPr txBox="1"/>
          <p:nvPr/>
        </p:nvSpPr>
        <p:spPr>
          <a:xfrm>
            <a:off x="3423262" y="1831086"/>
            <a:ext cx="288000" cy="207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GB" sz="900">
                <a:solidFill>
                  <a:srgbClr val="FF671F"/>
                </a:solidFill>
                <a:latin typeface="Courier New"/>
                <a:ea typeface="Courier New"/>
                <a:cs typeface="Courier New"/>
                <a:sym typeface="Courier New"/>
              </a:rPr>
              <a:t>02</a:t>
            </a:r>
            <a:endParaRPr sz="1100"/>
          </a:p>
        </p:txBody>
      </p:sp>
      <p:sp>
        <p:nvSpPr>
          <p:cNvPr id="2763" name="Google Shape;2763;p128"/>
          <p:cNvSpPr txBox="1"/>
          <p:nvPr/>
        </p:nvSpPr>
        <p:spPr>
          <a:xfrm>
            <a:off x="3766171" y="1858518"/>
            <a:ext cx="19410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900">
                <a:solidFill>
                  <a:srgbClr val="FFFFFF"/>
                </a:solidFill>
                <a:latin typeface="Courier New"/>
                <a:ea typeface="Courier New"/>
                <a:cs typeface="Courier New"/>
                <a:sym typeface="Courier New"/>
              </a:rPr>
              <a:t>DESIGN</a:t>
            </a:r>
            <a:endParaRPr sz="1100"/>
          </a:p>
        </p:txBody>
      </p:sp>
      <p:sp>
        <p:nvSpPr>
          <p:cNvPr id="2764" name="Google Shape;2764;p128"/>
          <p:cNvSpPr txBox="1"/>
          <p:nvPr/>
        </p:nvSpPr>
        <p:spPr>
          <a:xfrm>
            <a:off x="3450694" y="2180844"/>
            <a:ext cx="22425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200">
                <a:solidFill>
                  <a:srgbClr val="1B1F2A"/>
                </a:solidFill>
                <a:latin typeface="Manrope"/>
                <a:ea typeface="Manrope"/>
                <a:cs typeface="Manrope"/>
                <a:sym typeface="Manrope"/>
              </a:rPr>
              <a:t>Generate &amp; prototype</a:t>
            </a:r>
            <a:endParaRPr sz="1100"/>
          </a:p>
        </p:txBody>
      </p:sp>
      <p:sp>
        <p:nvSpPr>
          <p:cNvPr id="2765" name="Google Shape;2765;p128"/>
          <p:cNvSpPr txBox="1"/>
          <p:nvPr/>
        </p:nvSpPr>
        <p:spPr>
          <a:xfrm>
            <a:off x="3450694" y="2427732"/>
            <a:ext cx="2242500" cy="623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lang="en-GB" sz="900">
                <a:solidFill>
                  <a:srgbClr val="8B95A6"/>
                </a:solidFill>
                <a:latin typeface="Manrope"/>
                <a:ea typeface="Manrope"/>
                <a:cs typeface="Manrope"/>
                <a:sym typeface="Manrope"/>
              </a:rPr>
              <a:t>Produce multiple design options from a brief. Prototype variants before committing. Run heuristic reviews against known patterns.</a:t>
            </a:r>
            <a:endParaRPr sz="1100"/>
          </a:p>
        </p:txBody>
      </p:sp>
      <p:sp>
        <p:nvSpPr>
          <p:cNvPr id="2766" name="Google Shape;2766;p128"/>
          <p:cNvSpPr/>
          <p:nvPr/>
        </p:nvSpPr>
        <p:spPr>
          <a:xfrm>
            <a:off x="5981364" y="1769364"/>
            <a:ext cx="2434800" cy="12687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000000"/>
              </a:solidFill>
              <a:latin typeface="Calibri"/>
              <a:ea typeface="Calibri"/>
              <a:cs typeface="Calibri"/>
              <a:sym typeface="Calibri"/>
            </a:endParaRPr>
          </a:p>
        </p:txBody>
      </p:sp>
      <p:sp>
        <p:nvSpPr>
          <p:cNvPr id="2767" name="Google Shape;2767;p128"/>
          <p:cNvSpPr/>
          <p:nvPr/>
        </p:nvSpPr>
        <p:spPr>
          <a:xfrm>
            <a:off x="5981364" y="1769364"/>
            <a:ext cx="2434800" cy="342900"/>
          </a:xfrm>
          <a:prstGeom prst="rect">
            <a:avLst/>
          </a:prstGeom>
          <a:solidFill>
            <a:srgbClr val="384358"/>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000000"/>
              </a:solidFill>
              <a:latin typeface="Calibri"/>
              <a:ea typeface="Calibri"/>
              <a:cs typeface="Calibri"/>
              <a:sym typeface="Calibri"/>
            </a:endParaRPr>
          </a:p>
        </p:txBody>
      </p:sp>
      <p:sp>
        <p:nvSpPr>
          <p:cNvPr id="2768" name="Google Shape;2768;p128"/>
          <p:cNvSpPr/>
          <p:nvPr/>
        </p:nvSpPr>
        <p:spPr>
          <a:xfrm>
            <a:off x="6049946" y="1831086"/>
            <a:ext cx="288000" cy="2196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000000"/>
              </a:solidFill>
              <a:latin typeface="Calibri"/>
              <a:ea typeface="Calibri"/>
              <a:cs typeface="Calibri"/>
              <a:sym typeface="Calibri"/>
            </a:endParaRPr>
          </a:p>
        </p:txBody>
      </p:sp>
      <p:sp>
        <p:nvSpPr>
          <p:cNvPr id="2769" name="Google Shape;2769;p128"/>
          <p:cNvSpPr txBox="1"/>
          <p:nvPr/>
        </p:nvSpPr>
        <p:spPr>
          <a:xfrm>
            <a:off x="6049946" y="1831086"/>
            <a:ext cx="288000" cy="207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GB" sz="900">
                <a:solidFill>
                  <a:srgbClr val="384358"/>
                </a:solidFill>
                <a:latin typeface="Courier New"/>
                <a:ea typeface="Courier New"/>
                <a:cs typeface="Courier New"/>
                <a:sym typeface="Courier New"/>
              </a:rPr>
              <a:t>03</a:t>
            </a:r>
            <a:endParaRPr sz="1100"/>
          </a:p>
        </p:txBody>
      </p:sp>
      <p:sp>
        <p:nvSpPr>
          <p:cNvPr id="2770" name="Google Shape;2770;p128"/>
          <p:cNvSpPr txBox="1"/>
          <p:nvPr/>
        </p:nvSpPr>
        <p:spPr>
          <a:xfrm>
            <a:off x="6392855" y="1858518"/>
            <a:ext cx="19410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900">
                <a:solidFill>
                  <a:srgbClr val="FFFFFF"/>
                </a:solidFill>
                <a:latin typeface="Courier New"/>
                <a:ea typeface="Courier New"/>
                <a:cs typeface="Courier New"/>
                <a:sym typeface="Courier New"/>
              </a:rPr>
              <a:t>BUILD</a:t>
            </a:r>
            <a:endParaRPr sz="1100"/>
          </a:p>
        </p:txBody>
      </p:sp>
      <p:sp>
        <p:nvSpPr>
          <p:cNvPr id="2771" name="Google Shape;2771;p128"/>
          <p:cNvSpPr txBox="1"/>
          <p:nvPr/>
        </p:nvSpPr>
        <p:spPr>
          <a:xfrm>
            <a:off x="6077378" y="2180844"/>
            <a:ext cx="22425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200">
                <a:solidFill>
                  <a:srgbClr val="1B1F2A"/>
                </a:solidFill>
                <a:latin typeface="Manrope"/>
                <a:ea typeface="Manrope"/>
                <a:cs typeface="Manrope"/>
                <a:sym typeface="Manrope"/>
              </a:rPr>
              <a:t>Pair-program &amp; scaffold</a:t>
            </a:r>
            <a:endParaRPr sz="1100"/>
          </a:p>
        </p:txBody>
      </p:sp>
      <p:sp>
        <p:nvSpPr>
          <p:cNvPr id="2772" name="Google Shape;2772;p128"/>
          <p:cNvSpPr txBox="1"/>
          <p:nvPr/>
        </p:nvSpPr>
        <p:spPr>
          <a:xfrm>
            <a:off x="6077378" y="2427732"/>
            <a:ext cx="2242500" cy="623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lang="en-GB" sz="900">
                <a:solidFill>
                  <a:srgbClr val="8B95A6"/>
                </a:solidFill>
                <a:latin typeface="Manrope"/>
                <a:ea typeface="Manrope"/>
                <a:cs typeface="Manrope"/>
                <a:sym typeface="Manrope"/>
              </a:rPr>
              <a:t>Inline completion, refactoring, test generation. The most-adopted AI surface in the industry — the highest daily contact rate.</a:t>
            </a:r>
            <a:endParaRPr sz="1100"/>
          </a:p>
        </p:txBody>
      </p:sp>
      <p:sp>
        <p:nvSpPr>
          <p:cNvPr id="2773" name="Google Shape;2773;p128"/>
          <p:cNvSpPr/>
          <p:nvPr/>
        </p:nvSpPr>
        <p:spPr>
          <a:xfrm>
            <a:off x="727996" y="3394710"/>
            <a:ext cx="2434800" cy="12687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000000"/>
              </a:solidFill>
              <a:latin typeface="Calibri"/>
              <a:ea typeface="Calibri"/>
              <a:cs typeface="Calibri"/>
              <a:sym typeface="Calibri"/>
            </a:endParaRPr>
          </a:p>
        </p:txBody>
      </p:sp>
      <p:sp>
        <p:nvSpPr>
          <p:cNvPr id="2774" name="Google Shape;2774;p128"/>
          <p:cNvSpPr/>
          <p:nvPr/>
        </p:nvSpPr>
        <p:spPr>
          <a:xfrm>
            <a:off x="727996" y="3394710"/>
            <a:ext cx="2434800" cy="342900"/>
          </a:xfrm>
          <a:prstGeom prst="rect">
            <a:avLst/>
          </a:prstGeom>
          <a:solidFill>
            <a:srgbClr val="384358"/>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000000"/>
              </a:solidFill>
              <a:latin typeface="Calibri"/>
              <a:ea typeface="Calibri"/>
              <a:cs typeface="Calibri"/>
              <a:sym typeface="Calibri"/>
            </a:endParaRPr>
          </a:p>
        </p:txBody>
      </p:sp>
      <p:sp>
        <p:nvSpPr>
          <p:cNvPr id="2775" name="Google Shape;2775;p128"/>
          <p:cNvSpPr/>
          <p:nvPr/>
        </p:nvSpPr>
        <p:spPr>
          <a:xfrm>
            <a:off x="796577" y="3456432"/>
            <a:ext cx="288000" cy="2196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000000"/>
              </a:solidFill>
              <a:latin typeface="Calibri"/>
              <a:ea typeface="Calibri"/>
              <a:cs typeface="Calibri"/>
              <a:sym typeface="Calibri"/>
            </a:endParaRPr>
          </a:p>
        </p:txBody>
      </p:sp>
      <p:sp>
        <p:nvSpPr>
          <p:cNvPr id="2776" name="Google Shape;2776;p128"/>
          <p:cNvSpPr txBox="1"/>
          <p:nvPr/>
        </p:nvSpPr>
        <p:spPr>
          <a:xfrm>
            <a:off x="796577" y="3456432"/>
            <a:ext cx="288000" cy="207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GB" sz="900">
                <a:solidFill>
                  <a:srgbClr val="384358"/>
                </a:solidFill>
                <a:latin typeface="Courier New"/>
                <a:ea typeface="Courier New"/>
                <a:cs typeface="Courier New"/>
                <a:sym typeface="Courier New"/>
              </a:rPr>
              <a:t>06</a:t>
            </a:r>
            <a:endParaRPr sz="1100"/>
          </a:p>
        </p:txBody>
      </p:sp>
      <p:sp>
        <p:nvSpPr>
          <p:cNvPr id="2777" name="Google Shape;2777;p128"/>
          <p:cNvSpPr txBox="1"/>
          <p:nvPr/>
        </p:nvSpPr>
        <p:spPr>
          <a:xfrm>
            <a:off x="1139487" y="3483864"/>
            <a:ext cx="19410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900">
                <a:solidFill>
                  <a:srgbClr val="FFFFFF"/>
                </a:solidFill>
                <a:latin typeface="Courier New"/>
                <a:ea typeface="Courier New"/>
                <a:cs typeface="Courier New"/>
                <a:sym typeface="Courier New"/>
              </a:rPr>
              <a:t>OPERATE</a:t>
            </a:r>
            <a:endParaRPr sz="1100"/>
          </a:p>
        </p:txBody>
      </p:sp>
      <p:sp>
        <p:nvSpPr>
          <p:cNvPr id="2778" name="Google Shape;2778;p128"/>
          <p:cNvSpPr txBox="1"/>
          <p:nvPr/>
        </p:nvSpPr>
        <p:spPr>
          <a:xfrm>
            <a:off x="824010" y="3806190"/>
            <a:ext cx="22425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200">
                <a:solidFill>
                  <a:srgbClr val="1B1F2A"/>
                </a:solidFill>
                <a:latin typeface="Manrope"/>
                <a:ea typeface="Manrope"/>
                <a:cs typeface="Manrope"/>
                <a:sym typeface="Manrope"/>
              </a:rPr>
              <a:t>Triage &amp; postmortem</a:t>
            </a:r>
            <a:endParaRPr sz="1100"/>
          </a:p>
        </p:txBody>
      </p:sp>
      <p:sp>
        <p:nvSpPr>
          <p:cNvPr id="2779" name="Google Shape;2779;p128"/>
          <p:cNvSpPr txBox="1"/>
          <p:nvPr/>
        </p:nvSpPr>
        <p:spPr>
          <a:xfrm>
            <a:off x="824010" y="4053078"/>
            <a:ext cx="2242500" cy="623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lang="en-GB" sz="900">
                <a:solidFill>
                  <a:srgbClr val="8B95A6"/>
                </a:solidFill>
                <a:latin typeface="Manrope"/>
                <a:ea typeface="Manrope"/>
                <a:cs typeface="Manrope"/>
                <a:sym typeface="Manrope"/>
              </a:rPr>
              <a:t>Cluster alerts, propose root cause, summarise incidents. Draft runbook steps. Generate postmortem drafts from the incident timeline.</a:t>
            </a:r>
            <a:endParaRPr sz="1100"/>
          </a:p>
        </p:txBody>
      </p:sp>
      <p:sp>
        <p:nvSpPr>
          <p:cNvPr id="2780" name="Google Shape;2780;p128"/>
          <p:cNvSpPr/>
          <p:nvPr/>
        </p:nvSpPr>
        <p:spPr>
          <a:xfrm>
            <a:off x="3354680" y="3394710"/>
            <a:ext cx="2434800" cy="12687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000000"/>
              </a:solidFill>
              <a:latin typeface="Calibri"/>
              <a:ea typeface="Calibri"/>
              <a:cs typeface="Calibri"/>
              <a:sym typeface="Calibri"/>
            </a:endParaRPr>
          </a:p>
        </p:txBody>
      </p:sp>
      <p:sp>
        <p:nvSpPr>
          <p:cNvPr id="2781" name="Google Shape;2781;p128"/>
          <p:cNvSpPr/>
          <p:nvPr/>
        </p:nvSpPr>
        <p:spPr>
          <a:xfrm>
            <a:off x="3354680" y="3394710"/>
            <a:ext cx="2434800" cy="3429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000000"/>
              </a:solidFill>
              <a:latin typeface="Calibri"/>
              <a:ea typeface="Calibri"/>
              <a:cs typeface="Calibri"/>
              <a:sym typeface="Calibri"/>
            </a:endParaRPr>
          </a:p>
        </p:txBody>
      </p:sp>
      <p:sp>
        <p:nvSpPr>
          <p:cNvPr id="2782" name="Google Shape;2782;p128"/>
          <p:cNvSpPr/>
          <p:nvPr/>
        </p:nvSpPr>
        <p:spPr>
          <a:xfrm>
            <a:off x="3423262" y="3456432"/>
            <a:ext cx="288000" cy="2196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000000"/>
              </a:solidFill>
              <a:latin typeface="Calibri"/>
              <a:ea typeface="Calibri"/>
              <a:cs typeface="Calibri"/>
              <a:sym typeface="Calibri"/>
            </a:endParaRPr>
          </a:p>
        </p:txBody>
      </p:sp>
      <p:sp>
        <p:nvSpPr>
          <p:cNvPr id="2783" name="Google Shape;2783;p128"/>
          <p:cNvSpPr txBox="1"/>
          <p:nvPr/>
        </p:nvSpPr>
        <p:spPr>
          <a:xfrm>
            <a:off x="3423262" y="3456432"/>
            <a:ext cx="288000" cy="207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GB" sz="900">
                <a:solidFill>
                  <a:srgbClr val="FF671F"/>
                </a:solidFill>
                <a:latin typeface="Courier New"/>
                <a:ea typeface="Courier New"/>
                <a:cs typeface="Courier New"/>
                <a:sym typeface="Courier New"/>
              </a:rPr>
              <a:t>05</a:t>
            </a:r>
            <a:endParaRPr sz="1100"/>
          </a:p>
        </p:txBody>
      </p:sp>
      <p:sp>
        <p:nvSpPr>
          <p:cNvPr id="2784" name="Google Shape;2784;p128"/>
          <p:cNvSpPr txBox="1"/>
          <p:nvPr/>
        </p:nvSpPr>
        <p:spPr>
          <a:xfrm>
            <a:off x="3766171" y="3483864"/>
            <a:ext cx="19410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900">
                <a:solidFill>
                  <a:srgbClr val="FFFFFF"/>
                </a:solidFill>
                <a:latin typeface="Courier New"/>
                <a:ea typeface="Courier New"/>
                <a:cs typeface="Courier New"/>
                <a:sym typeface="Courier New"/>
              </a:rPr>
              <a:t>RELEASE</a:t>
            </a:r>
            <a:endParaRPr sz="1100"/>
          </a:p>
        </p:txBody>
      </p:sp>
      <p:sp>
        <p:nvSpPr>
          <p:cNvPr id="2785" name="Google Shape;2785;p128"/>
          <p:cNvSpPr txBox="1"/>
          <p:nvPr/>
        </p:nvSpPr>
        <p:spPr>
          <a:xfrm>
            <a:off x="3450694" y="3806190"/>
            <a:ext cx="22425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200">
                <a:solidFill>
                  <a:srgbClr val="1B1F2A"/>
                </a:solidFill>
                <a:latin typeface="Manrope"/>
                <a:ea typeface="Manrope"/>
                <a:cs typeface="Manrope"/>
                <a:sym typeface="Manrope"/>
              </a:rPr>
              <a:t>Draft &amp; verify</a:t>
            </a:r>
            <a:endParaRPr sz="1100"/>
          </a:p>
        </p:txBody>
      </p:sp>
      <p:sp>
        <p:nvSpPr>
          <p:cNvPr id="2786" name="Google Shape;2786;p128"/>
          <p:cNvSpPr txBox="1"/>
          <p:nvPr/>
        </p:nvSpPr>
        <p:spPr>
          <a:xfrm>
            <a:off x="3450694" y="4053078"/>
            <a:ext cx="2242500" cy="623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lang="en-GB" sz="900">
                <a:solidFill>
                  <a:srgbClr val="8B95A6"/>
                </a:solidFill>
                <a:latin typeface="Manrope"/>
                <a:ea typeface="Manrope"/>
                <a:cs typeface="Manrope"/>
                <a:sym typeface="Manrope"/>
              </a:rPr>
              <a:t>Auto-generate release notes from merged PRs. Classify risks. Verify migration scripts against the target schema.</a:t>
            </a:r>
            <a:endParaRPr sz="1100"/>
          </a:p>
        </p:txBody>
      </p:sp>
      <p:sp>
        <p:nvSpPr>
          <p:cNvPr id="2787" name="Google Shape;2787;p128"/>
          <p:cNvSpPr/>
          <p:nvPr/>
        </p:nvSpPr>
        <p:spPr>
          <a:xfrm>
            <a:off x="5981364" y="3394710"/>
            <a:ext cx="2434800" cy="1268700"/>
          </a:xfrm>
          <a:prstGeom prst="rect">
            <a:avLst/>
          </a:prstGeom>
          <a:solidFill>
            <a:srgbClr val="F1F2F4"/>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000000"/>
              </a:solidFill>
              <a:latin typeface="Calibri"/>
              <a:ea typeface="Calibri"/>
              <a:cs typeface="Calibri"/>
              <a:sym typeface="Calibri"/>
            </a:endParaRPr>
          </a:p>
        </p:txBody>
      </p:sp>
      <p:sp>
        <p:nvSpPr>
          <p:cNvPr id="2788" name="Google Shape;2788;p128"/>
          <p:cNvSpPr/>
          <p:nvPr/>
        </p:nvSpPr>
        <p:spPr>
          <a:xfrm>
            <a:off x="5981364" y="3394710"/>
            <a:ext cx="2434800" cy="342900"/>
          </a:xfrm>
          <a:prstGeom prst="rect">
            <a:avLst/>
          </a:prstGeom>
          <a:solidFill>
            <a:srgbClr val="2BB1A6"/>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000000"/>
              </a:solidFill>
              <a:latin typeface="Calibri"/>
              <a:ea typeface="Calibri"/>
              <a:cs typeface="Calibri"/>
              <a:sym typeface="Calibri"/>
            </a:endParaRPr>
          </a:p>
        </p:txBody>
      </p:sp>
      <p:sp>
        <p:nvSpPr>
          <p:cNvPr id="2789" name="Google Shape;2789;p128"/>
          <p:cNvSpPr/>
          <p:nvPr/>
        </p:nvSpPr>
        <p:spPr>
          <a:xfrm>
            <a:off x="6049946" y="3456432"/>
            <a:ext cx="288000" cy="219600"/>
          </a:xfrm>
          <a:prstGeom prst="rect">
            <a:avLst/>
          </a:prstGeom>
          <a:solidFill>
            <a:srgbClr val="FFFFF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000000"/>
              </a:solidFill>
              <a:latin typeface="Calibri"/>
              <a:ea typeface="Calibri"/>
              <a:cs typeface="Calibri"/>
              <a:sym typeface="Calibri"/>
            </a:endParaRPr>
          </a:p>
        </p:txBody>
      </p:sp>
      <p:sp>
        <p:nvSpPr>
          <p:cNvPr id="2790" name="Google Shape;2790;p128"/>
          <p:cNvSpPr txBox="1"/>
          <p:nvPr/>
        </p:nvSpPr>
        <p:spPr>
          <a:xfrm>
            <a:off x="6049946" y="3456432"/>
            <a:ext cx="288000" cy="207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GB" sz="900">
                <a:solidFill>
                  <a:srgbClr val="2BB1A6"/>
                </a:solidFill>
                <a:latin typeface="Courier New"/>
                <a:ea typeface="Courier New"/>
                <a:cs typeface="Courier New"/>
                <a:sym typeface="Courier New"/>
              </a:rPr>
              <a:t>04</a:t>
            </a:r>
            <a:endParaRPr sz="1100"/>
          </a:p>
        </p:txBody>
      </p:sp>
      <p:sp>
        <p:nvSpPr>
          <p:cNvPr id="2791" name="Google Shape;2791;p128"/>
          <p:cNvSpPr txBox="1"/>
          <p:nvPr/>
        </p:nvSpPr>
        <p:spPr>
          <a:xfrm>
            <a:off x="6392855" y="3483864"/>
            <a:ext cx="1941000" cy="207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900">
                <a:solidFill>
                  <a:srgbClr val="FFFFFF"/>
                </a:solidFill>
                <a:latin typeface="Courier New"/>
                <a:ea typeface="Courier New"/>
                <a:cs typeface="Courier New"/>
                <a:sym typeface="Courier New"/>
              </a:rPr>
              <a:t>VALIDATE</a:t>
            </a:r>
            <a:endParaRPr sz="1100"/>
          </a:p>
        </p:txBody>
      </p:sp>
      <p:sp>
        <p:nvSpPr>
          <p:cNvPr id="2792" name="Google Shape;2792;p128"/>
          <p:cNvSpPr txBox="1"/>
          <p:nvPr/>
        </p:nvSpPr>
        <p:spPr>
          <a:xfrm>
            <a:off x="6077378" y="3806190"/>
            <a:ext cx="22425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lang="en-GB" sz="1200">
                <a:solidFill>
                  <a:srgbClr val="1B1F2A"/>
                </a:solidFill>
                <a:latin typeface="Manrope"/>
                <a:ea typeface="Manrope"/>
                <a:cs typeface="Manrope"/>
                <a:sym typeface="Manrope"/>
              </a:rPr>
              <a:t>Expand &amp; adversarial</a:t>
            </a:r>
            <a:endParaRPr sz="1100"/>
          </a:p>
        </p:txBody>
      </p:sp>
      <p:sp>
        <p:nvSpPr>
          <p:cNvPr id="2793" name="Google Shape;2793;p128"/>
          <p:cNvSpPr txBox="1"/>
          <p:nvPr/>
        </p:nvSpPr>
        <p:spPr>
          <a:xfrm>
            <a:off x="6077378" y="4053078"/>
            <a:ext cx="2242500" cy="6234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lang="en-GB" sz="900">
                <a:solidFill>
                  <a:srgbClr val="8B95A6"/>
                </a:solidFill>
                <a:latin typeface="Manrope"/>
                <a:ea typeface="Manrope"/>
                <a:cs typeface="Manrope"/>
                <a:sym typeface="Manrope"/>
              </a:rPr>
              <a:t>Generate adversarial edge-case tests from the spec. Automate first-pass code review. Propose fix patches for known failure patterns.</a:t>
            </a:r>
            <a:endParaRPr sz="1100"/>
          </a:p>
        </p:txBody>
      </p:sp>
      <p:sp>
        <p:nvSpPr>
          <p:cNvPr id="2794" name="Google Shape;2794;p128"/>
          <p:cNvSpPr/>
          <p:nvPr/>
        </p:nvSpPr>
        <p:spPr>
          <a:xfrm>
            <a:off x="3190083" y="2366696"/>
            <a:ext cx="65700" cy="741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000000"/>
              </a:solidFill>
              <a:latin typeface="Calibri"/>
              <a:ea typeface="Calibri"/>
              <a:cs typeface="Calibri"/>
              <a:sym typeface="Calibri"/>
            </a:endParaRPr>
          </a:p>
        </p:txBody>
      </p:sp>
      <p:sp>
        <p:nvSpPr>
          <p:cNvPr id="2795" name="Google Shape;2795;p128"/>
          <p:cNvSpPr/>
          <p:nvPr/>
        </p:nvSpPr>
        <p:spPr>
          <a:xfrm>
            <a:off x="3249063" y="2342007"/>
            <a:ext cx="111000" cy="123300"/>
          </a:xfrm>
          <a:prstGeom prst="roundRect">
            <a:avLst>
              <a:gd fmla="val 16667" name="adj"/>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000000"/>
              </a:solidFill>
              <a:latin typeface="Calibri"/>
              <a:ea typeface="Calibri"/>
              <a:cs typeface="Calibri"/>
              <a:sym typeface="Calibri"/>
            </a:endParaRPr>
          </a:p>
        </p:txBody>
      </p:sp>
      <p:sp>
        <p:nvSpPr>
          <p:cNvPr id="2796" name="Google Shape;2796;p128"/>
          <p:cNvSpPr/>
          <p:nvPr/>
        </p:nvSpPr>
        <p:spPr>
          <a:xfrm>
            <a:off x="5816767" y="2366696"/>
            <a:ext cx="65700" cy="741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000000"/>
              </a:solidFill>
              <a:latin typeface="Calibri"/>
              <a:ea typeface="Calibri"/>
              <a:cs typeface="Calibri"/>
              <a:sym typeface="Calibri"/>
            </a:endParaRPr>
          </a:p>
        </p:txBody>
      </p:sp>
      <p:sp>
        <p:nvSpPr>
          <p:cNvPr id="2797" name="Google Shape;2797;p128"/>
          <p:cNvSpPr/>
          <p:nvPr/>
        </p:nvSpPr>
        <p:spPr>
          <a:xfrm>
            <a:off x="5875747" y="2342007"/>
            <a:ext cx="111000" cy="123300"/>
          </a:xfrm>
          <a:prstGeom prst="roundRect">
            <a:avLst>
              <a:gd fmla="val 16667" name="adj"/>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000000"/>
              </a:solidFill>
              <a:latin typeface="Calibri"/>
              <a:ea typeface="Calibri"/>
              <a:cs typeface="Calibri"/>
              <a:sym typeface="Calibri"/>
            </a:endParaRPr>
          </a:p>
        </p:txBody>
      </p:sp>
      <p:sp>
        <p:nvSpPr>
          <p:cNvPr id="2798" name="Google Shape;2798;p128"/>
          <p:cNvSpPr/>
          <p:nvPr/>
        </p:nvSpPr>
        <p:spPr>
          <a:xfrm>
            <a:off x="3301186" y="3992042"/>
            <a:ext cx="65700" cy="741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000000"/>
              </a:solidFill>
              <a:latin typeface="Calibri"/>
              <a:ea typeface="Calibri"/>
              <a:cs typeface="Calibri"/>
              <a:sym typeface="Calibri"/>
            </a:endParaRPr>
          </a:p>
        </p:txBody>
      </p:sp>
      <p:sp>
        <p:nvSpPr>
          <p:cNvPr id="2799" name="Google Shape;2799;p128"/>
          <p:cNvSpPr/>
          <p:nvPr/>
        </p:nvSpPr>
        <p:spPr>
          <a:xfrm>
            <a:off x="3190083" y="3967353"/>
            <a:ext cx="111000" cy="123300"/>
          </a:xfrm>
          <a:prstGeom prst="octagon">
            <a:avLst>
              <a:gd fmla="val 29289" name="adj"/>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000000"/>
              </a:solidFill>
              <a:latin typeface="Calibri"/>
              <a:ea typeface="Calibri"/>
              <a:cs typeface="Calibri"/>
              <a:sym typeface="Calibri"/>
            </a:endParaRPr>
          </a:p>
        </p:txBody>
      </p:sp>
      <p:sp>
        <p:nvSpPr>
          <p:cNvPr id="2800" name="Google Shape;2800;p128"/>
          <p:cNvSpPr/>
          <p:nvPr/>
        </p:nvSpPr>
        <p:spPr>
          <a:xfrm>
            <a:off x="5927870" y="3992042"/>
            <a:ext cx="65700" cy="741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000000"/>
              </a:solidFill>
              <a:latin typeface="Calibri"/>
              <a:ea typeface="Calibri"/>
              <a:cs typeface="Calibri"/>
              <a:sym typeface="Calibri"/>
            </a:endParaRPr>
          </a:p>
        </p:txBody>
      </p:sp>
      <p:sp>
        <p:nvSpPr>
          <p:cNvPr id="2801" name="Google Shape;2801;p128"/>
          <p:cNvSpPr/>
          <p:nvPr/>
        </p:nvSpPr>
        <p:spPr>
          <a:xfrm>
            <a:off x="5816767" y="3967353"/>
            <a:ext cx="111000" cy="123300"/>
          </a:xfrm>
          <a:prstGeom prst="octagon">
            <a:avLst>
              <a:gd fmla="val 29289" name="adj"/>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000000"/>
              </a:solidFill>
              <a:latin typeface="Calibri"/>
              <a:ea typeface="Calibri"/>
              <a:cs typeface="Calibri"/>
              <a:sym typeface="Calibri"/>
            </a:endParaRPr>
          </a:p>
        </p:txBody>
      </p:sp>
      <p:sp>
        <p:nvSpPr>
          <p:cNvPr id="2802" name="Google Shape;2802;p128"/>
          <p:cNvSpPr/>
          <p:nvPr/>
        </p:nvSpPr>
        <p:spPr>
          <a:xfrm>
            <a:off x="8468140" y="3065526"/>
            <a:ext cx="74100" cy="2031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000000"/>
              </a:solidFill>
              <a:latin typeface="Calibri"/>
              <a:ea typeface="Calibri"/>
              <a:cs typeface="Calibri"/>
              <a:sym typeface="Calibri"/>
            </a:endParaRPr>
          </a:p>
        </p:txBody>
      </p:sp>
      <p:sp>
        <p:nvSpPr>
          <p:cNvPr id="2803" name="Google Shape;2803;p128"/>
          <p:cNvSpPr/>
          <p:nvPr/>
        </p:nvSpPr>
        <p:spPr>
          <a:xfrm>
            <a:off x="8443451" y="3261665"/>
            <a:ext cx="123300" cy="111000"/>
          </a:xfrm>
          <a:prstGeom prst="triangle">
            <a:avLst>
              <a:gd fmla="val 50000" name="adj"/>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000000"/>
              </a:solidFill>
              <a:latin typeface="Calibri"/>
              <a:ea typeface="Calibri"/>
              <a:cs typeface="Calibri"/>
              <a:sym typeface="Calibri"/>
            </a:endParaRPr>
          </a:p>
        </p:txBody>
      </p:sp>
      <p:sp>
        <p:nvSpPr>
          <p:cNvPr id="2804" name="Google Shape;2804;p128"/>
          <p:cNvSpPr/>
          <p:nvPr/>
        </p:nvSpPr>
        <p:spPr>
          <a:xfrm>
            <a:off x="601805" y="3176625"/>
            <a:ext cx="74100" cy="2031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000000"/>
              </a:solidFill>
              <a:latin typeface="Calibri"/>
              <a:ea typeface="Calibri"/>
              <a:cs typeface="Calibri"/>
              <a:sym typeface="Calibri"/>
            </a:endParaRPr>
          </a:p>
        </p:txBody>
      </p:sp>
      <p:sp>
        <p:nvSpPr>
          <p:cNvPr id="2805" name="Google Shape;2805;p128"/>
          <p:cNvSpPr/>
          <p:nvPr/>
        </p:nvSpPr>
        <p:spPr>
          <a:xfrm>
            <a:off x="577116" y="3065526"/>
            <a:ext cx="123300" cy="111000"/>
          </a:xfrm>
          <a:prstGeom prst="rtTriangle">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000000"/>
              </a:solidFill>
              <a:latin typeface="Calibri"/>
              <a:ea typeface="Calibri"/>
              <a:cs typeface="Calibri"/>
              <a:sym typeface="Calibri"/>
            </a:endParaRPr>
          </a:p>
        </p:txBody>
      </p:sp>
      <p:sp>
        <p:nvSpPr>
          <p:cNvPr id="2806" name="Google Shape;2806;p128"/>
          <p:cNvSpPr/>
          <p:nvPr/>
        </p:nvSpPr>
        <p:spPr>
          <a:xfrm>
            <a:off x="3543280" y="3079242"/>
            <a:ext cx="2057400" cy="274200"/>
          </a:xfrm>
          <a:prstGeom prst="rect">
            <a:avLst/>
          </a:prstGeom>
          <a:solidFill>
            <a:srgbClr val="FF671F"/>
          </a:solidFill>
          <a:ln>
            <a:noFill/>
          </a:ln>
          <a:effectLst>
            <a:outerShdw blurRad="40000" rotWithShape="0" dir="5400000" dist="23000">
              <a:srgbClr val="000000">
                <a:alpha val="34900"/>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rgbClr val="000000"/>
              </a:solidFill>
              <a:latin typeface="Calibri"/>
              <a:ea typeface="Calibri"/>
              <a:cs typeface="Calibri"/>
              <a:sym typeface="Calibri"/>
            </a:endParaRPr>
          </a:p>
        </p:txBody>
      </p:sp>
      <p:sp>
        <p:nvSpPr>
          <p:cNvPr id="2807" name="Google Shape;2807;p128"/>
          <p:cNvSpPr txBox="1"/>
          <p:nvPr/>
        </p:nvSpPr>
        <p:spPr>
          <a:xfrm>
            <a:off x="3625578" y="3127248"/>
            <a:ext cx="1893000" cy="207900"/>
          </a:xfrm>
          <a:prstGeom prst="rect">
            <a:avLst/>
          </a:prstGeom>
          <a:noFill/>
          <a:ln>
            <a:noFill/>
          </a:ln>
        </p:spPr>
        <p:txBody>
          <a:bodyPr anchorCtr="0" anchor="t" bIns="34275" lIns="68575" spcFirstLastPara="1" rIns="68575" wrap="square" tIns="34275">
            <a:spAutoFit/>
          </a:bodyPr>
          <a:lstStyle/>
          <a:p>
            <a:pPr indent="0" lvl="0" marL="0" marR="0" rtl="0" algn="ctr">
              <a:spcBef>
                <a:spcPts val="0"/>
              </a:spcBef>
              <a:spcAft>
                <a:spcPts val="0"/>
              </a:spcAft>
              <a:buNone/>
            </a:pPr>
            <a:r>
              <a:rPr b="1" lang="en-GB" sz="900">
                <a:solidFill>
                  <a:srgbClr val="FFFFFF"/>
                </a:solidFill>
                <a:latin typeface="Courier New"/>
                <a:ea typeface="Courier New"/>
                <a:cs typeface="Courier New"/>
                <a:sym typeface="Courier New"/>
              </a:rPr>
              <a:t>↻  CONTINUOUS SDLC LOOP</a:t>
            </a:r>
            <a:endParaRPr sz="1100"/>
          </a:p>
        </p:txBody>
      </p:sp>
      <p:sp>
        <p:nvSpPr>
          <p:cNvPr id="2808" name="Google Shape;2808;p128"/>
          <p:cNvSpPr txBox="1"/>
          <p:nvPr/>
        </p:nvSpPr>
        <p:spPr>
          <a:xfrm>
            <a:off x="822982" y="4732020"/>
            <a:ext cx="2743200" cy="1923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2" name="Shape 2812"/>
        <p:cNvGrpSpPr/>
        <p:nvPr/>
      </p:nvGrpSpPr>
      <p:grpSpPr>
        <a:xfrm>
          <a:off x="0" y="0"/>
          <a:ext cx="0" cy="0"/>
          <a:chOff x="0" y="0"/>
          <a:chExt cx="0" cy="0"/>
        </a:xfrm>
      </p:grpSpPr>
      <p:sp>
        <p:nvSpPr>
          <p:cNvPr id="2813" name="Google Shape;2813;p129"/>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1B1F2A"/>
                </a:solidFill>
                <a:latin typeface="Manrope"/>
                <a:ea typeface="Manrope"/>
                <a:cs typeface="Manrope"/>
                <a:sym typeface="Manrope"/>
              </a:rPr>
              <a:t>GlobalLogic</a:t>
            </a:r>
            <a:endParaRPr sz="1100"/>
          </a:p>
        </p:txBody>
      </p:sp>
      <p:sp>
        <p:nvSpPr>
          <p:cNvPr id="2814" name="Google Shape;2814;p129"/>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Manrope"/>
                <a:ea typeface="Manrope"/>
                <a:cs typeface="Manrope"/>
                <a:sym typeface="Manrope"/>
              </a:rPr>
              <a:t>A Hitachi Group Company</a:t>
            </a:r>
            <a:endParaRPr sz="1100"/>
          </a:p>
        </p:txBody>
      </p:sp>
      <p:sp>
        <p:nvSpPr>
          <p:cNvPr id="2815" name="Google Shape;2815;p129"/>
          <p:cNvSpPr txBox="1"/>
          <p:nvPr/>
        </p:nvSpPr>
        <p:spPr>
          <a:xfrm>
            <a:off x="822982" y="946404"/>
            <a:ext cx="7406837" cy="37719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2100">
                <a:solidFill>
                  <a:srgbClr val="1B1F2A"/>
                </a:solidFill>
                <a:latin typeface="Manrope"/>
                <a:ea typeface="Manrope"/>
                <a:cs typeface="Manrope"/>
                <a:sym typeface="Manrope"/>
              </a:rPr>
              <a:t>Traditional SDLC vs. AI-augmented.</a:t>
            </a:r>
            <a:endParaRPr sz="1100"/>
          </a:p>
        </p:txBody>
      </p:sp>
      <p:sp>
        <p:nvSpPr>
          <p:cNvPr id="2816" name="Google Shape;2816;p129"/>
          <p:cNvSpPr/>
          <p:nvPr/>
        </p:nvSpPr>
        <p:spPr>
          <a:xfrm>
            <a:off x="822982" y="1474470"/>
            <a:ext cx="3497673" cy="3086100"/>
          </a:xfrm>
          <a:prstGeom prst="rect">
            <a:avLst/>
          </a:prstGeom>
          <a:solidFill>
            <a:srgbClr val="F1F2F4"/>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817" name="Google Shape;2817;p129"/>
          <p:cNvSpPr/>
          <p:nvPr/>
        </p:nvSpPr>
        <p:spPr>
          <a:xfrm>
            <a:off x="4800728" y="1474470"/>
            <a:ext cx="3497673" cy="3086100"/>
          </a:xfrm>
          <a:prstGeom prst="rect">
            <a:avLst/>
          </a:prstGeom>
          <a:solidFill>
            <a:srgbClr val="FFE3D2"/>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818" name="Google Shape;2818;p129"/>
          <p:cNvSpPr/>
          <p:nvPr/>
        </p:nvSpPr>
        <p:spPr>
          <a:xfrm>
            <a:off x="822982" y="1474470"/>
            <a:ext cx="3497673" cy="329184"/>
          </a:xfrm>
          <a:prstGeom prst="rect">
            <a:avLst/>
          </a:prstGeom>
          <a:solidFill>
            <a:srgbClr val="384358"/>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819" name="Google Shape;2819;p129"/>
          <p:cNvSpPr txBox="1"/>
          <p:nvPr/>
        </p:nvSpPr>
        <p:spPr>
          <a:xfrm>
            <a:off x="960146" y="1501902"/>
            <a:ext cx="32919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100">
                <a:solidFill>
                  <a:srgbClr val="FFFFFF"/>
                </a:solidFill>
                <a:latin typeface="Manrope"/>
                <a:ea typeface="Manrope"/>
                <a:cs typeface="Manrope"/>
                <a:sym typeface="Manrope"/>
              </a:rPr>
              <a:t>Traditional — Sequential, Phase-Bounded</a:t>
            </a:r>
            <a:endParaRPr sz="900"/>
          </a:p>
        </p:txBody>
      </p:sp>
      <p:sp>
        <p:nvSpPr>
          <p:cNvPr id="2820" name="Google Shape;2820;p129"/>
          <p:cNvSpPr/>
          <p:nvPr/>
        </p:nvSpPr>
        <p:spPr>
          <a:xfrm>
            <a:off x="4800728" y="1474470"/>
            <a:ext cx="3497673" cy="329184"/>
          </a:xfrm>
          <a:prstGeom prst="rect">
            <a:avLst/>
          </a:prstGeom>
          <a:solidFill>
            <a:srgbClr val="FF671F"/>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821" name="Google Shape;2821;p129"/>
          <p:cNvSpPr txBox="1"/>
          <p:nvPr/>
        </p:nvSpPr>
        <p:spPr>
          <a:xfrm>
            <a:off x="4937892" y="1501902"/>
            <a:ext cx="3291900" cy="2538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FFFFFF"/>
                </a:solidFill>
                <a:latin typeface="Manrope"/>
                <a:ea typeface="Manrope"/>
                <a:cs typeface="Manrope"/>
                <a:sym typeface="Manrope"/>
              </a:rPr>
              <a:t>AI-Augmented — Parallel, Conversational</a:t>
            </a:r>
            <a:endParaRPr sz="1000"/>
          </a:p>
        </p:txBody>
      </p:sp>
      <p:sp>
        <p:nvSpPr>
          <p:cNvPr id="2822" name="Google Shape;2822;p129"/>
          <p:cNvSpPr txBox="1"/>
          <p:nvPr/>
        </p:nvSpPr>
        <p:spPr>
          <a:xfrm>
            <a:off x="925855" y="19339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Each phase has a hand-off document and a queue</a:t>
            </a:r>
            <a:endParaRPr sz="1100"/>
          </a:p>
        </p:txBody>
      </p:sp>
      <p:sp>
        <p:nvSpPr>
          <p:cNvPr id="2823" name="Google Shape;2823;p129"/>
          <p:cNvSpPr txBox="1"/>
          <p:nvPr/>
        </p:nvSpPr>
        <p:spPr>
          <a:xfrm>
            <a:off x="925855" y="22768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Throughput limited by the slowest specialist in the loop</a:t>
            </a:r>
            <a:endParaRPr sz="1100"/>
          </a:p>
        </p:txBody>
      </p:sp>
      <p:sp>
        <p:nvSpPr>
          <p:cNvPr id="2824" name="Google Shape;2824;p129"/>
          <p:cNvSpPr txBox="1"/>
          <p:nvPr/>
        </p:nvSpPr>
        <p:spPr>
          <a:xfrm>
            <a:off x="925855" y="26197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Quality known late — most defects found in QA or production</a:t>
            </a:r>
            <a:endParaRPr sz="1100"/>
          </a:p>
        </p:txBody>
      </p:sp>
      <p:sp>
        <p:nvSpPr>
          <p:cNvPr id="2825" name="Google Shape;2825;p129"/>
          <p:cNvSpPr txBox="1"/>
          <p:nvPr/>
        </p:nvSpPr>
        <p:spPr>
          <a:xfrm>
            <a:off x="925855" y="29626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Predictable, auditable, and slow</a:t>
            </a:r>
            <a:endParaRPr sz="1100"/>
          </a:p>
        </p:txBody>
      </p:sp>
      <p:sp>
        <p:nvSpPr>
          <p:cNvPr id="2826" name="Google Shape;2826;p129"/>
          <p:cNvSpPr txBox="1"/>
          <p:nvPr/>
        </p:nvSpPr>
        <p:spPr>
          <a:xfrm>
            <a:off x="925855" y="33055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Specialists own their phase end-to-end</a:t>
            </a:r>
            <a:endParaRPr sz="1100"/>
          </a:p>
        </p:txBody>
      </p:sp>
      <p:sp>
        <p:nvSpPr>
          <p:cNvPr id="2827" name="Google Shape;2827;p129"/>
          <p:cNvSpPr txBox="1"/>
          <p:nvPr/>
        </p:nvSpPr>
        <p:spPr>
          <a:xfrm>
            <a:off x="4903601" y="19339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Discovery, design, and prototype overlap in days, not weeks</a:t>
            </a:r>
            <a:endParaRPr sz="1100"/>
          </a:p>
        </p:txBody>
      </p:sp>
      <p:sp>
        <p:nvSpPr>
          <p:cNvPr id="2828" name="Google Shape;2828;p129"/>
          <p:cNvSpPr txBox="1"/>
          <p:nvPr/>
        </p:nvSpPr>
        <p:spPr>
          <a:xfrm>
            <a:off x="4903601" y="22768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Feedback shifts left — adversarial tests in PR, not QA</a:t>
            </a:r>
            <a:endParaRPr sz="1100"/>
          </a:p>
        </p:txBody>
      </p:sp>
      <p:sp>
        <p:nvSpPr>
          <p:cNvPr id="2829" name="Google Shape;2829;p129"/>
          <p:cNvSpPr txBox="1"/>
          <p:nvPr/>
        </p:nvSpPr>
        <p:spPr>
          <a:xfrm>
            <a:off x="4903601" y="26197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Specialists move from 'doing' to 'directing and reviewing'</a:t>
            </a:r>
            <a:endParaRPr sz="1100"/>
          </a:p>
        </p:txBody>
      </p:sp>
      <p:sp>
        <p:nvSpPr>
          <p:cNvPr id="2830" name="Google Shape;2830;p129"/>
          <p:cNvSpPr txBox="1"/>
          <p:nvPr/>
        </p:nvSpPr>
        <p:spPr>
          <a:xfrm>
            <a:off x="4903601" y="29626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New SDLC artefacts: evals, prompt versions, AI guardrails</a:t>
            </a:r>
            <a:endParaRPr sz="1100"/>
          </a:p>
        </p:txBody>
      </p:sp>
      <p:sp>
        <p:nvSpPr>
          <p:cNvPr id="2831" name="Google Shape;2831;p129"/>
          <p:cNvSpPr txBox="1"/>
          <p:nvPr/>
        </p:nvSpPr>
        <p:spPr>
          <a:xfrm>
            <a:off x="4903601" y="3305556"/>
            <a:ext cx="3291928" cy="2667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1100">
                <a:solidFill>
                  <a:srgbClr val="1B1F2A"/>
                </a:solidFill>
                <a:latin typeface="Manrope"/>
                <a:ea typeface="Manrope"/>
                <a:cs typeface="Manrope"/>
                <a:sym typeface="Manrope"/>
              </a:rPr>
              <a:t>· Lead time compresses; defect-escape rate holds flat or improves</a:t>
            </a:r>
            <a:endParaRPr sz="1100"/>
          </a:p>
        </p:txBody>
      </p:sp>
      <p:sp>
        <p:nvSpPr>
          <p:cNvPr id="2832" name="Google Shape;2832;p129"/>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8B95A6"/>
                </a:solidFill>
                <a:latin typeface="Courier New"/>
                <a:ea typeface="Courier New"/>
                <a:cs typeface="Courier New"/>
                <a:sym typeface="Courier New"/>
              </a:rPr>
              <a:t>globallogic.com</a:t>
            </a:r>
            <a:endParaRPr sz="1100"/>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6" name="Shape 2836"/>
        <p:cNvGrpSpPr/>
        <p:nvPr/>
      </p:nvGrpSpPr>
      <p:grpSpPr>
        <a:xfrm>
          <a:off x="0" y="0"/>
          <a:ext cx="0" cy="0"/>
          <a:chOff x="0" y="0"/>
          <a:chExt cx="0" cy="0"/>
        </a:xfrm>
      </p:grpSpPr>
      <p:sp>
        <p:nvSpPr>
          <p:cNvPr id="2837" name="Google Shape;2837;p130"/>
          <p:cNvSpPr/>
          <p:nvPr/>
        </p:nvSpPr>
        <p:spPr>
          <a:xfrm>
            <a:off x="0" y="0"/>
            <a:ext cx="9144015" cy="5143500"/>
          </a:xfrm>
          <a:prstGeom prst="rect">
            <a:avLst/>
          </a:prstGeom>
          <a:solidFill>
            <a:srgbClr val="1B1F2A"/>
          </a:solidFill>
          <a:ln>
            <a:noFill/>
          </a:ln>
          <a:effectLst>
            <a:outerShdw blurRad="40000" rotWithShape="0" dir="5400000" dist="23000">
              <a:srgbClr val="000000">
                <a:alpha val="34901"/>
              </a:srgbClr>
            </a:outerShdw>
          </a:effectLst>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dk1"/>
              </a:solidFill>
              <a:latin typeface="Calibri"/>
              <a:ea typeface="Calibri"/>
              <a:cs typeface="Calibri"/>
              <a:sym typeface="Calibri"/>
            </a:endParaRPr>
          </a:p>
        </p:txBody>
      </p:sp>
      <p:sp>
        <p:nvSpPr>
          <p:cNvPr id="2838" name="Google Shape;2838;p130"/>
          <p:cNvSpPr txBox="1"/>
          <p:nvPr/>
        </p:nvSpPr>
        <p:spPr>
          <a:xfrm>
            <a:off x="822982" y="342900"/>
            <a:ext cx="2743273" cy="2857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1200">
                <a:solidFill>
                  <a:srgbClr val="FFFFFF"/>
                </a:solidFill>
                <a:latin typeface="Manrope"/>
                <a:ea typeface="Manrope"/>
                <a:cs typeface="Manrope"/>
                <a:sym typeface="Manrope"/>
              </a:rPr>
              <a:t>GlobalLogic</a:t>
            </a:r>
            <a:endParaRPr sz="1100"/>
          </a:p>
        </p:txBody>
      </p:sp>
      <p:sp>
        <p:nvSpPr>
          <p:cNvPr id="2839" name="Google Shape;2839;p130"/>
          <p:cNvSpPr txBox="1"/>
          <p:nvPr/>
        </p:nvSpPr>
        <p:spPr>
          <a:xfrm>
            <a:off x="822982" y="562356"/>
            <a:ext cx="3429091" cy="190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C9CFD8"/>
                </a:solidFill>
                <a:latin typeface="Manrope"/>
                <a:ea typeface="Manrope"/>
                <a:cs typeface="Manrope"/>
                <a:sym typeface="Manrope"/>
              </a:rPr>
              <a:t>A Hitachi Group Company</a:t>
            </a:r>
            <a:endParaRPr sz="1100"/>
          </a:p>
        </p:txBody>
      </p:sp>
      <p:sp>
        <p:nvSpPr>
          <p:cNvPr id="2840" name="Google Shape;2840;p130"/>
          <p:cNvSpPr txBox="1"/>
          <p:nvPr/>
        </p:nvSpPr>
        <p:spPr>
          <a:xfrm>
            <a:off x="822982" y="1508760"/>
            <a:ext cx="6858183" cy="13716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GB" sz="7200">
                <a:solidFill>
                  <a:srgbClr val="FFFFFF"/>
                </a:solidFill>
                <a:latin typeface="Manrope"/>
                <a:ea typeface="Manrope"/>
                <a:cs typeface="Manrope"/>
                <a:sym typeface="Manrope"/>
              </a:rPr>
              <a:t>Thank you.</a:t>
            </a:r>
            <a:endParaRPr sz="1100"/>
          </a:p>
        </p:txBody>
      </p:sp>
      <p:sp>
        <p:nvSpPr>
          <p:cNvPr id="2841" name="Google Shape;2841;p130"/>
          <p:cNvSpPr txBox="1"/>
          <p:nvPr/>
        </p:nvSpPr>
        <p:spPr>
          <a:xfrm>
            <a:off x="822982" y="2880360"/>
            <a:ext cx="6172365" cy="342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2100">
                <a:solidFill>
                  <a:srgbClr val="FF671F"/>
                </a:solidFill>
                <a:latin typeface="Manrope"/>
                <a:ea typeface="Manrope"/>
                <a:cs typeface="Manrope"/>
                <a:sym typeface="Manrope"/>
              </a:rPr>
              <a:t>Engineering Impact — with AI.</a:t>
            </a:r>
            <a:endParaRPr sz="1100"/>
          </a:p>
        </p:txBody>
      </p:sp>
      <p:sp>
        <p:nvSpPr>
          <p:cNvPr id="2842" name="Google Shape;2842;p130"/>
          <p:cNvSpPr txBox="1"/>
          <p:nvPr/>
        </p:nvSpPr>
        <p:spPr>
          <a:xfrm>
            <a:off x="822982" y="3566160"/>
            <a:ext cx="27432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100"/>
          </a:p>
        </p:txBody>
      </p:sp>
      <p:sp>
        <p:nvSpPr>
          <p:cNvPr id="2843" name="Google Shape;2843;p130"/>
          <p:cNvSpPr txBox="1"/>
          <p:nvPr/>
        </p:nvSpPr>
        <p:spPr>
          <a:xfrm>
            <a:off x="822982" y="4732020"/>
            <a:ext cx="2743273" cy="13335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0" i="0" lang="en-GB" sz="800">
                <a:solidFill>
                  <a:srgbClr val="FFFFFF"/>
                </a:solidFill>
                <a:latin typeface="Courier New"/>
                <a:ea typeface="Courier New"/>
                <a:cs typeface="Courier New"/>
                <a:sym typeface="Courier New"/>
              </a:rPr>
              <a:t>globallogic.com</a:t>
            </a:r>
            <a:endParaRPr sz="11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