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8808740" y="0"/>
            <a:ext cx="10241261" cy="10287000"/>
          </a:xfrm>
          <a:prstGeom prst="rect">
            <a:avLst/>
          </a:prstGeom>
        </p:spPr>
      </p:pic>
      <p:sp>
        <p:nvSpPr>
          <p:cNvPr id="3" name="Shape 0"/>
          <p:cNvSpPr/>
          <p:nvPr/>
        </p:nvSpPr>
        <p:spPr>
          <a:xfrm>
            <a:off x="1219200" y="657225"/>
            <a:ext cx="361950" cy="361950"/>
          </a:xfrm>
          <a:prstGeom prst="rect">
            <a:avLst/>
          </a:prstGeom>
          <a:solidFill>
            <a:srgbClr val="000000"/>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4503103" y="755650"/>
            <a:ext cx="264266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LEARNING · DATA PRACTITIONER</a:t>
            </a:r>
            <a:endParaRPr lang="en-US" sz="975" dirty="0"/>
          </a:p>
        </p:txBody>
      </p:sp>
      <p:sp>
        <p:nvSpPr>
          <p:cNvPr id="7" name="Text 4"/>
          <p:cNvSpPr/>
          <p:nvPr/>
        </p:nvSpPr>
        <p:spPr>
          <a:xfrm>
            <a:off x="1219200" y="2667000"/>
            <a:ext cx="11576685" cy="31750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FF671F"/>
                </a:solidFill>
                <a:latin typeface="JetBrains Mono" pitchFamily="34" charset="0"/>
                <a:ea typeface="JetBrains Mono" pitchFamily="34" charset="-122"/>
                <a:cs typeface="JetBrains Mono" pitchFamily="34" charset="-120"/>
              </a:rPr>
              <a:t>MODULE · LKR-100</a:t>
            </a:r>
            <a:endParaRPr lang="en-US" sz="1650" dirty="0"/>
          </a:p>
        </p:txBody>
      </p:sp>
      <p:sp>
        <p:nvSpPr>
          <p:cNvPr id="8" name="Text 5"/>
          <p:cNvSpPr/>
          <p:nvPr/>
        </p:nvSpPr>
        <p:spPr>
          <a:xfrm>
            <a:off x="1219200" y="3213100"/>
            <a:ext cx="11576685" cy="2688233"/>
          </a:xfrm>
          <a:prstGeom prst="rect">
            <a:avLst/>
          </a:prstGeom>
          <a:noFill/>
          <a:ln/>
        </p:spPr>
        <p:txBody>
          <a:bodyPr wrap="square" lIns="25400" tIns="25400" rIns="25400" bIns="25400" rtlCol="0" anchor="t">
            <a:normAutofit/>
          </a:bodyPr>
          <a:lstStyle/>
          <a:p>
            <a:pPr algn="l" indent="0" marL="0">
              <a:lnSpc>
                <a:spcPct val="94000"/>
              </a:lnSpc>
              <a:buNone/>
            </a:pPr>
            <a:r>
              <a:rPr lang="en-US" sz="11100" b="1" spc="-311" kern="0" dirty="0">
                <a:solidFill>
                  <a:srgbClr val="1B1F2A"/>
                </a:solidFill>
                <a:latin typeface="Manrope" pitchFamily="34" charset="0"/>
                <a:ea typeface="Manrope" pitchFamily="34" charset="-122"/>
                <a:cs typeface="Manrope" pitchFamily="34" charset="-120"/>
              </a:rPr>
              <a:t>Looker, end to end.</a:t>
            </a:r>
            <a:endParaRPr lang="en-US" sz="11100" dirty="0"/>
          </a:p>
        </p:txBody>
      </p:sp>
      <p:sp>
        <p:nvSpPr>
          <p:cNvPr id="9" name="Text 6"/>
          <p:cNvSpPr/>
          <p:nvPr/>
        </p:nvSpPr>
        <p:spPr>
          <a:xfrm>
            <a:off x="1219200" y="6129933"/>
            <a:ext cx="8633460" cy="1524000"/>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384358"/>
                </a:solidFill>
                <a:latin typeface="Manrope" pitchFamily="34" charset="0"/>
                <a:ea typeface="Manrope" pitchFamily="34" charset="-122"/>
                <a:cs typeface="Manrope" pitchFamily="34" charset="-120"/>
              </a:rPr>
              <a:t>A self-paced module for the Google Cloud </a:t>
            </a:r>
            <a:pPr algn="l" indent="0" marL="0">
              <a:lnSpc>
                <a:spcPct val="130000"/>
              </a:lnSpc>
              <a:buNone/>
            </a:pPr>
            <a:r>
              <a:rPr lang="en-US" sz="2250" dirty="0">
                <a:solidFill>
                  <a:srgbClr val="FF671F"/>
                </a:solidFill>
                <a:latin typeface="Manrope" pitchFamily="34" charset="0"/>
                <a:ea typeface="Manrope" pitchFamily="34" charset="-122"/>
                <a:cs typeface="Manrope" pitchFamily="34" charset="-120"/>
              </a:rPr>
              <a:t>Associate Data Practitioner </a:t>
            </a:r>
            <a:pPr algn="l" indent="0" marL="0">
              <a:lnSpc>
                <a:spcPct val="130000"/>
              </a:lnSpc>
              <a:buNone/>
            </a:pPr>
            <a:r>
              <a:rPr lang="en-US" sz="2250" dirty="0">
                <a:solidFill>
                  <a:srgbClr val="384358"/>
                </a:solidFill>
                <a:latin typeface="Manrope" pitchFamily="34" charset="0"/>
                <a:ea typeface="Manrope" pitchFamily="34" charset="-122"/>
                <a:cs typeface="Manrope" pitchFamily="34" charset="-120"/>
              </a:rPr>
              <a:t>— visualize data, build and share dashboards, manipulate LookML, and choose between Looker and Looker Studio.</a:t>
            </a:r>
            <a:endParaRPr lang="en-US" sz="2250" dirty="0"/>
          </a:p>
        </p:txBody>
      </p:sp>
      <p:sp>
        <p:nvSpPr>
          <p:cNvPr id="10" name="Text 7"/>
          <p:cNvSpPr/>
          <p:nvPr/>
        </p:nvSpPr>
        <p:spPr>
          <a:xfrm>
            <a:off x="1219200" y="8636000"/>
            <a:ext cx="1722636"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DURATION</a:t>
            </a:r>
            <a:endParaRPr lang="en-US" sz="900" dirty="0"/>
          </a:p>
        </p:txBody>
      </p:sp>
      <p:sp>
        <p:nvSpPr>
          <p:cNvPr id="11" name="Text 8"/>
          <p:cNvSpPr/>
          <p:nvPr/>
        </p:nvSpPr>
        <p:spPr>
          <a:xfrm>
            <a:off x="1219200" y="8858250"/>
            <a:ext cx="1722636"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 90 minutes · 60 slides</a:t>
            </a:r>
            <a:endParaRPr lang="en-US" sz="1200" dirty="0"/>
          </a:p>
        </p:txBody>
      </p:sp>
      <p:sp>
        <p:nvSpPr>
          <p:cNvPr id="12" name="Text 9"/>
          <p:cNvSpPr/>
          <p:nvPr/>
        </p:nvSpPr>
        <p:spPr>
          <a:xfrm>
            <a:off x="3475236" y="8636000"/>
            <a:ext cx="1937246"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AUDIENCE</a:t>
            </a:r>
            <a:endParaRPr lang="en-US" sz="900" dirty="0"/>
          </a:p>
        </p:txBody>
      </p:sp>
      <p:sp>
        <p:nvSpPr>
          <p:cNvPr id="13" name="Text 10"/>
          <p:cNvSpPr/>
          <p:nvPr/>
        </p:nvSpPr>
        <p:spPr>
          <a:xfrm>
            <a:off x="3475236" y="8858250"/>
            <a:ext cx="1937246"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Aspiring data practitioners</a:t>
            </a:r>
            <a:endParaRPr lang="en-US" sz="1200" dirty="0"/>
          </a:p>
        </p:txBody>
      </p:sp>
      <p:sp>
        <p:nvSpPr>
          <p:cNvPr id="14" name="Text 11"/>
          <p:cNvSpPr/>
          <p:nvPr/>
        </p:nvSpPr>
        <p:spPr>
          <a:xfrm>
            <a:off x="5945882" y="8636000"/>
            <a:ext cx="1830586"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PREREQ</a:t>
            </a:r>
            <a:endParaRPr lang="en-US" sz="900" dirty="0"/>
          </a:p>
        </p:txBody>
      </p:sp>
      <p:sp>
        <p:nvSpPr>
          <p:cNvPr id="15" name="Text 12"/>
          <p:cNvSpPr/>
          <p:nvPr/>
        </p:nvSpPr>
        <p:spPr>
          <a:xfrm>
            <a:off x="5945882" y="8858250"/>
            <a:ext cx="1830586"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Basic SQL · spreadsheets</a:t>
            </a:r>
            <a:endParaRPr lang="en-US" sz="1200" dirty="0"/>
          </a:p>
        </p:txBody>
      </p:sp>
      <p:sp>
        <p:nvSpPr>
          <p:cNvPr id="16" name="Text 13"/>
          <p:cNvSpPr/>
          <p:nvPr/>
        </p:nvSpPr>
        <p:spPr>
          <a:xfrm>
            <a:off x="8309868" y="8636000"/>
            <a:ext cx="308037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OUTCOME</a:t>
            </a:r>
            <a:endParaRPr lang="en-US" sz="900" dirty="0"/>
          </a:p>
        </p:txBody>
      </p:sp>
      <p:sp>
        <p:nvSpPr>
          <p:cNvPr id="17" name="Text 14"/>
          <p:cNvSpPr/>
          <p:nvPr/>
        </p:nvSpPr>
        <p:spPr>
          <a:xfrm>
            <a:off x="8309868" y="8858250"/>
            <a:ext cx="3080371"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Build, modify and share Looker dashboards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MODULE · LKR-100</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ABOUT THIS MODULE</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Built for the practitioner who reads a dashboard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and </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ships one.</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If you can write a SELECT and you've opened a BI tool before, you're ready. By the last slide you will be able to build, modify and share a Looker dashboard and read a LookML file confidently enough to make small changes yourself.</a:t>
            </a:r>
            <a:endParaRPr lang="en-US" sz="1650" dirty="0"/>
          </a:p>
        </p:txBody>
      </p:sp>
      <p:sp>
        <p:nvSpPr>
          <p:cNvPr id="9" name="Shape 7"/>
          <p:cNvSpPr/>
          <p:nvPr/>
        </p:nvSpPr>
        <p:spPr>
          <a:xfrm>
            <a:off x="1219200" y="5349677"/>
            <a:ext cx="5080000" cy="2400499"/>
          </a:xfrm>
          <a:prstGeom prst="roundRect">
            <a:avLst>
              <a:gd name="adj" fmla="val 5555"/>
            </a:avLst>
          </a:prstGeom>
          <a:solidFill>
            <a:srgbClr val="F1F2F4"/>
          </a:solidFill>
          <a:ln/>
        </p:spPr>
      </p:sp>
      <p:sp>
        <p:nvSpPr>
          <p:cNvPr id="10" name="Shape 8"/>
          <p:cNvSpPr/>
          <p:nvPr/>
        </p:nvSpPr>
        <p:spPr>
          <a:xfrm>
            <a:off x="1219200" y="5349677"/>
            <a:ext cx="5080000" cy="38100"/>
          </a:xfrm>
          <a:prstGeom prst="rect">
            <a:avLst/>
          </a:prstGeom>
          <a:solidFill>
            <a:srgbClr val="FF671F"/>
          </a:solidFill>
          <a:ln/>
        </p:spPr>
      </p:sp>
      <p:sp>
        <p:nvSpPr>
          <p:cNvPr id="11" name="Text 9"/>
          <p:cNvSpPr/>
          <p:nvPr/>
        </p:nvSpPr>
        <p:spPr>
          <a:xfrm>
            <a:off x="1524000" y="5692577"/>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01 · WHO</a:t>
            </a:r>
            <a:endParaRPr lang="en-US" sz="900" dirty="0"/>
          </a:p>
        </p:txBody>
      </p:sp>
      <p:sp>
        <p:nvSpPr>
          <p:cNvPr id="12" name="Text 10"/>
          <p:cNvSpPr/>
          <p:nvPr/>
        </p:nvSpPr>
        <p:spPr>
          <a:xfrm>
            <a:off x="1524000" y="5971977"/>
            <a:ext cx="4604512" cy="892373"/>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Data analysts and engineers preparing for the Associate Data Practitioner exam.</a:t>
            </a:r>
            <a:endParaRPr lang="en-US" sz="1950" dirty="0"/>
          </a:p>
        </p:txBody>
      </p:sp>
      <p:sp>
        <p:nvSpPr>
          <p:cNvPr id="13" name="Text 11"/>
          <p:cNvSpPr/>
          <p:nvPr/>
        </p:nvSpPr>
        <p:spPr>
          <a:xfrm>
            <a:off x="1524000" y="695960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You write SQL, you've used a BI tool. You want to understand how Looker fits Google's data stack.</a:t>
            </a:r>
            <a:endParaRPr lang="en-US" sz="1275" dirty="0"/>
          </a:p>
        </p:txBody>
      </p:sp>
      <p:sp>
        <p:nvSpPr>
          <p:cNvPr id="14" name="Shape 12"/>
          <p:cNvSpPr/>
          <p:nvPr/>
        </p:nvSpPr>
        <p:spPr>
          <a:xfrm>
            <a:off x="6604000" y="5349677"/>
            <a:ext cx="5080000" cy="2400499"/>
          </a:xfrm>
          <a:prstGeom prst="roundRect">
            <a:avLst>
              <a:gd name="adj" fmla="val 5555"/>
            </a:avLst>
          </a:prstGeom>
          <a:solidFill>
            <a:srgbClr val="F1F2F4"/>
          </a:solidFill>
          <a:ln/>
        </p:spPr>
      </p:sp>
      <p:sp>
        <p:nvSpPr>
          <p:cNvPr id="15" name="Shape 13"/>
          <p:cNvSpPr/>
          <p:nvPr/>
        </p:nvSpPr>
        <p:spPr>
          <a:xfrm>
            <a:off x="6604000" y="5349677"/>
            <a:ext cx="5080000" cy="38100"/>
          </a:xfrm>
          <a:prstGeom prst="rect">
            <a:avLst/>
          </a:prstGeom>
          <a:solidFill>
            <a:srgbClr val="FF671F"/>
          </a:solidFill>
          <a:ln/>
        </p:spPr>
      </p:sp>
      <p:sp>
        <p:nvSpPr>
          <p:cNvPr id="16" name="Text 14"/>
          <p:cNvSpPr/>
          <p:nvPr/>
        </p:nvSpPr>
        <p:spPr>
          <a:xfrm>
            <a:off x="6908800" y="5692577"/>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02 · WHY</a:t>
            </a:r>
            <a:endParaRPr lang="en-US" sz="900" dirty="0"/>
          </a:p>
        </p:txBody>
      </p:sp>
      <p:sp>
        <p:nvSpPr>
          <p:cNvPr id="17" name="Text 15"/>
          <p:cNvSpPr/>
          <p:nvPr/>
        </p:nvSpPr>
        <p:spPr>
          <a:xfrm>
            <a:off x="6908800" y="5971977"/>
            <a:ext cx="4604512" cy="892373"/>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Looker is the BI piece of the certification — and the part most candidates underprepare for.</a:t>
            </a:r>
            <a:endParaRPr lang="en-US" sz="1950" dirty="0"/>
          </a:p>
        </p:txBody>
      </p:sp>
      <p:sp>
        <p:nvSpPr>
          <p:cNvPr id="18" name="Text 16"/>
          <p:cNvSpPr/>
          <p:nvPr/>
        </p:nvSpPr>
        <p:spPr>
          <a:xfrm>
            <a:off x="6908800" y="695960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Dashboards, LookML, and Looker vs Looker Studio together account for a meaningful slice of the exam.</a:t>
            </a:r>
            <a:endParaRPr lang="en-US" sz="1275" dirty="0"/>
          </a:p>
        </p:txBody>
      </p:sp>
      <p:sp>
        <p:nvSpPr>
          <p:cNvPr id="19" name="Shape 17"/>
          <p:cNvSpPr/>
          <p:nvPr/>
        </p:nvSpPr>
        <p:spPr>
          <a:xfrm>
            <a:off x="11988801" y="5349677"/>
            <a:ext cx="5080000" cy="2400499"/>
          </a:xfrm>
          <a:prstGeom prst="roundRect">
            <a:avLst>
              <a:gd name="adj" fmla="val 5555"/>
            </a:avLst>
          </a:prstGeom>
          <a:solidFill>
            <a:srgbClr val="F1F2F4"/>
          </a:solidFill>
          <a:ln/>
        </p:spPr>
      </p:sp>
      <p:sp>
        <p:nvSpPr>
          <p:cNvPr id="20" name="Shape 18"/>
          <p:cNvSpPr/>
          <p:nvPr/>
        </p:nvSpPr>
        <p:spPr>
          <a:xfrm>
            <a:off x="11988801" y="5349677"/>
            <a:ext cx="5080000" cy="38100"/>
          </a:xfrm>
          <a:prstGeom prst="rect">
            <a:avLst/>
          </a:prstGeom>
          <a:solidFill>
            <a:srgbClr val="FF671F"/>
          </a:solidFill>
          <a:ln/>
        </p:spPr>
      </p:sp>
      <p:sp>
        <p:nvSpPr>
          <p:cNvPr id="21" name="Text 19"/>
          <p:cNvSpPr/>
          <p:nvPr/>
        </p:nvSpPr>
        <p:spPr>
          <a:xfrm>
            <a:off x="12293601" y="5692577"/>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03 · HOW</a:t>
            </a:r>
            <a:endParaRPr lang="en-US" sz="900" dirty="0"/>
          </a:p>
        </p:txBody>
      </p:sp>
      <p:sp>
        <p:nvSpPr>
          <p:cNvPr id="22" name="Text 20"/>
          <p:cNvSpPr/>
          <p:nvPr/>
        </p:nvSpPr>
        <p:spPr>
          <a:xfrm>
            <a:off x="12293601" y="5971977"/>
            <a:ext cx="4604512" cy="892373"/>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Self-explanatory slides with diagrams, mock UI and real LookML snippets.</a:t>
            </a:r>
            <a:endParaRPr lang="en-US" sz="1950" dirty="0"/>
          </a:p>
        </p:txBody>
      </p:sp>
      <p:sp>
        <p:nvSpPr>
          <p:cNvPr id="23" name="Text 21"/>
          <p:cNvSpPr/>
          <p:nvPr/>
        </p:nvSpPr>
        <p:spPr>
          <a:xfrm>
            <a:off x="12293601" y="695960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No video, no setup, no sign-in. Read, click through, and refer back to the cheat sheet at the end.</a:t>
            </a:r>
            <a:endParaRPr lang="en-US" sz="1275" dirty="0"/>
          </a:p>
        </p:txBody>
      </p:sp>
      <p:sp>
        <p:nvSpPr>
          <p:cNvPr id="24" name="Text 22"/>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25" name="Text 2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02 / 60</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MODULE · LKR-100</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LEARNING OBJECTIVES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By the end you can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do</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 not just describe.</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Mapped one-to-one with the exam's Looker pointers — every objective is a verb you should be able to act on inside Looker the next time you open it.</a:t>
            </a:r>
            <a:endParaRPr lang="en-US" sz="1650" dirty="0"/>
          </a:p>
        </p:txBody>
      </p:sp>
      <p:sp>
        <p:nvSpPr>
          <p:cNvPr id="9" name="Shape 7"/>
          <p:cNvSpPr/>
          <p:nvPr/>
        </p:nvSpPr>
        <p:spPr>
          <a:xfrm>
            <a:off x="1219200" y="4268688"/>
            <a:ext cx="3790950" cy="2415778"/>
          </a:xfrm>
          <a:prstGeom prst="roundRect">
            <a:avLst>
              <a:gd name="adj" fmla="val 5520"/>
            </a:avLst>
          </a:prstGeom>
          <a:solidFill>
            <a:srgbClr val="F1F2F4"/>
          </a:solidFill>
          <a:ln/>
        </p:spPr>
      </p:sp>
      <p:sp>
        <p:nvSpPr>
          <p:cNvPr id="10" name="Shape 8"/>
          <p:cNvSpPr/>
          <p:nvPr/>
        </p:nvSpPr>
        <p:spPr>
          <a:xfrm>
            <a:off x="1219200" y="4268688"/>
            <a:ext cx="3790950" cy="38100"/>
          </a:xfrm>
          <a:prstGeom prst="rect">
            <a:avLst/>
          </a:prstGeom>
          <a:solidFill>
            <a:srgbClr val="FF671F"/>
          </a:solidFill>
          <a:ln/>
        </p:spPr>
      </p:sp>
      <p:sp>
        <p:nvSpPr>
          <p:cNvPr id="11" name="Text 9"/>
          <p:cNvSpPr/>
          <p:nvPr/>
        </p:nvSpPr>
        <p:spPr>
          <a:xfrm>
            <a:off x="1524000" y="4611588"/>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OBJECTIVE 1</a:t>
            </a:r>
            <a:endParaRPr lang="en-US" sz="900" dirty="0"/>
          </a:p>
        </p:txBody>
      </p:sp>
      <p:sp>
        <p:nvSpPr>
          <p:cNvPr id="12" name="Text 10"/>
          <p:cNvSpPr/>
          <p:nvPr/>
        </p:nvSpPr>
        <p:spPr>
          <a:xfrm>
            <a:off x="1524000" y="4890989"/>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Create, modify and share dashboards.</a:t>
            </a:r>
            <a:endParaRPr lang="en-US" sz="1950" dirty="0"/>
          </a:p>
        </p:txBody>
      </p:sp>
      <p:sp>
        <p:nvSpPr>
          <p:cNvPr id="13" name="Text 11"/>
          <p:cNvSpPr/>
          <p:nvPr/>
        </p:nvSpPr>
        <p:spPr>
          <a:xfrm>
            <a:off x="1524000" y="559385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Build a dashboard from Explores, add tiles, configure filters, schedule deliveries and manage access through folders.</a:t>
            </a:r>
            <a:endParaRPr lang="en-US" sz="1275" dirty="0"/>
          </a:p>
        </p:txBody>
      </p:sp>
      <p:sp>
        <p:nvSpPr>
          <p:cNvPr id="14" name="Shape 12"/>
          <p:cNvSpPr/>
          <p:nvPr/>
        </p:nvSpPr>
        <p:spPr>
          <a:xfrm>
            <a:off x="5238750" y="4268688"/>
            <a:ext cx="3790950" cy="2415778"/>
          </a:xfrm>
          <a:prstGeom prst="roundRect">
            <a:avLst>
              <a:gd name="adj" fmla="val 5520"/>
            </a:avLst>
          </a:prstGeom>
          <a:solidFill>
            <a:srgbClr val="F1F2F4"/>
          </a:solidFill>
          <a:ln/>
        </p:spPr>
      </p:sp>
      <p:sp>
        <p:nvSpPr>
          <p:cNvPr id="15" name="Shape 13"/>
          <p:cNvSpPr/>
          <p:nvPr/>
        </p:nvSpPr>
        <p:spPr>
          <a:xfrm>
            <a:off x="5238750" y="4268688"/>
            <a:ext cx="3790950" cy="38100"/>
          </a:xfrm>
          <a:prstGeom prst="rect">
            <a:avLst/>
          </a:prstGeom>
          <a:solidFill>
            <a:srgbClr val="FF671F"/>
          </a:solidFill>
          <a:ln/>
        </p:spPr>
      </p:sp>
      <p:sp>
        <p:nvSpPr>
          <p:cNvPr id="16" name="Text 14"/>
          <p:cNvSpPr/>
          <p:nvPr/>
        </p:nvSpPr>
        <p:spPr>
          <a:xfrm>
            <a:off x="5543550" y="4611588"/>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OBJECTIVE 2</a:t>
            </a:r>
            <a:endParaRPr lang="en-US" sz="900" dirty="0"/>
          </a:p>
        </p:txBody>
      </p:sp>
      <p:sp>
        <p:nvSpPr>
          <p:cNvPr id="17" name="Text 15"/>
          <p:cNvSpPr/>
          <p:nvPr/>
        </p:nvSpPr>
        <p:spPr>
          <a:xfrm>
            <a:off x="5543550" y="4890989"/>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Manipulate simple LookML parameters.</a:t>
            </a:r>
            <a:endParaRPr lang="en-US" sz="1950" dirty="0"/>
          </a:p>
        </p:txBody>
      </p:sp>
      <p:sp>
        <p:nvSpPr>
          <p:cNvPr id="18" name="Text 16"/>
          <p:cNvSpPr/>
          <p:nvPr/>
        </p:nvSpPr>
        <p:spPr>
          <a:xfrm>
            <a:off x="5543550" y="5593854"/>
            <a:ext cx="3276791" cy="82391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Read a model file, identify dimensions, measures and joins, and edit common parameters such as </a:t>
            </a:r>
            <a:pPr algn="l" indent="0" marL="0">
              <a:lnSpc>
                <a:spcPct val="150000"/>
              </a:lnSpc>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label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and </a:t>
            </a:r>
            <a:pPr algn="l" indent="0" marL="0">
              <a:lnSpc>
                <a:spcPct val="150000"/>
              </a:lnSpc>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sql</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t>
            </a:r>
            <a:endParaRPr lang="en-US" sz="1275" dirty="0"/>
          </a:p>
        </p:txBody>
      </p:sp>
      <p:sp>
        <p:nvSpPr>
          <p:cNvPr id="19" name="Shape 17"/>
          <p:cNvSpPr/>
          <p:nvPr/>
        </p:nvSpPr>
        <p:spPr>
          <a:xfrm>
            <a:off x="9258300" y="4268688"/>
            <a:ext cx="3790950" cy="2415778"/>
          </a:xfrm>
          <a:prstGeom prst="roundRect">
            <a:avLst>
              <a:gd name="adj" fmla="val 5520"/>
            </a:avLst>
          </a:prstGeom>
          <a:solidFill>
            <a:srgbClr val="F1F2F4"/>
          </a:solidFill>
          <a:ln/>
        </p:spPr>
      </p:sp>
      <p:sp>
        <p:nvSpPr>
          <p:cNvPr id="20" name="Shape 18"/>
          <p:cNvSpPr/>
          <p:nvPr/>
        </p:nvSpPr>
        <p:spPr>
          <a:xfrm>
            <a:off x="9258300" y="4268688"/>
            <a:ext cx="3790950" cy="38100"/>
          </a:xfrm>
          <a:prstGeom prst="rect">
            <a:avLst/>
          </a:prstGeom>
          <a:solidFill>
            <a:srgbClr val="FF671F"/>
          </a:solidFill>
          <a:ln/>
        </p:spPr>
      </p:sp>
      <p:sp>
        <p:nvSpPr>
          <p:cNvPr id="21" name="Text 19"/>
          <p:cNvSpPr/>
          <p:nvPr/>
        </p:nvSpPr>
        <p:spPr>
          <a:xfrm>
            <a:off x="9563100" y="4611588"/>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OBJECTIVE 3</a:t>
            </a:r>
            <a:endParaRPr lang="en-US" sz="900" dirty="0"/>
          </a:p>
        </p:txBody>
      </p:sp>
      <p:sp>
        <p:nvSpPr>
          <p:cNvPr id="22" name="Text 20"/>
          <p:cNvSpPr/>
          <p:nvPr/>
        </p:nvSpPr>
        <p:spPr>
          <a:xfrm>
            <a:off x="9563100" y="4890989"/>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Compare Looker and Looker Studio.</a:t>
            </a:r>
            <a:endParaRPr lang="en-US" sz="1950" dirty="0"/>
          </a:p>
        </p:txBody>
      </p:sp>
      <p:sp>
        <p:nvSpPr>
          <p:cNvPr id="23" name="Text 21"/>
          <p:cNvSpPr/>
          <p:nvPr/>
        </p:nvSpPr>
        <p:spPr>
          <a:xfrm>
            <a:off x="9563100" y="559385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Pick the right tool for an analytics use case based on data modeling, governance, scale and connectivity.</a:t>
            </a:r>
            <a:endParaRPr lang="en-US" sz="1275" dirty="0"/>
          </a:p>
        </p:txBody>
      </p:sp>
      <p:sp>
        <p:nvSpPr>
          <p:cNvPr id="24" name="Shape 22"/>
          <p:cNvSpPr/>
          <p:nvPr/>
        </p:nvSpPr>
        <p:spPr>
          <a:xfrm>
            <a:off x="13277850" y="4268688"/>
            <a:ext cx="3790950" cy="2415778"/>
          </a:xfrm>
          <a:prstGeom prst="roundRect">
            <a:avLst>
              <a:gd name="adj" fmla="val 5520"/>
            </a:avLst>
          </a:prstGeom>
          <a:solidFill>
            <a:srgbClr val="F1F2F4"/>
          </a:solidFill>
          <a:ln/>
        </p:spPr>
      </p:sp>
      <p:sp>
        <p:nvSpPr>
          <p:cNvPr id="25" name="Shape 23"/>
          <p:cNvSpPr/>
          <p:nvPr/>
        </p:nvSpPr>
        <p:spPr>
          <a:xfrm>
            <a:off x="13277850" y="4268688"/>
            <a:ext cx="3790950" cy="38100"/>
          </a:xfrm>
          <a:prstGeom prst="rect">
            <a:avLst/>
          </a:prstGeom>
          <a:solidFill>
            <a:srgbClr val="FF671F"/>
          </a:solidFill>
          <a:ln/>
        </p:spPr>
      </p:sp>
      <p:sp>
        <p:nvSpPr>
          <p:cNvPr id="26" name="Text 24"/>
          <p:cNvSpPr/>
          <p:nvPr/>
        </p:nvSpPr>
        <p:spPr>
          <a:xfrm>
            <a:off x="13582650" y="4611588"/>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OBJECTIVE 4</a:t>
            </a:r>
            <a:endParaRPr lang="en-US" sz="900" dirty="0"/>
          </a:p>
        </p:txBody>
      </p:sp>
      <p:sp>
        <p:nvSpPr>
          <p:cNvPr id="27" name="Text 25"/>
          <p:cNvSpPr/>
          <p:nvPr/>
        </p:nvSpPr>
        <p:spPr>
          <a:xfrm>
            <a:off x="13582650" y="4890989"/>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Visualize data for a business question.</a:t>
            </a:r>
            <a:endParaRPr lang="en-US" sz="1950" dirty="0"/>
          </a:p>
        </p:txBody>
      </p:sp>
      <p:sp>
        <p:nvSpPr>
          <p:cNvPr id="28" name="Text 26"/>
          <p:cNvSpPr/>
          <p:nvPr/>
        </p:nvSpPr>
        <p:spPr>
          <a:xfrm>
            <a:off x="13582650" y="559385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Choose appropriate chart types, structure dashboard layouts and write captions a stakeholder can act on.</a:t>
            </a:r>
            <a:endParaRPr lang="en-US" sz="1275" dirty="0"/>
          </a:p>
        </p:txBody>
      </p:sp>
      <p:sp>
        <p:nvSpPr>
          <p:cNvPr id="29" name="Text 2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0" name="Text 2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03 / 60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MODULE · LKR-100</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MODULE MAP</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Five chapters, sixty slides.</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Each chapter is a self-contained block — read in order on a first pass, then jump back into individual chapters using the slide rail.</a:t>
            </a:r>
            <a:endParaRPr lang="en-US" sz="1650" dirty="0"/>
          </a:p>
        </p:txBody>
      </p:sp>
      <p:sp>
        <p:nvSpPr>
          <p:cNvPr id="9" name="Shape 7"/>
          <p:cNvSpPr/>
          <p:nvPr/>
        </p:nvSpPr>
        <p:spPr>
          <a:xfrm>
            <a:off x="1219200" y="4268688"/>
            <a:ext cx="2773660" cy="2006203"/>
          </a:xfrm>
          <a:prstGeom prst="roundRect">
            <a:avLst>
              <a:gd name="adj" fmla="val 6647"/>
            </a:avLst>
          </a:prstGeom>
          <a:solidFill>
            <a:srgbClr val="F1F2F4"/>
          </a:solidFill>
          <a:ln/>
        </p:spPr>
      </p:sp>
      <p:sp>
        <p:nvSpPr>
          <p:cNvPr id="10" name="Shape 8"/>
          <p:cNvSpPr/>
          <p:nvPr/>
        </p:nvSpPr>
        <p:spPr>
          <a:xfrm>
            <a:off x="1219200" y="4268688"/>
            <a:ext cx="2773660" cy="38100"/>
          </a:xfrm>
          <a:prstGeom prst="rect">
            <a:avLst/>
          </a:prstGeom>
          <a:solidFill>
            <a:srgbClr val="FF671F"/>
          </a:solidFill>
          <a:ln/>
        </p:spPr>
      </p:sp>
      <p:sp>
        <p:nvSpPr>
          <p:cNvPr id="11" name="Text 9"/>
          <p:cNvSpPr/>
          <p:nvPr/>
        </p:nvSpPr>
        <p:spPr>
          <a:xfrm>
            <a:off x="1485900" y="4573488"/>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CHAPTER 01 · S 07–15</a:t>
            </a:r>
            <a:endParaRPr lang="en-US" sz="900" dirty="0"/>
          </a:p>
        </p:txBody>
      </p:sp>
      <p:sp>
        <p:nvSpPr>
          <p:cNvPr id="12" name="Text 10"/>
          <p:cNvSpPr/>
          <p:nvPr/>
        </p:nvSpPr>
        <p:spPr>
          <a:xfrm>
            <a:off x="1485900" y="4814788"/>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Meet Looker.</a:t>
            </a:r>
            <a:endParaRPr lang="en-US" sz="1650" dirty="0"/>
          </a:p>
        </p:txBody>
      </p:sp>
      <p:sp>
        <p:nvSpPr>
          <p:cNvPr id="13" name="Text 11"/>
          <p:cNvSpPr/>
          <p:nvPr/>
        </p:nvSpPr>
        <p:spPr>
          <a:xfrm>
            <a:off x="1485900" y="5150941"/>
            <a:ext cx="2316460" cy="895350"/>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What it is, who built it, where it sits in the Google Cloud data stack, and the four building blocks you'll see everywhere.</a:t>
            </a:r>
            <a:endParaRPr lang="en-US" sz="1125" dirty="0"/>
          </a:p>
        </p:txBody>
      </p:sp>
      <p:sp>
        <p:nvSpPr>
          <p:cNvPr id="14" name="Text 12"/>
          <p:cNvSpPr/>
          <p:nvPr/>
        </p:nvSpPr>
        <p:spPr>
          <a:xfrm>
            <a:off x="4088110" y="5100340"/>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15" name="Shape 13"/>
          <p:cNvSpPr/>
          <p:nvPr/>
        </p:nvSpPr>
        <p:spPr>
          <a:xfrm>
            <a:off x="4488160" y="4268688"/>
            <a:ext cx="2773660" cy="2006203"/>
          </a:xfrm>
          <a:prstGeom prst="roundRect">
            <a:avLst>
              <a:gd name="adj" fmla="val 6647"/>
            </a:avLst>
          </a:prstGeom>
          <a:solidFill>
            <a:srgbClr val="F1F2F4"/>
          </a:solidFill>
          <a:ln/>
        </p:spPr>
      </p:sp>
      <p:sp>
        <p:nvSpPr>
          <p:cNvPr id="16" name="Shape 14"/>
          <p:cNvSpPr/>
          <p:nvPr/>
        </p:nvSpPr>
        <p:spPr>
          <a:xfrm>
            <a:off x="4488160" y="4268688"/>
            <a:ext cx="2773660" cy="38100"/>
          </a:xfrm>
          <a:prstGeom prst="rect">
            <a:avLst/>
          </a:prstGeom>
          <a:solidFill>
            <a:srgbClr val="FF671F"/>
          </a:solidFill>
          <a:ln/>
        </p:spPr>
      </p:sp>
      <p:sp>
        <p:nvSpPr>
          <p:cNvPr id="17" name="Text 15"/>
          <p:cNvSpPr/>
          <p:nvPr/>
        </p:nvSpPr>
        <p:spPr>
          <a:xfrm>
            <a:off x="4754860" y="4573488"/>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CHAPTER 02 · S 16–22</a:t>
            </a:r>
            <a:endParaRPr lang="en-US" sz="900" dirty="0"/>
          </a:p>
        </p:txBody>
      </p:sp>
      <p:sp>
        <p:nvSpPr>
          <p:cNvPr id="18" name="Text 16"/>
          <p:cNvSpPr/>
          <p:nvPr/>
        </p:nvSpPr>
        <p:spPr>
          <a:xfrm>
            <a:off x="4754860" y="4814788"/>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Tour the UI.</a:t>
            </a:r>
            <a:endParaRPr lang="en-US" sz="1650" dirty="0"/>
          </a:p>
        </p:txBody>
      </p:sp>
      <p:sp>
        <p:nvSpPr>
          <p:cNvPr id="19" name="Text 17"/>
          <p:cNvSpPr/>
          <p:nvPr/>
        </p:nvSpPr>
        <p:spPr>
          <a:xfrm>
            <a:off x="4754860" y="5150941"/>
            <a:ext cx="2316460" cy="895350"/>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Browse, Explore, the visualization picker, fields, filters, Looks and Boards — what each panel does and when you use it.</a:t>
            </a:r>
            <a:endParaRPr lang="en-US" sz="1125" dirty="0"/>
          </a:p>
        </p:txBody>
      </p:sp>
      <p:sp>
        <p:nvSpPr>
          <p:cNvPr id="20" name="Text 18"/>
          <p:cNvSpPr/>
          <p:nvPr/>
        </p:nvSpPr>
        <p:spPr>
          <a:xfrm>
            <a:off x="7357071" y="5100340"/>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21" name="Shape 19"/>
          <p:cNvSpPr/>
          <p:nvPr/>
        </p:nvSpPr>
        <p:spPr>
          <a:xfrm>
            <a:off x="7757121" y="4268688"/>
            <a:ext cx="2773660" cy="2006203"/>
          </a:xfrm>
          <a:prstGeom prst="roundRect">
            <a:avLst>
              <a:gd name="adj" fmla="val 6647"/>
            </a:avLst>
          </a:prstGeom>
          <a:solidFill>
            <a:srgbClr val="F1F2F4"/>
          </a:solidFill>
          <a:ln/>
        </p:spPr>
      </p:sp>
      <p:sp>
        <p:nvSpPr>
          <p:cNvPr id="22" name="Shape 20"/>
          <p:cNvSpPr/>
          <p:nvPr/>
        </p:nvSpPr>
        <p:spPr>
          <a:xfrm>
            <a:off x="7757121" y="4268688"/>
            <a:ext cx="2773660" cy="38100"/>
          </a:xfrm>
          <a:prstGeom prst="rect">
            <a:avLst/>
          </a:prstGeom>
          <a:solidFill>
            <a:srgbClr val="FF671F"/>
          </a:solidFill>
          <a:ln/>
        </p:spPr>
      </p:sp>
      <p:sp>
        <p:nvSpPr>
          <p:cNvPr id="23" name="Text 21"/>
          <p:cNvSpPr/>
          <p:nvPr/>
        </p:nvSpPr>
        <p:spPr>
          <a:xfrm>
            <a:off x="8023821" y="4573488"/>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CHAPTER 03 · S 23–37</a:t>
            </a:r>
            <a:endParaRPr lang="en-US" sz="900" dirty="0"/>
          </a:p>
        </p:txBody>
      </p:sp>
      <p:sp>
        <p:nvSpPr>
          <p:cNvPr id="24" name="Text 22"/>
          <p:cNvSpPr/>
          <p:nvPr/>
        </p:nvSpPr>
        <p:spPr>
          <a:xfrm>
            <a:off x="8023821" y="4814788"/>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Dashboards.</a:t>
            </a:r>
            <a:endParaRPr lang="en-US" sz="1650" dirty="0"/>
          </a:p>
        </p:txBody>
      </p:sp>
      <p:sp>
        <p:nvSpPr>
          <p:cNvPr id="25" name="Text 23"/>
          <p:cNvSpPr/>
          <p:nvPr/>
        </p:nvSpPr>
        <p:spPr>
          <a:xfrm>
            <a:off x="8023821" y="5150941"/>
            <a:ext cx="2316460" cy="895350"/>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Anatomy, creation flow, tile types, filters, sharing, scheduling, embedding and a real-world marketing example.</a:t>
            </a:r>
            <a:endParaRPr lang="en-US" sz="1125" dirty="0"/>
          </a:p>
        </p:txBody>
      </p:sp>
      <p:sp>
        <p:nvSpPr>
          <p:cNvPr id="26" name="Text 24"/>
          <p:cNvSpPr/>
          <p:nvPr/>
        </p:nvSpPr>
        <p:spPr>
          <a:xfrm>
            <a:off x="10626030" y="5100340"/>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27" name="Shape 25"/>
          <p:cNvSpPr/>
          <p:nvPr/>
        </p:nvSpPr>
        <p:spPr>
          <a:xfrm>
            <a:off x="11026080" y="4268688"/>
            <a:ext cx="2773660" cy="2006203"/>
          </a:xfrm>
          <a:prstGeom prst="roundRect">
            <a:avLst>
              <a:gd name="adj" fmla="val 6647"/>
            </a:avLst>
          </a:prstGeom>
          <a:solidFill>
            <a:srgbClr val="F1F2F4"/>
          </a:solidFill>
          <a:ln/>
        </p:spPr>
      </p:sp>
      <p:sp>
        <p:nvSpPr>
          <p:cNvPr id="28" name="Shape 26"/>
          <p:cNvSpPr/>
          <p:nvPr/>
        </p:nvSpPr>
        <p:spPr>
          <a:xfrm>
            <a:off x="11026080" y="4268688"/>
            <a:ext cx="2773660" cy="38100"/>
          </a:xfrm>
          <a:prstGeom prst="rect">
            <a:avLst/>
          </a:prstGeom>
          <a:solidFill>
            <a:srgbClr val="FF671F"/>
          </a:solidFill>
          <a:ln/>
        </p:spPr>
      </p:sp>
      <p:sp>
        <p:nvSpPr>
          <p:cNvPr id="29" name="Text 27"/>
          <p:cNvSpPr/>
          <p:nvPr/>
        </p:nvSpPr>
        <p:spPr>
          <a:xfrm>
            <a:off x="11292780" y="4573488"/>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CHAPTER 04 · S 38–50</a:t>
            </a:r>
            <a:endParaRPr lang="en-US" sz="900" dirty="0"/>
          </a:p>
        </p:txBody>
      </p:sp>
      <p:sp>
        <p:nvSpPr>
          <p:cNvPr id="30" name="Text 28"/>
          <p:cNvSpPr/>
          <p:nvPr/>
        </p:nvSpPr>
        <p:spPr>
          <a:xfrm>
            <a:off x="11292780" y="4814788"/>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LookML.</a:t>
            </a:r>
            <a:endParaRPr lang="en-US" sz="1650" dirty="0"/>
          </a:p>
        </p:txBody>
      </p:sp>
      <p:sp>
        <p:nvSpPr>
          <p:cNvPr id="31" name="Text 29"/>
          <p:cNvSpPr/>
          <p:nvPr/>
        </p:nvSpPr>
        <p:spPr>
          <a:xfrm>
            <a:off x="11292780" y="5150941"/>
            <a:ext cx="2316460" cy="895350"/>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Project structure, views, models, dimensions, measures, joins and the parameters you'll be asked to manipulate.</a:t>
            </a:r>
            <a:endParaRPr lang="en-US" sz="1125" dirty="0"/>
          </a:p>
        </p:txBody>
      </p:sp>
      <p:sp>
        <p:nvSpPr>
          <p:cNvPr id="32" name="Text 30"/>
          <p:cNvSpPr/>
          <p:nvPr/>
        </p:nvSpPr>
        <p:spPr>
          <a:xfrm>
            <a:off x="13894991" y="5100340"/>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33" name="Shape 31"/>
          <p:cNvSpPr/>
          <p:nvPr/>
        </p:nvSpPr>
        <p:spPr>
          <a:xfrm>
            <a:off x="14295041" y="4268688"/>
            <a:ext cx="2773660" cy="2006203"/>
          </a:xfrm>
          <a:prstGeom prst="roundRect">
            <a:avLst>
              <a:gd name="adj" fmla="val 6647"/>
            </a:avLst>
          </a:prstGeom>
          <a:solidFill>
            <a:srgbClr val="F1F2F4"/>
          </a:solidFill>
          <a:ln/>
        </p:spPr>
      </p:sp>
      <p:sp>
        <p:nvSpPr>
          <p:cNvPr id="34" name="Shape 32"/>
          <p:cNvSpPr/>
          <p:nvPr/>
        </p:nvSpPr>
        <p:spPr>
          <a:xfrm>
            <a:off x="14295041" y="4268688"/>
            <a:ext cx="2773660" cy="38100"/>
          </a:xfrm>
          <a:prstGeom prst="rect">
            <a:avLst/>
          </a:prstGeom>
          <a:solidFill>
            <a:srgbClr val="FF671F"/>
          </a:solidFill>
          <a:ln/>
        </p:spPr>
      </p:sp>
      <p:sp>
        <p:nvSpPr>
          <p:cNvPr id="35" name="Text 33"/>
          <p:cNvSpPr/>
          <p:nvPr/>
        </p:nvSpPr>
        <p:spPr>
          <a:xfrm>
            <a:off x="14561741" y="4573488"/>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CHAPTER 05 · S 51–60</a:t>
            </a:r>
            <a:endParaRPr lang="en-US" sz="900" dirty="0"/>
          </a:p>
        </p:txBody>
      </p:sp>
      <p:sp>
        <p:nvSpPr>
          <p:cNvPr id="36" name="Text 34"/>
          <p:cNvSpPr/>
          <p:nvPr/>
        </p:nvSpPr>
        <p:spPr>
          <a:xfrm>
            <a:off x="14561741" y="4814788"/>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Looker vs Studio.</a:t>
            </a:r>
            <a:endParaRPr lang="en-US" sz="1650" dirty="0"/>
          </a:p>
        </p:txBody>
      </p:sp>
      <p:sp>
        <p:nvSpPr>
          <p:cNvPr id="37" name="Text 35"/>
          <p:cNvSpPr/>
          <p:nvPr/>
        </p:nvSpPr>
        <p:spPr>
          <a:xfrm>
            <a:off x="14561741" y="5150941"/>
            <a:ext cx="2316460" cy="895350"/>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Side-by-side comparison, use-case quadrant, decision flow, cheat sheet and next steps for the exam.</a:t>
            </a:r>
            <a:endParaRPr lang="en-US" sz="1125" dirty="0"/>
          </a:p>
        </p:txBody>
      </p:sp>
      <p:sp>
        <p:nvSpPr>
          <p:cNvPr id="38" name="Text 36"/>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9" name="Text 37"/>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04 / 60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511066" y="755650"/>
            <a:ext cx="163393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WHERE LOOKER SITS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WHERE IT FITS</a:t>
            </a:r>
            <a:endParaRPr lang="en-US" sz="1350" dirty="0"/>
          </a:p>
        </p:txBody>
      </p:sp>
      <p:sp>
        <p:nvSpPr>
          <p:cNvPr id="7" name="Text 5"/>
          <p:cNvSpPr/>
          <p:nvPr/>
        </p:nvSpPr>
        <p:spPr>
          <a:xfrm>
            <a:off x="1219200" y="2178050"/>
            <a:ext cx="16325088" cy="128150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Looker is the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presentation </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layer on top of your warehouse.</a:t>
            </a:r>
            <a:endParaRPr lang="en-US" sz="4800" dirty="0"/>
          </a:p>
        </p:txBody>
      </p:sp>
      <p:sp>
        <p:nvSpPr>
          <p:cNvPr id="8" name="Text 6"/>
          <p:cNvSpPr/>
          <p:nvPr/>
        </p:nvSpPr>
        <p:spPr>
          <a:xfrm>
            <a:off x="1219200" y="3592909"/>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It connects to BigQuery, Snowflake, Postgres, Spanner and 60+ other databases — the data never leaves them. Models are written once in LookML and reused by every chart, dashboard and embedded experience.</a:t>
            </a:r>
            <a:endParaRPr lang="en-US" sz="1650" dirty="0"/>
          </a:p>
        </p:txBody>
      </p:sp>
      <p:sp>
        <p:nvSpPr>
          <p:cNvPr id="9" name="Shape 7"/>
          <p:cNvSpPr/>
          <p:nvPr/>
        </p:nvSpPr>
        <p:spPr>
          <a:xfrm>
            <a:off x="1219200" y="4733925"/>
            <a:ext cx="15849600" cy="1079500"/>
          </a:xfrm>
          <a:prstGeom prst="roundRect">
            <a:avLst>
              <a:gd name="adj" fmla="val 10588"/>
            </a:avLst>
          </a:prstGeom>
          <a:solidFill>
            <a:srgbClr val="FF671F"/>
          </a:solidFill>
          <a:ln/>
        </p:spPr>
      </p:sp>
      <p:sp>
        <p:nvSpPr>
          <p:cNvPr id="10" name="Shape 8"/>
          <p:cNvSpPr/>
          <p:nvPr/>
        </p:nvSpPr>
        <p:spPr>
          <a:xfrm>
            <a:off x="1492250" y="4968875"/>
            <a:ext cx="609600" cy="609600"/>
          </a:xfrm>
          <a:prstGeom prst="roundRect">
            <a:avLst>
              <a:gd name="adj" fmla="val 18750"/>
            </a:avLst>
          </a:prstGeom>
          <a:solidFill>
            <a:srgbClr val="FFFFFF">
              <a:alpha val="18000"/>
            </a:srgbClr>
          </a:solidFill>
          <a:ln/>
        </p:spPr>
      </p:sp>
      <p:sp>
        <p:nvSpPr>
          <p:cNvPr id="11" name="Text 9"/>
          <p:cNvSpPr/>
          <p:nvPr/>
        </p:nvSpPr>
        <p:spPr>
          <a:xfrm>
            <a:off x="1454150" y="49688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FFFF"/>
                </a:solidFill>
                <a:latin typeface="JetBrains Mono" pitchFamily="34" charset="0"/>
                <a:ea typeface="JetBrains Mono" pitchFamily="34" charset="-122"/>
                <a:cs typeface="JetBrains Mono" pitchFamily="34" charset="-120"/>
              </a:rPr>
              <a:t>UX</a:t>
            </a:r>
            <a:endParaRPr lang="en-US" sz="1050" dirty="0"/>
          </a:p>
        </p:txBody>
      </p:sp>
      <p:sp>
        <p:nvSpPr>
          <p:cNvPr id="12" name="Text 10"/>
          <p:cNvSpPr/>
          <p:nvPr/>
        </p:nvSpPr>
        <p:spPr>
          <a:xfrm>
            <a:off x="2330450" y="4978996"/>
            <a:ext cx="7869857"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Consumers — people who look at data.</a:t>
            </a:r>
            <a:endParaRPr lang="en-US" sz="1800" dirty="0"/>
          </a:p>
        </p:txBody>
      </p:sp>
      <p:sp>
        <p:nvSpPr>
          <p:cNvPr id="13" name="Text 11"/>
          <p:cNvSpPr/>
          <p:nvPr/>
        </p:nvSpPr>
        <p:spPr>
          <a:xfrm>
            <a:off x="2330450" y="5347296"/>
            <a:ext cx="7869857"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92000"/>
                  </a:srgbClr>
                </a:solidFill>
                <a:latin typeface="Manrope" pitchFamily="34" charset="0"/>
                <a:ea typeface="Manrope" pitchFamily="34" charset="-122"/>
                <a:cs typeface="Manrope" pitchFamily="34" charset="-120"/>
              </a:rPr>
              <a:t>Executives, marketers, support agents, customers in embedded apps. They open dashboards, not databases.</a:t>
            </a:r>
            <a:endParaRPr lang="en-US" sz="1200" dirty="0"/>
          </a:p>
        </p:txBody>
      </p:sp>
      <p:sp>
        <p:nvSpPr>
          <p:cNvPr id="14" name="Text 12"/>
          <p:cNvSpPr/>
          <p:nvPr/>
        </p:nvSpPr>
        <p:spPr>
          <a:xfrm>
            <a:off x="981456" y="5927725"/>
            <a:ext cx="16325088" cy="266700"/>
          </a:xfrm>
          <a:prstGeom prst="rect">
            <a:avLst/>
          </a:prstGeom>
          <a:noFill/>
          <a:ln/>
        </p:spPr>
        <p:txBody>
          <a:bodyPr wrap="square" lIns="25400" tIns="25400" rIns="25400" bIns="25400" rtlCol="0" anchor="t">
            <a:normAutofit/>
          </a:bodyPr>
          <a:lstStyle/>
          <a:p>
            <a:pPr algn="ctr" indent="0" marL="0">
              <a:lnSpc>
                <a:spcPct val="100000"/>
              </a:lnSpc>
              <a:buNone/>
            </a:pPr>
            <a:r>
              <a:rPr lang="en-US" sz="1800" dirty="0">
                <a:solidFill>
                  <a:srgbClr val="FF671F"/>
                </a:solidFill>
                <a:latin typeface="Manrope" pitchFamily="34" charset="0"/>
                <a:ea typeface="Manrope" pitchFamily="34" charset="-122"/>
                <a:cs typeface="Manrope" pitchFamily="34" charset="-120"/>
              </a:rPr>
              <a:t>↑</a:t>
            </a:r>
            <a:endParaRPr lang="en-US" sz="1800" dirty="0"/>
          </a:p>
        </p:txBody>
      </p:sp>
      <p:sp>
        <p:nvSpPr>
          <p:cNvPr id="15" name="Shape 13"/>
          <p:cNvSpPr/>
          <p:nvPr/>
        </p:nvSpPr>
        <p:spPr>
          <a:xfrm>
            <a:off x="1219200" y="6270625"/>
            <a:ext cx="15849600" cy="1079500"/>
          </a:xfrm>
          <a:prstGeom prst="roundRect">
            <a:avLst>
              <a:gd name="adj" fmla="val 10588"/>
            </a:avLst>
          </a:prstGeom>
          <a:solidFill>
            <a:srgbClr val="1B1F2A"/>
          </a:solidFill>
          <a:ln/>
        </p:spPr>
      </p:sp>
      <p:sp>
        <p:nvSpPr>
          <p:cNvPr id="16" name="Shape 14"/>
          <p:cNvSpPr/>
          <p:nvPr/>
        </p:nvSpPr>
        <p:spPr>
          <a:xfrm>
            <a:off x="1492250" y="6505575"/>
            <a:ext cx="609600" cy="609600"/>
          </a:xfrm>
          <a:prstGeom prst="roundRect">
            <a:avLst>
              <a:gd name="adj" fmla="val 18750"/>
            </a:avLst>
          </a:prstGeom>
          <a:solidFill>
            <a:srgbClr val="FF671F">
              <a:alpha val="20000"/>
            </a:srgbClr>
          </a:solidFill>
          <a:ln/>
        </p:spPr>
      </p:sp>
      <p:sp>
        <p:nvSpPr>
          <p:cNvPr id="17" name="Text 15"/>
          <p:cNvSpPr/>
          <p:nvPr/>
        </p:nvSpPr>
        <p:spPr>
          <a:xfrm>
            <a:off x="1454150" y="65055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BI</a:t>
            </a:r>
            <a:endParaRPr lang="en-US" sz="1050" dirty="0"/>
          </a:p>
        </p:txBody>
      </p:sp>
      <p:sp>
        <p:nvSpPr>
          <p:cNvPr id="18" name="Text 16"/>
          <p:cNvSpPr/>
          <p:nvPr/>
        </p:nvSpPr>
        <p:spPr>
          <a:xfrm>
            <a:off x="2330450" y="6515695"/>
            <a:ext cx="8481292"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Looker — semantic + visualization layer.</a:t>
            </a:r>
            <a:endParaRPr lang="en-US" sz="1800" dirty="0"/>
          </a:p>
        </p:txBody>
      </p:sp>
      <p:sp>
        <p:nvSpPr>
          <p:cNvPr id="19" name="Text 17"/>
          <p:cNvSpPr/>
          <p:nvPr/>
        </p:nvSpPr>
        <p:spPr>
          <a:xfrm>
            <a:off x="2330450" y="6883996"/>
            <a:ext cx="8481292"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78000"/>
                  </a:srgbClr>
                </a:solidFill>
                <a:latin typeface="Manrope" pitchFamily="34" charset="0"/>
                <a:ea typeface="Manrope" pitchFamily="34" charset="-122"/>
                <a:cs typeface="Manrope" pitchFamily="34" charset="-120"/>
              </a:rPr>
              <a:t>LookML models · Explores · Looks · Dashboards · Embeds · Scheduled deliveries · Looker API. The subject of this module.</a:t>
            </a:r>
            <a:endParaRPr lang="en-US" sz="1200" dirty="0"/>
          </a:p>
        </p:txBody>
      </p:sp>
      <p:sp>
        <p:nvSpPr>
          <p:cNvPr id="20" name="Text 18"/>
          <p:cNvSpPr/>
          <p:nvPr/>
        </p:nvSpPr>
        <p:spPr>
          <a:xfrm>
            <a:off x="981456" y="7464425"/>
            <a:ext cx="16325088" cy="266700"/>
          </a:xfrm>
          <a:prstGeom prst="rect">
            <a:avLst/>
          </a:prstGeom>
          <a:noFill/>
          <a:ln/>
        </p:spPr>
        <p:txBody>
          <a:bodyPr wrap="square" lIns="25400" tIns="25400" rIns="25400" bIns="25400" rtlCol="0" anchor="t">
            <a:normAutofit/>
          </a:bodyPr>
          <a:lstStyle/>
          <a:p>
            <a:pPr algn="ctr" indent="0" marL="0">
              <a:lnSpc>
                <a:spcPct val="100000"/>
              </a:lnSpc>
              <a:buNone/>
            </a:pPr>
            <a:r>
              <a:rPr lang="en-US" sz="1800" dirty="0">
                <a:solidFill>
                  <a:srgbClr val="FF671F"/>
                </a:solidFill>
                <a:latin typeface="Manrope" pitchFamily="34" charset="0"/>
                <a:ea typeface="Manrope" pitchFamily="34" charset="-122"/>
                <a:cs typeface="Manrope" pitchFamily="34" charset="-120"/>
              </a:rPr>
              <a:t>↑</a:t>
            </a:r>
            <a:endParaRPr lang="en-US" sz="1800" dirty="0"/>
          </a:p>
        </p:txBody>
      </p:sp>
      <p:sp>
        <p:nvSpPr>
          <p:cNvPr id="21" name="Shape 19"/>
          <p:cNvSpPr/>
          <p:nvPr/>
        </p:nvSpPr>
        <p:spPr>
          <a:xfrm>
            <a:off x="1219200" y="7807325"/>
            <a:ext cx="15849600" cy="1079500"/>
          </a:xfrm>
          <a:prstGeom prst="roundRect">
            <a:avLst>
              <a:gd name="adj" fmla="val 10588"/>
            </a:avLst>
          </a:prstGeom>
          <a:solidFill>
            <a:srgbClr val="FFFFFF"/>
          </a:solidFill>
          <a:ln w="6350">
            <a:solidFill>
              <a:srgbClr val="C9CFD8"/>
            </a:solidFill>
            <a:prstDash val="solid"/>
          </a:ln>
        </p:spPr>
      </p:sp>
      <p:sp>
        <p:nvSpPr>
          <p:cNvPr id="22" name="Shape 20"/>
          <p:cNvSpPr/>
          <p:nvPr/>
        </p:nvSpPr>
        <p:spPr>
          <a:xfrm>
            <a:off x="1492250" y="8042275"/>
            <a:ext cx="609600" cy="609600"/>
          </a:xfrm>
          <a:prstGeom prst="roundRect">
            <a:avLst>
              <a:gd name="adj" fmla="val 18750"/>
            </a:avLst>
          </a:prstGeom>
          <a:solidFill>
            <a:srgbClr val="F1F2F4"/>
          </a:solidFill>
          <a:ln/>
        </p:spPr>
      </p:sp>
      <p:sp>
        <p:nvSpPr>
          <p:cNvPr id="23" name="Text 21"/>
          <p:cNvSpPr/>
          <p:nvPr/>
        </p:nvSpPr>
        <p:spPr>
          <a:xfrm>
            <a:off x="1454150" y="80422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SQL</a:t>
            </a:r>
            <a:endParaRPr lang="en-US" sz="1050" dirty="0"/>
          </a:p>
        </p:txBody>
      </p:sp>
      <p:sp>
        <p:nvSpPr>
          <p:cNvPr id="24" name="Text 22"/>
          <p:cNvSpPr/>
          <p:nvPr/>
        </p:nvSpPr>
        <p:spPr>
          <a:xfrm>
            <a:off x="2330450" y="8052396"/>
            <a:ext cx="8032654"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Warehouse — BigQuery, Snowflake, Postgres, Spanner …</a:t>
            </a:r>
            <a:endParaRPr lang="en-US" sz="1800" dirty="0"/>
          </a:p>
        </p:txBody>
      </p:sp>
      <p:sp>
        <p:nvSpPr>
          <p:cNvPr id="25" name="Text 23"/>
          <p:cNvSpPr/>
          <p:nvPr/>
        </p:nvSpPr>
        <p:spPr>
          <a:xfrm>
            <a:off x="2330450" y="8420695"/>
            <a:ext cx="8032654"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Where the data physically lives. Looker writes SQL against it on every dashboard render — no extracts, no cubes.</a:t>
            </a:r>
            <a:endParaRPr lang="en-US" sz="1200" dirty="0"/>
          </a:p>
        </p:txBody>
      </p:sp>
      <p:sp>
        <p:nvSpPr>
          <p:cNvPr id="26" name="Text 24"/>
          <p:cNvSpPr/>
          <p:nvPr/>
        </p:nvSpPr>
        <p:spPr>
          <a:xfrm>
            <a:off x="981456" y="9001125"/>
            <a:ext cx="16325088" cy="266700"/>
          </a:xfrm>
          <a:prstGeom prst="rect">
            <a:avLst/>
          </a:prstGeom>
          <a:noFill/>
          <a:ln/>
        </p:spPr>
        <p:txBody>
          <a:bodyPr wrap="square" lIns="25400" tIns="25400" rIns="25400" bIns="25400" rtlCol="0" anchor="t">
            <a:normAutofit/>
          </a:bodyPr>
          <a:lstStyle/>
          <a:p>
            <a:pPr algn="ctr" indent="0" marL="0">
              <a:lnSpc>
                <a:spcPct val="100000"/>
              </a:lnSpc>
              <a:buNone/>
            </a:pPr>
            <a:r>
              <a:rPr lang="en-US" sz="1800" dirty="0">
                <a:solidFill>
                  <a:srgbClr val="FF671F"/>
                </a:solidFill>
                <a:latin typeface="Manrope" pitchFamily="34" charset="0"/>
                <a:ea typeface="Manrope" pitchFamily="34" charset="-122"/>
                <a:cs typeface="Manrope" pitchFamily="34" charset="-120"/>
              </a:rPr>
              <a:t>↑</a:t>
            </a:r>
            <a:endParaRPr lang="en-US" sz="1800" dirty="0"/>
          </a:p>
        </p:txBody>
      </p:sp>
      <p:sp>
        <p:nvSpPr>
          <p:cNvPr id="27" name="Shape 25"/>
          <p:cNvSpPr/>
          <p:nvPr/>
        </p:nvSpPr>
        <p:spPr>
          <a:xfrm>
            <a:off x="1219200" y="9344025"/>
            <a:ext cx="15849600" cy="1079500"/>
          </a:xfrm>
          <a:prstGeom prst="roundRect">
            <a:avLst>
              <a:gd name="adj" fmla="val 10588"/>
            </a:avLst>
          </a:prstGeom>
          <a:solidFill>
            <a:srgbClr val="FFFFFF"/>
          </a:solidFill>
          <a:ln w="6350">
            <a:solidFill>
              <a:srgbClr val="C9CFD8"/>
            </a:solidFill>
            <a:prstDash val="solid"/>
          </a:ln>
        </p:spPr>
      </p:sp>
      <p:sp>
        <p:nvSpPr>
          <p:cNvPr id="28" name="Shape 26"/>
          <p:cNvSpPr/>
          <p:nvPr/>
        </p:nvSpPr>
        <p:spPr>
          <a:xfrm>
            <a:off x="1492250" y="9578975"/>
            <a:ext cx="609600" cy="609600"/>
          </a:xfrm>
          <a:prstGeom prst="roundRect">
            <a:avLst>
              <a:gd name="adj" fmla="val 18750"/>
            </a:avLst>
          </a:prstGeom>
          <a:solidFill>
            <a:srgbClr val="F1F2F4"/>
          </a:solidFill>
          <a:ln/>
        </p:spPr>
      </p:sp>
      <p:sp>
        <p:nvSpPr>
          <p:cNvPr id="29" name="Text 27"/>
          <p:cNvSpPr/>
          <p:nvPr/>
        </p:nvSpPr>
        <p:spPr>
          <a:xfrm>
            <a:off x="1454150" y="95789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ETL</a:t>
            </a:r>
            <a:endParaRPr lang="en-US" sz="1050" dirty="0"/>
          </a:p>
        </p:txBody>
      </p:sp>
      <p:sp>
        <p:nvSpPr>
          <p:cNvPr id="30" name="Text 28"/>
          <p:cNvSpPr/>
          <p:nvPr/>
        </p:nvSpPr>
        <p:spPr>
          <a:xfrm>
            <a:off x="2330450" y="9589096"/>
            <a:ext cx="7523721"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Ingestion &amp; transformation — Dataflow, Dataform, dbt, Datastream.</a:t>
            </a:r>
            <a:endParaRPr lang="en-US" sz="1800" dirty="0"/>
          </a:p>
        </p:txBody>
      </p:sp>
      <p:sp>
        <p:nvSpPr>
          <p:cNvPr id="31" name="Text 29"/>
          <p:cNvSpPr/>
          <p:nvPr/>
        </p:nvSpPr>
        <p:spPr>
          <a:xfrm>
            <a:off x="2330450" y="9957396"/>
            <a:ext cx="7523721"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Pipelines that land raw data and shape it into modeled tables ready for the warehouse to query.</a:t>
            </a:r>
            <a:endParaRPr lang="en-US" sz="1200" dirty="0"/>
          </a:p>
        </p:txBody>
      </p:sp>
      <p:sp>
        <p:nvSpPr>
          <p:cNvPr id="32" name="Text 30"/>
          <p:cNvSpPr/>
          <p:nvPr/>
        </p:nvSpPr>
        <p:spPr>
          <a:xfrm>
            <a:off x="981456" y="10537825"/>
            <a:ext cx="16325088" cy="266700"/>
          </a:xfrm>
          <a:prstGeom prst="rect">
            <a:avLst/>
          </a:prstGeom>
          <a:noFill/>
          <a:ln/>
        </p:spPr>
        <p:txBody>
          <a:bodyPr wrap="square" lIns="25400" tIns="25400" rIns="25400" bIns="25400" rtlCol="0" anchor="t">
            <a:normAutofit/>
          </a:bodyPr>
          <a:lstStyle/>
          <a:p>
            <a:pPr algn="ctr" indent="0" marL="0">
              <a:lnSpc>
                <a:spcPct val="100000"/>
              </a:lnSpc>
              <a:buNone/>
            </a:pPr>
            <a:r>
              <a:rPr lang="en-US" sz="1800" dirty="0">
                <a:solidFill>
                  <a:srgbClr val="FF671F"/>
                </a:solidFill>
                <a:latin typeface="Manrope" pitchFamily="34" charset="0"/>
                <a:ea typeface="Manrope" pitchFamily="34" charset="-122"/>
                <a:cs typeface="Manrope" pitchFamily="34" charset="-120"/>
              </a:rPr>
              <a:t>↑</a:t>
            </a:r>
            <a:endParaRPr lang="en-US" sz="1800" dirty="0"/>
          </a:p>
        </p:txBody>
      </p:sp>
      <p:sp>
        <p:nvSpPr>
          <p:cNvPr id="33" name="Shape 31"/>
          <p:cNvSpPr/>
          <p:nvPr/>
        </p:nvSpPr>
        <p:spPr>
          <a:xfrm>
            <a:off x="1219200" y="10880725"/>
            <a:ext cx="15849600" cy="1079500"/>
          </a:xfrm>
          <a:prstGeom prst="roundRect">
            <a:avLst>
              <a:gd name="adj" fmla="val 10588"/>
            </a:avLst>
          </a:prstGeom>
          <a:solidFill>
            <a:srgbClr val="FFFFFF"/>
          </a:solidFill>
          <a:ln w="6350">
            <a:solidFill>
              <a:srgbClr val="C9CFD8"/>
            </a:solidFill>
            <a:prstDash val="solid"/>
          </a:ln>
        </p:spPr>
      </p:sp>
      <p:sp>
        <p:nvSpPr>
          <p:cNvPr id="34" name="Shape 32"/>
          <p:cNvSpPr/>
          <p:nvPr/>
        </p:nvSpPr>
        <p:spPr>
          <a:xfrm>
            <a:off x="1492250" y="11115675"/>
            <a:ext cx="609600" cy="609600"/>
          </a:xfrm>
          <a:prstGeom prst="roundRect">
            <a:avLst>
              <a:gd name="adj" fmla="val 18750"/>
            </a:avLst>
          </a:prstGeom>
          <a:solidFill>
            <a:srgbClr val="F1F2F4"/>
          </a:solidFill>
          <a:ln/>
        </p:spPr>
      </p:sp>
      <p:sp>
        <p:nvSpPr>
          <p:cNvPr id="35" name="Text 33"/>
          <p:cNvSpPr/>
          <p:nvPr/>
        </p:nvSpPr>
        <p:spPr>
          <a:xfrm>
            <a:off x="1454150" y="111156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SRC</a:t>
            </a:r>
            <a:endParaRPr lang="en-US" sz="1050" dirty="0"/>
          </a:p>
        </p:txBody>
      </p:sp>
      <p:sp>
        <p:nvSpPr>
          <p:cNvPr id="36" name="Text 34"/>
          <p:cNvSpPr/>
          <p:nvPr/>
        </p:nvSpPr>
        <p:spPr>
          <a:xfrm>
            <a:off x="2330450" y="11125795"/>
            <a:ext cx="5971886"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Sources — apps, events, files, third-party SaaS.</a:t>
            </a:r>
            <a:endParaRPr lang="en-US" sz="1800" dirty="0"/>
          </a:p>
        </p:txBody>
      </p:sp>
      <p:sp>
        <p:nvSpPr>
          <p:cNvPr id="37" name="Text 35"/>
          <p:cNvSpPr/>
          <p:nvPr/>
        </p:nvSpPr>
        <p:spPr>
          <a:xfrm>
            <a:off x="2330450" y="11494096"/>
            <a:ext cx="5971886"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Application databases, Cloud Storage, Pub/Sub topics, marketing platforms, CRMs.</a:t>
            </a:r>
            <a:endParaRPr lang="en-US" sz="1200" dirty="0"/>
          </a:p>
        </p:txBody>
      </p:sp>
      <p:sp>
        <p:nvSpPr>
          <p:cNvPr id="38" name="Text 36"/>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9" name="Text 37"/>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05 / 60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HOW TO READ THIS DECK</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CONVENTIONS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How to read this deck.</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few visual cues that recur on every slide — once you can read them, you can skim the deck and still walk away with the right model in your head.</a:t>
            </a:r>
            <a:endParaRPr lang="en-US" sz="1650" dirty="0"/>
          </a:p>
        </p:txBody>
      </p:sp>
      <p:sp>
        <p:nvSpPr>
          <p:cNvPr id="9" name="Shape 7"/>
          <p:cNvSpPr/>
          <p:nvPr/>
        </p:nvSpPr>
        <p:spPr>
          <a:xfrm>
            <a:off x="1219200" y="4268688"/>
            <a:ext cx="5080000" cy="3192264"/>
          </a:xfrm>
          <a:prstGeom prst="roundRect">
            <a:avLst>
              <a:gd name="adj" fmla="val 4177"/>
            </a:avLst>
          </a:prstGeom>
          <a:solidFill>
            <a:srgbClr val="F1F2F4"/>
          </a:solidFill>
          <a:ln w="6350">
            <a:solidFill>
              <a:srgbClr val="C9CFD8"/>
            </a:solidFill>
            <a:prstDash val="solid"/>
          </a:ln>
        </p:spPr>
      </p:sp>
      <p:sp>
        <p:nvSpPr>
          <p:cNvPr id="10" name="Text 8"/>
          <p:cNvSpPr/>
          <p:nvPr/>
        </p:nvSpPr>
        <p:spPr>
          <a:xfrm>
            <a:off x="1530350" y="4579838"/>
            <a:ext cx="459143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CODE BLOCKS</a:t>
            </a:r>
            <a:endParaRPr lang="en-US" sz="900" dirty="0"/>
          </a:p>
        </p:txBody>
      </p:sp>
      <p:sp>
        <p:nvSpPr>
          <p:cNvPr id="11" name="Text 9"/>
          <p:cNvSpPr/>
          <p:nvPr/>
        </p:nvSpPr>
        <p:spPr>
          <a:xfrm>
            <a:off x="1530350" y="4859238"/>
            <a:ext cx="459143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Real LookML, not pseudocode.</a:t>
            </a:r>
            <a:endParaRPr lang="en-US" sz="1950" dirty="0"/>
          </a:p>
        </p:txBody>
      </p:sp>
      <p:sp>
        <p:nvSpPr>
          <p:cNvPr id="12" name="Shape 10"/>
          <p:cNvSpPr/>
          <p:nvPr/>
        </p:nvSpPr>
        <p:spPr>
          <a:xfrm>
            <a:off x="1530350" y="5277346"/>
            <a:ext cx="4457700" cy="1196181"/>
          </a:xfrm>
          <a:prstGeom prst="roundRect">
            <a:avLst>
              <a:gd name="adj" fmla="val 11148"/>
            </a:avLst>
          </a:prstGeom>
          <a:solidFill>
            <a:srgbClr val="1B1F2A"/>
          </a:solidFill>
          <a:ln/>
        </p:spPr>
      </p:sp>
      <p:sp>
        <p:nvSpPr>
          <p:cNvPr id="13" name="Text 11"/>
          <p:cNvSpPr/>
          <p:nvPr/>
        </p:nvSpPr>
        <p:spPr>
          <a:xfrm>
            <a:off x="1739900" y="5448796"/>
            <a:ext cx="4159758"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order_amount {</a:t>
            </a:r>
            <a:endParaRPr lang="en-US" sz="1050" dirty="0"/>
          </a:p>
        </p:txBody>
      </p:sp>
      <p:sp>
        <p:nvSpPr>
          <p:cNvPr id="14" name="Text 12"/>
          <p:cNvSpPr/>
          <p:nvPr/>
        </p:nvSpPr>
        <p:spPr>
          <a:xfrm>
            <a:off x="1739900" y="5662117"/>
            <a:ext cx="4159758"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dirty="0">
                <a:solidFill>
                  <a:srgbClr val="7BD0FF"/>
                </a:solidFill>
                <a:latin typeface="JetBrains Mono" pitchFamily="34" charset="0"/>
                <a:ea typeface="JetBrains Mono" pitchFamily="34" charset="-122"/>
                <a:cs typeface="JetBrains Mono" pitchFamily="34" charset="-120"/>
              </a:rPr>
              <a:t>number</a:t>
            </a:r>
            <a:endParaRPr lang="en-US" sz="1050" dirty="0"/>
          </a:p>
        </p:txBody>
      </p:sp>
      <p:sp>
        <p:nvSpPr>
          <p:cNvPr id="15" name="Text 13"/>
          <p:cNvSpPr/>
          <p:nvPr/>
        </p:nvSpPr>
        <p:spPr>
          <a:xfrm>
            <a:off x="1739900" y="5875437"/>
            <a:ext cx="4159758"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endParaRPr lang="en-US" sz="1050" dirty="0"/>
          </a:p>
        </p:txBody>
      </p:sp>
      <p:sp>
        <p:nvSpPr>
          <p:cNvPr id="16" name="Text 14"/>
          <p:cNvSpPr/>
          <p:nvPr/>
        </p:nvSpPr>
        <p:spPr>
          <a:xfrm>
            <a:off x="1739900" y="6088757"/>
            <a:ext cx="4159758"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a:t>
            </a:r>
            <a:endParaRPr lang="en-US" sz="1050" dirty="0"/>
          </a:p>
        </p:txBody>
      </p:sp>
      <p:sp>
        <p:nvSpPr>
          <p:cNvPr id="17" name="Text 15"/>
          <p:cNvSpPr/>
          <p:nvPr/>
        </p:nvSpPr>
        <p:spPr>
          <a:xfrm>
            <a:off x="1530350" y="6606878"/>
            <a:ext cx="4591431" cy="58102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Highlighted lines mark what we're focusing on. Comments use the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grey italic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style.</a:t>
            </a:r>
            <a:endParaRPr lang="en-US" sz="1275" dirty="0"/>
          </a:p>
        </p:txBody>
      </p:sp>
      <p:sp>
        <p:nvSpPr>
          <p:cNvPr id="18" name="Shape 16"/>
          <p:cNvSpPr/>
          <p:nvPr/>
        </p:nvSpPr>
        <p:spPr>
          <a:xfrm>
            <a:off x="6604000" y="4268688"/>
            <a:ext cx="5080000" cy="3192264"/>
          </a:xfrm>
          <a:prstGeom prst="roundRect">
            <a:avLst>
              <a:gd name="adj" fmla="val 4177"/>
            </a:avLst>
          </a:prstGeom>
          <a:solidFill>
            <a:srgbClr val="F1F2F4"/>
          </a:solidFill>
          <a:ln w="6350">
            <a:solidFill>
              <a:srgbClr val="C9CFD8"/>
            </a:solidFill>
            <a:prstDash val="solid"/>
          </a:ln>
        </p:spPr>
      </p:sp>
      <p:sp>
        <p:nvSpPr>
          <p:cNvPr id="19" name="Text 17"/>
          <p:cNvSpPr/>
          <p:nvPr/>
        </p:nvSpPr>
        <p:spPr>
          <a:xfrm>
            <a:off x="6915150" y="4579838"/>
            <a:ext cx="459143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MOCK UI</a:t>
            </a:r>
            <a:endParaRPr lang="en-US" sz="900" dirty="0"/>
          </a:p>
        </p:txBody>
      </p:sp>
      <p:sp>
        <p:nvSpPr>
          <p:cNvPr id="20" name="Text 18"/>
          <p:cNvSpPr/>
          <p:nvPr/>
        </p:nvSpPr>
        <p:spPr>
          <a:xfrm>
            <a:off x="6915150" y="4859238"/>
            <a:ext cx="459143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Numbered annotations.</a:t>
            </a:r>
            <a:endParaRPr lang="en-US" sz="1950" dirty="0"/>
          </a:p>
        </p:txBody>
      </p:sp>
      <p:sp>
        <p:nvSpPr>
          <p:cNvPr id="21" name="Shape 19"/>
          <p:cNvSpPr/>
          <p:nvPr/>
        </p:nvSpPr>
        <p:spPr>
          <a:xfrm>
            <a:off x="6915150" y="5277346"/>
            <a:ext cx="4457700" cy="609600"/>
          </a:xfrm>
          <a:prstGeom prst="roundRect">
            <a:avLst>
              <a:gd name="adj" fmla="val 12500"/>
            </a:avLst>
          </a:prstGeom>
          <a:solidFill>
            <a:srgbClr val="F1F2F4"/>
          </a:solidFill>
          <a:ln/>
        </p:spPr>
      </p:sp>
      <p:sp>
        <p:nvSpPr>
          <p:cNvPr id="22" name="Shape 20"/>
          <p:cNvSpPr/>
          <p:nvPr/>
        </p:nvSpPr>
        <p:spPr>
          <a:xfrm>
            <a:off x="7086600" y="5448796"/>
            <a:ext cx="266700" cy="266700"/>
          </a:xfrm>
          <a:prstGeom prst="ellipse">
            <a:avLst/>
          </a:prstGeom>
          <a:solidFill>
            <a:srgbClr val="FF671F"/>
          </a:solidFill>
          <a:ln/>
        </p:spPr>
      </p:sp>
      <p:sp>
        <p:nvSpPr>
          <p:cNvPr id="23" name="Text 21"/>
          <p:cNvSpPr/>
          <p:nvPr/>
        </p:nvSpPr>
        <p:spPr>
          <a:xfrm>
            <a:off x="7048500" y="5448796"/>
            <a:ext cx="342900" cy="3048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JetBrains Mono" pitchFamily="34" charset="0"/>
                <a:ea typeface="JetBrains Mono" pitchFamily="34" charset="-122"/>
                <a:cs typeface="JetBrains Mono" pitchFamily="34" charset="-120"/>
              </a:rPr>
              <a:t>1</a:t>
            </a:r>
            <a:endParaRPr lang="en-US" sz="975" dirty="0"/>
          </a:p>
        </p:txBody>
      </p:sp>
      <p:sp>
        <p:nvSpPr>
          <p:cNvPr id="24" name="Text 22"/>
          <p:cNvSpPr/>
          <p:nvPr/>
        </p:nvSpPr>
        <p:spPr>
          <a:xfrm>
            <a:off x="7448550" y="5493246"/>
            <a:ext cx="3507343"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Each circled number maps to the text on the same slide.</a:t>
            </a:r>
            <a:endParaRPr lang="en-US" sz="1050" dirty="0"/>
          </a:p>
        </p:txBody>
      </p:sp>
      <p:sp>
        <p:nvSpPr>
          <p:cNvPr id="25" name="Text 23"/>
          <p:cNvSpPr/>
          <p:nvPr/>
        </p:nvSpPr>
        <p:spPr>
          <a:xfrm>
            <a:off x="6915150" y="6020296"/>
            <a:ext cx="459143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UI screenshots are stylized illustrations — close to Looker but stripped to the essentials so the diagram reads at a glance.</a:t>
            </a:r>
            <a:endParaRPr lang="en-US" sz="1275" dirty="0"/>
          </a:p>
        </p:txBody>
      </p:sp>
      <p:sp>
        <p:nvSpPr>
          <p:cNvPr id="26" name="Shape 24"/>
          <p:cNvSpPr/>
          <p:nvPr/>
        </p:nvSpPr>
        <p:spPr>
          <a:xfrm>
            <a:off x="11988801" y="4268688"/>
            <a:ext cx="5080000" cy="3192264"/>
          </a:xfrm>
          <a:prstGeom prst="roundRect">
            <a:avLst>
              <a:gd name="adj" fmla="val 4177"/>
            </a:avLst>
          </a:prstGeom>
          <a:solidFill>
            <a:srgbClr val="F1F2F4"/>
          </a:solidFill>
          <a:ln w="6350">
            <a:solidFill>
              <a:srgbClr val="C9CFD8"/>
            </a:solidFill>
            <a:prstDash val="solid"/>
          </a:ln>
        </p:spPr>
      </p:sp>
      <p:sp>
        <p:nvSpPr>
          <p:cNvPr id="27" name="Text 25"/>
          <p:cNvSpPr/>
          <p:nvPr/>
        </p:nvSpPr>
        <p:spPr>
          <a:xfrm>
            <a:off x="12299950" y="4579838"/>
            <a:ext cx="459143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CALLOUTS</a:t>
            </a:r>
            <a:endParaRPr lang="en-US" sz="900" dirty="0"/>
          </a:p>
        </p:txBody>
      </p:sp>
      <p:sp>
        <p:nvSpPr>
          <p:cNvPr id="28" name="Text 26"/>
          <p:cNvSpPr/>
          <p:nvPr/>
        </p:nvSpPr>
        <p:spPr>
          <a:xfrm>
            <a:off x="12299950" y="4859238"/>
            <a:ext cx="459143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Three flavours to scan for.</a:t>
            </a:r>
            <a:endParaRPr lang="en-US" sz="1950" dirty="0"/>
          </a:p>
        </p:txBody>
      </p:sp>
      <p:sp>
        <p:nvSpPr>
          <p:cNvPr id="29" name="Shape 27"/>
          <p:cNvSpPr/>
          <p:nvPr/>
        </p:nvSpPr>
        <p:spPr>
          <a:xfrm>
            <a:off x="12299950" y="5277346"/>
            <a:ext cx="595213" cy="279400"/>
          </a:xfrm>
          <a:prstGeom prst="roundRect">
            <a:avLst>
              <a:gd name="adj" fmla="val 20455"/>
            </a:avLst>
          </a:prstGeom>
          <a:solidFill>
            <a:srgbClr val="FFE3D2"/>
          </a:solidFill>
          <a:ln/>
        </p:spPr>
      </p:sp>
      <p:sp>
        <p:nvSpPr>
          <p:cNvPr id="30" name="Text 28"/>
          <p:cNvSpPr/>
          <p:nvPr/>
        </p:nvSpPr>
        <p:spPr>
          <a:xfrm>
            <a:off x="12414250" y="5334496"/>
            <a:ext cx="442813"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671F"/>
                </a:solidFill>
                <a:latin typeface="JetBrains Mono" pitchFamily="34" charset="0"/>
                <a:ea typeface="JetBrains Mono" pitchFamily="34" charset="-122"/>
                <a:cs typeface="JetBrains Mono" pitchFamily="34" charset="-120"/>
              </a:rPr>
              <a:t>EXAM</a:t>
            </a:r>
            <a:endParaRPr lang="en-US" sz="975" dirty="0"/>
          </a:p>
        </p:txBody>
      </p:sp>
      <p:sp>
        <p:nvSpPr>
          <p:cNvPr id="31" name="Text 29"/>
          <p:cNvSpPr/>
          <p:nvPr/>
        </p:nvSpPr>
        <p:spPr>
          <a:xfrm>
            <a:off x="12921853" y="5321796"/>
            <a:ext cx="3550163"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turns up directly on the Associate Data Practitioner test.</a:t>
            </a:r>
            <a:endParaRPr lang="en-US" sz="1050" dirty="0"/>
          </a:p>
        </p:txBody>
      </p:sp>
      <p:sp>
        <p:nvSpPr>
          <p:cNvPr id="32" name="Shape 30"/>
          <p:cNvSpPr/>
          <p:nvPr/>
        </p:nvSpPr>
        <p:spPr>
          <a:xfrm>
            <a:off x="12299950" y="5632946"/>
            <a:ext cx="503535" cy="279400"/>
          </a:xfrm>
          <a:prstGeom prst="roundRect">
            <a:avLst>
              <a:gd name="adj" fmla="val 20455"/>
            </a:avLst>
          </a:prstGeom>
          <a:solidFill>
            <a:srgbClr val="E6ECFF"/>
          </a:solidFill>
          <a:ln/>
        </p:spPr>
      </p:sp>
      <p:sp>
        <p:nvSpPr>
          <p:cNvPr id="33" name="Text 31"/>
          <p:cNvSpPr/>
          <p:nvPr/>
        </p:nvSpPr>
        <p:spPr>
          <a:xfrm>
            <a:off x="12414250" y="5690096"/>
            <a:ext cx="351135"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1F4DFF"/>
                </a:solidFill>
                <a:latin typeface="JetBrains Mono" pitchFamily="34" charset="0"/>
                <a:ea typeface="JetBrains Mono" pitchFamily="34" charset="-122"/>
                <a:cs typeface="JetBrains Mono" pitchFamily="34" charset="-120"/>
              </a:rPr>
              <a:t>TIP</a:t>
            </a:r>
            <a:endParaRPr lang="en-US" sz="975" dirty="0"/>
          </a:p>
        </p:txBody>
      </p:sp>
      <p:sp>
        <p:nvSpPr>
          <p:cNvPr id="34" name="Text 32"/>
          <p:cNvSpPr/>
          <p:nvPr/>
        </p:nvSpPr>
        <p:spPr>
          <a:xfrm>
            <a:off x="12830175" y="5677396"/>
            <a:ext cx="264113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a shortcut, a gotcha, or a sensible default.</a:t>
            </a:r>
            <a:endParaRPr lang="en-US" sz="1050" dirty="0"/>
          </a:p>
        </p:txBody>
      </p:sp>
      <p:sp>
        <p:nvSpPr>
          <p:cNvPr id="35" name="Shape 33"/>
          <p:cNvSpPr/>
          <p:nvPr/>
        </p:nvSpPr>
        <p:spPr>
          <a:xfrm>
            <a:off x="12299950" y="5988546"/>
            <a:ext cx="686792" cy="279400"/>
          </a:xfrm>
          <a:prstGeom prst="roundRect">
            <a:avLst>
              <a:gd name="adj" fmla="val 20455"/>
            </a:avLst>
          </a:prstGeom>
          <a:solidFill>
            <a:srgbClr val="1B1F2A"/>
          </a:solidFill>
          <a:ln/>
        </p:spPr>
      </p:sp>
      <p:sp>
        <p:nvSpPr>
          <p:cNvPr id="36" name="Text 34"/>
          <p:cNvSpPr/>
          <p:nvPr/>
        </p:nvSpPr>
        <p:spPr>
          <a:xfrm>
            <a:off x="12414250" y="6045696"/>
            <a:ext cx="534392"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FFFF"/>
                </a:solidFill>
                <a:latin typeface="JetBrains Mono" pitchFamily="34" charset="0"/>
                <a:ea typeface="JetBrains Mono" pitchFamily="34" charset="-122"/>
                <a:cs typeface="JetBrains Mono" pitchFamily="34" charset="-120"/>
              </a:rPr>
              <a:t>RECAP</a:t>
            </a:r>
            <a:endParaRPr lang="en-US" sz="975" dirty="0"/>
          </a:p>
        </p:txBody>
      </p:sp>
      <p:sp>
        <p:nvSpPr>
          <p:cNvPr id="37" name="Text 35"/>
          <p:cNvSpPr/>
          <p:nvPr/>
        </p:nvSpPr>
        <p:spPr>
          <a:xfrm>
            <a:off x="13013432" y="6032996"/>
            <a:ext cx="2991155"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one-sentence summary at the end of a chapter.</a:t>
            </a:r>
            <a:endParaRPr lang="en-US" sz="1050" dirty="0"/>
          </a:p>
        </p:txBody>
      </p:sp>
      <p:sp>
        <p:nvSpPr>
          <p:cNvPr id="38" name="Text 36"/>
          <p:cNvSpPr/>
          <p:nvPr/>
        </p:nvSpPr>
        <p:spPr>
          <a:xfrm>
            <a:off x="12299950" y="6401296"/>
            <a:ext cx="4591431"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Use the badges to triage on a re-read: read the EXAM callouts last before sitting the test.</a:t>
            </a:r>
            <a:endParaRPr lang="en-US" sz="1275" dirty="0"/>
          </a:p>
        </p:txBody>
      </p:sp>
      <p:sp>
        <p:nvSpPr>
          <p:cNvPr id="39" name="Text 3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0" name="Text 3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06 / 60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8435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rcRect l="0" r="0" t="0" b="0"/>
          <a:stretch/>
        </p:blipFill>
        <p:spPr>
          <a:xfrm>
            <a:off x="11811000" y="3810000"/>
            <a:ext cx="6477000" cy="6477000"/>
          </a:xfrm>
          <a:prstGeom prst="rect">
            <a:avLst/>
          </a:prstGeom>
        </p:spPr>
      </p:pic>
      <p:sp>
        <p:nvSpPr>
          <p:cNvPr id="3" name="Shape 0"/>
          <p:cNvSpPr/>
          <p:nvPr/>
        </p:nvSpPr>
        <p:spPr>
          <a:xfrm>
            <a:off x="1219200" y="657225"/>
            <a:ext cx="361950" cy="361950"/>
          </a:xfrm>
          <a:prstGeom prst="rect">
            <a:avLst/>
          </a:prstGeom>
          <a:solidFill>
            <a:srgbClr val="FFFFFF"/>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6152416" y="755650"/>
            <a:ext cx="99258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CHAPTER 01</a:t>
            </a:r>
            <a:endParaRPr lang="en-US" sz="975" dirty="0"/>
          </a:p>
        </p:txBody>
      </p:sp>
      <p:sp>
        <p:nvSpPr>
          <p:cNvPr id="7" name="Text 4"/>
          <p:cNvSpPr/>
          <p:nvPr/>
        </p:nvSpPr>
        <p:spPr>
          <a:xfrm>
            <a:off x="1219200" y="2667000"/>
            <a:ext cx="12753975" cy="292100"/>
          </a:xfrm>
          <a:prstGeom prst="rect">
            <a:avLst/>
          </a:prstGeom>
          <a:noFill/>
          <a:ln/>
        </p:spPr>
        <p:txBody>
          <a:bodyPr wrap="square" lIns="25400" tIns="25400" rIns="25400" bIns="25400" rtlCol="0" anchor="t">
            <a:normAutofit/>
          </a:bodyPr>
          <a:lstStyle/>
          <a:p>
            <a:pPr algn="l" indent="0" marL="0">
              <a:buNone/>
            </a:pPr>
            <a:r>
              <a:rPr lang="en-US" sz="1500" spc="300" kern="0" dirty="0">
                <a:solidFill>
                  <a:srgbClr val="FF671F"/>
                </a:solidFill>
                <a:latin typeface="JetBrains Mono" pitchFamily="34" charset="0"/>
                <a:ea typeface="JetBrains Mono" pitchFamily="34" charset="-122"/>
                <a:cs typeface="JetBrains Mono" pitchFamily="34" charset="-120"/>
              </a:rPr>
              <a:t>CHAPTER 01 · SLIDES 07–15</a:t>
            </a:r>
            <a:endParaRPr lang="en-US" sz="1500" dirty="0"/>
          </a:p>
        </p:txBody>
      </p:sp>
      <p:sp>
        <p:nvSpPr>
          <p:cNvPr id="8" name="Text 5"/>
          <p:cNvSpPr/>
          <p:nvPr/>
        </p:nvSpPr>
        <p:spPr>
          <a:xfrm>
            <a:off x="1219200" y="3225800"/>
            <a:ext cx="12753975" cy="2716411"/>
          </a:xfrm>
          <a:prstGeom prst="rect">
            <a:avLst/>
          </a:prstGeom>
          <a:noFill/>
          <a:ln/>
        </p:spPr>
        <p:txBody>
          <a:bodyPr wrap="square" lIns="25400" tIns="25400" rIns="25400" bIns="25400" rtlCol="0" anchor="t">
            <a:normAutofit/>
          </a:bodyPr>
          <a:lstStyle/>
          <a:p>
            <a:pPr algn="l" indent="0" marL="0">
              <a:lnSpc>
                <a:spcPct val="95000"/>
              </a:lnSpc>
              <a:buNone/>
            </a:pPr>
            <a:r>
              <a:rPr lang="en-US" sz="11100" b="1" spc="-278" kern="0" dirty="0">
                <a:solidFill>
                  <a:srgbClr val="FFFFFF"/>
                </a:solidFill>
                <a:latin typeface="Manrope" pitchFamily="34" charset="0"/>
                <a:ea typeface="Manrope" pitchFamily="34" charset="-122"/>
                <a:cs typeface="Manrope" pitchFamily="34" charset="-120"/>
              </a:rPr>
              <a:t>Meet </a:t>
            </a:r>
            <a:pPr algn="l" indent="0" marL="0">
              <a:lnSpc>
                <a:spcPct val="95000"/>
              </a:lnSpc>
              <a:buNone/>
            </a:pPr>
            <a:r>
              <a:rPr lang="en-US" sz="11100" b="1" spc="-278" kern="0" dirty="0">
                <a:solidFill>
                  <a:srgbClr val="FF671F"/>
                </a:solidFill>
                <a:latin typeface="Manrope" pitchFamily="34" charset="0"/>
                <a:ea typeface="Manrope" pitchFamily="34" charset="-122"/>
                <a:cs typeface="Manrope" pitchFamily="34" charset="-120"/>
              </a:rPr>
              <a:t>Looker.</a:t>
            </a:r>
            <a:endParaRPr lang="en-US" sz="11100" dirty="0"/>
          </a:p>
        </p:txBody>
      </p:sp>
      <p:sp>
        <p:nvSpPr>
          <p:cNvPr id="9" name="Text 6"/>
          <p:cNvSpPr/>
          <p:nvPr/>
        </p:nvSpPr>
        <p:spPr>
          <a:xfrm>
            <a:off x="1219200" y="6170811"/>
            <a:ext cx="9810750" cy="758031"/>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alpha val="70000"/>
                  </a:srgbClr>
                </a:solidFill>
                <a:latin typeface="Manrope" pitchFamily="34" charset="0"/>
                <a:ea typeface="Manrope" pitchFamily="34" charset="-122"/>
                <a:cs typeface="Manrope" pitchFamily="34" charset="-120"/>
              </a:rPr>
              <a:t>What it is, where it came from, and the four building blocks every Looker user works with — Models, Explores, Looks, and Dashboards.</a:t>
            </a:r>
            <a:endParaRPr lang="en-US" sz="2100" dirty="0"/>
          </a:p>
        </p:txBody>
      </p:sp>
      <p:sp>
        <p:nvSpPr>
          <p:cNvPr id="10" name="Text 7"/>
          <p:cNvSpPr/>
          <p:nvPr/>
        </p:nvSpPr>
        <p:spPr>
          <a:xfrm>
            <a:off x="12496800" y="2667000"/>
            <a:ext cx="4709160" cy="20320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FFFFFF">
                    <a:alpha val="50000"/>
                  </a:srgbClr>
                </a:solidFill>
                <a:latin typeface="JetBrains Mono" pitchFamily="34" charset="0"/>
                <a:ea typeface="JetBrains Mono" pitchFamily="34" charset="-122"/>
                <a:cs typeface="JetBrains Mono" pitchFamily="34" charset="-120"/>
              </a:rPr>
              <a:t>IN THIS CHAPTER</a:t>
            </a:r>
            <a:endParaRPr lang="en-US" sz="975" dirty="0"/>
          </a:p>
        </p:txBody>
      </p:sp>
      <p:sp>
        <p:nvSpPr>
          <p:cNvPr id="11" name="Shape 8"/>
          <p:cNvSpPr/>
          <p:nvPr/>
        </p:nvSpPr>
        <p:spPr>
          <a:xfrm>
            <a:off x="12496800" y="3429000"/>
            <a:ext cx="4572000" cy="9525"/>
          </a:xfrm>
          <a:prstGeom prst="rect">
            <a:avLst/>
          </a:prstGeom>
          <a:solidFill>
            <a:srgbClr val="FFFFFF">
              <a:alpha val="12000"/>
            </a:srgbClr>
          </a:solidFill>
          <a:ln/>
        </p:spPr>
      </p:sp>
      <p:sp>
        <p:nvSpPr>
          <p:cNvPr id="12" name="Text 9"/>
          <p:cNvSpPr/>
          <p:nvPr/>
        </p:nvSpPr>
        <p:spPr>
          <a:xfrm>
            <a:off x="12496800" y="3060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solidFill>
                <a:latin typeface="Manrope" pitchFamily="34" charset="0"/>
                <a:ea typeface="Manrope" pitchFamily="34" charset="-122"/>
                <a:cs typeface="Manrope" pitchFamily="34" charset="-120"/>
              </a:rPr>
              <a:t>Meet Looker</a:t>
            </a:r>
            <a:endParaRPr lang="en-US" sz="1350" dirty="0"/>
          </a:p>
        </p:txBody>
      </p:sp>
      <p:sp>
        <p:nvSpPr>
          <p:cNvPr id="13" name="Shape 10"/>
          <p:cNvSpPr/>
          <p:nvPr/>
        </p:nvSpPr>
        <p:spPr>
          <a:xfrm>
            <a:off x="12496800" y="3937000"/>
            <a:ext cx="4572000" cy="9525"/>
          </a:xfrm>
          <a:prstGeom prst="rect">
            <a:avLst/>
          </a:prstGeom>
          <a:solidFill>
            <a:srgbClr val="FFFFFF">
              <a:alpha val="12000"/>
            </a:srgbClr>
          </a:solidFill>
          <a:ln/>
        </p:spPr>
      </p:sp>
      <p:sp>
        <p:nvSpPr>
          <p:cNvPr id="14" name="Text 11"/>
          <p:cNvSpPr/>
          <p:nvPr/>
        </p:nvSpPr>
        <p:spPr>
          <a:xfrm>
            <a:off x="12496800" y="3568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Tour the UI</a:t>
            </a:r>
            <a:endParaRPr lang="en-US" sz="1350" dirty="0"/>
          </a:p>
        </p:txBody>
      </p:sp>
      <p:sp>
        <p:nvSpPr>
          <p:cNvPr id="15" name="Shape 12"/>
          <p:cNvSpPr/>
          <p:nvPr/>
        </p:nvSpPr>
        <p:spPr>
          <a:xfrm>
            <a:off x="12496800" y="4445000"/>
            <a:ext cx="4572000" cy="9525"/>
          </a:xfrm>
          <a:prstGeom prst="rect">
            <a:avLst/>
          </a:prstGeom>
          <a:solidFill>
            <a:srgbClr val="FFFFFF">
              <a:alpha val="12000"/>
            </a:srgbClr>
          </a:solidFill>
          <a:ln/>
        </p:spPr>
      </p:sp>
      <p:sp>
        <p:nvSpPr>
          <p:cNvPr id="16" name="Text 13"/>
          <p:cNvSpPr/>
          <p:nvPr/>
        </p:nvSpPr>
        <p:spPr>
          <a:xfrm>
            <a:off x="12496800" y="4076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Dashboards</a:t>
            </a:r>
            <a:endParaRPr lang="en-US" sz="1350" dirty="0"/>
          </a:p>
        </p:txBody>
      </p:sp>
      <p:sp>
        <p:nvSpPr>
          <p:cNvPr id="17" name="Shape 14"/>
          <p:cNvSpPr/>
          <p:nvPr/>
        </p:nvSpPr>
        <p:spPr>
          <a:xfrm>
            <a:off x="12496800" y="4953000"/>
            <a:ext cx="4572000" cy="9525"/>
          </a:xfrm>
          <a:prstGeom prst="rect">
            <a:avLst/>
          </a:prstGeom>
          <a:solidFill>
            <a:srgbClr val="FFFFFF">
              <a:alpha val="12000"/>
            </a:srgbClr>
          </a:solidFill>
          <a:ln/>
        </p:spPr>
      </p:sp>
      <p:sp>
        <p:nvSpPr>
          <p:cNvPr id="18" name="Text 15"/>
          <p:cNvSpPr/>
          <p:nvPr/>
        </p:nvSpPr>
        <p:spPr>
          <a:xfrm>
            <a:off x="12496800" y="4584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LookML &amp; parameters</a:t>
            </a:r>
            <a:endParaRPr lang="en-US" sz="1350" dirty="0"/>
          </a:p>
        </p:txBody>
      </p:sp>
      <p:sp>
        <p:nvSpPr>
          <p:cNvPr id="19" name="Shape 16"/>
          <p:cNvSpPr/>
          <p:nvPr/>
        </p:nvSpPr>
        <p:spPr>
          <a:xfrm>
            <a:off x="12496800" y="5461000"/>
            <a:ext cx="4572000" cy="9525"/>
          </a:xfrm>
          <a:prstGeom prst="rect">
            <a:avLst/>
          </a:prstGeom>
          <a:solidFill>
            <a:srgbClr val="FFFFFF">
              <a:alpha val="12000"/>
            </a:srgbClr>
          </a:solidFill>
          <a:ln/>
        </p:spPr>
      </p:sp>
      <p:sp>
        <p:nvSpPr>
          <p:cNvPr id="20" name="Text 17"/>
          <p:cNvSpPr/>
          <p:nvPr/>
        </p:nvSpPr>
        <p:spPr>
          <a:xfrm>
            <a:off x="12496800" y="5092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Looker vs Looker Studio</a:t>
            </a:r>
            <a:endParaRPr lang="en-US" sz="1350" dirty="0"/>
          </a:p>
        </p:txBody>
      </p:sp>
      <p:sp>
        <p:nvSpPr>
          <p:cNvPr id="21" name="Text 1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globallogic.com</a:t>
            </a:r>
            <a:endParaRPr lang="en-US" sz="1050" dirty="0"/>
          </a:p>
        </p:txBody>
      </p:sp>
      <p:sp>
        <p:nvSpPr>
          <p:cNvPr id="22" name="Text 1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07 / 60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DEFINITION</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Looker is a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governed </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BI platform built on a reusable semantic model.</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Looker is Google Cloud's enterprise business-intelligence product. Instead of every analyst writing their own SQL against raw tables, a team defines the business logic once — in a language called LookML — and everyone builds dashboards on top of that single, version-controlled model.</a:t>
            </a:r>
            <a:endParaRPr lang="en-US" sz="1650" dirty="0"/>
          </a:p>
        </p:txBody>
      </p:sp>
      <p:sp>
        <p:nvSpPr>
          <p:cNvPr id="9" name="Shape 7"/>
          <p:cNvSpPr/>
          <p:nvPr/>
        </p:nvSpPr>
        <p:spPr>
          <a:xfrm>
            <a:off x="1219200" y="5349677"/>
            <a:ext cx="5080000" cy="2400499"/>
          </a:xfrm>
          <a:prstGeom prst="roundRect">
            <a:avLst>
              <a:gd name="adj" fmla="val 5555"/>
            </a:avLst>
          </a:prstGeom>
          <a:solidFill>
            <a:srgbClr val="F1F2F4"/>
          </a:solidFill>
          <a:ln/>
        </p:spPr>
      </p:sp>
      <p:sp>
        <p:nvSpPr>
          <p:cNvPr id="10" name="Shape 8"/>
          <p:cNvSpPr/>
          <p:nvPr/>
        </p:nvSpPr>
        <p:spPr>
          <a:xfrm>
            <a:off x="1219200" y="5349677"/>
            <a:ext cx="5080000" cy="38100"/>
          </a:xfrm>
          <a:prstGeom prst="rect">
            <a:avLst/>
          </a:prstGeom>
          <a:solidFill>
            <a:srgbClr val="FF671F"/>
          </a:solidFill>
          <a:ln/>
        </p:spPr>
      </p:sp>
      <p:sp>
        <p:nvSpPr>
          <p:cNvPr id="11" name="Text 9"/>
          <p:cNvSpPr/>
          <p:nvPr/>
        </p:nvSpPr>
        <p:spPr>
          <a:xfrm>
            <a:off x="1524000" y="5692577"/>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IN ONE SENTENCE</a:t>
            </a:r>
            <a:endParaRPr lang="en-US" sz="900" dirty="0"/>
          </a:p>
        </p:txBody>
      </p:sp>
      <p:sp>
        <p:nvSpPr>
          <p:cNvPr id="12" name="Text 10"/>
          <p:cNvSpPr/>
          <p:nvPr/>
        </p:nvSpPr>
        <p:spPr>
          <a:xfrm>
            <a:off x="1524000" y="5971977"/>
            <a:ext cx="4604512"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 modeling layer plus a visualization layer, with no extract.</a:t>
            </a:r>
            <a:endParaRPr lang="en-US" sz="1950" dirty="0"/>
          </a:p>
        </p:txBody>
      </p:sp>
      <p:sp>
        <p:nvSpPr>
          <p:cNvPr id="13" name="Text 11"/>
          <p:cNvSpPr/>
          <p:nvPr/>
        </p:nvSpPr>
        <p:spPr>
          <a:xfrm>
            <a:off x="1524000" y="6674843"/>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Looker translates user clicks into SQL, sends it to your warehouse, and renders the results — live, every time.</a:t>
            </a:r>
            <a:endParaRPr lang="en-US" sz="1275" dirty="0"/>
          </a:p>
        </p:txBody>
      </p:sp>
      <p:sp>
        <p:nvSpPr>
          <p:cNvPr id="14" name="Shape 12"/>
          <p:cNvSpPr/>
          <p:nvPr/>
        </p:nvSpPr>
        <p:spPr>
          <a:xfrm>
            <a:off x="6604000" y="5349677"/>
            <a:ext cx="5080000" cy="2400499"/>
          </a:xfrm>
          <a:prstGeom prst="roundRect">
            <a:avLst>
              <a:gd name="adj" fmla="val 5555"/>
            </a:avLst>
          </a:prstGeom>
          <a:solidFill>
            <a:srgbClr val="F1F2F4"/>
          </a:solidFill>
          <a:ln/>
        </p:spPr>
      </p:sp>
      <p:sp>
        <p:nvSpPr>
          <p:cNvPr id="15" name="Shape 13"/>
          <p:cNvSpPr/>
          <p:nvPr/>
        </p:nvSpPr>
        <p:spPr>
          <a:xfrm>
            <a:off x="6604000" y="5349677"/>
            <a:ext cx="5080000" cy="38100"/>
          </a:xfrm>
          <a:prstGeom prst="rect">
            <a:avLst/>
          </a:prstGeom>
          <a:solidFill>
            <a:srgbClr val="FF671F"/>
          </a:solidFill>
          <a:ln/>
        </p:spPr>
      </p:sp>
      <p:sp>
        <p:nvSpPr>
          <p:cNvPr id="16" name="Text 14"/>
          <p:cNvSpPr/>
          <p:nvPr/>
        </p:nvSpPr>
        <p:spPr>
          <a:xfrm>
            <a:off x="6908800" y="5692577"/>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WHAT IT ISN'T</a:t>
            </a:r>
            <a:endParaRPr lang="en-US" sz="900" dirty="0"/>
          </a:p>
        </p:txBody>
      </p:sp>
      <p:sp>
        <p:nvSpPr>
          <p:cNvPr id="17" name="Text 15"/>
          <p:cNvSpPr/>
          <p:nvPr/>
        </p:nvSpPr>
        <p:spPr>
          <a:xfrm>
            <a:off x="6908800" y="5971977"/>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Not a database. Not an ETL tool.</a:t>
            </a:r>
            <a:endParaRPr lang="en-US" sz="1950" dirty="0"/>
          </a:p>
        </p:txBody>
      </p:sp>
      <p:sp>
        <p:nvSpPr>
          <p:cNvPr id="18" name="Text 16"/>
          <p:cNvSpPr/>
          <p:nvPr/>
        </p:nvSpPr>
        <p:spPr>
          <a:xfrm>
            <a:off x="6908800" y="6390084"/>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Looker doesn't store your data and doesn't move it around. It models, queries and visualizes data that already lives in your warehouse.</a:t>
            </a:r>
            <a:endParaRPr lang="en-US" sz="1275" dirty="0"/>
          </a:p>
        </p:txBody>
      </p:sp>
      <p:sp>
        <p:nvSpPr>
          <p:cNvPr id="19" name="Shape 17"/>
          <p:cNvSpPr/>
          <p:nvPr/>
        </p:nvSpPr>
        <p:spPr>
          <a:xfrm>
            <a:off x="11988801" y="5349677"/>
            <a:ext cx="5080000" cy="2400499"/>
          </a:xfrm>
          <a:prstGeom prst="roundRect">
            <a:avLst>
              <a:gd name="adj" fmla="val 5555"/>
            </a:avLst>
          </a:prstGeom>
          <a:solidFill>
            <a:srgbClr val="F1F2F4"/>
          </a:solidFill>
          <a:ln/>
        </p:spPr>
      </p:sp>
      <p:sp>
        <p:nvSpPr>
          <p:cNvPr id="20" name="Shape 18"/>
          <p:cNvSpPr/>
          <p:nvPr/>
        </p:nvSpPr>
        <p:spPr>
          <a:xfrm>
            <a:off x="11988801" y="5349677"/>
            <a:ext cx="5080000" cy="38100"/>
          </a:xfrm>
          <a:prstGeom prst="rect">
            <a:avLst/>
          </a:prstGeom>
          <a:solidFill>
            <a:srgbClr val="FF671F"/>
          </a:solidFill>
          <a:ln/>
        </p:spPr>
      </p:sp>
      <p:sp>
        <p:nvSpPr>
          <p:cNvPr id="21" name="Text 19"/>
          <p:cNvSpPr/>
          <p:nvPr/>
        </p:nvSpPr>
        <p:spPr>
          <a:xfrm>
            <a:off x="12293601" y="5692577"/>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WHERE YOU'LL MEET IT</a:t>
            </a:r>
            <a:endParaRPr lang="en-US" sz="900" dirty="0"/>
          </a:p>
        </p:txBody>
      </p:sp>
      <p:sp>
        <p:nvSpPr>
          <p:cNvPr id="22" name="Text 20"/>
          <p:cNvSpPr/>
          <p:nvPr/>
        </p:nvSpPr>
        <p:spPr>
          <a:xfrm>
            <a:off x="12293601" y="5971977"/>
            <a:ext cx="4604512" cy="892373"/>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Inside Google Cloud Console, at </a:t>
            </a:r>
            <a:pPr algn="l" indent="0" marL="0">
              <a:lnSpc>
                <a:spcPct val="115000"/>
              </a:lnSpc>
              <a:buNone/>
            </a:pPr>
            <a:r>
              <a:rPr lang="en-US" sz="1050" b="1" spc="-10" kern="0" dirty="0">
                <a:solidFill>
                  <a:srgbClr val="1F4DFF"/>
                </a:solidFill>
                <a:latin typeface="JetBrains Mono" pitchFamily="34" charset="0"/>
                <a:ea typeface="JetBrains Mono" pitchFamily="34" charset="-122"/>
                <a:cs typeface="JetBrains Mono" pitchFamily="34" charset="-120"/>
              </a:rPr>
              <a:t>looker.com </a:t>
            </a:r>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or embedded in your own product.</a:t>
            </a:r>
            <a:endParaRPr lang="en-US" sz="1950" dirty="0"/>
          </a:p>
        </p:txBody>
      </p:sp>
      <p:sp>
        <p:nvSpPr>
          <p:cNvPr id="23" name="Text 21"/>
          <p:cNvSpPr/>
          <p:nvPr/>
        </p:nvSpPr>
        <p:spPr>
          <a:xfrm>
            <a:off x="12293601" y="695960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Original Looker (Original) and Looker (Google Cloud core) share the same engine. The exam treats them together.</a:t>
            </a:r>
            <a:endParaRPr lang="en-US" sz="1275" dirty="0"/>
          </a:p>
        </p:txBody>
      </p:sp>
      <p:sp>
        <p:nvSpPr>
          <p:cNvPr id="24" name="Text 22"/>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25" name="Text 2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08 / 60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A SHORT HISTORY</a:t>
            </a:r>
            <a:endParaRPr lang="en-US" sz="1350" dirty="0"/>
          </a:p>
        </p:txBody>
      </p:sp>
      <p:sp>
        <p:nvSpPr>
          <p:cNvPr id="7" name="Text 5"/>
          <p:cNvSpPr/>
          <p:nvPr/>
        </p:nvSpPr>
        <p:spPr>
          <a:xfrm>
            <a:off x="1219200" y="2178050"/>
            <a:ext cx="16325088" cy="236964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From a Santa Cruz start-up to the Google Cloud data platform.</a:t>
            </a:r>
            <a:endParaRPr lang="en-US" sz="6000" dirty="0"/>
          </a:p>
        </p:txBody>
      </p:sp>
      <p:sp>
        <p:nvSpPr>
          <p:cNvPr id="8" name="Text 6"/>
          <p:cNvSpPr/>
          <p:nvPr/>
        </p:nvSpPr>
        <p:spPr>
          <a:xfrm>
            <a:off x="1219200" y="4681042"/>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Why this matters: Looker's vocabulary (Explores, Looks, LookML) predates Google. Once Google acquired the company, the original product was kept and a sister product — Looker Studio — was rebranded next to it.</a:t>
            </a:r>
            <a:endParaRPr lang="en-US" sz="1650" dirty="0"/>
          </a:p>
        </p:txBody>
      </p:sp>
      <p:sp>
        <p:nvSpPr>
          <p:cNvPr id="9" name="Shape 7"/>
          <p:cNvSpPr/>
          <p:nvPr/>
        </p:nvSpPr>
        <p:spPr>
          <a:xfrm>
            <a:off x="1219200" y="5898257"/>
            <a:ext cx="3790950" cy="3303488"/>
          </a:xfrm>
          <a:prstGeom prst="roundRect">
            <a:avLst>
              <a:gd name="adj" fmla="val 4037"/>
            </a:avLst>
          </a:prstGeom>
          <a:solidFill>
            <a:srgbClr val="FFF7F1"/>
          </a:solidFill>
          <a:ln/>
        </p:spPr>
      </p:sp>
      <p:sp>
        <p:nvSpPr>
          <p:cNvPr id="10" name="Shape 8"/>
          <p:cNvSpPr/>
          <p:nvPr/>
        </p:nvSpPr>
        <p:spPr>
          <a:xfrm>
            <a:off x="1219200" y="5898257"/>
            <a:ext cx="3790950" cy="38100"/>
          </a:xfrm>
          <a:prstGeom prst="rect">
            <a:avLst/>
          </a:prstGeom>
          <a:solidFill>
            <a:srgbClr val="FF671F"/>
          </a:solidFill>
          <a:ln/>
        </p:spPr>
      </p:sp>
      <p:sp>
        <p:nvSpPr>
          <p:cNvPr id="11" name="Text 9"/>
          <p:cNvSpPr/>
          <p:nvPr/>
        </p:nvSpPr>
        <p:spPr>
          <a:xfrm>
            <a:off x="1524000" y="6241157"/>
            <a:ext cx="3276791" cy="79246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FF671F"/>
                </a:solidFill>
                <a:latin typeface="Manrope" pitchFamily="34" charset="0"/>
                <a:ea typeface="Manrope" pitchFamily="34" charset="-122"/>
                <a:cs typeface="Manrope" pitchFamily="34" charset="-120"/>
              </a:rPr>
              <a:t>2012</a:t>
            </a:r>
            <a:endParaRPr lang="en-US" sz="6600" dirty="0"/>
          </a:p>
        </p:txBody>
      </p:sp>
      <p:sp>
        <p:nvSpPr>
          <p:cNvPr id="12" name="Text 10"/>
          <p:cNvSpPr/>
          <p:nvPr/>
        </p:nvSpPr>
        <p:spPr>
          <a:xfrm>
            <a:off x="1524000" y="7186017"/>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FOUNDED</a:t>
            </a:r>
            <a:endParaRPr lang="en-US" sz="900" dirty="0"/>
          </a:p>
        </p:txBody>
      </p:sp>
      <p:sp>
        <p:nvSpPr>
          <p:cNvPr id="13" name="Text 11"/>
          <p:cNvSpPr/>
          <p:nvPr/>
        </p:nvSpPr>
        <p:spPr>
          <a:xfrm>
            <a:off x="1524000" y="7465418"/>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Looker founded in Santa Cruz, California.</a:t>
            </a:r>
            <a:endParaRPr lang="en-US" sz="1950" dirty="0"/>
          </a:p>
        </p:txBody>
      </p:sp>
      <p:sp>
        <p:nvSpPr>
          <p:cNvPr id="14" name="Text 12"/>
          <p:cNvSpPr/>
          <p:nvPr/>
        </p:nvSpPr>
        <p:spPr>
          <a:xfrm>
            <a:off x="1524000" y="8168283"/>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Ships LookML, an in-database semantic-modeling language designed for SQL-native teams.</a:t>
            </a:r>
            <a:endParaRPr lang="en-US" sz="1275" dirty="0"/>
          </a:p>
        </p:txBody>
      </p:sp>
      <p:sp>
        <p:nvSpPr>
          <p:cNvPr id="15" name="Shape 13"/>
          <p:cNvSpPr/>
          <p:nvPr/>
        </p:nvSpPr>
        <p:spPr>
          <a:xfrm>
            <a:off x="5238750" y="5898257"/>
            <a:ext cx="3790950" cy="3303488"/>
          </a:xfrm>
          <a:prstGeom prst="roundRect">
            <a:avLst>
              <a:gd name="adj" fmla="val 4037"/>
            </a:avLst>
          </a:prstGeom>
          <a:solidFill>
            <a:srgbClr val="FFF7F1"/>
          </a:solidFill>
          <a:ln/>
        </p:spPr>
      </p:sp>
      <p:sp>
        <p:nvSpPr>
          <p:cNvPr id="16" name="Shape 14"/>
          <p:cNvSpPr/>
          <p:nvPr/>
        </p:nvSpPr>
        <p:spPr>
          <a:xfrm>
            <a:off x="5238750" y="5898257"/>
            <a:ext cx="3790950" cy="38100"/>
          </a:xfrm>
          <a:prstGeom prst="rect">
            <a:avLst/>
          </a:prstGeom>
          <a:solidFill>
            <a:srgbClr val="FF671F"/>
          </a:solidFill>
          <a:ln/>
        </p:spPr>
      </p:sp>
      <p:sp>
        <p:nvSpPr>
          <p:cNvPr id="17" name="Text 15"/>
          <p:cNvSpPr/>
          <p:nvPr/>
        </p:nvSpPr>
        <p:spPr>
          <a:xfrm>
            <a:off x="5543550" y="6241157"/>
            <a:ext cx="3276791" cy="79246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FF671F"/>
                </a:solidFill>
                <a:latin typeface="Manrope" pitchFamily="34" charset="0"/>
                <a:ea typeface="Manrope" pitchFamily="34" charset="-122"/>
                <a:cs typeface="Manrope" pitchFamily="34" charset="-120"/>
              </a:rPr>
              <a:t>2019</a:t>
            </a:r>
            <a:endParaRPr lang="en-US" sz="6600" dirty="0"/>
          </a:p>
        </p:txBody>
      </p:sp>
      <p:sp>
        <p:nvSpPr>
          <p:cNvPr id="18" name="Text 16"/>
          <p:cNvSpPr/>
          <p:nvPr/>
        </p:nvSpPr>
        <p:spPr>
          <a:xfrm>
            <a:off x="5543550" y="7186017"/>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ACQUIRED</a:t>
            </a:r>
            <a:endParaRPr lang="en-US" sz="900" dirty="0"/>
          </a:p>
        </p:txBody>
      </p:sp>
      <p:sp>
        <p:nvSpPr>
          <p:cNvPr id="19" name="Text 17"/>
          <p:cNvSpPr/>
          <p:nvPr/>
        </p:nvSpPr>
        <p:spPr>
          <a:xfrm>
            <a:off x="5543550" y="7465418"/>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Google acquires Looker for $2.6 B.</a:t>
            </a:r>
            <a:endParaRPr lang="en-US" sz="1950" dirty="0"/>
          </a:p>
        </p:txBody>
      </p:sp>
      <p:sp>
        <p:nvSpPr>
          <p:cNvPr id="20" name="Text 18"/>
          <p:cNvSpPr/>
          <p:nvPr/>
        </p:nvSpPr>
        <p:spPr>
          <a:xfrm>
            <a:off x="5543550" y="8168283"/>
            <a:ext cx="3276791"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Looker becomes Google Cloud's official BI product, tightly integrated with BigQuery.</a:t>
            </a:r>
            <a:endParaRPr lang="en-US" sz="1275" dirty="0"/>
          </a:p>
        </p:txBody>
      </p:sp>
      <p:sp>
        <p:nvSpPr>
          <p:cNvPr id="21" name="Shape 19"/>
          <p:cNvSpPr/>
          <p:nvPr/>
        </p:nvSpPr>
        <p:spPr>
          <a:xfrm>
            <a:off x="9258300" y="5898257"/>
            <a:ext cx="3790950" cy="3303488"/>
          </a:xfrm>
          <a:prstGeom prst="roundRect">
            <a:avLst>
              <a:gd name="adj" fmla="val 4037"/>
            </a:avLst>
          </a:prstGeom>
          <a:solidFill>
            <a:srgbClr val="FFF7F1"/>
          </a:solidFill>
          <a:ln/>
        </p:spPr>
      </p:sp>
      <p:sp>
        <p:nvSpPr>
          <p:cNvPr id="22" name="Shape 20"/>
          <p:cNvSpPr/>
          <p:nvPr/>
        </p:nvSpPr>
        <p:spPr>
          <a:xfrm>
            <a:off x="9258300" y="5898257"/>
            <a:ext cx="3790950" cy="38100"/>
          </a:xfrm>
          <a:prstGeom prst="rect">
            <a:avLst/>
          </a:prstGeom>
          <a:solidFill>
            <a:srgbClr val="FF671F"/>
          </a:solidFill>
          <a:ln/>
        </p:spPr>
      </p:sp>
      <p:sp>
        <p:nvSpPr>
          <p:cNvPr id="23" name="Text 21"/>
          <p:cNvSpPr/>
          <p:nvPr/>
        </p:nvSpPr>
        <p:spPr>
          <a:xfrm>
            <a:off x="9563100" y="6241157"/>
            <a:ext cx="3276791" cy="79246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FF671F"/>
                </a:solidFill>
                <a:latin typeface="Manrope" pitchFamily="34" charset="0"/>
                <a:ea typeface="Manrope" pitchFamily="34" charset="-122"/>
                <a:cs typeface="Manrope" pitchFamily="34" charset="-120"/>
              </a:rPr>
              <a:t>2022</a:t>
            </a:r>
            <a:endParaRPr lang="en-US" sz="6600" dirty="0"/>
          </a:p>
        </p:txBody>
      </p:sp>
      <p:sp>
        <p:nvSpPr>
          <p:cNvPr id="24" name="Text 22"/>
          <p:cNvSpPr/>
          <p:nvPr/>
        </p:nvSpPr>
        <p:spPr>
          <a:xfrm>
            <a:off x="9563100" y="7186017"/>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REBRAND</a:t>
            </a:r>
            <a:endParaRPr lang="en-US" sz="900" dirty="0"/>
          </a:p>
        </p:txBody>
      </p:sp>
      <p:sp>
        <p:nvSpPr>
          <p:cNvPr id="25" name="Text 23"/>
          <p:cNvSpPr/>
          <p:nvPr/>
        </p:nvSpPr>
        <p:spPr>
          <a:xfrm>
            <a:off x="9563100" y="7465418"/>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Google Data Studio renamed Looker Studio.</a:t>
            </a:r>
            <a:endParaRPr lang="en-US" sz="1950" dirty="0"/>
          </a:p>
        </p:txBody>
      </p:sp>
      <p:sp>
        <p:nvSpPr>
          <p:cNvPr id="26" name="Text 24"/>
          <p:cNvSpPr/>
          <p:nvPr/>
        </p:nvSpPr>
        <p:spPr>
          <a:xfrm>
            <a:off x="9563100" y="8168283"/>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Two products under one brand: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Looker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(enterprise, modeled) and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Looker Studio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(free, self-serve).</a:t>
            </a:r>
            <a:endParaRPr lang="en-US" sz="1275" dirty="0"/>
          </a:p>
        </p:txBody>
      </p:sp>
      <p:sp>
        <p:nvSpPr>
          <p:cNvPr id="27" name="Shape 25"/>
          <p:cNvSpPr/>
          <p:nvPr/>
        </p:nvSpPr>
        <p:spPr>
          <a:xfrm>
            <a:off x="13277850" y="5898257"/>
            <a:ext cx="3790950" cy="3303488"/>
          </a:xfrm>
          <a:prstGeom prst="roundRect">
            <a:avLst>
              <a:gd name="adj" fmla="val 4037"/>
            </a:avLst>
          </a:prstGeom>
          <a:solidFill>
            <a:srgbClr val="FFF7F1"/>
          </a:solidFill>
          <a:ln/>
        </p:spPr>
      </p:sp>
      <p:sp>
        <p:nvSpPr>
          <p:cNvPr id="28" name="Shape 26"/>
          <p:cNvSpPr/>
          <p:nvPr/>
        </p:nvSpPr>
        <p:spPr>
          <a:xfrm>
            <a:off x="13277850" y="5898257"/>
            <a:ext cx="3790950" cy="38100"/>
          </a:xfrm>
          <a:prstGeom prst="rect">
            <a:avLst/>
          </a:prstGeom>
          <a:solidFill>
            <a:srgbClr val="FF671F"/>
          </a:solidFill>
          <a:ln/>
        </p:spPr>
      </p:sp>
      <p:sp>
        <p:nvSpPr>
          <p:cNvPr id="29" name="Text 27"/>
          <p:cNvSpPr/>
          <p:nvPr/>
        </p:nvSpPr>
        <p:spPr>
          <a:xfrm>
            <a:off x="13582650" y="6241157"/>
            <a:ext cx="3276791" cy="79246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FF671F"/>
                </a:solidFill>
                <a:latin typeface="Manrope" pitchFamily="34" charset="0"/>
                <a:ea typeface="Manrope" pitchFamily="34" charset="-122"/>
                <a:cs typeface="Manrope" pitchFamily="34" charset="-120"/>
              </a:rPr>
              <a:t>2024</a:t>
            </a:r>
            <a:endParaRPr lang="en-US" sz="6600" dirty="0"/>
          </a:p>
        </p:txBody>
      </p:sp>
      <p:sp>
        <p:nvSpPr>
          <p:cNvPr id="30" name="Text 28"/>
          <p:cNvSpPr/>
          <p:nvPr/>
        </p:nvSpPr>
        <p:spPr>
          <a:xfrm>
            <a:off x="13582650" y="7186017"/>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AI ERA</a:t>
            </a:r>
            <a:endParaRPr lang="en-US" sz="900" dirty="0"/>
          </a:p>
        </p:txBody>
      </p:sp>
      <p:sp>
        <p:nvSpPr>
          <p:cNvPr id="31" name="Text 29"/>
          <p:cNvSpPr/>
          <p:nvPr/>
        </p:nvSpPr>
        <p:spPr>
          <a:xfrm>
            <a:off x="13582650" y="7465418"/>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Gemini in Looker becomes generally available.</a:t>
            </a:r>
            <a:endParaRPr lang="en-US" sz="1950" dirty="0"/>
          </a:p>
        </p:txBody>
      </p:sp>
      <p:sp>
        <p:nvSpPr>
          <p:cNvPr id="32" name="Text 30"/>
          <p:cNvSpPr/>
          <p:nvPr/>
        </p:nvSpPr>
        <p:spPr>
          <a:xfrm>
            <a:off x="13582650" y="8168283"/>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Natural-language analytics, dashboard summarization, and LookML co-authoring — all on top of the same model.</a:t>
            </a:r>
            <a:endParaRPr lang="en-US" sz="1275" dirty="0"/>
          </a:p>
        </p:txBody>
      </p:sp>
      <p:sp>
        <p:nvSpPr>
          <p:cNvPr id="33" name="Text 31"/>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4" name="Text 32"/>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09 / 60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THE BIG IDEA</a:t>
            </a:r>
            <a:endParaRPr lang="en-US" sz="1350" dirty="0"/>
          </a:p>
        </p:txBody>
      </p:sp>
      <p:sp>
        <p:nvSpPr>
          <p:cNvPr id="7" name="Text 5"/>
          <p:cNvSpPr/>
          <p:nvPr/>
        </p:nvSpPr>
        <p:spPr>
          <a:xfrm>
            <a:off x="1219200" y="2178050"/>
            <a:ext cx="16325088" cy="128150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Define the business once. Re-use it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everywhere</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a:t>
            </a:r>
            <a:endParaRPr lang="en-US" sz="4800" dirty="0"/>
          </a:p>
        </p:txBody>
      </p:sp>
      <p:sp>
        <p:nvSpPr>
          <p:cNvPr id="8" name="Text 6"/>
          <p:cNvSpPr/>
          <p:nvPr/>
        </p:nvSpPr>
        <p:spPr>
          <a:xfrm>
            <a:off x="1219200" y="3592909"/>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Looker's superpower is a shared semantic layer. Definitions like "active user", "monthly recurring revenue" or "gross margin" are written in LookML once. Every dashboard, schedule, embed and Looker API call uses the same definition — so two analysts can't accidentally disagree by 7%.</a:t>
            </a:r>
            <a:endParaRPr lang="en-US" sz="1650" dirty="0"/>
          </a:p>
        </p:txBody>
      </p:sp>
      <p:sp>
        <p:nvSpPr>
          <p:cNvPr id="9" name="Text 7"/>
          <p:cNvSpPr/>
          <p:nvPr/>
        </p:nvSpPr>
        <p:spPr>
          <a:xfrm>
            <a:off x="1219200" y="4505325"/>
            <a:ext cx="5232400" cy="203200"/>
          </a:xfrm>
          <a:prstGeom prst="rect">
            <a:avLst/>
          </a:prstGeom>
          <a:noFill/>
          <a:ln/>
        </p:spPr>
        <p:txBody>
          <a:bodyPr wrap="square" lIns="25400" tIns="25400" rIns="25400" bIns="25400" rtlCol="0" anchor="t">
            <a:normAutofit/>
          </a:bodyPr>
          <a:lstStyle/>
          <a:p>
            <a:pPr algn="l" indent="0" marL="0">
              <a:buNone/>
            </a:pPr>
            <a:r>
              <a:rPr lang="en-US" sz="975" b="1" spc="156" kern="0" dirty="0">
                <a:solidFill>
                  <a:srgbClr val="8B95A6"/>
                </a:solidFill>
                <a:latin typeface="JetBrains Mono" pitchFamily="34" charset="0"/>
                <a:ea typeface="JetBrains Mono" pitchFamily="34" charset="-122"/>
                <a:cs typeface="JetBrains Mono" pitchFamily="34" charset="-120"/>
              </a:rPr>
              <a:t>WAREHOUSES</a:t>
            </a:r>
            <a:endParaRPr lang="en-US" sz="975" dirty="0"/>
          </a:p>
        </p:txBody>
      </p:sp>
      <p:sp>
        <p:nvSpPr>
          <p:cNvPr id="10" name="Shape 8"/>
          <p:cNvSpPr/>
          <p:nvPr/>
        </p:nvSpPr>
        <p:spPr>
          <a:xfrm>
            <a:off x="1219200" y="4860925"/>
            <a:ext cx="5080000" cy="1079500"/>
          </a:xfrm>
          <a:prstGeom prst="roundRect">
            <a:avLst>
              <a:gd name="adj" fmla="val 10588"/>
            </a:avLst>
          </a:prstGeom>
          <a:solidFill>
            <a:srgbClr val="FFFFFF"/>
          </a:solidFill>
          <a:ln w="6350">
            <a:solidFill>
              <a:srgbClr val="C9CFD8"/>
            </a:solidFill>
            <a:prstDash val="solid"/>
          </a:ln>
        </p:spPr>
      </p:sp>
      <p:sp>
        <p:nvSpPr>
          <p:cNvPr id="11" name="Shape 9"/>
          <p:cNvSpPr/>
          <p:nvPr/>
        </p:nvSpPr>
        <p:spPr>
          <a:xfrm>
            <a:off x="1492250" y="5095875"/>
            <a:ext cx="609600" cy="609600"/>
          </a:xfrm>
          <a:prstGeom prst="roundRect">
            <a:avLst>
              <a:gd name="adj" fmla="val 18750"/>
            </a:avLst>
          </a:prstGeom>
          <a:solidFill>
            <a:srgbClr val="F1F2F4"/>
          </a:solidFill>
          <a:ln/>
        </p:spPr>
      </p:sp>
      <p:sp>
        <p:nvSpPr>
          <p:cNvPr id="12" name="Text 10"/>
          <p:cNvSpPr/>
          <p:nvPr/>
        </p:nvSpPr>
        <p:spPr>
          <a:xfrm>
            <a:off x="1454150" y="50958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BQ</a:t>
            </a:r>
            <a:endParaRPr lang="en-US" sz="1050" dirty="0"/>
          </a:p>
        </p:txBody>
      </p:sp>
      <p:sp>
        <p:nvSpPr>
          <p:cNvPr id="13" name="Text 11"/>
          <p:cNvSpPr/>
          <p:nvPr/>
        </p:nvSpPr>
        <p:spPr>
          <a:xfrm>
            <a:off x="2330450" y="5119886"/>
            <a:ext cx="2008188"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BigQuery</a:t>
            </a:r>
            <a:endParaRPr lang="en-US" sz="1800" dirty="0"/>
          </a:p>
        </p:txBody>
      </p:sp>
      <p:sp>
        <p:nvSpPr>
          <p:cNvPr id="14" name="Text 12"/>
          <p:cNvSpPr/>
          <p:nvPr/>
        </p:nvSpPr>
        <p:spPr>
          <a:xfrm>
            <a:off x="2330450" y="5488186"/>
            <a:ext cx="2008188"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Google's serverless warehouse.</a:t>
            </a:r>
            <a:endParaRPr lang="en-US" sz="1050" dirty="0"/>
          </a:p>
        </p:txBody>
      </p:sp>
      <p:sp>
        <p:nvSpPr>
          <p:cNvPr id="15" name="Shape 13"/>
          <p:cNvSpPr/>
          <p:nvPr/>
        </p:nvSpPr>
        <p:spPr>
          <a:xfrm>
            <a:off x="1219200" y="6073775"/>
            <a:ext cx="5080000" cy="1079500"/>
          </a:xfrm>
          <a:prstGeom prst="roundRect">
            <a:avLst>
              <a:gd name="adj" fmla="val 10588"/>
            </a:avLst>
          </a:prstGeom>
          <a:solidFill>
            <a:srgbClr val="FFFFFF"/>
          </a:solidFill>
          <a:ln w="6350">
            <a:solidFill>
              <a:srgbClr val="C9CFD8"/>
            </a:solidFill>
            <a:prstDash val="solid"/>
          </a:ln>
        </p:spPr>
      </p:sp>
      <p:sp>
        <p:nvSpPr>
          <p:cNvPr id="16" name="Shape 14"/>
          <p:cNvSpPr/>
          <p:nvPr/>
        </p:nvSpPr>
        <p:spPr>
          <a:xfrm>
            <a:off x="1492250" y="6308725"/>
            <a:ext cx="609600" cy="609600"/>
          </a:xfrm>
          <a:prstGeom prst="roundRect">
            <a:avLst>
              <a:gd name="adj" fmla="val 18750"/>
            </a:avLst>
          </a:prstGeom>
          <a:solidFill>
            <a:srgbClr val="F1F2F4"/>
          </a:solidFill>
          <a:ln/>
        </p:spPr>
      </p:sp>
      <p:sp>
        <p:nvSpPr>
          <p:cNvPr id="17" name="Text 15"/>
          <p:cNvSpPr/>
          <p:nvPr/>
        </p:nvSpPr>
        <p:spPr>
          <a:xfrm>
            <a:off x="1454150" y="630872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SF</a:t>
            </a:r>
            <a:endParaRPr lang="en-US" sz="1050" dirty="0"/>
          </a:p>
        </p:txBody>
      </p:sp>
      <p:sp>
        <p:nvSpPr>
          <p:cNvPr id="18" name="Text 16"/>
          <p:cNvSpPr/>
          <p:nvPr/>
        </p:nvSpPr>
        <p:spPr>
          <a:xfrm>
            <a:off x="2330450" y="6332736"/>
            <a:ext cx="1519535"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Snowflake</a:t>
            </a:r>
            <a:endParaRPr lang="en-US" sz="1800" dirty="0"/>
          </a:p>
        </p:txBody>
      </p:sp>
      <p:sp>
        <p:nvSpPr>
          <p:cNvPr id="19" name="Text 17"/>
          <p:cNvSpPr/>
          <p:nvPr/>
        </p:nvSpPr>
        <p:spPr>
          <a:xfrm>
            <a:off x="2330450" y="6701036"/>
            <a:ext cx="1519535"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Multi-cloud warehouse.</a:t>
            </a:r>
            <a:endParaRPr lang="en-US" sz="1050" dirty="0"/>
          </a:p>
        </p:txBody>
      </p:sp>
      <p:sp>
        <p:nvSpPr>
          <p:cNvPr id="20" name="Shape 18"/>
          <p:cNvSpPr/>
          <p:nvPr/>
        </p:nvSpPr>
        <p:spPr>
          <a:xfrm>
            <a:off x="1219200" y="7286625"/>
            <a:ext cx="5080000" cy="1079500"/>
          </a:xfrm>
          <a:prstGeom prst="roundRect">
            <a:avLst>
              <a:gd name="adj" fmla="val 10588"/>
            </a:avLst>
          </a:prstGeom>
          <a:solidFill>
            <a:srgbClr val="FFFFFF"/>
          </a:solidFill>
          <a:ln w="6350">
            <a:solidFill>
              <a:srgbClr val="C9CFD8"/>
            </a:solidFill>
            <a:prstDash val="solid"/>
          </a:ln>
        </p:spPr>
      </p:sp>
      <p:sp>
        <p:nvSpPr>
          <p:cNvPr id="21" name="Shape 19"/>
          <p:cNvSpPr/>
          <p:nvPr/>
        </p:nvSpPr>
        <p:spPr>
          <a:xfrm>
            <a:off x="1492250" y="7521575"/>
            <a:ext cx="609600" cy="609600"/>
          </a:xfrm>
          <a:prstGeom prst="roundRect">
            <a:avLst>
              <a:gd name="adj" fmla="val 18750"/>
            </a:avLst>
          </a:prstGeom>
          <a:solidFill>
            <a:srgbClr val="F1F2F4"/>
          </a:solidFill>
          <a:ln/>
        </p:spPr>
      </p:sp>
      <p:sp>
        <p:nvSpPr>
          <p:cNvPr id="22" name="Text 20"/>
          <p:cNvSpPr/>
          <p:nvPr/>
        </p:nvSpPr>
        <p:spPr>
          <a:xfrm>
            <a:off x="1454150" y="75215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PG</a:t>
            </a:r>
            <a:endParaRPr lang="en-US" sz="1050" dirty="0"/>
          </a:p>
        </p:txBody>
      </p:sp>
      <p:sp>
        <p:nvSpPr>
          <p:cNvPr id="23" name="Text 21"/>
          <p:cNvSpPr/>
          <p:nvPr/>
        </p:nvSpPr>
        <p:spPr>
          <a:xfrm>
            <a:off x="2330450" y="7545586"/>
            <a:ext cx="2178348"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Postgres / Spanner</a:t>
            </a:r>
            <a:endParaRPr lang="en-US" sz="1800" dirty="0"/>
          </a:p>
        </p:txBody>
      </p:sp>
      <p:sp>
        <p:nvSpPr>
          <p:cNvPr id="24" name="Text 22"/>
          <p:cNvSpPr/>
          <p:nvPr/>
        </p:nvSpPr>
        <p:spPr>
          <a:xfrm>
            <a:off x="2330450" y="7913886"/>
            <a:ext cx="2178348"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Operational stores via federation.</a:t>
            </a:r>
            <a:endParaRPr lang="en-US" sz="1050" dirty="0"/>
          </a:p>
        </p:txBody>
      </p:sp>
      <p:sp>
        <p:nvSpPr>
          <p:cNvPr id="25" name="Shape 23"/>
          <p:cNvSpPr/>
          <p:nvPr/>
        </p:nvSpPr>
        <p:spPr>
          <a:xfrm>
            <a:off x="1219200" y="8499475"/>
            <a:ext cx="5080000" cy="1079500"/>
          </a:xfrm>
          <a:prstGeom prst="roundRect">
            <a:avLst>
              <a:gd name="adj" fmla="val 10588"/>
            </a:avLst>
          </a:prstGeom>
          <a:solidFill>
            <a:srgbClr val="FFFFFF"/>
          </a:solidFill>
          <a:ln w="6350">
            <a:solidFill>
              <a:srgbClr val="C9CFD8"/>
            </a:solidFill>
            <a:prstDash val="solid"/>
          </a:ln>
        </p:spPr>
      </p:sp>
      <p:sp>
        <p:nvSpPr>
          <p:cNvPr id="26" name="Shape 24"/>
          <p:cNvSpPr/>
          <p:nvPr/>
        </p:nvSpPr>
        <p:spPr>
          <a:xfrm>
            <a:off x="1492250" y="8734425"/>
            <a:ext cx="609600" cy="609600"/>
          </a:xfrm>
          <a:prstGeom prst="roundRect">
            <a:avLst>
              <a:gd name="adj" fmla="val 18750"/>
            </a:avLst>
          </a:prstGeom>
          <a:solidFill>
            <a:srgbClr val="F1F2F4"/>
          </a:solidFill>
          <a:ln/>
        </p:spPr>
      </p:sp>
      <p:sp>
        <p:nvSpPr>
          <p:cNvPr id="27" name="Text 25"/>
          <p:cNvSpPr/>
          <p:nvPr/>
        </p:nvSpPr>
        <p:spPr>
          <a:xfrm>
            <a:off x="1454150" y="873442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+60</a:t>
            </a:r>
            <a:endParaRPr lang="en-US" sz="1050" dirty="0"/>
          </a:p>
        </p:txBody>
      </p:sp>
      <p:sp>
        <p:nvSpPr>
          <p:cNvPr id="28" name="Text 26"/>
          <p:cNvSpPr/>
          <p:nvPr/>
        </p:nvSpPr>
        <p:spPr>
          <a:xfrm>
            <a:off x="2330450" y="8758436"/>
            <a:ext cx="2093317"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Other warehouses</a:t>
            </a:r>
            <a:endParaRPr lang="en-US" sz="1800" dirty="0"/>
          </a:p>
        </p:txBody>
      </p:sp>
      <p:sp>
        <p:nvSpPr>
          <p:cNvPr id="29" name="Text 27"/>
          <p:cNvSpPr/>
          <p:nvPr/>
        </p:nvSpPr>
        <p:spPr>
          <a:xfrm>
            <a:off x="2330450" y="9126736"/>
            <a:ext cx="2093317"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Redshift, Databricks, MS Fabric…</a:t>
            </a:r>
            <a:endParaRPr lang="en-US" sz="1050" dirty="0"/>
          </a:p>
        </p:txBody>
      </p:sp>
      <p:sp>
        <p:nvSpPr>
          <p:cNvPr id="30" name="Text 28"/>
          <p:cNvSpPr/>
          <p:nvPr/>
        </p:nvSpPr>
        <p:spPr>
          <a:xfrm>
            <a:off x="6527800" y="5044976"/>
            <a:ext cx="5232400" cy="203200"/>
          </a:xfrm>
          <a:prstGeom prst="rect">
            <a:avLst/>
          </a:prstGeom>
          <a:noFill/>
          <a:ln/>
        </p:spPr>
        <p:txBody>
          <a:bodyPr wrap="square" lIns="25400" tIns="25400" rIns="25400" bIns="25400" rtlCol="0" anchor="t">
            <a:normAutofit/>
          </a:bodyPr>
          <a:lstStyle/>
          <a:p>
            <a:pPr algn="ctr" indent="0" marL="0">
              <a:buNone/>
            </a:pPr>
            <a:r>
              <a:rPr lang="en-US" sz="975" b="1" spc="156" kern="0" dirty="0">
                <a:solidFill>
                  <a:srgbClr val="8B95A6"/>
                </a:solidFill>
                <a:latin typeface="JetBrains Mono" pitchFamily="34" charset="0"/>
                <a:ea typeface="JetBrains Mono" pitchFamily="34" charset="-122"/>
                <a:cs typeface="JetBrains Mono" pitchFamily="34" charset="-120"/>
              </a:rPr>
              <a:t>LOOKER</a:t>
            </a:r>
            <a:endParaRPr lang="en-US" sz="975" dirty="0"/>
          </a:p>
        </p:txBody>
      </p:sp>
      <p:sp>
        <p:nvSpPr>
          <p:cNvPr id="31" name="Shape 29"/>
          <p:cNvSpPr/>
          <p:nvPr/>
        </p:nvSpPr>
        <p:spPr>
          <a:xfrm>
            <a:off x="6604000" y="5400576"/>
            <a:ext cx="5080000" cy="2270720"/>
          </a:xfrm>
          <a:prstGeom prst="roundRect">
            <a:avLst>
              <a:gd name="adj" fmla="val 5034"/>
            </a:avLst>
          </a:prstGeom>
          <a:solidFill>
            <a:srgbClr val="FF671F"/>
          </a:solidFill>
          <a:ln/>
        </p:spPr>
      </p:sp>
      <p:sp>
        <p:nvSpPr>
          <p:cNvPr id="32" name="Text 30"/>
          <p:cNvSpPr/>
          <p:nvPr/>
        </p:nvSpPr>
        <p:spPr>
          <a:xfrm>
            <a:off x="6848285" y="5711726"/>
            <a:ext cx="4591431" cy="203200"/>
          </a:xfrm>
          <a:prstGeom prst="rect">
            <a:avLst/>
          </a:prstGeom>
          <a:noFill/>
          <a:ln/>
        </p:spPr>
        <p:txBody>
          <a:bodyPr wrap="square" lIns="25400" tIns="25400" rIns="25400" bIns="25400" rtlCol="0" anchor="t">
            <a:normAutofit/>
          </a:bodyPr>
          <a:lstStyle/>
          <a:p>
            <a:pPr algn="ctr" indent="0" marL="0">
              <a:buNone/>
            </a:pPr>
            <a:r>
              <a:rPr lang="en-US" sz="975" spc="137" kern="0" dirty="0">
                <a:solidFill>
                  <a:srgbClr val="FFFFFF">
                    <a:alpha val="78000"/>
                  </a:srgbClr>
                </a:solidFill>
                <a:latin typeface="JetBrains Mono" pitchFamily="34" charset="0"/>
                <a:ea typeface="JetBrains Mono" pitchFamily="34" charset="-122"/>
                <a:cs typeface="JetBrains Mono" pitchFamily="34" charset="-120"/>
              </a:rPr>
              <a:t>SEMANTIC LAYER</a:t>
            </a:r>
            <a:endParaRPr lang="en-US" sz="975" dirty="0"/>
          </a:p>
        </p:txBody>
      </p:sp>
      <p:sp>
        <p:nvSpPr>
          <p:cNvPr id="33" name="Text 31"/>
          <p:cNvSpPr/>
          <p:nvPr/>
        </p:nvSpPr>
        <p:spPr>
          <a:xfrm>
            <a:off x="6848285" y="6219726"/>
            <a:ext cx="4591431" cy="450850"/>
          </a:xfrm>
          <a:prstGeom prst="rect">
            <a:avLst/>
          </a:prstGeom>
          <a:noFill/>
          <a:ln/>
        </p:spPr>
        <p:txBody>
          <a:bodyPr wrap="square" lIns="25400" tIns="25400" rIns="25400" bIns="25400" rtlCol="0" anchor="t">
            <a:normAutofit/>
          </a:bodyPr>
          <a:lstStyle/>
          <a:p>
            <a:pPr algn="ctr" indent="0" marL="0">
              <a:buNone/>
            </a:pPr>
            <a:r>
              <a:rPr lang="en-US" sz="2400" b="1" spc="-12" kern="0" dirty="0">
                <a:solidFill>
                  <a:srgbClr val="FFFFFF"/>
                </a:solidFill>
                <a:latin typeface="Manrope" pitchFamily="34" charset="0"/>
                <a:ea typeface="Manrope" pitchFamily="34" charset="-122"/>
                <a:cs typeface="Manrope" pitchFamily="34" charset="-120"/>
              </a:rPr>
              <a:t>LookML model</a:t>
            </a:r>
            <a:endParaRPr lang="en-US" sz="2400" dirty="0"/>
          </a:p>
        </p:txBody>
      </p:sp>
      <p:sp>
        <p:nvSpPr>
          <p:cNvPr id="34" name="Text 32"/>
          <p:cNvSpPr/>
          <p:nvPr/>
        </p:nvSpPr>
        <p:spPr>
          <a:xfrm>
            <a:off x="6848285" y="6918226"/>
            <a:ext cx="4591431" cy="480020"/>
          </a:xfrm>
          <a:prstGeom prst="rect">
            <a:avLst/>
          </a:prstGeom>
          <a:noFill/>
          <a:ln/>
        </p:spPr>
        <p:txBody>
          <a:bodyPr wrap="square" lIns="25400" tIns="25400" rIns="25400" bIns="25400" rtlCol="0" anchor="t">
            <a:normAutofit/>
          </a:bodyPr>
          <a:lstStyle/>
          <a:p>
            <a:pPr algn="ctr" indent="0" marL="0">
              <a:lnSpc>
                <a:spcPct val="145000"/>
              </a:lnSpc>
              <a:buNone/>
            </a:pPr>
            <a:r>
              <a:rPr lang="en-US" sz="1200" dirty="0">
                <a:solidFill>
                  <a:srgbClr val="FFFFFF">
                    <a:alpha val="92000"/>
                  </a:srgbClr>
                </a:solidFill>
                <a:latin typeface="Manrope" pitchFamily="34" charset="0"/>
                <a:ea typeface="Manrope" pitchFamily="34" charset="-122"/>
                <a:cs typeface="Manrope" pitchFamily="34" charset="-120"/>
              </a:rPr>
              <a:t>Dimensions, measures, joins. One source of business truth.</a:t>
            </a:r>
            <a:endParaRPr lang="en-US" sz="1200" dirty="0"/>
          </a:p>
        </p:txBody>
      </p:sp>
      <p:sp>
        <p:nvSpPr>
          <p:cNvPr id="35" name="Shape 33"/>
          <p:cNvSpPr/>
          <p:nvPr/>
        </p:nvSpPr>
        <p:spPr>
          <a:xfrm>
            <a:off x="6604000" y="7804646"/>
            <a:ext cx="5080000" cy="1234678"/>
          </a:xfrm>
          <a:prstGeom prst="roundRect">
            <a:avLst>
              <a:gd name="adj" fmla="val 9257"/>
            </a:avLst>
          </a:prstGeom>
          <a:solidFill>
            <a:srgbClr val="1B1F2A"/>
          </a:solidFill>
          <a:ln/>
        </p:spPr>
      </p:sp>
      <p:sp>
        <p:nvSpPr>
          <p:cNvPr id="36" name="Text 34"/>
          <p:cNvSpPr/>
          <p:nvPr/>
        </p:nvSpPr>
        <p:spPr>
          <a:xfrm>
            <a:off x="6769799" y="8039596"/>
            <a:ext cx="4748403" cy="323850"/>
          </a:xfrm>
          <a:prstGeom prst="rect">
            <a:avLst/>
          </a:prstGeom>
          <a:noFill/>
          <a:ln/>
        </p:spPr>
        <p:txBody>
          <a:bodyPr wrap="square" lIns="25400" tIns="25400" rIns="25400" bIns="25400" rtlCol="0" anchor="t">
            <a:normAutofit/>
          </a:bodyPr>
          <a:lstStyle/>
          <a:p>
            <a:pPr algn="ctr" indent="0" marL="0">
              <a:buNone/>
            </a:pPr>
            <a:r>
              <a:rPr lang="en-US" sz="1650" b="1" spc="-8" kern="0" dirty="0">
                <a:solidFill>
                  <a:srgbClr val="FFFFFF"/>
                </a:solidFill>
                <a:latin typeface="Manrope" pitchFamily="34" charset="0"/>
                <a:ea typeface="Manrope" pitchFamily="34" charset="-122"/>
                <a:cs typeface="Manrope" pitchFamily="34" charset="-120"/>
              </a:rPr>
              <a:t>Query engine</a:t>
            </a:r>
            <a:endParaRPr lang="en-US" sz="1650" dirty="0"/>
          </a:p>
        </p:txBody>
      </p:sp>
      <p:sp>
        <p:nvSpPr>
          <p:cNvPr id="37" name="Text 35"/>
          <p:cNvSpPr/>
          <p:nvPr/>
        </p:nvSpPr>
        <p:spPr>
          <a:xfrm>
            <a:off x="6769799" y="8611096"/>
            <a:ext cx="4748403" cy="231378"/>
          </a:xfrm>
          <a:prstGeom prst="rect">
            <a:avLst/>
          </a:prstGeom>
          <a:noFill/>
          <a:ln/>
        </p:spPr>
        <p:txBody>
          <a:bodyPr wrap="square" lIns="25400" tIns="25400" rIns="25400" bIns="25400" rtlCol="0" anchor="t">
            <a:normAutofit/>
          </a:bodyPr>
          <a:lstStyle/>
          <a:p>
            <a:pPr algn="ctr" indent="0" marL="0">
              <a:lnSpc>
                <a:spcPct val="145000"/>
              </a:lnSpc>
              <a:buNone/>
            </a:pPr>
            <a:r>
              <a:rPr lang="en-US" sz="1050" dirty="0">
                <a:solidFill>
                  <a:srgbClr val="FFFFFF">
                    <a:alpha val="78000"/>
                  </a:srgbClr>
                </a:solidFill>
                <a:latin typeface="Manrope" pitchFamily="34" charset="0"/>
                <a:ea typeface="Manrope" pitchFamily="34" charset="-122"/>
                <a:cs typeface="Manrope" pitchFamily="34" charset="-120"/>
              </a:rPr>
              <a:t>Translates user actions into governed SQL.</a:t>
            </a:r>
            <a:endParaRPr lang="en-US" sz="1050" dirty="0"/>
          </a:p>
        </p:txBody>
      </p:sp>
      <p:sp>
        <p:nvSpPr>
          <p:cNvPr id="38" name="Text 36"/>
          <p:cNvSpPr/>
          <p:nvPr/>
        </p:nvSpPr>
        <p:spPr>
          <a:xfrm>
            <a:off x="11988801" y="4505325"/>
            <a:ext cx="5232400" cy="203200"/>
          </a:xfrm>
          <a:prstGeom prst="rect">
            <a:avLst/>
          </a:prstGeom>
          <a:noFill/>
          <a:ln/>
        </p:spPr>
        <p:txBody>
          <a:bodyPr wrap="square" lIns="25400" tIns="25400" rIns="25400" bIns="25400" rtlCol="0" anchor="t">
            <a:normAutofit/>
          </a:bodyPr>
          <a:lstStyle/>
          <a:p>
            <a:pPr algn="l" indent="0" marL="0">
              <a:buNone/>
            </a:pPr>
            <a:r>
              <a:rPr lang="en-US" sz="975" b="1" spc="156" kern="0" dirty="0">
                <a:solidFill>
                  <a:srgbClr val="8B95A6"/>
                </a:solidFill>
                <a:latin typeface="JetBrains Mono" pitchFamily="34" charset="0"/>
                <a:ea typeface="JetBrains Mono" pitchFamily="34" charset="-122"/>
                <a:cs typeface="JetBrains Mono" pitchFamily="34" charset="-120"/>
              </a:rPr>
              <a:t>CONSUMERS</a:t>
            </a:r>
            <a:endParaRPr lang="en-US" sz="975" dirty="0"/>
          </a:p>
        </p:txBody>
      </p:sp>
      <p:sp>
        <p:nvSpPr>
          <p:cNvPr id="39" name="Shape 37"/>
          <p:cNvSpPr/>
          <p:nvPr/>
        </p:nvSpPr>
        <p:spPr>
          <a:xfrm>
            <a:off x="11988801" y="4860925"/>
            <a:ext cx="5080000" cy="1079500"/>
          </a:xfrm>
          <a:prstGeom prst="roundRect">
            <a:avLst>
              <a:gd name="adj" fmla="val 10588"/>
            </a:avLst>
          </a:prstGeom>
          <a:solidFill>
            <a:srgbClr val="FFFFFF"/>
          </a:solidFill>
          <a:ln w="6350">
            <a:solidFill>
              <a:srgbClr val="C9CFD8"/>
            </a:solidFill>
            <a:prstDash val="solid"/>
          </a:ln>
        </p:spPr>
      </p:sp>
      <p:sp>
        <p:nvSpPr>
          <p:cNvPr id="40" name="Shape 38"/>
          <p:cNvSpPr/>
          <p:nvPr/>
        </p:nvSpPr>
        <p:spPr>
          <a:xfrm>
            <a:off x="12261850" y="5095875"/>
            <a:ext cx="609600" cy="609600"/>
          </a:xfrm>
          <a:prstGeom prst="roundRect">
            <a:avLst>
              <a:gd name="adj" fmla="val 18750"/>
            </a:avLst>
          </a:prstGeom>
          <a:solidFill>
            <a:srgbClr val="F1F2F4"/>
          </a:solidFill>
          <a:ln/>
        </p:spPr>
      </p:sp>
      <p:sp>
        <p:nvSpPr>
          <p:cNvPr id="41" name="Text 39"/>
          <p:cNvSpPr/>
          <p:nvPr/>
        </p:nvSpPr>
        <p:spPr>
          <a:xfrm>
            <a:off x="12223750" y="50958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DSH</a:t>
            </a:r>
            <a:endParaRPr lang="en-US" sz="1050" dirty="0"/>
          </a:p>
        </p:txBody>
      </p:sp>
      <p:sp>
        <p:nvSpPr>
          <p:cNvPr id="42" name="Text 40"/>
          <p:cNvSpPr/>
          <p:nvPr/>
        </p:nvSpPr>
        <p:spPr>
          <a:xfrm>
            <a:off x="13100050" y="5119886"/>
            <a:ext cx="1929011"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Dashboards</a:t>
            </a:r>
            <a:endParaRPr lang="en-US" sz="1800" dirty="0"/>
          </a:p>
        </p:txBody>
      </p:sp>
      <p:sp>
        <p:nvSpPr>
          <p:cNvPr id="43" name="Text 41"/>
          <p:cNvSpPr/>
          <p:nvPr/>
        </p:nvSpPr>
        <p:spPr>
          <a:xfrm>
            <a:off x="13100050" y="5488186"/>
            <a:ext cx="1929011"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Curated tiles for stakeholders.</a:t>
            </a:r>
            <a:endParaRPr lang="en-US" sz="1050" dirty="0"/>
          </a:p>
        </p:txBody>
      </p:sp>
      <p:sp>
        <p:nvSpPr>
          <p:cNvPr id="44" name="Shape 42"/>
          <p:cNvSpPr/>
          <p:nvPr/>
        </p:nvSpPr>
        <p:spPr>
          <a:xfrm>
            <a:off x="11988801" y="6073775"/>
            <a:ext cx="5080000" cy="1079500"/>
          </a:xfrm>
          <a:prstGeom prst="roundRect">
            <a:avLst>
              <a:gd name="adj" fmla="val 10588"/>
            </a:avLst>
          </a:prstGeom>
          <a:solidFill>
            <a:srgbClr val="FFFFFF"/>
          </a:solidFill>
          <a:ln w="6350">
            <a:solidFill>
              <a:srgbClr val="C9CFD8"/>
            </a:solidFill>
            <a:prstDash val="solid"/>
          </a:ln>
        </p:spPr>
      </p:sp>
      <p:sp>
        <p:nvSpPr>
          <p:cNvPr id="45" name="Shape 43"/>
          <p:cNvSpPr/>
          <p:nvPr/>
        </p:nvSpPr>
        <p:spPr>
          <a:xfrm>
            <a:off x="12261850" y="6308725"/>
            <a:ext cx="609600" cy="609600"/>
          </a:xfrm>
          <a:prstGeom prst="roundRect">
            <a:avLst>
              <a:gd name="adj" fmla="val 18750"/>
            </a:avLst>
          </a:prstGeom>
          <a:solidFill>
            <a:srgbClr val="F1F2F4"/>
          </a:solidFill>
          <a:ln/>
        </p:spPr>
      </p:sp>
      <p:sp>
        <p:nvSpPr>
          <p:cNvPr id="46" name="Text 44"/>
          <p:cNvSpPr/>
          <p:nvPr/>
        </p:nvSpPr>
        <p:spPr>
          <a:xfrm>
            <a:off x="12223750" y="630872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EXP</a:t>
            </a:r>
            <a:endParaRPr lang="en-US" sz="1050" dirty="0"/>
          </a:p>
        </p:txBody>
      </p:sp>
      <p:sp>
        <p:nvSpPr>
          <p:cNvPr id="47" name="Text 45"/>
          <p:cNvSpPr/>
          <p:nvPr/>
        </p:nvSpPr>
        <p:spPr>
          <a:xfrm>
            <a:off x="13100050" y="6332736"/>
            <a:ext cx="1701403"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Explores</a:t>
            </a:r>
            <a:endParaRPr lang="en-US" sz="1800" dirty="0"/>
          </a:p>
        </p:txBody>
      </p:sp>
      <p:sp>
        <p:nvSpPr>
          <p:cNvPr id="48" name="Text 46"/>
          <p:cNvSpPr/>
          <p:nvPr/>
        </p:nvSpPr>
        <p:spPr>
          <a:xfrm>
            <a:off x="13100050" y="6701036"/>
            <a:ext cx="1701403"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Self-serve ad-hoc queries.</a:t>
            </a:r>
            <a:endParaRPr lang="en-US" sz="1050" dirty="0"/>
          </a:p>
        </p:txBody>
      </p:sp>
      <p:sp>
        <p:nvSpPr>
          <p:cNvPr id="49" name="Shape 47"/>
          <p:cNvSpPr/>
          <p:nvPr/>
        </p:nvSpPr>
        <p:spPr>
          <a:xfrm>
            <a:off x="11988801" y="7286625"/>
            <a:ext cx="5080000" cy="1079500"/>
          </a:xfrm>
          <a:prstGeom prst="roundRect">
            <a:avLst>
              <a:gd name="adj" fmla="val 10588"/>
            </a:avLst>
          </a:prstGeom>
          <a:solidFill>
            <a:srgbClr val="FFFFFF"/>
          </a:solidFill>
          <a:ln w="6350">
            <a:solidFill>
              <a:srgbClr val="C9CFD8"/>
            </a:solidFill>
            <a:prstDash val="solid"/>
          </a:ln>
        </p:spPr>
      </p:sp>
      <p:sp>
        <p:nvSpPr>
          <p:cNvPr id="50" name="Shape 48"/>
          <p:cNvSpPr/>
          <p:nvPr/>
        </p:nvSpPr>
        <p:spPr>
          <a:xfrm>
            <a:off x="12261850" y="7521575"/>
            <a:ext cx="609600" cy="609600"/>
          </a:xfrm>
          <a:prstGeom prst="roundRect">
            <a:avLst>
              <a:gd name="adj" fmla="val 18750"/>
            </a:avLst>
          </a:prstGeom>
          <a:solidFill>
            <a:srgbClr val="F1F2F4"/>
          </a:solidFill>
          <a:ln/>
        </p:spPr>
      </p:sp>
      <p:sp>
        <p:nvSpPr>
          <p:cNvPr id="51" name="Text 49"/>
          <p:cNvSpPr/>
          <p:nvPr/>
        </p:nvSpPr>
        <p:spPr>
          <a:xfrm>
            <a:off x="12223750" y="752157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API</a:t>
            </a:r>
            <a:endParaRPr lang="en-US" sz="1050" dirty="0"/>
          </a:p>
        </p:txBody>
      </p:sp>
      <p:sp>
        <p:nvSpPr>
          <p:cNvPr id="52" name="Text 50"/>
          <p:cNvSpPr/>
          <p:nvPr/>
        </p:nvSpPr>
        <p:spPr>
          <a:xfrm>
            <a:off x="13100050" y="7545586"/>
            <a:ext cx="2041823"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Looker API &amp; SDKs</a:t>
            </a:r>
            <a:endParaRPr lang="en-US" sz="1800" dirty="0"/>
          </a:p>
        </p:txBody>
      </p:sp>
      <p:sp>
        <p:nvSpPr>
          <p:cNvPr id="53" name="Text 51"/>
          <p:cNvSpPr/>
          <p:nvPr/>
        </p:nvSpPr>
        <p:spPr>
          <a:xfrm>
            <a:off x="13100050" y="7913886"/>
            <a:ext cx="2041823"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Programmatic access to data.</a:t>
            </a:r>
            <a:endParaRPr lang="en-US" sz="1050" dirty="0"/>
          </a:p>
        </p:txBody>
      </p:sp>
      <p:sp>
        <p:nvSpPr>
          <p:cNvPr id="54" name="Shape 52"/>
          <p:cNvSpPr/>
          <p:nvPr/>
        </p:nvSpPr>
        <p:spPr>
          <a:xfrm>
            <a:off x="11988801" y="8499475"/>
            <a:ext cx="5080000" cy="1079500"/>
          </a:xfrm>
          <a:prstGeom prst="roundRect">
            <a:avLst>
              <a:gd name="adj" fmla="val 10588"/>
            </a:avLst>
          </a:prstGeom>
          <a:solidFill>
            <a:srgbClr val="FFFFFF"/>
          </a:solidFill>
          <a:ln w="6350">
            <a:solidFill>
              <a:srgbClr val="C9CFD8"/>
            </a:solidFill>
            <a:prstDash val="solid"/>
          </a:ln>
        </p:spPr>
      </p:sp>
      <p:sp>
        <p:nvSpPr>
          <p:cNvPr id="55" name="Shape 53"/>
          <p:cNvSpPr/>
          <p:nvPr/>
        </p:nvSpPr>
        <p:spPr>
          <a:xfrm>
            <a:off x="12261850" y="8734425"/>
            <a:ext cx="609600" cy="609600"/>
          </a:xfrm>
          <a:prstGeom prst="roundRect">
            <a:avLst>
              <a:gd name="adj" fmla="val 18750"/>
            </a:avLst>
          </a:prstGeom>
          <a:solidFill>
            <a:srgbClr val="F1F2F4"/>
          </a:solidFill>
          <a:ln/>
        </p:spPr>
      </p:sp>
      <p:sp>
        <p:nvSpPr>
          <p:cNvPr id="56" name="Text 54"/>
          <p:cNvSpPr/>
          <p:nvPr/>
        </p:nvSpPr>
        <p:spPr>
          <a:xfrm>
            <a:off x="12223750" y="8734425"/>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EMB</a:t>
            </a:r>
            <a:endParaRPr lang="en-US" sz="1050" dirty="0"/>
          </a:p>
        </p:txBody>
      </p:sp>
      <p:sp>
        <p:nvSpPr>
          <p:cNvPr id="57" name="Text 55"/>
          <p:cNvSpPr/>
          <p:nvPr/>
        </p:nvSpPr>
        <p:spPr>
          <a:xfrm>
            <a:off x="13100050" y="8758436"/>
            <a:ext cx="2305745"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Embedded analytics</a:t>
            </a:r>
            <a:endParaRPr lang="en-US" sz="1800" dirty="0"/>
          </a:p>
        </p:txBody>
      </p:sp>
      <p:sp>
        <p:nvSpPr>
          <p:cNvPr id="58" name="Text 56"/>
          <p:cNvSpPr/>
          <p:nvPr/>
        </p:nvSpPr>
        <p:spPr>
          <a:xfrm>
            <a:off x="13100050" y="9126736"/>
            <a:ext cx="2305745" cy="231378"/>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384358"/>
                </a:solidFill>
                <a:latin typeface="Manrope" pitchFamily="34" charset="0"/>
                <a:ea typeface="Manrope" pitchFamily="34" charset="-122"/>
                <a:cs typeface="Manrope" pitchFamily="34" charset="-120"/>
              </a:rPr>
              <a:t>Your app, Looker inside it.</a:t>
            </a:r>
            <a:endParaRPr lang="en-US" sz="1050" dirty="0"/>
          </a:p>
        </p:txBody>
      </p:sp>
      <p:sp>
        <p:nvSpPr>
          <p:cNvPr id="59" name="Text 5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0" name="Text 5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10 / 60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WHY THIS MATTERS</a:t>
            </a:r>
            <a:endParaRPr lang="en-US" sz="1350" dirty="0"/>
          </a:p>
        </p:txBody>
      </p:sp>
      <p:sp>
        <p:nvSpPr>
          <p:cNvPr id="7" name="Text 5"/>
          <p:cNvSpPr/>
          <p:nvPr/>
        </p:nvSpPr>
        <p:spPr>
          <a:xfrm>
            <a:off x="1219200" y="2178050"/>
            <a:ext cx="16325088" cy="128150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A semantic layer is the difference between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one </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right answer and four wrong ones.</a:t>
            </a:r>
            <a:endParaRPr lang="en-US" sz="4800" dirty="0"/>
          </a:p>
        </p:txBody>
      </p:sp>
      <p:sp>
        <p:nvSpPr>
          <p:cNvPr id="8" name="Text 6"/>
          <p:cNvSpPr/>
          <p:nvPr/>
        </p:nvSpPr>
        <p:spPr>
          <a:xfrm>
            <a:off x="1219200" y="3592909"/>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Most BI tools let any analyst write their own SQL against the warehouse. That works at five people. At fifty, you have five definitions of "active user". Looker fixes this by putting business logic upstream of dashboards — every chart calls the same modeled definition.</a:t>
            </a:r>
            <a:endParaRPr lang="en-US" sz="1650" dirty="0"/>
          </a:p>
        </p:txBody>
      </p:sp>
      <p:sp>
        <p:nvSpPr>
          <p:cNvPr id="9" name="Shape 7"/>
          <p:cNvSpPr/>
          <p:nvPr/>
        </p:nvSpPr>
        <p:spPr>
          <a:xfrm>
            <a:off x="1219200" y="4733925"/>
            <a:ext cx="7696200" cy="2704108"/>
          </a:xfrm>
          <a:prstGeom prst="roundRect">
            <a:avLst>
              <a:gd name="adj" fmla="val 4931"/>
            </a:avLst>
          </a:prstGeom>
          <a:solidFill>
            <a:srgbClr val="F1F2F4"/>
          </a:solidFill>
          <a:ln/>
        </p:spPr>
      </p:sp>
      <p:sp>
        <p:nvSpPr>
          <p:cNvPr id="10" name="Text 8"/>
          <p:cNvSpPr/>
          <p:nvPr/>
        </p:nvSpPr>
        <p:spPr>
          <a:xfrm>
            <a:off x="1524000" y="5038725"/>
            <a:ext cx="7299198"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8B95A6"/>
                </a:solidFill>
                <a:latin typeface="JetBrains Mono" pitchFamily="34" charset="0"/>
                <a:ea typeface="JetBrains Mono" pitchFamily="34" charset="-122"/>
                <a:cs typeface="JetBrains Mono" pitchFamily="34" charset="-120"/>
              </a:rPr>
              <a:t>WITHOUT A SEMANTIC LAYER</a:t>
            </a:r>
            <a:endParaRPr lang="en-US" sz="900" dirty="0"/>
          </a:p>
        </p:txBody>
      </p:sp>
      <p:sp>
        <p:nvSpPr>
          <p:cNvPr id="11" name="Text 9"/>
          <p:cNvSpPr/>
          <p:nvPr/>
        </p:nvSpPr>
        <p:spPr>
          <a:xfrm>
            <a:off x="1524000" y="5318125"/>
            <a:ext cx="7299198"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Five definitions of "active user", four of them wrong.</a:t>
            </a:r>
            <a:endParaRPr lang="en-US" sz="1950" dirty="0"/>
          </a:p>
        </p:txBody>
      </p:sp>
      <p:sp>
        <p:nvSpPr>
          <p:cNvPr id="12" name="Shape 10"/>
          <p:cNvSpPr/>
          <p:nvPr/>
        </p:nvSpPr>
        <p:spPr>
          <a:xfrm>
            <a:off x="1524000" y="5917208"/>
            <a:ext cx="76200" cy="19050"/>
          </a:xfrm>
          <a:prstGeom prst="rect">
            <a:avLst/>
          </a:prstGeom>
          <a:solidFill>
            <a:srgbClr val="C2C8D0"/>
          </a:solidFill>
          <a:ln/>
        </p:spPr>
      </p:sp>
      <p:sp>
        <p:nvSpPr>
          <p:cNvPr id="13" name="Text 11"/>
          <p:cNvSpPr/>
          <p:nvPr/>
        </p:nvSpPr>
        <p:spPr>
          <a:xfrm>
            <a:off x="1733550" y="5812433"/>
            <a:ext cx="2821510" cy="273050"/>
          </a:xfrm>
          <a:prstGeom prst="rect">
            <a:avLst/>
          </a:prstGeom>
          <a:noFill/>
          <a:ln/>
        </p:spPr>
        <p:txBody>
          <a:bodyPr wrap="square" lIns="0" tIns="0" rIns="0" bIns="0" rtlCol="0" anchor="t">
            <a:normAutofit/>
          </a:bodyPr>
          <a:lstStyle/>
          <a:p>
            <a:pPr algn="l" indent="0" marL="0">
              <a:buNone/>
            </a:pPr>
            <a:r>
              <a:rPr lang="en-US" sz="1350" dirty="0">
                <a:solidFill>
                  <a:srgbClr val="384358"/>
                </a:solidFill>
                <a:latin typeface="Manrope" pitchFamily="34" charset="0"/>
                <a:ea typeface="Manrope" pitchFamily="34" charset="-122"/>
                <a:cs typeface="Manrope" pitchFamily="34" charset="-120"/>
              </a:rPr>
              <a:t>Every analyst writes their own SQL.</a:t>
            </a:r>
            <a:endParaRPr lang="en-US" sz="1350" dirty="0"/>
          </a:p>
        </p:txBody>
      </p:sp>
      <p:sp>
        <p:nvSpPr>
          <p:cNvPr id="14" name="Shape 12"/>
          <p:cNvSpPr/>
          <p:nvPr/>
        </p:nvSpPr>
        <p:spPr>
          <a:xfrm>
            <a:off x="1524000" y="6266458"/>
            <a:ext cx="76200" cy="19050"/>
          </a:xfrm>
          <a:prstGeom prst="rect">
            <a:avLst/>
          </a:prstGeom>
          <a:solidFill>
            <a:srgbClr val="C2C8D0"/>
          </a:solidFill>
          <a:ln/>
        </p:spPr>
      </p:sp>
      <p:sp>
        <p:nvSpPr>
          <p:cNvPr id="15" name="Text 13"/>
          <p:cNvSpPr/>
          <p:nvPr/>
        </p:nvSpPr>
        <p:spPr>
          <a:xfrm>
            <a:off x="1733550" y="6161683"/>
            <a:ext cx="3228759" cy="273050"/>
          </a:xfrm>
          <a:prstGeom prst="rect">
            <a:avLst/>
          </a:prstGeom>
          <a:noFill/>
          <a:ln/>
        </p:spPr>
        <p:txBody>
          <a:bodyPr wrap="square" lIns="0" tIns="0" rIns="0" bIns="0" rtlCol="0" anchor="t">
            <a:normAutofit/>
          </a:bodyPr>
          <a:lstStyle/>
          <a:p>
            <a:pPr algn="l" indent="0" marL="0">
              <a:buNone/>
            </a:pPr>
            <a:r>
              <a:rPr lang="en-US" sz="1350" dirty="0">
                <a:solidFill>
                  <a:srgbClr val="384358"/>
                </a:solidFill>
                <a:latin typeface="Manrope" pitchFamily="34" charset="0"/>
                <a:ea typeface="Manrope" pitchFamily="34" charset="-122"/>
                <a:cs typeface="Manrope" pitchFamily="34" charset="-120"/>
              </a:rPr>
              <a:t>Two dashboards quietly disagree by 7%.</a:t>
            </a:r>
            <a:endParaRPr lang="en-US" sz="1350" dirty="0"/>
          </a:p>
        </p:txBody>
      </p:sp>
      <p:sp>
        <p:nvSpPr>
          <p:cNvPr id="16" name="Shape 14"/>
          <p:cNvSpPr/>
          <p:nvPr/>
        </p:nvSpPr>
        <p:spPr>
          <a:xfrm>
            <a:off x="1524000" y="6615708"/>
            <a:ext cx="76200" cy="19050"/>
          </a:xfrm>
          <a:prstGeom prst="rect">
            <a:avLst/>
          </a:prstGeom>
          <a:solidFill>
            <a:srgbClr val="C2C8D0"/>
          </a:solidFill>
          <a:ln/>
        </p:spPr>
      </p:sp>
      <p:sp>
        <p:nvSpPr>
          <p:cNvPr id="17" name="Text 15"/>
          <p:cNvSpPr/>
          <p:nvPr/>
        </p:nvSpPr>
        <p:spPr>
          <a:xfrm>
            <a:off x="1733550" y="6510933"/>
            <a:ext cx="2723709" cy="273050"/>
          </a:xfrm>
          <a:prstGeom prst="rect">
            <a:avLst/>
          </a:prstGeom>
          <a:noFill/>
          <a:ln/>
        </p:spPr>
        <p:txBody>
          <a:bodyPr wrap="square" lIns="0" tIns="0" rIns="0" bIns="0" rtlCol="0" anchor="t">
            <a:normAutofit/>
          </a:bodyPr>
          <a:lstStyle/>
          <a:p>
            <a:pPr algn="l" indent="0" marL="0">
              <a:buNone/>
            </a:pPr>
            <a:r>
              <a:rPr lang="en-US" sz="1350" dirty="0">
                <a:solidFill>
                  <a:srgbClr val="384358"/>
                </a:solidFill>
                <a:latin typeface="Manrope" pitchFamily="34" charset="0"/>
                <a:ea typeface="Manrope" pitchFamily="34" charset="-122"/>
                <a:cs typeface="Manrope" pitchFamily="34" charset="-120"/>
              </a:rPr>
              <a:t>Logic copy-pasted into 20 places.</a:t>
            </a:r>
            <a:endParaRPr lang="en-US" sz="1350" dirty="0"/>
          </a:p>
        </p:txBody>
      </p:sp>
      <p:sp>
        <p:nvSpPr>
          <p:cNvPr id="18" name="Shape 16"/>
          <p:cNvSpPr/>
          <p:nvPr/>
        </p:nvSpPr>
        <p:spPr>
          <a:xfrm>
            <a:off x="1524000" y="6964958"/>
            <a:ext cx="76200" cy="19050"/>
          </a:xfrm>
          <a:prstGeom prst="rect">
            <a:avLst/>
          </a:prstGeom>
          <a:solidFill>
            <a:srgbClr val="C2C8D0"/>
          </a:solidFill>
          <a:ln/>
        </p:spPr>
      </p:sp>
      <p:sp>
        <p:nvSpPr>
          <p:cNvPr id="19" name="Text 17"/>
          <p:cNvSpPr/>
          <p:nvPr/>
        </p:nvSpPr>
        <p:spPr>
          <a:xfrm>
            <a:off x="1733550" y="6860183"/>
            <a:ext cx="3592983" cy="273050"/>
          </a:xfrm>
          <a:prstGeom prst="rect">
            <a:avLst/>
          </a:prstGeom>
          <a:noFill/>
          <a:ln/>
        </p:spPr>
        <p:txBody>
          <a:bodyPr wrap="square" lIns="0" tIns="0" rIns="0" bIns="0" rtlCol="0" anchor="t">
            <a:normAutofit/>
          </a:bodyPr>
          <a:lstStyle/>
          <a:p>
            <a:pPr algn="l" indent="0" marL="0">
              <a:buNone/>
            </a:pPr>
            <a:r>
              <a:rPr lang="en-US" sz="1350" dirty="0">
                <a:solidFill>
                  <a:srgbClr val="384358"/>
                </a:solidFill>
                <a:latin typeface="Manrope" pitchFamily="34" charset="0"/>
                <a:ea typeface="Manrope" pitchFamily="34" charset="-122"/>
                <a:cs typeface="Manrope" pitchFamily="34" charset="-120"/>
              </a:rPr>
              <a:t>One schema change breaks reports invisibly.</a:t>
            </a:r>
            <a:endParaRPr lang="en-US" sz="1350" dirty="0"/>
          </a:p>
        </p:txBody>
      </p:sp>
      <p:sp>
        <p:nvSpPr>
          <p:cNvPr id="20" name="Shape 18"/>
          <p:cNvSpPr/>
          <p:nvPr/>
        </p:nvSpPr>
        <p:spPr>
          <a:xfrm>
            <a:off x="9372600" y="4733925"/>
            <a:ext cx="7696200" cy="2704108"/>
          </a:xfrm>
          <a:prstGeom prst="roundRect">
            <a:avLst>
              <a:gd name="adj" fmla="val 4931"/>
            </a:avLst>
          </a:prstGeom>
          <a:solidFill>
            <a:srgbClr val="384358"/>
          </a:solidFill>
          <a:ln/>
        </p:spPr>
      </p:sp>
      <p:sp>
        <p:nvSpPr>
          <p:cNvPr id="21" name="Shape 19"/>
          <p:cNvSpPr/>
          <p:nvPr/>
        </p:nvSpPr>
        <p:spPr>
          <a:xfrm>
            <a:off x="9372600" y="4733925"/>
            <a:ext cx="7696200" cy="38100"/>
          </a:xfrm>
          <a:prstGeom prst="rect">
            <a:avLst/>
          </a:prstGeom>
          <a:solidFill>
            <a:srgbClr val="FF671F"/>
          </a:solidFill>
          <a:ln/>
        </p:spPr>
      </p:sp>
      <p:sp>
        <p:nvSpPr>
          <p:cNvPr id="22" name="Text 20"/>
          <p:cNvSpPr/>
          <p:nvPr/>
        </p:nvSpPr>
        <p:spPr>
          <a:xfrm>
            <a:off x="9677400" y="5076825"/>
            <a:ext cx="7299198"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WITH LOOKER'S LOOKML MODEL</a:t>
            </a:r>
            <a:endParaRPr lang="en-US" sz="900" dirty="0"/>
          </a:p>
        </p:txBody>
      </p:sp>
      <p:sp>
        <p:nvSpPr>
          <p:cNvPr id="23" name="Text 21"/>
          <p:cNvSpPr/>
          <p:nvPr/>
        </p:nvSpPr>
        <p:spPr>
          <a:xfrm>
            <a:off x="9677400" y="5356225"/>
            <a:ext cx="7299198"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One definition, version-controlled, used everywhere.</a:t>
            </a:r>
            <a:endParaRPr lang="en-US" sz="1950" dirty="0"/>
          </a:p>
        </p:txBody>
      </p:sp>
      <p:sp>
        <p:nvSpPr>
          <p:cNvPr id="24" name="Shape 22"/>
          <p:cNvSpPr/>
          <p:nvPr/>
        </p:nvSpPr>
        <p:spPr>
          <a:xfrm>
            <a:off x="9677400" y="5926733"/>
            <a:ext cx="76200" cy="76200"/>
          </a:xfrm>
          <a:prstGeom prst="ellipse">
            <a:avLst/>
          </a:prstGeom>
          <a:solidFill>
            <a:srgbClr val="FF671F"/>
          </a:solidFill>
          <a:ln/>
        </p:spPr>
      </p:sp>
      <p:sp>
        <p:nvSpPr>
          <p:cNvPr id="25" name="Text 23"/>
          <p:cNvSpPr/>
          <p:nvPr/>
        </p:nvSpPr>
        <p:spPr>
          <a:xfrm>
            <a:off x="9886950" y="5850533"/>
            <a:ext cx="2951299" cy="273050"/>
          </a:xfrm>
          <a:prstGeom prst="rect">
            <a:avLst/>
          </a:prstGeom>
          <a:noFill/>
          <a:ln/>
        </p:spPr>
        <p:txBody>
          <a:bodyPr wrap="square" lIns="0" tIns="0" rIns="0" bIns="0" rtlCol="0" anchor="t">
            <a:normAutofit/>
          </a:bodyPr>
          <a:lstStyle/>
          <a:p>
            <a:pPr algn="l" indent="0" marL="0">
              <a:buNone/>
            </a:pPr>
            <a:r>
              <a:rPr lang="en-US" sz="1350" dirty="0">
                <a:solidFill>
                  <a:srgbClr val="FFFFFF">
                    <a:alpha val="86000"/>
                  </a:srgbClr>
                </a:solidFill>
                <a:latin typeface="Manrope" pitchFamily="34" charset="0"/>
                <a:ea typeface="Manrope" pitchFamily="34" charset="-122"/>
                <a:cs typeface="Manrope" pitchFamily="34" charset="-120"/>
              </a:rPr>
              <a:t>Business logic lives in LookML, in Git.</a:t>
            </a:r>
            <a:endParaRPr lang="en-US" sz="1350" dirty="0"/>
          </a:p>
        </p:txBody>
      </p:sp>
      <p:sp>
        <p:nvSpPr>
          <p:cNvPr id="26" name="Shape 24"/>
          <p:cNvSpPr/>
          <p:nvPr/>
        </p:nvSpPr>
        <p:spPr>
          <a:xfrm>
            <a:off x="9677400" y="6275983"/>
            <a:ext cx="76200" cy="76200"/>
          </a:xfrm>
          <a:prstGeom prst="ellipse">
            <a:avLst/>
          </a:prstGeom>
          <a:solidFill>
            <a:srgbClr val="FF671F"/>
          </a:solidFill>
          <a:ln/>
        </p:spPr>
      </p:sp>
      <p:sp>
        <p:nvSpPr>
          <p:cNvPr id="27" name="Text 25"/>
          <p:cNvSpPr/>
          <p:nvPr/>
        </p:nvSpPr>
        <p:spPr>
          <a:xfrm>
            <a:off x="9886950" y="6199783"/>
            <a:ext cx="2902960" cy="273050"/>
          </a:xfrm>
          <a:prstGeom prst="rect">
            <a:avLst/>
          </a:prstGeom>
          <a:noFill/>
          <a:ln/>
        </p:spPr>
        <p:txBody>
          <a:bodyPr wrap="square" lIns="0" tIns="0" rIns="0" bIns="0" rtlCol="0" anchor="t">
            <a:normAutofit/>
          </a:bodyPr>
          <a:lstStyle/>
          <a:p>
            <a:pPr algn="l" indent="0" marL="0">
              <a:buNone/>
            </a:pPr>
            <a:r>
              <a:rPr lang="en-US" sz="1350" dirty="0">
                <a:solidFill>
                  <a:srgbClr val="FFFFFF">
                    <a:alpha val="86000"/>
                  </a:srgbClr>
                </a:solidFill>
                <a:latin typeface="Manrope" pitchFamily="34" charset="0"/>
                <a:ea typeface="Manrope" pitchFamily="34" charset="-122"/>
                <a:cs typeface="Manrope" pitchFamily="34" charset="-120"/>
              </a:rPr>
              <a:t>Every chart calls the same measure.</a:t>
            </a:r>
            <a:endParaRPr lang="en-US" sz="1350" dirty="0"/>
          </a:p>
        </p:txBody>
      </p:sp>
      <p:sp>
        <p:nvSpPr>
          <p:cNvPr id="28" name="Shape 26"/>
          <p:cNvSpPr/>
          <p:nvPr/>
        </p:nvSpPr>
        <p:spPr>
          <a:xfrm>
            <a:off x="9677400" y="6625233"/>
            <a:ext cx="76200" cy="76200"/>
          </a:xfrm>
          <a:prstGeom prst="ellipse">
            <a:avLst/>
          </a:prstGeom>
          <a:solidFill>
            <a:srgbClr val="FF671F"/>
          </a:solidFill>
          <a:ln/>
        </p:spPr>
      </p:sp>
      <p:sp>
        <p:nvSpPr>
          <p:cNvPr id="29" name="Text 27"/>
          <p:cNvSpPr/>
          <p:nvPr/>
        </p:nvSpPr>
        <p:spPr>
          <a:xfrm>
            <a:off x="9886950" y="6549033"/>
            <a:ext cx="3173676" cy="273050"/>
          </a:xfrm>
          <a:prstGeom prst="rect">
            <a:avLst/>
          </a:prstGeom>
          <a:noFill/>
          <a:ln/>
        </p:spPr>
        <p:txBody>
          <a:bodyPr wrap="square" lIns="0" tIns="0" rIns="0" bIns="0" rtlCol="0" anchor="t">
            <a:normAutofit/>
          </a:bodyPr>
          <a:lstStyle/>
          <a:p>
            <a:pPr algn="l" indent="0" marL="0">
              <a:buNone/>
            </a:pPr>
            <a:r>
              <a:rPr lang="en-US" sz="1350" dirty="0">
                <a:solidFill>
                  <a:srgbClr val="FFFFFF">
                    <a:alpha val="86000"/>
                  </a:srgbClr>
                </a:solidFill>
                <a:latin typeface="Manrope" pitchFamily="34" charset="0"/>
                <a:ea typeface="Manrope" pitchFamily="34" charset="-122"/>
                <a:cs typeface="Manrope" pitchFamily="34" charset="-120"/>
              </a:rPr>
              <a:t>Change once → all dashboards update.</a:t>
            </a:r>
            <a:endParaRPr lang="en-US" sz="1350" dirty="0"/>
          </a:p>
        </p:txBody>
      </p:sp>
      <p:sp>
        <p:nvSpPr>
          <p:cNvPr id="30" name="Shape 28"/>
          <p:cNvSpPr/>
          <p:nvPr/>
        </p:nvSpPr>
        <p:spPr>
          <a:xfrm>
            <a:off x="9677400" y="6974483"/>
            <a:ext cx="76200" cy="76200"/>
          </a:xfrm>
          <a:prstGeom prst="ellipse">
            <a:avLst/>
          </a:prstGeom>
          <a:solidFill>
            <a:srgbClr val="FF671F"/>
          </a:solidFill>
          <a:ln/>
        </p:spPr>
      </p:sp>
      <p:sp>
        <p:nvSpPr>
          <p:cNvPr id="31" name="Text 29"/>
          <p:cNvSpPr/>
          <p:nvPr/>
        </p:nvSpPr>
        <p:spPr>
          <a:xfrm>
            <a:off x="9886950" y="6898283"/>
            <a:ext cx="4941042" cy="273050"/>
          </a:xfrm>
          <a:prstGeom prst="rect">
            <a:avLst/>
          </a:prstGeom>
          <a:noFill/>
          <a:ln/>
        </p:spPr>
        <p:txBody>
          <a:bodyPr wrap="square" lIns="0" tIns="0" rIns="0" bIns="0" rtlCol="0" anchor="t">
            <a:normAutofit/>
          </a:bodyPr>
          <a:lstStyle/>
          <a:p>
            <a:pPr algn="l" indent="0" marL="0">
              <a:buNone/>
            </a:pPr>
            <a:r>
              <a:rPr lang="en-US" sz="1350" dirty="0">
                <a:solidFill>
                  <a:srgbClr val="FFFFFF">
                    <a:alpha val="86000"/>
                  </a:srgbClr>
                </a:solidFill>
                <a:latin typeface="Manrope" pitchFamily="34" charset="0"/>
                <a:ea typeface="Manrope" pitchFamily="34" charset="-122"/>
                <a:cs typeface="Manrope" pitchFamily="34" charset="-120"/>
              </a:rPr>
              <a:t>Pull requests review business logic the way they review code.</a:t>
            </a:r>
            <a:endParaRPr lang="en-US" sz="1350" dirty="0"/>
          </a:p>
        </p:txBody>
      </p:sp>
      <p:sp>
        <p:nvSpPr>
          <p:cNvPr id="32" name="Text 30"/>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3" name="Text 31"/>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11 / 60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THE FOUR NOUNS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Everything in Looker is one of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four things</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Learn these four words and the rest of the product makes sense. They build on each other — every Dashboard is made of Looks, every Look is built from an Explore, every Explore is defined in a Model.</a:t>
            </a:r>
            <a:endParaRPr lang="en-US" sz="1650" dirty="0"/>
          </a:p>
        </p:txBody>
      </p:sp>
      <p:sp>
        <p:nvSpPr>
          <p:cNvPr id="9" name="Shape 7"/>
          <p:cNvSpPr/>
          <p:nvPr/>
        </p:nvSpPr>
        <p:spPr>
          <a:xfrm>
            <a:off x="1219200" y="4267696"/>
            <a:ext cx="3790950" cy="2580481"/>
          </a:xfrm>
          <a:prstGeom prst="roundRect">
            <a:avLst>
              <a:gd name="adj" fmla="val 5168"/>
            </a:avLst>
          </a:prstGeom>
          <a:solidFill>
            <a:srgbClr val="1B1F2A"/>
          </a:solidFill>
          <a:ln/>
        </p:spPr>
      </p:sp>
      <p:sp>
        <p:nvSpPr>
          <p:cNvPr id="10" name="Shape 8"/>
          <p:cNvSpPr/>
          <p:nvPr/>
        </p:nvSpPr>
        <p:spPr>
          <a:xfrm>
            <a:off x="1219200" y="4267696"/>
            <a:ext cx="3790950" cy="38100"/>
          </a:xfrm>
          <a:prstGeom prst="rect">
            <a:avLst/>
          </a:prstGeom>
          <a:solidFill>
            <a:srgbClr val="FF671F"/>
          </a:solidFill>
          <a:ln/>
        </p:spPr>
      </p:sp>
      <p:sp>
        <p:nvSpPr>
          <p:cNvPr id="11" name="Text 9"/>
          <p:cNvSpPr/>
          <p:nvPr/>
        </p:nvSpPr>
        <p:spPr>
          <a:xfrm>
            <a:off x="152400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01 · THE MAP</a:t>
            </a:r>
            <a:endParaRPr lang="en-US" sz="900" dirty="0"/>
          </a:p>
        </p:txBody>
      </p:sp>
      <p:sp>
        <p:nvSpPr>
          <p:cNvPr id="12" name="Text 10"/>
          <p:cNvSpPr/>
          <p:nvPr/>
        </p:nvSpPr>
        <p:spPr>
          <a:xfrm>
            <a:off x="1524000" y="48899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Model</a:t>
            </a:r>
            <a:endParaRPr lang="en-US" sz="1950" dirty="0"/>
          </a:p>
        </p:txBody>
      </p:sp>
      <p:sp>
        <p:nvSpPr>
          <p:cNvPr id="13" name="Text 11"/>
          <p:cNvSpPr/>
          <p:nvPr/>
        </p:nvSpPr>
        <p:spPr>
          <a:xfrm>
            <a:off x="1524000" y="53081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FFFFFF">
                    <a:alpha val="78000"/>
                  </a:srgbClr>
                </a:solidFill>
                <a:latin typeface="Manrope" pitchFamily="34" charset="0"/>
                <a:ea typeface="Manrope" pitchFamily="34" charset="-122"/>
                <a:cs typeface="Manrope" pitchFamily="34" charset="-120"/>
              </a:rPr>
              <a:t>A LookML file. Tables become Views; Views combine into Explores. Written by a Looker Developer.</a:t>
            </a:r>
            <a:endParaRPr lang="en-US" sz="1275" dirty="0"/>
          </a:p>
        </p:txBody>
      </p:sp>
      <p:sp>
        <p:nvSpPr>
          <p:cNvPr id="14" name="Text 12"/>
          <p:cNvSpPr/>
          <p:nvPr/>
        </p:nvSpPr>
        <p:spPr>
          <a:xfrm>
            <a:off x="1524000" y="6170116"/>
            <a:ext cx="3276791" cy="411361"/>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FFFFFF">
                    <a:alpha val="55000"/>
                  </a:srgbClr>
                </a:solidFill>
                <a:latin typeface="Manrope" pitchFamily="34" charset="0"/>
                <a:ea typeface="Manrope" pitchFamily="34" charset="-122"/>
                <a:cs typeface="Manrope" pitchFamily="34" charset="-120"/>
              </a:rPr>
              <a:t>Sometimes called the "semantic model" — the source of every metric.</a:t>
            </a:r>
            <a:endParaRPr lang="en-US" sz="1050" dirty="0"/>
          </a:p>
        </p:txBody>
      </p:sp>
      <p:sp>
        <p:nvSpPr>
          <p:cNvPr id="15" name="Shape 13"/>
          <p:cNvSpPr/>
          <p:nvPr/>
        </p:nvSpPr>
        <p:spPr>
          <a:xfrm>
            <a:off x="5238750" y="4267696"/>
            <a:ext cx="3790950" cy="2580481"/>
          </a:xfrm>
          <a:prstGeom prst="roundRect">
            <a:avLst>
              <a:gd name="adj" fmla="val 5168"/>
            </a:avLst>
          </a:prstGeom>
          <a:solidFill>
            <a:srgbClr val="1B1F2A"/>
          </a:solidFill>
          <a:ln/>
        </p:spPr>
      </p:sp>
      <p:sp>
        <p:nvSpPr>
          <p:cNvPr id="16" name="Shape 14"/>
          <p:cNvSpPr/>
          <p:nvPr/>
        </p:nvSpPr>
        <p:spPr>
          <a:xfrm>
            <a:off x="5238750" y="4267696"/>
            <a:ext cx="3790950" cy="38100"/>
          </a:xfrm>
          <a:prstGeom prst="rect">
            <a:avLst/>
          </a:prstGeom>
          <a:solidFill>
            <a:srgbClr val="FF671F"/>
          </a:solidFill>
          <a:ln/>
        </p:spPr>
      </p:sp>
      <p:sp>
        <p:nvSpPr>
          <p:cNvPr id="17" name="Text 15"/>
          <p:cNvSpPr/>
          <p:nvPr/>
        </p:nvSpPr>
        <p:spPr>
          <a:xfrm>
            <a:off x="554355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02 · THE QUERY</a:t>
            </a:r>
            <a:endParaRPr lang="en-US" sz="900" dirty="0"/>
          </a:p>
        </p:txBody>
      </p:sp>
      <p:sp>
        <p:nvSpPr>
          <p:cNvPr id="18" name="Text 16"/>
          <p:cNvSpPr/>
          <p:nvPr/>
        </p:nvSpPr>
        <p:spPr>
          <a:xfrm>
            <a:off x="5543550" y="48899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Explore</a:t>
            </a:r>
            <a:endParaRPr lang="en-US" sz="1950" dirty="0"/>
          </a:p>
        </p:txBody>
      </p:sp>
      <p:sp>
        <p:nvSpPr>
          <p:cNvPr id="19" name="Text 17"/>
          <p:cNvSpPr/>
          <p:nvPr/>
        </p:nvSpPr>
        <p:spPr>
          <a:xfrm>
            <a:off x="5543550" y="53081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FFFFFF">
                    <a:alpha val="78000"/>
                  </a:srgbClr>
                </a:solidFill>
                <a:latin typeface="Manrope" pitchFamily="34" charset="0"/>
                <a:ea typeface="Manrope" pitchFamily="34" charset="-122"/>
                <a:cs typeface="Manrope" pitchFamily="34" charset="-120"/>
              </a:rPr>
              <a:t>A self-serve query surface. Pick dimensions and measures from the field picker; Looker generates SQL.</a:t>
            </a:r>
            <a:endParaRPr lang="en-US" sz="1275" dirty="0"/>
          </a:p>
        </p:txBody>
      </p:sp>
      <p:sp>
        <p:nvSpPr>
          <p:cNvPr id="20" name="Text 18"/>
          <p:cNvSpPr/>
          <p:nvPr/>
        </p:nvSpPr>
        <p:spPr>
          <a:xfrm>
            <a:off x="5543550" y="6170116"/>
            <a:ext cx="3276791" cy="411361"/>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FFFFFF">
                    <a:alpha val="55000"/>
                  </a:srgbClr>
                </a:solidFill>
                <a:latin typeface="Manrope" pitchFamily="34" charset="0"/>
                <a:ea typeface="Manrope" pitchFamily="34" charset="-122"/>
                <a:cs typeface="Manrope" pitchFamily="34" charset="-120"/>
              </a:rPr>
              <a:t>"Order analytics", "Web sessions", "Support tickets" — usually one Explore per topic.</a:t>
            </a:r>
            <a:endParaRPr lang="en-US" sz="1050" dirty="0"/>
          </a:p>
        </p:txBody>
      </p:sp>
      <p:sp>
        <p:nvSpPr>
          <p:cNvPr id="21" name="Shape 19"/>
          <p:cNvSpPr/>
          <p:nvPr/>
        </p:nvSpPr>
        <p:spPr>
          <a:xfrm>
            <a:off x="9258300" y="4267696"/>
            <a:ext cx="3790950" cy="2580481"/>
          </a:xfrm>
          <a:prstGeom prst="roundRect">
            <a:avLst>
              <a:gd name="adj" fmla="val 5168"/>
            </a:avLst>
          </a:prstGeom>
          <a:solidFill>
            <a:srgbClr val="1B1F2A"/>
          </a:solidFill>
          <a:ln/>
        </p:spPr>
      </p:sp>
      <p:sp>
        <p:nvSpPr>
          <p:cNvPr id="22" name="Shape 20"/>
          <p:cNvSpPr/>
          <p:nvPr/>
        </p:nvSpPr>
        <p:spPr>
          <a:xfrm>
            <a:off x="9258300" y="4267696"/>
            <a:ext cx="3790950" cy="38100"/>
          </a:xfrm>
          <a:prstGeom prst="rect">
            <a:avLst/>
          </a:prstGeom>
          <a:solidFill>
            <a:srgbClr val="FF671F"/>
          </a:solidFill>
          <a:ln/>
        </p:spPr>
      </p:sp>
      <p:sp>
        <p:nvSpPr>
          <p:cNvPr id="23" name="Text 21"/>
          <p:cNvSpPr/>
          <p:nvPr/>
        </p:nvSpPr>
        <p:spPr>
          <a:xfrm>
            <a:off x="956310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03 · THE CHART</a:t>
            </a:r>
            <a:endParaRPr lang="en-US" sz="900" dirty="0"/>
          </a:p>
        </p:txBody>
      </p:sp>
      <p:sp>
        <p:nvSpPr>
          <p:cNvPr id="24" name="Text 22"/>
          <p:cNvSpPr/>
          <p:nvPr/>
        </p:nvSpPr>
        <p:spPr>
          <a:xfrm>
            <a:off x="9563100" y="48899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Look</a:t>
            </a:r>
            <a:endParaRPr lang="en-US" sz="1950" dirty="0"/>
          </a:p>
        </p:txBody>
      </p:sp>
      <p:sp>
        <p:nvSpPr>
          <p:cNvPr id="25" name="Text 23"/>
          <p:cNvSpPr/>
          <p:nvPr/>
        </p:nvSpPr>
        <p:spPr>
          <a:xfrm>
            <a:off x="9563100" y="53081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FFFFFF">
                    <a:alpha val="78000"/>
                  </a:srgbClr>
                </a:solidFill>
                <a:latin typeface="Manrope" pitchFamily="34" charset="0"/>
                <a:ea typeface="Manrope" pitchFamily="34" charset="-122"/>
                <a:cs typeface="Manrope" pitchFamily="34" charset="-120"/>
              </a:rPr>
              <a:t>A saved query plus its visualization. A reusable chart you can drop into multiple dashboards or schedule on its own.</a:t>
            </a:r>
            <a:endParaRPr lang="en-US" sz="1275" dirty="0"/>
          </a:p>
        </p:txBody>
      </p:sp>
      <p:sp>
        <p:nvSpPr>
          <p:cNvPr id="26" name="Text 24"/>
          <p:cNvSpPr/>
          <p:nvPr/>
        </p:nvSpPr>
        <p:spPr>
          <a:xfrm>
            <a:off x="9563100" y="6170116"/>
            <a:ext cx="3276791" cy="411361"/>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FFFFFF">
                    <a:alpha val="55000"/>
                  </a:srgbClr>
                </a:solidFill>
                <a:latin typeface="Manrope" pitchFamily="34" charset="0"/>
                <a:ea typeface="Manrope" pitchFamily="34" charset="-122"/>
                <a:cs typeface="Manrope" pitchFamily="34" charset="-120"/>
              </a:rPr>
              <a:t>Looks behave like single-tile dashboards — one chart, one URL.</a:t>
            </a:r>
            <a:endParaRPr lang="en-US" sz="1050" dirty="0"/>
          </a:p>
        </p:txBody>
      </p:sp>
      <p:sp>
        <p:nvSpPr>
          <p:cNvPr id="27" name="Shape 25"/>
          <p:cNvSpPr/>
          <p:nvPr/>
        </p:nvSpPr>
        <p:spPr>
          <a:xfrm>
            <a:off x="13277850" y="4267696"/>
            <a:ext cx="3790950" cy="2580481"/>
          </a:xfrm>
          <a:prstGeom prst="roundRect">
            <a:avLst>
              <a:gd name="adj" fmla="val 5168"/>
            </a:avLst>
          </a:prstGeom>
          <a:solidFill>
            <a:srgbClr val="1B1F2A"/>
          </a:solidFill>
          <a:ln/>
        </p:spPr>
      </p:sp>
      <p:sp>
        <p:nvSpPr>
          <p:cNvPr id="28" name="Shape 26"/>
          <p:cNvSpPr/>
          <p:nvPr/>
        </p:nvSpPr>
        <p:spPr>
          <a:xfrm>
            <a:off x="13277850" y="4267696"/>
            <a:ext cx="3790950" cy="38100"/>
          </a:xfrm>
          <a:prstGeom prst="rect">
            <a:avLst/>
          </a:prstGeom>
          <a:solidFill>
            <a:srgbClr val="FF671F"/>
          </a:solidFill>
          <a:ln/>
        </p:spPr>
      </p:sp>
      <p:sp>
        <p:nvSpPr>
          <p:cNvPr id="29" name="Text 27"/>
          <p:cNvSpPr/>
          <p:nvPr/>
        </p:nvSpPr>
        <p:spPr>
          <a:xfrm>
            <a:off x="1358265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04 · THE PAGE</a:t>
            </a:r>
            <a:endParaRPr lang="en-US" sz="900" dirty="0"/>
          </a:p>
        </p:txBody>
      </p:sp>
      <p:sp>
        <p:nvSpPr>
          <p:cNvPr id="30" name="Text 28"/>
          <p:cNvSpPr/>
          <p:nvPr/>
        </p:nvSpPr>
        <p:spPr>
          <a:xfrm>
            <a:off x="13582650" y="48899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Dashboard</a:t>
            </a:r>
            <a:endParaRPr lang="en-US" sz="1950" dirty="0"/>
          </a:p>
        </p:txBody>
      </p:sp>
      <p:sp>
        <p:nvSpPr>
          <p:cNvPr id="31" name="Text 29"/>
          <p:cNvSpPr/>
          <p:nvPr/>
        </p:nvSpPr>
        <p:spPr>
          <a:xfrm>
            <a:off x="13582650" y="53081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FFFFFF">
                    <a:alpha val="78000"/>
                  </a:srgbClr>
                </a:solidFill>
                <a:latin typeface="Manrope" pitchFamily="34" charset="0"/>
                <a:ea typeface="Manrope" pitchFamily="34" charset="-122"/>
                <a:cs typeface="Manrope" pitchFamily="34" charset="-120"/>
              </a:rPr>
              <a:t>A collection of tiles (Looks or Explore-based queries) arranged on a canvas with shared filters.</a:t>
            </a:r>
            <a:endParaRPr lang="en-US" sz="1275" dirty="0"/>
          </a:p>
        </p:txBody>
      </p:sp>
      <p:sp>
        <p:nvSpPr>
          <p:cNvPr id="32" name="Text 30"/>
          <p:cNvSpPr/>
          <p:nvPr/>
        </p:nvSpPr>
        <p:spPr>
          <a:xfrm>
            <a:off x="13582650" y="6170116"/>
            <a:ext cx="3276791" cy="411361"/>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FFFFFF">
                    <a:alpha val="55000"/>
                  </a:srgbClr>
                </a:solidFill>
                <a:latin typeface="Manrope" pitchFamily="34" charset="0"/>
                <a:ea typeface="Manrope" pitchFamily="34" charset="-122"/>
                <a:cs typeface="Manrope" pitchFamily="34" charset="-120"/>
              </a:rPr>
              <a:t>What stakeholders actually look at. The unit you share, schedule and embed.</a:t>
            </a:r>
            <a:endParaRPr lang="en-US" sz="1050" dirty="0"/>
          </a:p>
        </p:txBody>
      </p:sp>
      <p:sp>
        <p:nvSpPr>
          <p:cNvPr id="33" name="Shape 31"/>
          <p:cNvSpPr/>
          <p:nvPr/>
        </p:nvSpPr>
        <p:spPr>
          <a:xfrm>
            <a:off x="1219200" y="7152977"/>
            <a:ext cx="15849600" cy="736600"/>
          </a:xfrm>
          <a:prstGeom prst="roundRect">
            <a:avLst>
              <a:gd name="adj" fmla="val 18103"/>
            </a:avLst>
          </a:prstGeom>
          <a:solidFill>
            <a:srgbClr val="F1F2F4"/>
          </a:solidFill>
          <a:ln/>
        </p:spPr>
      </p:sp>
      <p:sp>
        <p:nvSpPr>
          <p:cNvPr id="34" name="Shape 32"/>
          <p:cNvSpPr/>
          <p:nvPr/>
        </p:nvSpPr>
        <p:spPr>
          <a:xfrm>
            <a:off x="1524000" y="7381577"/>
            <a:ext cx="595213" cy="279400"/>
          </a:xfrm>
          <a:prstGeom prst="roundRect">
            <a:avLst>
              <a:gd name="adj" fmla="val 20455"/>
            </a:avLst>
          </a:prstGeom>
          <a:solidFill>
            <a:srgbClr val="FFE3D2"/>
          </a:solidFill>
          <a:ln/>
        </p:spPr>
      </p:sp>
      <p:sp>
        <p:nvSpPr>
          <p:cNvPr id="35" name="Text 33"/>
          <p:cNvSpPr/>
          <p:nvPr/>
        </p:nvSpPr>
        <p:spPr>
          <a:xfrm>
            <a:off x="1638300" y="7438727"/>
            <a:ext cx="442813"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671F"/>
                </a:solidFill>
                <a:latin typeface="JetBrains Mono" pitchFamily="34" charset="0"/>
                <a:ea typeface="JetBrains Mono" pitchFamily="34" charset="-122"/>
                <a:cs typeface="JetBrains Mono" pitchFamily="34" charset="-120"/>
              </a:rPr>
              <a:t>EXAM</a:t>
            </a:r>
            <a:endParaRPr lang="en-US" sz="975" dirty="0"/>
          </a:p>
        </p:txBody>
      </p:sp>
      <p:sp>
        <p:nvSpPr>
          <p:cNvPr id="36" name="Text 34"/>
          <p:cNvSpPr/>
          <p:nvPr/>
        </p:nvSpPr>
        <p:spPr>
          <a:xfrm>
            <a:off x="2347813" y="7403803"/>
            <a:ext cx="1797645" cy="273050"/>
          </a:xfrm>
          <a:prstGeom prst="rect">
            <a:avLst/>
          </a:prstGeom>
          <a:noFill/>
          <a:ln/>
        </p:spPr>
        <p:txBody>
          <a:bodyPr wrap="square" lIns="0" tIns="0" rIns="0" bIns="0" rtlCol="0" anchor="t">
            <a:normAutofit/>
          </a:bodyPr>
          <a:lstStyle/>
          <a:p>
            <a:pPr algn="l" indent="0" marL="0">
              <a:buNone/>
            </a:pPr>
            <a:r>
              <a:rPr lang="en-US" sz="1350" dirty="0">
                <a:solidFill>
                  <a:srgbClr val="384358"/>
                </a:solidFill>
                <a:latin typeface="Manrope" pitchFamily="34" charset="0"/>
                <a:ea typeface="Manrope" pitchFamily="34" charset="-122"/>
                <a:cs typeface="Manrope" pitchFamily="34" charset="-120"/>
              </a:rPr>
              <a:t>Memorise the chain —</a:t>
            </a:r>
            <a:endParaRPr lang="en-US" sz="1350" dirty="0"/>
          </a:p>
        </p:txBody>
      </p:sp>
      <p:sp>
        <p:nvSpPr>
          <p:cNvPr id="37" name="Text 35"/>
          <p:cNvSpPr/>
          <p:nvPr/>
        </p:nvSpPr>
        <p:spPr>
          <a:xfrm>
            <a:off x="4297859" y="7403803"/>
            <a:ext cx="3252775" cy="273050"/>
          </a:xfrm>
          <a:prstGeom prst="rect">
            <a:avLst/>
          </a:prstGeom>
          <a:noFill/>
          <a:ln/>
        </p:spPr>
        <p:txBody>
          <a:bodyPr wrap="square" lIns="25400" tIns="25400" rIns="25400" bIns="25400" rtlCol="0" anchor="t">
            <a:normAutofit/>
          </a:bodyPr>
          <a:lstStyle/>
          <a:p>
            <a:pPr algn="l" indent="0" marL="0">
              <a:buNone/>
            </a:pPr>
            <a:r>
              <a:rPr lang="en-US" sz="1350" b="1" dirty="0">
                <a:solidFill>
                  <a:srgbClr val="1B1F2A"/>
                </a:solidFill>
                <a:latin typeface="Manrope" pitchFamily="34" charset="0"/>
                <a:ea typeface="Manrope" pitchFamily="34" charset="-122"/>
                <a:cs typeface="Manrope" pitchFamily="34" charset="-120"/>
              </a:rPr>
              <a:t>Model → Explore → Look → Dashboard</a:t>
            </a:r>
            <a:endParaRPr lang="en-US" sz="1350" dirty="0"/>
          </a:p>
        </p:txBody>
      </p:sp>
      <p:sp>
        <p:nvSpPr>
          <p:cNvPr id="38" name="Text 36"/>
          <p:cNvSpPr/>
          <p:nvPr/>
        </p:nvSpPr>
        <p:spPr>
          <a:xfrm>
            <a:off x="7684493" y="7403803"/>
            <a:ext cx="4754841" cy="273050"/>
          </a:xfrm>
          <a:prstGeom prst="rect">
            <a:avLst/>
          </a:prstGeom>
          <a:noFill/>
          <a:ln/>
        </p:spPr>
        <p:txBody>
          <a:bodyPr wrap="square" lIns="0" tIns="0" rIns="0" bIns="0" rtlCol="0" anchor="t">
            <a:normAutofit/>
          </a:bodyPr>
          <a:lstStyle/>
          <a:p>
            <a:pPr algn="l" indent="0" marL="0">
              <a:buNone/>
            </a:pPr>
            <a:r>
              <a:rPr lang="en-US" sz="1350" dirty="0">
                <a:solidFill>
                  <a:srgbClr val="384358"/>
                </a:solidFill>
                <a:latin typeface="Manrope" pitchFamily="34" charset="0"/>
                <a:ea typeface="Manrope" pitchFamily="34" charset="-122"/>
                <a:cs typeface="Manrope" pitchFamily="34" charset="-120"/>
              </a:rPr>
              <a:t>. The certification's wording will sound natural once it does.</a:t>
            </a:r>
            <a:endParaRPr lang="en-US" sz="1350" dirty="0"/>
          </a:p>
        </p:txBody>
      </p:sp>
      <p:sp>
        <p:nvSpPr>
          <p:cNvPr id="39" name="Text 3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0" name="Text 3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12 / 60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WHO DOES WHAT</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Three personas, one platform.</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Looker's permissions model is rich, but on the certification you'll see three archetypes. Each persona spends most of their time in a different surface of the product.</a:t>
            </a:r>
            <a:endParaRPr lang="en-US" sz="1650" dirty="0"/>
          </a:p>
        </p:txBody>
      </p:sp>
      <p:sp>
        <p:nvSpPr>
          <p:cNvPr id="9" name="Shape 7"/>
          <p:cNvSpPr/>
          <p:nvPr/>
        </p:nvSpPr>
        <p:spPr>
          <a:xfrm>
            <a:off x="1219200" y="4267696"/>
            <a:ext cx="5080000" cy="2956520"/>
          </a:xfrm>
          <a:prstGeom prst="roundRect">
            <a:avLst>
              <a:gd name="adj" fmla="val 4510"/>
            </a:avLst>
          </a:prstGeom>
          <a:solidFill>
            <a:srgbClr val="F1F2F4"/>
          </a:solidFill>
          <a:ln/>
        </p:spPr>
      </p:sp>
      <p:sp>
        <p:nvSpPr>
          <p:cNvPr id="10" name="Shape 8"/>
          <p:cNvSpPr/>
          <p:nvPr/>
        </p:nvSpPr>
        <p:spPr>
          <a:xfrm>
            <a:off x="1219200" y="4267696"/>
            <a:ext cx="5080000" cy="38100"/>
          </a:xfrm>
          <a:prstGeom prst="rect">
            <a:avLst/>
          </a:prstGeom>
          <a:solidFill>
            <a:srgbClr val="FF671F"/>
          </a:solidFill>
          <a:ln/>
        </p:spPr>
      </p:sp>
      <p:sp>
        <p:nvSpPr>
          <p:cNvPr id="11" name="Text 9"/>
          <p:cNvSpPr/>
          <p:nvPr/>
        </p:nvSpPr>
        <p:spPr>
          <a:xfrm>
            <a:off x="1524000" y="4610596"/>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PERSONA 01</a:t>
            </a:r>
            <a:endParaRPr lang="en-US" sz="900" dirty="0"/>
          </a:p>
        </p:txBody>
      </p:sp>
      <p:sp>
        <p:nvSpPr>
          <p:cNvPr id="12" name="Text 10"/>
          <p:cNvSpPr/>
          <p:nvPr/>
        </p:nvSpPr>
        <p:spPr>
          <a:xfrm>
            <a:off x="1524000" y="4889996"/>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Looker Developer</a:t>
            </a:r>
            <a:endParaRPr lang="en-US" sz="1950" dirty="0"/>
          </a:p>
        </p:txBody>
      </p:sp>
      <p:sp>
        <p:nvSpPr>
          <p:cNvPr id="13" name="Text 11"/>
          <p:cNvSpPr/>
          <p:nvPr/>
        </p:nvSpPr>
        <p:spPr>
          <a:xfrm>
            <a:off x="1524000" y="5308104"/>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Works in the LookML IDE. Defines Views, Explores, Models. Commits LookML to Git, runs the validator, deploys releases.</a:t>
            </a:r>
            <a:endParaRPr lang="en-US" sz="1275" dirty="0"/>
          </a:p>
        </p:txBody>
      </p:sp>
      <p:sp>
        <p:nvSpPr>
          <p:cNvPr id="14" name="Shape 12"/>
          <p:cNvSpPr/>
          <p:nvPr/>
        </p:nvSpPr>
        <p:spPr>
          <a:xfrm>
            <a:off x="1524000" y="6060579"/>
            <a:ext cx="870049" cy="279400"/>
          </a:xfrm>
          <a:prstGeom prst="roundRect">
            <a:avLst>
              <a:gd name="adj" fmla="val 20455"/>
            </a:avLst>
          </a:prstGeom>
          <a:solidFill>
            <a:srgbClr val="F1F2F4"/>
          </a:solidFill>
          <a:ln/>
        </p:spPr>
      </p:sp>
      <p:sp>
        <p:nvSpPr>
          <p:cNvPr id="15" name="Text 13"/>
          <p:cNvSpPr/>
          <p:nvPr/>
        </p:nvSpPr>
        <p:spPr>
          <a:xfrm>
            <a:off x="1638300" y="6117729"/>
            <a:ext cx="717649"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DEVELOP</a:t>
            </a:r>
            <a:endParaRPr lang="en-US" sz="975" dirty="0"/>
          </a:p>
        </p:txBody>
      </p:sp>
      <p:sp>
        <p:nvSpPr>
          <p:cNvPr id="16" name="Shape 14"/>
          <p:cNvSpPr/>
          <p:nvPr/>
        </p:nvSpPr>
        <p:spPr>
          <a:xfrm>
            <a:off x="2451199" y="6060579"/>
            <a:ext cx="2061270" cy="279400"/>
          </a:xfrm>
          <a:prstGeom prst="roundRect">
            <a:avLst>
              <a:gd name="adj" fmla="val 20455"/>
            </a:avLst>
          </a:prstGeom>
          <a:solidFill>
            <a:srgbClr val="F1F2F4"/>
          </a:solidFill>
          <a:ln/>
        </p:spPr>
      </p:sp>
      <p:sp>
        <p:nvSpPr>
          <p:cNvPr id="17" name="Text 15"/>
          <p:cNvSpPr/>
          <p:nvPr/>
        </p:nvSpPr>
        <p:spPr>
          <a:xfrm>
            <a:off x="2565499" y="6117729"/>
            <a:ext cx="1908870"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DEPLOY_TO_PRODUCTION</a:t>
            </a:r>
            <a:endParaRPr lang="en-US" sz="975" dirty="0"/>
          </a:p>
        </p:txBody>
      </p:sp>
      <p:sp>
        <p:nvSpPr>
          <p:cNvPr id="18" name="Shape 16"/>
          <p:cNvSpPr/>
          <p:nvPr/>
        </p:nvSpPr>
        <p:spPr>
          <a:xfrm>
            <a:off x="4569619" y="6060579"/>
            <a:ext cx="1419820" cy="279400"/>
          </a:xfrm>
          <a:prstGeom prst="roundRect">
            <a:avLst>
              <a:gd name="adj" fmla="val 20455"/>
            </a:avLst>
          </a:prstGeom>
          <a:solidFill>
            <a:srgbClr val="F1F2F4"/>
          </a:solidFill>
          <a:ln/>
        </p:spPr>
      </p:sp>
      <p:sp>
        <p:nvSpPr>
          <p:cNvPr id="19" name="Text 17"/>
          <p:cNvSpPr/>
          <p:nvPr/>
        </p:nvSpPr>
        <p:spPr>
          <a:xfrm>
            <a:off x="4683919" y="6117729"/>
            <a:ext cx="1267420"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MANAGE_MODELS</a:t>
            </a:r>
            <a:endParaRPr lang="en-US" sz="975" dirty="0"/>
          </a:p>
        </p:txBody>
      </p:sp>
      <p:sp>
        <p:nvSpPr>
          <p:cNvPr id="20" name="Shape 18"/>
          <p:cNvSpPr/>
          <p:nvPr/>
        </p:nvSpPr>
        <p:spPr>
          <a:xfrm>
            <a:off x="6604000" y="4267696"/>
            <a:ext cx="5080000" cy="2956520"/>
          </a:xfrm>
          <a:prstGeom prst="roundRect">
            <a:avLst>
              <a:gd name="adj" fmla="val 4510"/>
            </a:avLst>
          </a:prstGeom>
          <a:solidFill>
            <a:srgbClr val="F1F2F4"/>
          </a:solidFill>
          <a:ln/>
        </p:spPr>
      </p:sp>
      <p:sp>
        <p:nvSpPr>
          <p:cNvPr id="21" name="Shape 19"/>
          <p:cNvSpPr/>
          <p:nvPr/>
        </p:nvSpPr>
        <p:spPr>
          <a:xfrm>
            <a:off x="6604000" y="4267696"/>
            <a:ext cx="5080000" cy="38100"/>
          </a:xfrm>
          <a:prstGeom prst="rect">
            <a:avLst/>
          </a:prstGeom>
          <a:solidFill>
            <a:srgbClr val="FF671F"/>
          </a:solidFill>
          <a:ln/>
        </p:spPr>
      </p:sp>
      <p:sp>
        <p:nvSpPr>
          <p:cNvPr id="22" name="Text 20"/>
          <p:cNvSpPr/>
          <p:nvPr/>
        </p:nvSpPr>
        <p:spPr>
          <a:xfrm>
            <a:off x="6908800" y="4610596"/>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PERSONA 02</a:t>
            </a:r>
            <a:endParaRPr lang="en-US" sz="900" dirty="0"/>
          </a:p>
        </p:txBody>
      </p:sp>
      <p:sp>
        <p:nvSpPr>
          <p:cNvPr id="23" name="Text 21"/>
          <p:cNvSpPr/>
          <p:nvPr/>
        </p:nvSpPr>
        <p:spPr>
          <a:xfrm>
            <a:off x="6908800" y="4889996"/>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Analyst (Explorer / Author)</a:t>
            </a:r>
            <a:endParaRPr lang="en-US" sz="1950" dirty="0"/>
          </a:p>
        </p:txBody>
      </p:sp>
      <p:sp>
        <p:nvSpPr>
          <p:cNvPr id="24" name="Text 22"/>
          <p:cNvSpPr/>
          <p:nvPr/>
        </p:nvSpPr>
        <p:spPr>
          <a:xfrm>
            <a:off x="6908800" y="5308104"/>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Builds Looks and Dashboards on top of existing Explores. Drag-drops fields, picks visualizations, configures filters and schedules deliveries.</a:t>
            </a:r>
            <a:endParaRPr lang="en-US" sz="1275" dirty="0"/>
          </a:p>
        </p:txBody>
      </p:sp>
      <p:sp>
        <p:nvSpPr>
          <p:cNvPr id="25" name="Shape 23"/>
          <p:cNvSpPr/>
          <p:nvPr/>
        </p:nvSpPr>
        <p:spPr>
          <a:xfrm>
            <a:off x="6908800" y="6303466"/>
            <a:ext cx="870049" cy="279400"/>
          </a:xfrm>
          <a:prstGeom prst="roundRect">
            <a:avLst>
              <a:gd name="adj" fmla="val 20455"/>
            </a:avLst>
          </a:prstGeom>
          <a:solidFill>
            <a:srgbClr val="F1F2F4"/>
          </a:solidFill>
          <a:ln/>
        </p:spPr>
      </p:sp>
      <p:sp>
        <p:nvSpPr>
          <p:cNvPr id="26" name="Text 24"/>
          <p:cNvSpPr/>
          <p:nvPr/>
        </p:nvSpPr>
        <p:spPr>
          <a:xfrm>
            <a:off x="7023100" y="6360616"/>
            <a:ext cx="717649"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EXPLORE</a:t>
            </a:r>
            <a:endParaRPr lang="en-US" sz="975" dirty="0"/>
          </a:p>
        </p:txBody>
      </p:sp>
      <p:sp>
        <p:nvSpPr>
          <p:cNvPr id="27" name="Shape 25"/>
          <p:cNvSpPr/>
          <p:nvPr/>
        </p:nvSpPr>
        <p:spPr>
          <a:xfrm>
            <a:off x="7836000" y="6303466"/>
            <a:ext cx="1144984" cy="279400"/>
          </a:xfrm>
          <a:prstGeom prst="roundRect">
            <a:avLst>
              <a:gd name="adj" fmla="val 20455"/>
            </a:avLst>
          </a:prstGeom>
          <a:solidFill>
            <a:srgbClr val="F1F2F4"/>
          </a:solidFill>
          <a:ln/>
        </p:spPr>
      </p:sp>
      <p:sp>
        <p:nvSpPr>
          <p:cNvPr id="28" name="Text 26"/>
          <p:cNvSpPr/>
          <p:nvPr/>
        </p:nvSpPr>
        <p:spPr>
          <a:xfrm>
            <a:off x="7950300" y="6360616"/>
            <a:ext cx="992584"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SAVE_LOOKS</a:t>
            </a:r>
            <a:endParaRPr lang="en-US" sz="975" dirty="0"/>
          </a:p>
        </p:txBody>
      </p:sp>
      <p:sp>
        <p:nvSpPr>
          <p:cNvPr id="29" name="Shape 27"/>
          <p:cNvSpPr/>
          <p:nvPr/>
        </p:nvSpPr>
        <p:spPr>
          <a:xfrm>
            <a:off x="9038134" y="6303466"/>
            <a:ext cx="1786334" cy="279400"/>
          </a:xfrm>
          <a:prstGeom prst="roundRect">
            <a:avLst>
              <a:gd name="adj" fmla="val 20455"/>
            </a:avLst>
          </a:prstGeom>
          <a:solidFill>
            <a:srgbClr val="F1F2F4"/>
          </a:solidFill>
          <a:ln/>
        </p:spPr>
      </p:sp>
      <p:sp>
        <p:nvSpPr>
          <p:cNvPr id="30" name="Text 28"/>
          <p:cNvSpPr/>
          <p:nvPr/>
        </p:nvSpPr>
        <p:spPr>
          <a:xfrm>
            <a:off x="9152434" y="6360616"/>
            <a:ext cx="1633934"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CREATE_DASHBOARDS</a:t>
            </a:r>
            <a:endParaRPr lang="en-US" sz="975" dirty="0"/>
          </a:p>
        </p:txBody>
      </p:sp>
      <p:sp>
        <p:nvSpPr>
          <p:cNvPr id="31" name="Shape 29"/>
          <p:cNvSpPr/>
          <p:nvPr/>
        </p:nvSpPr>
        <p:spPr>
          <a:xfrm>
            <a:off x="6908800" y="6640017"/>
            <a:ext cx="961727" cy="279400"/>
          </a:xfrm>
          <a:prstGeom prst="roundRect">
            <a:avLst>
              <a:gd name="adj" fmla="val 20455"/>
            </a:avLst>
          </a:prstGeom>
          <a:solidFill>
            <a:srgbClr val="F1F2F4"/>
          </a:solidFill>
          <a:ln/>
        </p:spPr>
      </p:sp>
      <p:sp>
        <p:nvSpPr>
          <p:cNvPr id="32" name="Text 30"/>
          <p:cNvSpPr/>
          <p:nvPr/>
        </p:nvSpPr>
        <p:spPr>
          <a:xfrm>
            <a:off x="7023100" y="6697167"/>
            <a:ext cx="809327"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SCHEDULE</a:t>
            </a:r>
            <a:endParaRPr lang="en-US" sz="975" dirty="0"/>
          </a:p>
        </p:txBody>
      </p:sp>
      <p:sp>
        <p:nvSpPr>
          <p:cNvPr id="33" name="Shape 31"/>
          <p:cNvSpPr/>
          <p:nvPr/>
        </p:nvSpPr>
        <p:spPr>
          <a:xfrm>
            <a:off x="11988801" y="4267696"/>
            <a:ext cx="5080000" cy="2956520"/>
          </a:xfrm>
          <a:prstGeom prst="roundRect">
            <a:avLst>
              <a:gd name="adj" fmla="val 4510"/>
            </a:avLst>
          </a:prstGeom>
          <a:solidFill>
            <a:srgbClr val="F1F2F4"/>
          </a:solidFill>
          <a:ln/>
        </p:spPr>
      </p:sp>
      <p:sp>
        <p:nvSpPr>
          <p:cNvPr id="34" name="Shape 32"/>
          <p:cNvSpPr/>
          <p:nvPr/>
        </p:nvSpPr>
        <p:spPr>
          <a:xfrm>
            <a:off x="11988801" y="4267696"/>
            <a:ext cx="5080000" cy="38100"/>
          </a:xfrm>
          <a:prstGeom prst="rect">
            <a:avLst/>
          </a:prstGeom>
          <a:solidFill>
            <a:srgbClr val="FF671F"/>
          </a:solidFill>
          <a:ln/>
        </p:spPr>
      </p:sp>
      <p:sp>
        <p:nvSpPr>
          <p:cNvPr id="35" name="Text 33"/>
          <p:cNvSpPr/>
          <p:nvPr/>
        </p:nvSpPr>
        <p:spPr>
          <a:xfrm>
            <a:off x="12293601" y="4610596"/>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PERSONA 03</a:t>
            </a:r>
            <a:endParaRPr lang="en-US" sz="900" dirty="0"/>
          </a:p>
        </p:txBody>
      </p:sp>
      <p:sp>
        <p:nvSpPr>
          <p:cNvPr id="36" name="Text 34"/>
          <p:cNvSpPr/>
          <p:nvPr/>
        </p:nvSpPr>
        <p:spPr>
          <a:xfrm>
            <a:off x="12293601" y="4889996"/>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Viewer (Consumer)</a:t>
            </a:r>
            <a:endParaRPr lang="en-US" sz="1950" dirty="0"/>
          </a:p>
        </p:txBody>
      </p:sp>
      <p:sp>
        <p:nvSpPr>
          <p:cNvPr id="37" name="Text 35"/>
          <p:cNvSpPr/>
          <p:nvPr/>
        </p:nvSpPr>
        <p:spPr>
          <a:xfrm>
            <a:off x="12293601" y="5308104"/>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Opens dashboards, applies filters, downloads PDF/CSV, subscribes to a daily email. Doesn't write SQL or LookML.</a:t>
            </a:r>
            <a:endParaRPr lang="en-US" sz="1275" dirty="0"/>
          </a:p>
        </p:txBody>
      </p:sp>
      <p:sp>
        <p:nvSpPr>
          <p:cNvPr id="38" name="Shape 36"/>
          <p:cNvSpPr/>
          <p:nvPr/>
        </p:nvSpPr>
        <p:spPr>
          <a:xfrm>
            <a:off x="12293601" y="6060579"/>
            <a:ext cx="1053306" cy="279400"/>
          </a:xfrm>
          <a:prstGeom prst="roundRect">
            <a:avLst>
              <a:gd name="adj" fmla="val 20455"/>
            </a:avLst>
          </a:prstGeom>
          <a:solidFill>
            <a:srgbClr val="F1F2F4"/>
          </a:solidFill>
          <a:ln/>
        </p:spPr>
      </p:sp>
      <p:sp>
        <p:nvSpPr>
          <p:cNvPr id="39" name="Text 37"/>
          <p:cNvSpPr/>
          <p:nvPr/>
        </p:nvSpPr>
        <p:spPr>
          <a:xfrm>
            <a:off x="12407901" y="6117729"/>
            <a:ext cx="900906"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SEE_LOOKS</a:t>
            </a:r>
            <a:endParaRPr lang="en-US" sz="975" dirty="0"/>
          </a:p>
        </p:txBody>
      </p:sp>
      <p:sp>
        <p:nvSpPr>
          <p:cNvPr id="40" name="Shape 38"/>
          <p:cNvSpPr/>
          <p:nvPr/>
        </p:nvSpPr>
        <p:spPr>
          <a:xfrm>
            <a:off x="13404056" y="6060579"/>
            <a:ext cx="1511498" cy="279400"/>
          </a:xfrm>
          <a:prstGeom prst="roundRect">
            <a:avLst>
              <a:gd name="adj" fmla="val 20455"/>
            </a:avLst>
          </a:prstGeom>
          <a:solidFill>
            <a:srgbClr val="F1F2F4"/>
          </a:solidFill>
          <a:ln/>
        </p:spPr>
      </p:sp>
      <p:sp>
        <p:nvSpPr>
          <p:cNvPr id="41" name="Text 39"/>
          <p:cNvSpPr/>
          <p:nvPr/>
        </p:nvSpPr>
        <p:spPr>
          <a:xfrm>
            <a:off x="13518356" y="6117729"/>
            <a:ext cx="1359098"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SEE_DASHBOARDS</a:t>
            </a:r>
            <a:endParaRPr lang="en-US" sz="975" dirty="0"/>
          </a:p>
        </p:txBody>
      </p:sp>
      <p:sp>
        <p:nvSpPr>
          <p:cNvPr id="42" name="Shape 40"/>
          <p:cNvSpPr/>
          <p:nvPr/>
        </p:nvSpPr>
        <p:spPr>
          <a:xfrm>
            <a:off x="14972705" y="6060579"/>
            <a:ext cx="961727" cy="279400"/>
          </a:xfrm>
          <a:prstGeom prst="roundRect">
            <a:avLst>
              <a:gd name="adj" fmla="val 20455"/>
            </a:avLst>
          </a:prstGeom>
          <a:solidFill>
            <a:srgbClr val="F1F2F4"/>
          </a:solidFill>
          <a:ln/>
        </p:spPr>
      </p:sp>
      <p:sp>
        <p:nvSpPr>
          <p:cNvPr id="43" name="Text 41"/>
          <p:cNvSpPr/>
          <p:nvPr/>
        </p:nvSpPr>
        <p:spPr>
          <a:xfrm>
            <a:off x="15087005" y="6117729"/>
            <a:ext cx="809327"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384358"/>
                </a:solidFill>
                <a:latin typeface="JetBrains Mono" pitchFamily="34" charset="0"/>
                <a:ea typeface="JetBrains Mono" pitchFamily="34" charset="-122"/>
                <a:cs typeface="JetBrains Mono" pitchFamily="34" charset="-120"/>
              </a:rPr>
              <a:t>DOWNLOAD</a:t>
            </a:r>
            <a:endParaRPr lang="en-US" sz="975" dirty="0"/>
          </a:p>
        </p:txBody>
      </p:sp>
      <p:sp>
        <p:nvSpPr>
          <p:cNvPr id="44" name="Shape 42"/>
          <p:cNvSpPr/>
          <p:nvPr/>
        </p:nvSpPr>
        <p:spPr>
          <a:xfrm>
            <a:off x="1219200" y="7452817"/>
            <a:ext cx="15849600" cy="660400"/>
          </a:xfrm>
          <a:prstGeom prst="roundRect">
            <a:avLst>
              <a:gd name="adj" fmla="val 20192"/>
            </a:avLst>
          </a:prstGeom>
          <a:solidFill>
            <a:srgbClr val="FFF7F1"/>
          </a:solidFill>
          <a:ln/>
        </p:spPr>
      </p:sp>
      <p:sp>
        <p:nvSpPr>
          <p:cNvPr id="45" name="Shape 43"/>
          <p:cNvSpPr/>
          <p:nvPr/>
        </p:nvSpPr>
        <p:spPr>
          <a:xfrm>
            <a:off x="1219200" y="7452817"/>
            <a:ext cx="38100" cy="660400"/>
          </a:xfrm>
          <a:prstGeom prst="rect">
            <a:avLst/>
          </a:prstGeom>
          <a:solidFill>
            <a:srgbClr val="FF671F"/>
          </a:solidFill>
          <a:ln/>
        </p:spPr>
      </p:sp>
      <p:sp>
        <p:nvSpPr>
          <p:cNvPr id="46" name="Shape 44"/>
          <p:cNvSpPr/>
          <p:nvPr/>
        </p:nvSpPr>
        <p:spPr>
          <a:xfrm>
            <a:off x="1524000" y="7643317"/>
            <a:ext cx="503535" cy="279400"/>
          </a:xfrm>
          <a:prstGeom prst="roundRect">
            <a:avLst>
              <a:gd name="adj" fmla="val 20455"/>
            </a:avLst>
          </a:prstGeom>
          <a:solidFill>
            <a:srgbClr val="FFE3D2"/>
          </a:solidFill>
          <a:ln/>
        </p:spPr>
      </p:sp>
      <p:sp>
        <p:nvSpPr>
          <p:cNvPr id="47" name="Text 45"/>
          <p:cNvSpPr/>
          <p:nvPr/>
        </p:nvSpPr>
        <p:spPr>
          <a:xfrm>
            <a:off x="1638300" y="7700467"/>
            <a:ext cx="351135"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671F"/>
                </a:solidFill>
                <a:latin typeface="JetBrains Mono" pitchFamily="34" charset="0"/>
                <a:ea typeface="JetBrains Mono" pitchFamily="34" charset="-122"/>
                <a:cs typeface="JetBrains Mono" pitchFamily="34" charset="-120"/>
              </a:rPr>
              <a:t>TIP</a:t>
            </a:r>
            <a:endParaRPr lang="en-US" sz="975" dirty="0"/>
          </a:p>
        </p:txBody>
      </p:sp>
      <p:sp>
        <p:nvSpPr>
          <p:cNvPr id="48" name="Text 46"/>
          <p:cNvSpPr/>
          <p:nvPr/>
        </p:nvSpPr>
        <p:spPr>
          <a:xfrm>
            <a:off x="2256135" y="7671892"/>
            <a:ext cx="12854944" cy="260350"/>
          </a:xfrm>
          <a:prstGeom prst="rect">
            <a:avLst/>
          </a:prstGeom>
          <a:noFill/>
          <a:ln/>
        </p:spPr>
        <p:txBody>
          <a:bodyPr wrap="square" lIns="0" tIns="0" rIns="0" bIns="0" rtlCol="0" anchor="t">
            <a:normAutofit/>
          </a:bodyPr>
          <a:lstStyle/>
          <a:p>
            <a:pPr algn="l" indent="0" marL="0">
              <a:buNone/>
            </a:pPr>
            <a:r>
              <a:rPr lang="en-US" sz="1275" dirty="0">
                <a:solidFill>
                  <a:srgbClr val="384358"/>
                </a:solidFill>
                <a:latin typeface="Manrope" pitchFamily="34" charset="0"/>
                <a:ea typeface="Manrope" pitchFamily="34" charset="-122"/>
                <a:cs typeface="Manrope" pitchFamily="34" charset="-120"/>
              </a:rPr>
              <a:t>The exam often frames a scenario as a persona — "an analyst needs to…" usually means an Explore-level action, "a developer needs to…" usually means a LookML change.</a:t>
            </a:r>
            <a:endParaRPr lang="en-US" sz="1275" dirty="0"/>
          </a:p>
        </p:txBody>
      </p:sp>
      <p:sp>
        <p:nvSpPr>
          <p:cNvPr id="49" name="Text 4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50" name="Text 4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13 / 60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02645" y="755650"/>
            <a:ext cx="1542356"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WHERE LOOKER RUNS</a:t>
            </a:r>
            <a:endParaRPr lang="en-US" sz="1350" dirty="0"/>
          </a:p>
        </p:txBody>
      </p:sp>
      <p:sp>
        <p:nvSpPr>
          <p:cNvPr id="7" name="Text 5"/>
          <p:cNvSpPr/>
          <p:nvPr/>
        </p:nvSpPr>
        <p:spPr>
          <a:xfrm>
            <a:off x="1219200" y="2178050"/>
            <a:ext cx="16325088" cy="1281509"/>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Two products, three deployment shapes, one billing surface.</a:t>
            </a:r>
            <a:endParaRPr lang="en-US" sz="4800" dirty="0"/>
          </a:p>
        </p:txBody>
      </p:sp>
      <p:sp>
        <p:nvSpPr>
          <p:cNvPr id="8" name="Text 6"/>
          <p:cNvSpPr/>
          <p:nvPr/>
        </p:nvSpPr>
        <p:spPr>
          <a:xfrm>
            <a:off x="1219200" y="3592909"/>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You don't need to memorize SKUs for the Associate exam — you do need to recognise the deployment names when they show up in a question.</a:t>
            </a:r>
            <a:endParaRPr lang="en-US" sz="1650" dirty="0"/>
          </a:p>
        </p:txBody>
      </p:sp>
      <p:sp>
        <p:nvSpPr>
          <p:cNvPr id="9" name="Shape 7"/>
          <p:cNvSpPr/>
          <p:nvPr/>
        </p:nvSpPr>
        <p:spPr>
          <a:xfrm>
            <a:off x="1219200" y="4734917"/>
            <a:ext cx="2552700" cy="631825"/>
          </a:xfrm>
          <a:prstGeom prst="rect">
            <a:avLst/>
          </a:prstGeom>
          <a:solidFill>
            <a:srgbClr val="F1F2F4"/>
          </a:solidFill>
          <a:ln/>
        </p:spPr>
      </p:sp>
      <p:sp>
        <p:nvSpPr>
          <p:cNvPr id="10" name="Shape 8"/>
          <p:cNvSpPr/>
          <p:nvPr/>
        </p:nvSpPr>
        <p:spPr>
          <a:xfrm>
            <a:off x="1219200" y="5360392"/>
            <a:ext cx="2552700" cy="9525"/>
          </a:xfrm>
          <a:prstGeom prst="rect">
            <a:avLst/>
          </a:prstGeom>
          <a:solidFill>
            <a:srgbClr val="C9CFD8"/>
          </a:solidFill>
          <a:ln/>
        </p:spPr>
      </p:sp>
      <p:sp>
        <p:nvSpPr>
          <p:cNvPr id="11" name="Text 9"/>
          <p:cNvSpPr/>
          <p:nvPr/>
        </p:nvSpPr>
        <p:spPr>
          <a:xfrm>
            <a:off x="1447800" y="4906367"/>
            <a:ext cx="2172081" cy="320675"/>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ASPECT</a:t>
            </a:r>
            <a:endParaRPr lang="en-US" sz="975" dirty="0"/>
          </a:p>
        </p:txBody>
      </p:sp>
      <p:sp>
        <p:nvSpPr>
          <p:cNvPr id="12" name="Shape 10"/>
          <p:cNvSpPr/>
          <p:nvPr/>
        </p:nvSpPr>
        <p:spPr>
          <a:xfrm>
            <a:off x="3771900" y="4734917"/>
            <a:ext cx="4524574" cy="631825"/>
          </a:xfrm>
          <a:prstGeom prst="rect">
            <a:avLst/>
          </a:prstGeom>
          <a:solidFill>
            <a:srgbClr val="F1F2F4"/>
          </a:solidFill>
          <a:ln/>
        </p:spPr>
      </p:sp>
      <p:sp>
        <p:nvSpPr>
          <p:cNvPr id="13" name="Shape 11"/>
          <p:cNvSpPr/>
          <p:nvPr/>
        </p:nvSpPr>
        <p:spPr>
          <a:xfrm>
            <a:off x="3771900" y="5360392"/>
            <a:ext cx="4524574" cy="9525"/>
          </a:xfrm>
          <a:prstGeom prst="rect">
            <a:avLst/>
          </a:prstGeom>
          <a:solidFill>
            <a:srgbClr val="C9CFD8"/>
          </a:solidFill>
          <a:ln/>
        </p:spPr>
      </p:sp>
      <p:sp>
        <p:nvSpPr>
          <p:cNvPr id="14" name="Text 12"/>
          <p:cNvSpPr/>
          <p:nvPr/>
        </p:nvSpPr>
        <p:spPr>
          <a:xfrm>
            <a:off x="4000500" y="4906367"/>
            <a:ext cx="4203111"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B1F2A"/>
                </a:solidFill>
                <a:latin typeface="Manrope" pitchFamily="34" charset="0"/>
                <a:ea typeface="Manrope" pitchFamily="34" charset="-122"/>
                <a:cs typeface="Manrope" pitchFamily="34" charset="-120"/>
              </a:rPr>
              <a:t>Looker (Google Cloud core)</a:t>
            </a:r>
            <a:endParaRPr lang="en-US" sz="1650" dirty="0"/>
          </a:p>
        </p:txBody>
      </p:sp>
      <p:sp>
        <p:nvSpPr>
          <p:cNvPr id="15" name="Shape 13"/>
          <p:cNvSpPr/>
          <p:nvPr/>
        </p:nvSpPr>
        <p:spPr>
          <a:xfrm>
            <a:off x="8296474" y="4734917"/>
            <a:ext cx="4426744" cy="631825"/>
          </a:xfrm>
          <a:prstGeom prst="rect">
            <a:avLst/>
          </a:prstGeom>
          <a:solidFill>
            <a:srgbClr val="F1F2F4"/>
          </a:solidFill>
          <a:ln/>
        </p:spPr>
      </p:sp>
      <p:sp>
        <p:nvSpPr>
          <p:cNvPr id="16" name="Shape 14"/>
          <p:cNvSpPr/>
          <p:nvPr/>
        </p:nvSpPr>
        <p:spPr>
          <a:xfrm>
            <a:off x="8296474" y="5360392"/>
            <a:ext cx="4426744" cy="9525"/>
          </a:xfrm>
          <a:prstGeom prst="rect">
            <a:avLst/>
          </a:prstGeom>
          <a:solidFill>
            <a:srgbClr val="C9CFD8"/>
          </a:solidFill>
          <a:ln/>
        </p:spPr>
      </p:sp>
      <p:sp>
        <p:nvSpPr>
          <p:cNvPr id="17" name="Text 15"/>
          <p:cNvSpPr/>
          <p:nvPr/>
        </p:nvSpPr>
        <p:spPr>
          <a:xfrm>
            <a:off x="8525074" y="4906367"/>
            <a:ext cx="4102346"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B1F2A"/>
                </a:solidFill>
                <a:latin typeface="Manrope" pitchFamily="34" charset="0"/>
                <a:ea typeface="Manrope" pitchFamily="34" charset="-122"/>
                <a:cs typeface="Manrope" pitchFamily="34" charset="-120"/>
              </a:rPr>
              <a:t>Looker (Original)</a:t>
            </a:r>
            <a:endParaRPr lang="en-US" sz="1650" dirty="0"/>
          </a:p>
        </p:txBody>
      </p:sp>
      <p:sp>
        <p:nvSpPr>
          <p:cNvPr id="18" name="Shape 16"/>
          <p:cNvSpPr/>
          <p:nvPr/>
        </p:nvSpPr>
        <p:spPr>
          <a:xfrm>
            <a:off x="12723218" y="4734917"/>
            <a:ext cx="4345583" cy="631825"/>
          </a:xfrm>
          <a:prstGeom prst="rect">
            <a:avLst/>
          </a:prstGeom>
          <a:solidFill>
            <a:srgbClr val="F1F2F4"/>
          </a:solidFill>
          <a:ln/>
        </p:spPr>
      </p:sp>
      <p:sp>
        <p:nvSpPr>
          <p:cNvPr id="19" name="Shape 17"/>
          <p:cNvSpPr/>
          <p:nvPr/>
        </p:nvSpPr>
        <p:spPr>
          <a:xfrm>
            <a:off x="12723218" y="5360392"/>
            <a:ext cx="4345583" cy="9525"/>
          </a:xfrm>
          <a:prstGeom prst="rect">
            <a:avLst/>
          </a:prstGeom>
          <a:solidFill>
            <a:srgbClr val="C9CFD8"/>
          </a:solidFill>
          <a:ln/>
        </p:spPr>
      </p:sp>
      <p:sp>
        <p:nvSpPr>
          <p:cNvPr id="20" name="Text 18"/>
          <p:cNvSpPr/>
          <p:nvPr/>
        </p:nvSpPr>
        <p:spPr>
          <a:xfrm>
            <a:off x="12951818" y="4906367"/>
            <a:ext cx="4018750"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B1F2A"/>
                </a:solidFill>
                <a:latin typeface="Manrope" pitchFamily="34" charset="0"/>
                <a:ea typeface="Manrope" pitchFamily="34" charset="-122"/>
                <a:cs typeface="Manrope" pitchFamily="34" charset="-120"/>
              </a:rPr>
              <a:t>Looker Studio</a:t>
            </a:r>
            <a:endParaRPr lang="en-US" sz="1650" dirty="0"/>
          </a:p>
        </p:txBody>
      </p:sp>
      <p:sp>
        <p:nvSpPr>
          <p:cNvPr id="21" name="Shape 19"/>
          <p:cNvSpPr/>
          <p:nvPr/>
        </p:nvSpPr>
        <p:spPr>
          <a:xfrm>
            <a:off x="1219200" y="5944394"/>
            <a:ext cx="2552700" cy="9525"/>
          </a:xfrm>
          <a:prstGeom prst="rect">
            <a:avLst/>
          </a:prstGeom>
          <a:solidFill>
            <a:srgbClr val="C9CFD8"/>
          </a:solidFill>
          <a:ln/>
        </p:spPr>
      </p:sp>
      <p:sp>
        <p:nvSpPr>
          <p:cNvPr id="22" name="Text 20"/>
          <p:cNvSpPr/>
          <p:nvPr/>
        </p:nvSpPr>
        <p:spPr>
          <a:xfrm>
            <a:off x="1447800" y="5538192"/>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HOSTING</a:t>
            </a:r>
            <a:endParaRPr lang="en-US" sz="975" dirty="0"/>
          </a:p>
        </p:txBody>
      </p:sp>
      <p:sp>
        <p:nvSpPr>
          <p:cNvPr id="23" name="Shape 21"/>
          <p:cNvSpPr/>
          <p:nvPr/>
        </p:nvSpPr>
        <p:spPr>
          <a:xfrm>
            <a:off x="3771900" y="5944394"/>
            <a:ext cx="4524574" cy="9525"/>
          </a:xfrm>
          <a:prstGeom prst="rect">
            <a:avLst/>
          </a:prstGeom>
          <a:solidFill>
            <a:srgbClr val="C9CFD8"/>
          </a:solidFill>
          <a:ln/>
        </p:spPr>
      </p:sp>
      <p:sp>
        <p:nvSpPr>
          <p:cNvPr id="24" name="Text 22"/>
          <p:cNvSpPr/>
          <p:nvPr/>
        </p:nvSpPr>
        <p:spPr>
          <a:xfrm>
            <a:off x="4000500" y="5538192"/>
            <a:ext cx="4203111"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Provisioned via Google Cloud Console.</a:t>
            </a:r>
            <a:endParaRPr lang="en-US" sz="1275" dirty="0"/>
          </a:p>
        </p:txBody>
      </p:sp>
      <p:sp>
        <p:nvSpPr>
          <p:cNvPr id="25" name="Shape 23"/>
          <p:cNvSpPr/>
          <p:nvPr/>
        </p:nvSpPr>
        <p:spPr>
          <a:xfrm>
            <a:off x="8296474" y="5944394"/>
            <a:ext cx="4426744" cy="9525"/>
          </a:xfrm>
          <a:prstGeom prst="rect">
            <a:avLst/>
          </a:prstGeom>
          <a:solidFill>
            <a:srgbClr val="C9CFD8"/>
          </a:solidFill>
          <a:ln/>
        </p:spPr>
      </p:sp>
      <p:sp>
        <p:nvSpPr>
          <p:cNvPr id="26" name="Text 24"/>
          <p:cNvSpPr/>
          <p:nvPr/>
        </p:nvSpPr>
        <p:spPr>
          <a:xfrm>
            <a:off x="8525074" y="5538192"/>
            <a:ext cx="410234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Hosted instance, managed by Looker.</a:t>
            </a:r>
            <a:endParaRPr lang="en-US" sz="1275" dirty="0"/>
          </a:p>
        </p:txBody>
      </p:sp>
      <p:sp>
        <p:nvSpPr>
          <p:cNvPr id="27" name="Shape 25"/>
          <p:cNvSpPr/>
          <p:nvPr/>
        </p:nvSpPr>
        <p:spPr>
          <a:xfrm>
            <a:off x="12723218" y="5944394"/>
            <a:ext cx="4345583" cy="9525"/>
          </a:xfrm>
          <a:prstGeom prst="rect">
            <a:avLst/>
          </a:prstGeom>
          <a:solidFill>
            <a:srgbClr val="C9CFD8"/>
          </a:solidFill>
          <a:ln/>
        </p:spPr>
      </p:sp>
      <p:sp>
        <p:nvSpPr>
          <p:cNvPr id="28" name="Text 26"/>
          <p:cNvSpPr/>
          <p:nvPr/>
        </p:nvSpPr>
        <p:spPr>
          <a:xfrm>
            <a:off x="12951818" y="5538192"/>
            <a:ext cx="401875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Multi-tenant SaaS — no instance.</a:t>
            </a:r>
            <a:endParaRPr lang="en-US" sz="1275" dirty="0"/>
          </a:p>
        </p:txBody>
      </p:sp>
      <p:sp>
        <p:nvSpPr>
          <p:cNvPr id="29" name="Shape 27"/>
          <p:cNvSpPr/>
          <p:nvPr/>
        </p:nvSpPr>
        <p:spPr>
          <a:xfrm>
            <a:off x="1219200" y="6528395"/>
            <a:ext cx="2552700" cy="9525"/>
          </a:xfrm>
          <a:prstGeom prst="rect">
            <a:avLst/>
          </a:prstGeom>
          <a:solidFill>
            <a:srgbClr val="C9CFD8"/>
          </a:solidFill>
          <a:ln/>
        </p:spPr>
      </p:sp>
      <p:sp>
        <p:nvSpPr>
          <p:cNvPr id="30" name="Text 28"/>
          <p:cNvSpPr/>
          <p:nvPr/>
        </p:nvSpPr>
        <p:spPr>
          <a:xfrm>
            <a:off x="1447800" y="6122194"/>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MODELING</a:t>
            </a:r>
            <a:endParaRPr lang="en-US" sz="975" dirty="0"/>
          </a:p>
        </p:txBody>
      </p:sp>
      <p:sp>
        <p:nvSpPr>
          <p:cNvPr id="31" name="Shape 29"/>
          <p:cNvSpPr/>
          <p:nvPr/>
        </p:nvSpPr>
        <p:spPr>
          <a:xfrm>
            <a:off x="3771900" y="6528395"/>
            <a:ext cx="4524574" cy="9525"/>
          </a:xfrm>
          <a:prstGeom prst="rect">
            <a:avLst/>
          </a:prstGeom>
          <a:solidFill>
            <a:srgbClr val="C9CFD8"/>
          </a:solidFill>
          <a:ln/>
        </p:spPr>
      </p:sp>
      <p:sp>
        <p:nvSpPr>
          <p:cNvPr id="32" name="Text 30"/>
          <p:cNvSpPr/>
          <p:nvPr/>
        </p:nvSpPr>
        <p:spPr>
          <a:xfrm>
            <a:off x="4000500" y="6122194"/>
            <a:ext cx="4203111"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LookML, full feature set.</a:t>
            </a:r>
            <a:endParaRPr lang="en-US" sz="1275" dirty="0"/>
          </a:p>
        </p:txBody>
      </p:sp>
      <p:sp>
        <p:nvSpPr>
          <p:cNvPr id="33" name="Shape 31"/>
          <p:cNvSpPr/>
          <p:nvPr/>
        </p:nvSpPr>
        <p:spPr>
          <a:xfrm>
            <a:off x="8296474" y="6528395"/>
            <a:ext cx="4426744" cy="9525"/>
          </a:xfrm>
          <a:prstGeom prst="rect">
            <a:avLst/>
          </a:prstGeom>
          <a:solidFill>
            <a:srgbClr val="C9CFD8"/>
          </a:solidFill>
          <a:ln/>
        </p:spPr>
      </p:sp>
      <p:sp>
        <p:nvSpPr>
          <p:cNvPr id="34" name="Text 32"/>
          <p:cNvSpPr/>
          <p:nvPr/>
        </p:nvSpPr>
        <p:spPr>
          <a:xfrm>
            <a:off x="8525074" y="6122194"/>
            <a:ext cx="410234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LookML, full feature set.</a:t>
            </a:r>
            <a:endParaRPr lang="en-US" sz="1275" dirty="0"/>
          </a:p>
        </p:txBody>
      </p:sp>
      <p:sp>
        <p:nvSpPr>
          <p:cNvPr id="35" name="Shape 33"/>
          <p:cNvSpPr/>
          <p:nvPr/>
        </p:nvSpPr>
        <p:spPr>
          <a:xfrm>
            <a:off x="12723218" y="6528395"/>
            <a:ext cx="4345583" cy="9525"/>
          </a:xfrm>
          <a:prstGeom prst="rect">
            <a:avLst/>
          </a:prstGeom>
          <a:solidFill>
            <a:srgbClr val="C9CFD8"/>
          </a:solidFill>
          <a:ln/>
        </p:spPr>
      </p:sp>
      <p:sp>
        <p:nvSpPr>
          <p:cNvPr id="36" name="Text 34"/>
          <p:cNvSpPr/>
          <p:nvPr/>
        </p:nvSpPr>
        <p:spPr>
          <a:xfrm>
            <a:off x="12951818" y="6122194"/>
            <a:ext cx="401875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No LookML. Per-report data sources.</a:t>
            </a:r>
            <a:endParaRPr lang="en-US" sz="1275" dirty="0"/>
          </a:p>
        </p:txBody>
      </p:sp>
      <p:sp>
        <p:nvSpPr>
          <p:cNvPr id="37" name="Shape 35"/>
          <p:cNvSpPr/>
          <p:nvPr/>
        </p:nvSpPr>
        <p:spPr>
          <a:xfrm>
            <a:off x="1219200" y="7112397"/>
            <a:ext cx="2552700" cy="9525"/>
          </a:xfrm>
          <a:prstGeom prst="rect">
            <a:avLst/>
          </a:prstGeom>
          <a:solidFill>
            <a:srgbClr val="C9CFD8"/>
          </a:solidFill>
          <a:ln/>
        </p:spPr>
      </p:sp>
      <p:sp>
        <p:nvSpPr>
          <p:cNvPr id="38" name="Text 36"/>
          <p:cNvSpPr/>
          <p:nvPr/>
        </p:nvSpPr>
        <p:spPr>
          <a:xfrm>
            <a:off x="1447800" y="6706195"/>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IDENTITY</a:t>
            </a:r>
            <a:endParaRPr lang="en-US" sz="975" dirty="0"/>
          </a:p>
        </p:txBody>
      </p:sp>
      <p:sp>
        <p:nvSpPr>
          <p:cNvPr id="39" name="Shape 37"/>
          <p:cNvSpPr/>
          <p:nvPr/>
        </p:nvSpPr>
        <p:spPr>
          <a:xfrm>
            <a:off x="3771900" y="7112397"/>
            <a:ext cx="4524574" cy="9525"/>
          </a:xfrm>
          <a:prstGeom prst="rect">
            <a:avLst/>
          </a:prstGeom>
          <a:solidFill>
            <a:srgbClr val="C9CFD8"/>
          </a:solidFill>
          <a:ln/>
        </p:spPr>
      </p:sp>
      <p:sp>
        <p:nvSpPr>
          <p:cNvPr id="40" name="Text 38"/>
          <p:cNvSpPr/>
          <p:nvPr/>
        </p:nvSpPr>
        <p:spPr>
          <a:xfrm>
            <a:off x="4000500" y="6706195"/>
            <a:ext cx="4203111"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Google IAM or SAML.</a:t>
            </a:r>
            <a:endParaRPr lang="en-US" sz="1275" dirty="0"/>
          </a:p>
        </p:txBody>
      </p:sp>
      <p:sp>
        <p:nvSpPr>
          <p:cNvPr id="41" name="Shape 39"/>
          <p:cNvSpPr/>
          <p:nvPr/>
        </p:nvSpPr>
        <p:spPr>
          <a:xfrm>
            <a:off x="8296474" y="7112397"/>
            <a:ext cx="4426744" cy="9525"/>
          </a:xfrm>
          <a:prstGeom prst="rect">
            <a:avLst/>
          </a:prstGeom>
          <a:solidFill>
            <a:srgbClr val="C9CFD8"/>
          </a:solidFill>
          <a:ln/>
        </p:spPr>
      </p:sp>
      <p:sp>
        <p:nvSpPr>
          <p:cNvPr id="42" name="Text 40"/>
          <p:cNvSpPr/>
          <p:nvPr/>
        </p:nvSpPr>
        <p:spPr>
          <a:xfrm>
            <a:off x="8525074" y="6706195"/>
            <a:ext cx="410234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SAML, OIDC, Google.</a:t>
            </a:r>
            <a:endParaRPr lang="en-US" sz="1275" dirty="0"/>
          </a:p>
        </p:txBody>
      </p:sp>
      <p:sp>
        <p:nvSpPr>
          <p:cNvPr id="43" name="Shape 41"/>
          <p:cNvSpPr/>
          <p:nvPr/>
        </p:nvSpPr>
        <p:spPr>
          <a:xfrm>
            <a:off x="12723218" y="7112397"/>
            <a:ext cx="4345583" cy="9525"/>
          </a:xfrm>
          <a:prstGeom prst="rect">
            <a:avLst/>
          </a:prstGeom>
          <a:solidFill>
            <a:srgbClr val="C9CFD8"/>
          </a:solidFill>
          <a:ln/>
        </p:spPr>
      </p:sp>
      <p:sp>
        <p:nvSpPr>
          <p:cNvPr id="44" name="Text 42"/>
          <p:cNvSpPr/>
          <p:nvPr/>
        </p:nvSpPr>
        <p:spPr>
          <a:xfrm>
            <a:off x="12951818" y="6706195"/>
            <a:ext cx="401875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Google account.</a:t>
            </a:r>
            <a:endParaRPr lang="en-US" sz="1275" dirty="0"/>
          </a:p>
        </p:txBody>
      </p:sp>
      <p:sp>
        <p:nvSpPr>
          <p:cNvPr id="45" name="Shape 43"/>
          <p:cNvSpPr/>
          <p:nvPr/>
        </p:nvSpPr>
        <p:spPr>
          <a:xfrm>
            <a:off x="1219200" y="7696398"/>
            <a:ext cx="2552700" cy="9525"/>
          </a:xfrm>
          <a:prstGeom prst="rect">
            <a:avLst/>
          </a:prstGeom>
          <a:solidFill>
            <a:srgbClr val="C9CFD8"/>
          </a:solidFill>
          <a:ln/>
        </p:spPr>
      </p:sp>
      <p:sp>
        <p:nvSpPr>
          <p:cNvPr id="46" name="Text 44"/>
          <p:cNvSpPr/>
          <p:nvPr/>
        </p:nvSpPr>
        <p:spPr>
          <a:xfrm>
            <a:off x="1447800" y="7290197"/>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COST SHAPE</a:t>
            </a:r>
            <a:endParaRPr lang="en-US" sz="975" dirty="0"/>
          </a:p>
        </p:txBody>
      </p:sp>
      <p:sp>
        <p:nvSpPr>
          <p:cNvPr id="47" name="Shape 45"/>
          <p:cNvSpPr/>
          <p:nvPr/>
        </p:nvSpPr>
        <p:spPr>
          <a:xfrm>
            <a:off x="3771900" y="7696398"/>
            <a:ext cx="4524574" cy="9525"/>
          </a:xfrm>
          <a:prstGeom prst="rect">
            <a:avLst/>
          </a:prstGeom>
          <a:solidFill>
            <a:srgbClr val="C9CFD8"/>
          </a:solidFill>
          <a:ln/>
        </p:spPr>
      </p:sp>
      <p:sp>
        <p:nvSpPr>
          <p:cNvPr id="48" name="Text 46"/>
          <p:cNvSpPr/>
          <p:nvPr/>
        </p:nvSpPr>
        <p:spPr>
          <a:xfrm>
            <a:off x="4000500" y="7290197"/>
            <a:ext cx="4203111"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Per-user or capacity billing.</a:t>
            </a:r>
            <a:endParaRPr lang="en-US" sz="1275" dirty="0"/>
          </a:p>
        </p:txBody>
      </p:sp>
      <p:sp>
        <p:nvSpPr>
          <p:cNvPr id="49" name="Shape 47"/>
          <p:cNvSpPr/>
          <p:nvPr/>
        </p:nvSpPr>
        <p:spPr>
          <a:xfrm>
            <a:off x="8296474" y="7696398"/>
            <a:ext cx="4426744" cy="9525"/>
          </a:xfrm>
          <a:prstGeom prst="rect">
            <a:avLst/>
          </a:prstGeom>
          <a:solidFill>
            <a:srgbClr val="C9CFD8"/>
          </a:solidFill>
          <a:ln/>
        </p:spPr>
      </p:sp>
      <p:sp>
        <p:nvSpPr>
          <p:cNvPr id="50" name="Text 48"/>
          <p:cNvSpPr/>
          <p:nvPr/>
        </p:nvSpPr>
        <p:spPr>
          <a:xfrm>
            <a:off x="8525074" y="7290197"/>
            <a:ext cx="410234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Per-user or capacity billing.</a:t>
            </a:r>
            <a:endParaRPr lang="en-US" sz="1275" dirty="0"/>
          </a:p>
        </p:txBody>
      </p:sp>
      <p:sp>
        <p:nvSpPr>
          <p:cNvPr id="51" name="Shape 49"/>
          <p:cNvSpPr/>
          <p:nvPr/>
        </p:nvSpPr>
        <p:spPr>
          <a:xfrm>
            <a:off x="12723218" y="7696398"/>
            <a:ext cx="4345583" cy="9525"/>
          </a:xfrm>
          <a:prstGeom prst="rect">
            <a:avLst/>
          </a:prstGeom>
          <a:solidFill>
            <a:srgbClr val="C9CFD8"/>
          </a:solidFill>
          <a:ln/>
        </p:spPr>
      </p:sp>
      <p:sp>
        <p:nvSpPr>
          <p:cNvPr id="52" name="Text 50"/>
          <p:cNvSpPr/>
          <p:nvPr/>
        </p:nvSpPr>
        <p:spPr>
          <a:xfrm>
            <a:off x="12951818" y="7290197"/>
            <a:ext cx="401875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Free; Pro tier for advanced features.</a:t>
            </a:r>
            <a:endParaRPr lang="en-US" sz="1275" dirty="0"/>
          </a:p>
        </p:txBody>
      </p:sp>
      <p:sp>
        <p:nvSpPr>
          <p:cNvPr id="53" name="Shape 51"/>
          <p:cNvSpPr/>
          <p:nvPr/>
        </p:nvSpPr>
        <p:spPr>
          <a:xfrm>
            <a:off x="1219200" y="8280400"/>
            <a:ext cx="2552700" cy="9525"/>
          </a:xfrm>
          <a:prstGeom prst="rect">
            <a:avLst/>
          </a:prstGeom>
          <a:solidFill>
            <a:srgbClr val="C9CFD8"/>
          </a:solidFill>
          <a:ln/>
        </p:spPr>
      </p:sp>
      <p:sp>
        <p:nvSpPr>
          <p:cNvPr id="54" name="Text 52"/>
          <p:cNvSpPr/>
          <p:nvPr/>
        </p:nvSpPr>
        <p:spPr>
          <a:xfrm>
            <a:off x="1447800" y="7874198"/>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EMBEDDING</a:t>
            </a:r>
            <a:endParaRPr lang="en-US" sz="975" dirty="0"/>
          </a:p>
        </p:txBody>
      </p:sp>
      <p:sp>
        <p:nvSpPr>
          <p:cNvPr id="55" name="Shape 53"/>
          <p:cNvSpPr/>
          <p:nvPr/>
        </p:nvSpPr>
        <p:spPr>
          <a:xfrm>
            <a:off x="3771900" y="8280400"/>
            <a:ext cx="4524574" cy="9525"/>
          </a:xfrm>
          <a:prstGeom prst="rect">
            <a:avLst/>
          </a:prstGeom>
          <a:solidFill>
            <a:srgbClr val="C9CFD8"/>
          </a:solidFill>
          <a:ln/>
        </p:spPr>
      </p:sp>
      <p:sp>
        <p:nvSpPr>
          <p:cNvPr id="56" name="Text 54"/>
          <p:cNvSpPr/>
          <p:nvPr/>
        </p:nvSpPr>
        <p:spPr>
          <a:xfrm>
            <a:off x="4000500" y="7874198"/>
            <a:ext cx="4203111"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Full SDK, signed URLs.</a:t>
            </a:r>
            <a:endParaRPr lang="en-US" sz="1275" dirty="0"/>
          </a:p>
        </p:txBody>
      </p:sp>
      <p:sp>
        <p:nvSpPr>
          <p:cNvPr id="57" name="Shape 55"/>
          <p:cNvSpPr/>
          <p:nvPr/>
        </p:nvSpPr>
        <p:spPr>
          <a:xfrm>
            <a:off x="8296474" y="8280400"/>
            <a:ext cx="4426744" cy="9525"/>
          </a:xfrm>
          <a:prstGeom prst="rect">
            <a:avLst/>
          </a:prstGeom>
          <a:solidFill>
            <a:srgbClr val="C9CFD8"/>
          </a:solidFill>
          <a:ln/>
        </p:spPr>
      </p:sp>
      <p:sp>
        <p:nvSpPr>
          <p:cNvPr id="58" name="Text 56"/>
          <p:cNvSpPr/>
          <p:nvPr/>
        </p:nvSpPr>
        <p:spPr>
          <a:xfrm>
            <a:off x="8525074" y="7874198"/>
            <a:ext cx="410234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Full SDK, signed URLs.</a:t>
            </a:r>
            <a:endParaRPr lang="en-US" sz="1275" dirty="0"/>
          </a:p>
        </p:txBody>
      </p:sp>
      <p:sp>
        <p:nvSpPr>
          <p:cNvPr id="59" name="Shape 57"/>
          <p:cNvSpPr/>
          <p:nvPr/>
        </p:nvSpPr>
        <p:spPr>
          <a:xfrm>
            <a:off x="12723218" y="8280400"/>
            <a:ext cx="4345583" cy="9525"/>
          </a:xfrm>
          <a:prstGeom prst="rect">
            <a:avLst/>
          </a:prstGeom>
          <a:solidFill>
            <a:srgbClr val="C9CFD8"/>
          </a:solidFill>
          <a:ln/>
        </p:spPr>
      </p:sp>
      <p:sp>
        <p:nvSpPr>
          <p:cNvPr id="60" name="Text 58"/>
          <p:cNvSpPr/>
          <p:nvPr/>
        </p:nvSpPr>
        <p:spPr>
          <a:xfrm>
            <a:off x="12951818" y="7874198"/>
            <a:ext cx="401875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Public links, embeds with limits.</a:t>
            </a:r>
            <a:endParaRPr lang="en-US" sz="1275" dirty="0"/>
          </a:p>
        </p:txBody>
      </p:sp>
      <p:sp>
        <p:nvSpPr>
          <p:cNvPr id="61" name="Shape 59"/>
          <p:cNvSpPr/>
          <p:nvPr/>
        </p:nvSpPr>
        <p:spPr>
          <a:xfrm>
            <a:off x="1219200" y="8864402"/>
            <a:ext cx="2552700" cy="9525"/>
          </a:xfrm>
          <a:prstGeom prst="rect">
            <a:avLst/>
          </a:prstGeom>
          <a:solidFill>
            <a:srgbClr val="C9CFD8"/>
          </a:solidFill>
          <a:ln/>
        </p:spPr>
      </p:sp>
      <p:sp>
        <p:nvSpPr>
          <p:cNvPr id="62" name="Text 60"/>
          <p:cNvSpPr/>
          <p:nvPr/>
        </p:nvSpPr>
        <p:spPr>
          <a:xfrm>
            <a:off x="1447800" y="8458200"/>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BEST FOR</a:t>
            </a:r>
            <a:endParaRPr lang="en-US" sz="975" dirty="0"/>
          </a:p>
        </p:txBody>
      </p:sp>
      <p:sp>
        <p:nvSpPr>
          <p:cNvPr id="63" name="Shape 61"/>
          <p:cNvSpPr/>
          <p:nvPr/>
        </p:nvSpPr>
        <p:spPr>
          <a:xfrm>
            <a:off x="3771900" y="8864402"/>
            <a:ext cx="4524574" cy="9525"/>
          </a:xfrm>
          <a:prstGeom prst="rect">
            <a:avLst/>
          </a:prstGeom>
          <a:solidFill>
            <a:srgbClr val="C9CFD8"/>
          </a:solidFill>
          <a:ln/>
        </p:spPr>
      </p:sp>
      <p:sp>
        <p:nvSpPr>
          <p:cNvPr id="64" name="Text 62"/>
          <p:cNvSpPr/>
          <p:nvPr/>
        </p:nvSpPr>
        <p:spPr>
          <a:xfrm>
            <a:off x="4000500" y="8458200"/>
            <a:ext cx="4203111"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Enterprise BI on GCP.</a:t>
            </a:r>
            <a:endParaRPr lang="en-US" sz="1275" dirty="0"/>
          </a:p>
        </p:txBody>
      </p:sp>
      <p:sp>
        <p:nvSpPr>
          <p:cNvPr id="65" name="Shape 63"/>
          <p:cNvSpPr/>
          <p:nvPr/>
        </p:nvSpPr>
        <p:spPr>
          <a:xfrm>
            <a:off x="8296474" y="8864402"/>
            <a:ext cx="4426744" cy="9525"/>
          </a:xfrm>
          <a:prstGeom prst="rect">
            <a:avLst/>
          </a:prstGeom>
          <a:solidFill>
            <a:srgbClr val="C9CFD8"/>
          </a:solidFill>
          <a:ln/>
        </p:spPr>
      </p:sp>
      <p:sp>
        <p:nvSpPr>
          <p:cNvPr id="66" name="Text 64"/>
          <p:cNvSpPr/>
          <p:nvPr/>
        </p:nvSpPr>
        <p:spPr>
          <a:xfrm>
            <a:off x="8525074" y="8458200"/>
            <a:ext cx="410234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Existing Looker customers.</a:t>
            </a:r>
            <a:endParaRPr lang="en-US" sz="1275" dirty="0"/>
          </a:p>
        </p:txBody>
      </p:sp>
      <p:sp>
        <p:nvSpPr>
          <p:cNvPr id="67" name="Shape 65"/>
          <p:cNvSpPr/>
          <p:nvPr/>
        </p:nvSpPr>
        <p:spPr>
          <a:xfrm>
            <a:off x="12723218" y="8864402"/>
            <a:ext cx="4345583" cy="9525"/>
          </a:xfrm>
          <a:prstGeom prst="rect">
            <a:avLst/>
          </a:prstGeom>
          <a:solidFill>
            <a:srgbClr val="C9CFD8"/>
          </a:solidFill>
          <a:ln/>
        </p:spPr>
      </p:sp>
      <p:sp>
        <p:nvSpPr>
          <p:cNvPr id="68" name="Text 66"/>
          <p:cNvSpPr/>
          <p:nvPr/>
        </p:nvSpPr>
        <p:spPr>
          <a:xfrm>
            <a:off x="12951818" y="8458200"/>
            <a:ext cx="401875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Ad-hoc reports, marketing analytics.</a:t>
            </a:r>
            <a:endParaRPr lang="en-US" sz="1275" dirty="0"/>
          </a:p>
        </p:txBody>
      </p:sp>
      <p:sp>
        <p:nvSpPr>
          <p:cNvPr id="69" name="Text 6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70" name="Text 6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14 / 60</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4869617" y="755650"/>
            <a:ext cx="227538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01 · MEET LOOKER · RECAP</a:t>
            </a:r>
            <a:endParaRPr lang="en-US" sz="975" dirty="0"/>
          </a:p>
        </p:txBody>
      </p:sp>
      <p:sp>
        <p:nvSpPr>
          <p:cNvPr id="6" name="Text 4"/>
          <p:cNvSpPr/>
          <p:nvPr/>
        </p:nvSpPr>
        <p:spPr>
          <a:xfrm>
            <a:off x="1219200" y="3601045"/>
            <a:ext cx="7934546"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CHAPTER 01 · RECAP</a:t>
            </a:r>
            <a:endParaRPr lang="en-US" sz="1350" dirty="0"/>
          </a:p>
        </p:txBody>
      </p:sp>
      <p:sp>
        <p:nvSpPr>
          <p:cNvPr id="7" name="Text 5"/>
          <p:cNvSpPr/>
          <p:nvPr/>
        </p:nvSpPr>
        <p:spPr>
          <a:xfrm>
            <a:off x="1219200" y="4064596"/>
            <a:ext cx="7934546" cy="2659360"/>
          </a:xfrm>
          <a:prstGeom prst="rect">
            <a:avLst/>
          </a:prstGeom>
          <a:noFill/>
          <a:ln/>
        </p:spPr>
        <p:txBody>
          <a:bodyPr wrap="square" lIns="25400" tIns="25400" rIns="25400" bIns="25400" rtlCol="0" anchor="t">
            <a:normAutofit/>
          </a:bodyPr>
          <a:lstStyle/>
          <a:p>
            <a:pPr algn="l" indent="0" marL="0">
              <a:lnSpc>
                <a:spcPct val="86000"/>
              </a:lnSpc>
              <a:buNone/>
            </a:pPr>
            <a:r>
              <a:rPr lang="en-US" sz="24000" b="1" spc="-960" kern="0" dirty="0">
                <a:solidFill>
                  <a:srgbClr val="FF671F"/>
                </a:solidFill>
                <a:latin typeface="Manrope" pitchFamily="34" charset="0"/>
                <a:ea typeface="Manrope" pitchFamily="34" charset="-122"/>
                <a:cs typeface="Manrope" pitchFamily="34" charset="-120"/>
              </a:rPr>
              <a:t>04 </a:t>
            </a:r>
            <a:pPr algn="l" indent="0" marL="0">
              <a:lnSpc>
                <a:spcPct val="86000"/>
              </a:lnSpc>
              <a:buNone/>
            </a:pPr>
            <a:r>
              <a:rPr lang="en-US" sz="9000" b="1" spc="-960" kern="0" dirty="0">
                <a:solidFill>
                  <a:srgbClr val="1B1F2A"/>
                </a:solidFill>
                <a:latin typeface="Manrope" pitchFamily="34" charset="0"/>
                <a:ea typeface="Manrope" pitchFamily="34" charset="-122"/>
                <a:cs typeface="Manrope" pitchFamily="34" charset="-120"/>
              </a:rPr>
              <a:t>words</a:t>
            </a:r>
            <a:endParaRPr lang="en-US" sz="24000" dirty="0"/>
          </a:p>
        </p:txBody>
      </p:sp>
      <p:sp>
        <p:nvSpPr>
          <p:cNvPr id="8" name="Text 6"/>
          <p:cNvSpPr/>
          <p:nvPr/>
        </p:nvSpPr>
        <p:spPr>
          <a:xfrm>
            <a:off x="10065644" y="3430885"/>
            <a:ext cx="7213252" cy="1169591"/>
          </a:xfrm>
          <a:prstGeom prst="rect">
            <a:avLst/>
          </a:prstGeom>
          <a:noFill/>
          <a:ln/>
        </p:spPr>
        <p:txBody>
          <a:bodyPr wrap="square" lIns="25400" tIns="25400" rIns="25400" bIns="25400" rtlCol="0" anchor="t">
            <a:normAutofit/>
          </a:bodyPr>
          <a:lstStyle/>
          <a:p>
            <a:pPr algn="l" indent="0" marL="0">
              <a:lnSpc>
                <a:spcPct val="110000"/>
              </a:lnSpc>
              <a:buNone/>
            </a:pPr>
            <a:r>
              <a:rPr lang="en-US" sz="4050" b="1" spc="-81" kern="0" dirty="0">
                <a:solidFill>
                  <a:srgbClr val="1B1F2A"/>
                </a:solidFill>
                <a:latin typeface="Manrope" pitchFamily="34" charset="0"/>
                <a:ea typeface="Manrope" pitchFamily="34" charset="-122"/>
                <a:cs typeface="Manrope" pitchFamily="34" charset="-120"/>
              </a:rPr>
              <a:t>Model · Explore · Look · Dashboard.</a:t>
            </a:r>
            <a:endParaRPr lang="en-US" sz="4050" dirty="0"/>
          </a:p>
        </p:txBody>
      </p:sp>
      <p:sp>
        <p:nvSpPr>
          <p:cNvPr id="9" name="Text 7"/>
          <p:cNvSpPr/>
          <p:nvPr/>
        </p:nvSpPr>
        <p:spPr>
          <a:xfrm>
            <a:off x="10065644" y="4829076"/>
            <a:ext cx="5886450" cy="1557139"/>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Looker is a governed BI platform built on a LookML semantic layer. Developers write the model, analysts build Looks and Dashboards on Explores, viewers consume them. Live SQL against your warehouse — never an extract. One definition of every metric, used everywhere.</a:t>
            </a:r>
            <a:endParaRPr lang="en-US" sz="1650" dirty="0"/>
          </a:p>
        </p:txBody>
      </p:sp>
      <p:sp>
        <p:nvSpPr>
          <p:cNvPr id="10" name="Shape 8"/>
          <p:cNvSpPr/>
          <p:nvPr/>
        </p:nvSpPr>
        <p:spPr>
          <a:xfrm>
            <a:off x="10065644" y="6576715"/>
            <a:ext cx="686792" cy="279400"/>
          </a:xfrm>
          <a:prstGeom prst="roundRect">
            <a:avLst>
              <a:gd name="adj" fmla="val 20455"/>
            </a:avLst>
          </a:prstGeom>
          <a:solidFill>
            <a:srgbClr val="1B1F2A"/>
          </a:solidFill>
          <a:ln/>
        </p:spPr>
      </p:sp>
      <p:sp>
        <p:nvSpPr>
          <p:cNvPr id="11" name="Text 9"/>
          <p:cNvSpPr/>
          <p:nvPr/>
        </p:nvSpPr>
        <p:spPr>
          <a:xfrm>
            <a:off x="10179944" y="6633865"/>
            <a:ext cx="534392" cy="20320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FFFF"/>
                </a:solidFill>
                <a:latin typeface="JetBrains Mono" pitchFamily="34" charset="0"/>
                <a:ea typeface="JetBrains Mono" pitchFamily="34" charset="-122"/>
                <a:cs typeface="JetBrains Mono" pitchFamily="34" charset="-120"/>
              </a:rPr>
              <a:t>RECAP</a:t>
            </a:r>
            <a:endParaRPr lang="en-US" sz="975" dirty="0"/>
          </a:p>
        </p:txBody>
      </p:sp>
      <p:sp>
        <p:nvSpPr>
          <p:cNvPr id="12" name="Text 10"/>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13" name="Text 11"/>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15 / 60</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8435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rcRect l="0" r="0" t="0" b="0"/>
          <a:stretch/>
        </p:blipFill>
        <p:spPr>
          <a:xfrm>
            <a:off x="11811000" y="3810000"/>
            <a:ext cx="6477000" cy="6477000"/>
          </a:xfrm>
          <a:prstGeom prst="rect">
            <a:avLst/>
          </a:prstGeom>
        </p:spPr>
      </p:pic>
      <p:sp>
        <p:nvSpPr>
          <p:cNvPr id="3" name="Shape 0"/>
          <p:cNvSpPr/>
          <p:nvPr/>
        </p:nvSpPr>
        <p:spPr>
          <a:xfrm>
            <a:off x="1219200" y="657225"/>
            <a:ext cx="361950" cy="361950"/>
          </a:xfrm>
          <a:prstGeom prst="rect">
            <a:avLst/>
          </a:prstGeom>
          <a:solidFill>
            <a:srgbClr val="FFFFFF"/>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6152416" y="755650"/>
            <a:ext cx="99258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CHAPTER 02</a:t>
            </a:r>
            <a:endParaRPr lang="en-US" sz="975" dirty="0"/>
          </a:p>
        </p:txBody>
      </p:sp>
      <p:sp>
        <p:nvSpPr>
          <p:cNvPr id="7" name="Text 4"/>
          <p:cNvSpPr/>
          <p:nvPr/>
        </p:nvSpPr>
        <p:spPr>
          <a:xfrm>
            <a:off x="1219200" y="2667000"/>
            <a:ext cx="12753975" cy="292100"/>
          </a:xfrm>
          <a:prstGeom prst="rect">
            <a:avLst/>
          </a:prstGeom>
          <a:noFill/>
          <a:ln/>
        </p:spPr>
        <p:txBody>
          <a:bodyPr wrap="square" lIns="25400" tIns="25400" rIns="25400" bIns="25400" rtlCol="0" anchor="t">
            <a:normAutofit/>
          </a:bodyPr>
          <a:lstStyle/>
          <a:p>
            <a:pPr algn="l" indent="0" marL="0">
              <a:buNone/>
            </a:pPr>
            <a:r>
              <a:rPr lang="en-US" sz="1500" spc="300" kern="0" dirty="0">
                <a:solidFill>
                  <a:srgbClr val="FF671F"/>
                </a:solidFill>
                <a:latin typeface="JetBrains Mono" pitchFamily="34" charset="0"/>
                <a:ea typeface="JetBrains Mono" pitchFamily="34" charset="-122"/>
                <a:cs typeface="JetBrains Mono" pitchFamily="34" charset="-120"/>
              </a:rPr>
              <a:t>CHAPTER 02 · SLIDES 16–22</a:t>
            </a:r>
            <a:endParaRPr lang="en-US" sz="1500" dirty="0"/>
          </a:p>
        </p:txBody>
      </p:sp>
      <p:sp>
        <p:nvSpPr>
          <p:cNvPr id="8" name="Text 5"/>
          <p:cNvSpPr/>
          <p:nvPr/>
        </p:nvSpPr>
        <p:spPr>
          <a:xfrm>
            <a:off x="1219200" y="3225800"/>
            <a:ext cx="12753975" cy="2716411"/>
          </a:xfrm>
          <a:prstGeom prst="rect">
            <a:avLst/>
          </a:prstGeom>
          <a:noFill/>
          <a:ln/>
        </p:spPr>
        <p:txBody>
          <a:bodyPr wrap="square" lIns="25400" tIns="25400" rIns="25400" bIns="25400" rtlCol="0" anchor="t">
            <a:normAutofit/>
          </a:bodyPr>
          <a:lstStyle/>
          <a:p>
            <a:pPr algn="l" indent="0" marL="0">
              <a:lnSpc>
                <a:spcPct val="95000"/>
              </a:lnSpc>
              <a:buNone/>
            </a:pPr>
            <a:r>
              <a:rPr lang="en-US" sz="11100" b="1" spc="-278" kern="0" dirty="0">
                <a:solidFill>
                  <a:srgbClr val="FFFFFF"/>
                </a:solidFill>
                <a:latin typeface="Manrope" pitchFamily="34" charset="0"/>
                <a:ea typeface="Manrope" pitchFamily="34" charset="-122"/>
                <a:cs typeface="Manrope" pitchFamily="34" charset="-120"/>
              </a:rPr>
              <a:t>Tour the </a:t>
            </a:r>
            <a:pPr algn="l" indent="0" marL="0">
              <a:lnSpc>
                <a:spcPct val="95000"/>
              </a:lnSpc>
              <a:buNone/>
            </a:pPr>
            <a:r>
              <a:rPr lang="en-US" sz="11100" b="1" spc="-278" kern="0" dirty="0">
                <a:solidFill>
                  <a:srgbClr val="FF671F"/>
                </a:solidFill>
                <a:latin typeface="Manrope" pitchFamily="34" charset="0"/>
                <a:ea typeface="Manrope" pitchFamily="34" charset="-122"/>
                <a:cs typeface="Manrope" pitchFamily="34" charset="-120"/>
              </a:rPr>
              <a:t>UI.</a:t>
            </a:r>
            <a:endParaRPr lang="en-US" sz="11100" dirty="0"/>
          </a:p>
        </p:txBody>
      </p:sp>
      <p:sp>
        <p:nvSpPr>
          <p:cNvPr id="9" name="Text 6"/>
          <p:cNvSpPr/>
          <p:nvPr/>
        </p:nvSpPr>
        <p:spPr>
          <a:xfrm>
            <a:off x="1219200" y="6170811"/>
            <a:ext cx="9810750" cy="758031"/>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alpha val="70000"/>
                  </a:srgbClr>
                </a:solidFill>
                <a:latin typeface="Manrope" pitchFamily="34" charset="0"/>
                <a:ea typeface="Manrope" pitchFamily="34" charset="-122"/>
                <a:cs typeface="Manrope" pitchFamily="34" charset="-120"/>
              </a:rPr>
              <a:t>A walk through the four screens you'll spend most of your time on — Browse, Explore, Look and Dashboard — and how they connect.</a:t>
            </a:r>
            <a:endParaRPr lang="en-US" sz="2100" dirty="0"/>
          </a:p>
        </p:txBody>
      </p:sp>
      <p:sp>
        <p:nvSpPr>
          <p:cNvPr id="10" name="Text 7"/>
          <p:cNvSpPr/>
          <p:nvPr/>
        </p:nvSpPr>
        <p:spPr>
          <a:xfrm>
            <a:off x="12496800" y="2667000"/>
            <a:ext cx="4709160" cy="20320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FFFFFF">
                    <a:alpha val="50000"/>
                  </a:srgbClr>
                </a:solidFill>
                <a:latin typeface="JetBrains Mono" pitchFamily="34" charset="0"/>
                <a:ea typeface="JetBrains Mono" pitchFamily="34" charset="-122"/>
                <a:cs typeface="JetBrains Mono" pitchFamily="34" charset="-120"/>
              </a:rPr>
              <a:t>IN THIS CHAPTER</a:t>
            </a:r>
            <a:endParaRPr lang="en-US" sz="975" dirty="0"/>
          </a:p>
        </p:txBody>
      </p:sp>
      <p:sp>
        <p:nvSpPr>
          <p:cNvPr id="11" name="Shape 8"/>
          <p:cNvSpPr/>
          <p:nvPr/>
        </p:nvSpPr>
        <p:spPr>
          <a:xfrm>
            <a:off x="12496800" y="3429000"/>
            <a:ext cx="4572000" cy="9525"/>
          </a:xfrm>
          <a:prstGeom prst="rect">
            <a:avLst/>
          </a:prstGeom>
          <a:solidFill>
            <a:srgbClr val="FFFFFF">
              <a:alpha val="12000"/>
            </a:srgbClr>
          </a:solidFill>
          <a:ln/>
        </p:spPr>
      </p:sp>
      <p:sp>
        <p:nvSpPr>
          <p:cNvPr id="12" name="Text 9"/>
          <p:cNvSpPr/>
          <p:nvPr/>
        </p:nvSpPr>
        <p:spPr>
          <a:xfrm>
            <a:off x="12496800" y="3060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Meet Looker</a:t>
            </a:r>
            <a:endParaRPr lang="en-US" sz="1350" dirty="0"/>
          </a:p>
        </p:txBody>
      </p:sp>
      <p:sp>
        <p:nvSpPr>
          <p:cNvPr id="13" name="Shape 10"/>
          <p:cNvSpPr/>
          <p:nvPr/>
        </p:nvSpPr>
        <p:spPr>
          <a:xfrm>
            <a:off x="12496800" y="3937000"/>
            <a:ext cx="4572000" cy="9525"/>
          </a:xfrm>
          <a:prstGeom prst="rect">
            <a:avLst/>
          </a:prstGeom>
          <a:solidFill>
            <a:srgbClr val="FFFFFF">
              <a:alpha val="12000"/>
            </a:srgbClr>
          </a:solidFill>
          <a:ln/>
        </p:spPr>
      </p:sp>
      <p:sp>
        <p:nvSpPr>
          <p:cNvPr id="14" name="Text 11"/>
          <p:cNvSpPr/>
          <p:nvPr/>
        </p:nvSpPr>
        <p:spPr>
          <a:xfrm>
            <a:off x="12496800" y="3568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solidFill>
                <a:latin typeface="Manrope" pitchFamily="34" charset="0"/>
                <a:ea typeface="Manrope" pitchFamily="34" charset="-122"/>
                <a:cs typeface="Manrope" pitchFamily="34" charset="-120"/>
              </a:rPr>
              <a:t>Tour the UI</a:t>
            </a:r>
            <a:endParaRPr lang="en-US" sz="1350" dirty="0"/>
          </a:p>
        </p:txBody>
      </p:sp>
      <p:sp>
        <p:nvSpPr>
          <p:cNvPr id="15" name="Shape 12"/>
          <p:cNvSpPr/>
          <p:nvPr/>
        </p:nvSpPr>
        <p:spPr>
          <a:xfrm>
            <a:off x="12496800" y="4445000"/>
            <a:ext cx="4572000" cy="9525"/>
          </a:xfrm>
          <a:prstGeom prst="rect">
            <a:avLst/>
          </a:prstGeom>
          <a:solidFill>
            <a:srgbClr val="FFFFFF">
              <a:alpha val="12000"/>
            </a:srgbClr>
          </a:solidFill>
          <a:ln/>
        </p:spPr>
      </p:sp>
      <p:sp>
        <p:nvSpPr>
          <p:cNvPr id="16" name="Text 13"/>
          <p:cNvSpPr/>
          <p:nvPr/>
        </p:nvSpPr>
        <p:spPr>
          <a:xfrm>
            <a:off x="12496800" y="4076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Dashboards</a:t>
            </a:r>
            <a:endParaRPr lang="en-US" sz="1350" dirty="0"/>
          </a:p>
        </p:txBody>
      </p:sp>
      <p:sp>
        <p:nvSpPr>
          <p:cNvPr id="17" name="Shape 14"/>
          <p:cNvSpPr/>
          <p:nvPr/>
        </p:nvSpPr>
        <p:spPr>
          <a:xfrm>
            <a:off x="12496800" y="4953000"/>
            <a:ext cx="4572000" cy="9525"/>
          </a:xfrm>
          <a:prstGeom prst="rect">
            <a:avLst/>
          </a:prstGeom>
          <a:solidFill>
            <a:srgbClr val="FFFFFF">
              <a:alpha val="12000"/>
            </a:srgbClr>
          </a:solidFill>
          <a:ln/>
        </p:spPr>
      </p:sp>
      <p:sp>
        <p:nvSpPr>
          <p:cNvPr id="18" name="Text 15"/>
          <p:cNvSpPr/>
          <p:nvPr/>
        </p:nvSpPr>
        <p:spPr>
          <a:xfrm>
            <a:off x="12496800" y="4584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LookML &amp; parameters</a:t>
            </a:r>
            <a:endParaRPr lang="en-US" sz="1350" dirty="0"/>
          </a:p>
        </p:txBody>
      </p:sp>
      <p:sp>
        <p:nvSpPr>
          <p:cNvPr id="19" name="Shape 16"/>
          <p:cNvSpPr/>
          <p:nvPr/>
        </p:nvSpPr>
        <p:spPr>
          <a:xfrm>
            <a:off x="12496800" y="5461000"/>
            <a:ext cx="4572000" cy="9525"/>
          </a:xfrm>
          <a:prstGeom prst="rect">
            <a:avLst/>
          </a:prstGeom>
          <a:solidFill>
            <a:srgbClr val="FFFFFF">
              <a:alpha val="12000"/>
            </a:srgbClr>
          </a:solidFill>
          <a:ln/>
        </p:spPr>
      </p:sp>
      <p:sp>
        <p:nvSpPr>
          <p:cNvPr id="20" name="Text 17"/>
          <p:cNvSpPr/>
          <p:nvPr/>
        </p:nvSpPr>
        <p:spPr>
          <a:xfrm>
            <a:off x="12496800" y="5092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Looker vs Looker Studio</a:t>
            </a:r>
            <a:endParaRPr lang="en-US" sz="1350" dirty="0"/>
          </a:p>
        </p:txBody>
      </p:sp>
      <p:sp>
        <p:nvSpPr>
          <p:cNvPr id="21" name="Text 1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globallogic.com</a:t>
            </a:r>
            <a:endParaRPr lang="en-US" sz="1050" dirty="0"/>
          </a:p>
        </p:txBody>
      </p:sp>
      <p:sp>
        <p:nvSpPr>
          <p:cNvPr id="22" name="Text 1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16 / 60</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969159" y="755650"/>
            <a:ext cx="1175841"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02 · UI TOUR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THE LANDING PAGE</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Looker Home — where every session starts.</a:t>
            </a:r>
            <a:endParaRPr lang="en-US" sz="4800" dirty="0"/>
          </a:p>
        </p:txBody>
      </p:sp>
      <p:sp>
        <p:nvSpPr>
          <p:cNvPr id="8" name="Shape 6"/>
          <p:cNvSpPr/>
          <p:nvPr/>
        </p:nvSpPr>
        <p:spPr>
          <a:xfrm>
            <a:off x="1219200" y="3276005"/>
            <a:ext cx="15849600" cy="6299200"/>
          </a:xfrm>
          <a:prstGeom prst="roundRect">
            <a:avLst>
              <a:gd name="adj" fmla="val 2419"/>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9" name="Shape 7"/>
          <p:cNvSpPr/>
          <p:nvPr/>
        </p:nvSpPr>
        <p:spPr>
          <a:xfrm>
            <a:off x="1225550" y="3282355"/>
            <a:ext cx="15836901" cy="533400"/>
          </a:xfrm>
          <a:prstGeom prst="rect">
            <a:avLst/>
          </a:prstGeom>
          <a:solidFill>
            <a:srgbClr val="1A2233"/>
          </a:solidFill>
          <a:ln/>
        </p:spPr>
      </p:sp>
      <p:sp>
        <p:nvSpPr>
          <p:cNvPr id="10" name="Text 8"/>
          <p:cNvSpPr/>
          <p:nvPr/>
        </p:nvSpPr>
        <p:spPr>
          <a:xfrm>
            <a:off x="1416050" y="3431580"/>
            <a:ext cx="662484" cy="27305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FF671F"/>
                </a:solidFill>
                <a:latin typeface="Manrope" pitchFamily="34" charset="0"/>
                <a:ea typeface="Manrope" pitchFamily="34" charset="-122"/>
                <a:cs typeface="Manrope" pitchFamily="34" charset="-120"/>
              </a:rPr>
              <a:t>Looker</a:t>
            </a:r>
            <a:endParaRPr lang="en-US" sz="1350" dirty="0"/>
          </a:p>
        </p:txBody>
      </p:sp>
      <p:sp>
        <p:nvSpPr>
          <p:cNvPr id="11" name="Shape 9"/>
          <p:cNvSpPr/>
          <p:nvPr/>
        </p:nvSpPr>
        <p:spPr>
          <a:xfrm>
            <a:off x="2230934" y="3714155"/>
            <a:ext cx="366514" cy="19050"/>
          </a:xfrm>
          <a:prstGeom prst="rect">
            <a:avLst/>
          </a:prstGeom>
          <a:solidFill>
            <a:srgbClr val="FF671F"/>
          </a:solidFill>
          <a:ln/>
        </p:spPr>
      </p:sp>
      <p:sp>
        <p:nvSpPr>
          <p:cNvPr id="12" name="Text 10"/>
          <p:cNvSpPr/>
          <p:nvPr/>
        </p:nvSpPr>
        <p:spPr>
          <a:xfrm>
            <a:off x="2230934" y="3364905"/>
            <a:ext cx="442714"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solidFill>
                <a:latin typeface="Manrope" pitchFamily="34" charset="0"/>
                <a:ea typeface="Manrope" pitchFamily="34" charset="-122"/>
                <a:cs typeface="Manrope" pitchFamily="34" charset="-120"/>
              </a:rPr>
              <a:t>Home</a:t>
            </a:r>
            <a:endParaRPr lang="en-US" sz="1050" dirty="0"/>
          </a:p>
        </p:txBody>
      </p:sp>
      <p:sp>
        <p:nvSpPr>
          <p:cNvPr id="13" name="Text 11"/>
          <p:cNvSpPr/>
          <p:nvPr/>
        </p:nvSpPr>
        <p:spPr>
          <a:xfrm>
            <a:off x="2806998" y="3364905"/>
            <a:ext cx="535384"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Browse</a:t>
            </a:r>
            <a:endParaRPr lang="en-US" sz="1050" dirty="0"/>
          </a:p>
        </p:txBody>
      </p:sp>
      <p:sp>
        <p:nvSpPr>
          <p:cNvPr id="14" name="Text 12"/>
          <p:cNvSpPr/>
          <p:nvPr/>
        </p:nvSpPr>
        <p:spPr>
          <a:xfrm>
            <a:off x="3475732" y="3364905"/>
            <a:ext cx="544909"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Explore</a:t>
            </a:r>
            <a:endParaRPr lang="en-US" sz="1050" dirty="0"/>
          </a:p>
        </p:txBody>
      </p:sp>
      <p:sp>
        <p:nvSpPr>
          <p:cNvPr id="15" name="Text 13"/>
          <p:cNvSpPr/>
          <p:nvPr/>
        </p:nvSpPr>
        <p:spPr>
          <a:xfrm>
            <a:off x="4153992" y="3364905"/>
            <a:ext cx="582216"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Develop</a:t>
            </a:r>
            <a:endParaRPr lang="en-US" sz="1050" dirty="0"/>
          </a:p>
        </p:txBody>
      </p:sp>
      <p:sp>
        <p:nvSpPr>
          <p:cNvPr id="16" name="Text 14"/>
          <p:cNvSpPr/>
          <p:nvPr/>
        </p:nvSpPr>
        <p:spPr>
          <a:xfrm>
            <a:off x="4869557" y="3364905"/>
            <a:ext cx="471587"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Admin</a:t>
            </a:r>
            <a:endParaRPr lang="en-US" sz="1050" dirty="0"/>
          </a:p>
        </p:txBody>
      </p:sp>
      <p:sp>
        <p:nvSpPr>
          <p:cNvPr id="17" name="Text 15"/>
          <p:cNvSpPr/>
          <p:nvPr/>
        </p:nvSpPr>
        <p:spPr>
          <a:xfrm>
            <a:off x="15652949" y="3456980"/>
            <a:ext cx="1295202" cy="222250"/>
          </a:xfrm>
          <a:prstGeom prst="rect">
            <a:avLst/>
          </a:prstGeom>
          <a:noFill/>
          <a:ln/>
        </p:spPr>
        <p:txBody>
          <a:bodyPr wrap="square" lIns="25400" tIns="25400" rIns="25400" bIns="25400" rtlCol="0" anchor="ctr">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Search · Help · ⓘ · MR</a:t>
            </a:r>
            <a:endParaRPr lang="en-US" sz="975" dirty="0"/>
          </a:p>
        </p:txBody>
      </p:sp>
      <p:sp>
        <p:nvSpPr>
          <p:cNvPr id="18" name="Shape 16"/>
          <p:cNvSpPr/>
          <p:nvPr/>
        </p:nvSpPr>
        <p:spPr>
          <a:xfrm>
            <a:off x="1225550" y="3815755"/>
            <a:ext cx="15836901" cy="5753100"/>
          </a:xfrm>
          <a:prstGeom prst="rect">
            <a:avLst/>
          </a:prstGeom>
          <a:solidFill>
            <a:srgbClr val="F4F6F9"/>
          </a:solidFill>
          <a:ln/>
        </p:spPr>
      </p:sp>
      <p:sp>
        <p:nvSpPr>
          <p:cNvPr id="19" name="Shape 17"/>
          <p:cNvSpPr/>
          <p:nvPr/>
        </p:nvSpPr>
        <p:spPr>
          <a:xfrm>
            <a:off x="1225550" y="3815755"/>
            <a:ext cx="2095500" cy="5753100"/>
          </a:xfrm>
          <a:prstGeom prst="rect">
            <a:avLst/>
          </a:prstGeom>
          <a:solidFill>
            <a:srgbClr val="FFFFFF"/>
          </a:solidFill>
          <a:ln/>
        </p:spPr>
      </p:sp>
      <p:sp>
        <p:nvSpPr>
          <p:cNvPr id="20" name="Shape 18"/>
          <p:cNvSpPr/>
          <p:nvPr/>
        </p:nvSpPr>
        <p:spPr>
          <a:xfrm>
            <a:off x="3314700" y="3815755"/>
            <a:ext cx="9525" cy="5753100"/>
          </a:xfrm>
          <a:prstGeom prst="rect">
            <a:avLst/>
          </a:prstGeom>
          <a:solidFill>
            <a:srgbClr val="C9CFD8"/>
          </a:solidFill>
          <a:ln/>
        </p:spPr>
      </p:sp>
      <p:sp>
        <p:nvSpPr>
          <p:cNvPr id="21" name="Text 19"/>
          <p:cNvSpPr/>
          <p:nvPr/>
        </p:nvSpPr>
        <p:spPr>
          <a:xfrm>
            <a:off x="1397000" y="4044355"/>
            <a:ext cx="1822450" cy="177800"/>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8B95A6"/>
                </a:solidFill>
                <a:latin typeface="JetBrains Mono" pitchFamily="34" charset="0"/>
                <a:ea typeface="JetBrains Mono" pitchFamily="34" charset="-122"/>
                <a:cs typeface="JetBrains Mono" pitchFamily="34" charset="-120"/>
              </a:rPr>
              <a:t>FOLDERS</a:t>
            </a:r>
            <a:endParaRPr lang="en-US" sz="825" dirty="0"/>
          </a:p>
        </p:txBody>
      </p:sp>
      <p:sp>
        <p:nvSpPr>
          <p:cNvPr id="22" name="Text 20"/>
          <p:cNvSpPr/>
          <p:nvPr/>
        </p:nvSpPr>
        <p:spPr>
          <a:xfrm>
            <a:off x="1397000" y="4279305"/>
            <a:ext cx="182245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 Favorites</a:t>
            </a:r>
            <a:endParaRPr lang="en-US" sz="975" dirty="0"/>
          </a:p>
        </p:txBody>
      </p:sp>
      <p:sp>
        <p:nvSpPr>
          <p:cNvPr id="23" name="Text 21"/>
          <p:cNvSpPr/>
          <p:nvPr/>
        </p:nvSpPr>
        <p:spPr>
          <a:xfrm>
            <a:off x="1397000" y="4546005"/>
            <a:ext cx="182245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Personal</a:t>
            </a:r>
            <a:endParaRPr lang="en-US" sz="975" dirty="0"/>
          </a:p>
        </p:txBody>
      </p:sp>
      <p:sp>
        <p:nvSpPr>
          <p:cNvPr id="24" name="Text 22"/>
          <p:cNvSpPr/>
          <p:nvPr/>
        </p:nvSpPr>
        <p:spPr>
          <a:xfrm>
            <a:off x="1397000" y="4812705"/>
            <a:ext cx="182245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Shared</a:t>
            </a:r>
            <a:endParaRPr lang="en-US" sz="975" dirty="0"/>
          </a:p>
        </p:txBody>
      </p:sp>
      <p:sp>
        <p:nvSpPr>
          <p:cNvPr id="25" name="Text 23"/>
          <p:cNvSpPr/>
          <p:nvPr/>
        </p:nvSpPr>
        <p:spPr>
          <a:xfrm>
            <a:off x="1530350" y="5079405"/>
            <a:ext cx="168910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latin typeface="Manrope" pitchFamily="34" charset="0"/>
                <a:ea typeface="Manrope" pitchFamily="34" charset="-122"/>
                <a:cs typeface="Manrope" pitchFamily="34" charset="-120"/>
              </a:rPr>
              <a:t>Marketing</a:t>
            </a:r>
            <a:endParaRPr lang="en-US" sz="975" dirty="0"/>
          </a:p>
        </p:txBody>
      </p:sp>
      <p:sp>
        <p:nvSpPr>
          <p:cNvPr id="26" name="Text 24"/>
          <p:cNvSpPr/>
          <p:nvPr/>
        </p:nvSpPr>
        <p:spPr>
          <a:xfrm>
            <a:off x="1530350" y="5346105"/>
            <a:ext cx="16891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Finance</a:t>
            </a:r>
            <a:endParaRPr lang="en-US" sz="975" dirty="0"/>
          </a:p>
        </p:txBody>
      </p:sp>
      <p:sp>
        <p:nvSpPr>
          <p:cNvPr id="27" name="Text 25"/>
          <p:cNvSpPr/>
          <p:nvPr/>
        </p:nvSpPr>
        <p:spPr>
          <a:xfrm>
            <a:off x="1530350" y="5612805"/>
            <a:ext cx="16891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Sales</a:t>
            </a:r>
            <a:endParaRPr lang="en-US" sz="975" dirty="0"/>
          </a:p>
        </p:txBody>
      </p:sp>
      <p:sp>
        <p:nvSpPr>
          <p:cNvPr id="28" name="Text 26"/>
          <p:cNvSpPr/>
          <p:nvPr/>
        </p:nvSpPr>
        <p:spPr>
          <a:xfrm>
            <a:off x="1530350" y="5879505"/>
            <a:ext cx="16891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Product</a:t>
            </a:r>
            <a:endParaRPr lang="en-US" sz="975" dirty="0"/>
          </a:p>
        </p:txBody>
      </p:sp>
      <p:sp>
        <p:nvSpPr>
          <p:cNvPr id="29" name="Text 27"/>
          <p:cNvSpPr/>
          <p:nvPr/>
        </p:nvSpPr>
        <p:spPr>
          <a:xfrm>
            <a:off x="1530350" y="6146205"/>
            <a:ext cx="16891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Customer Success</a:t>
            </a:r>
            <a:endParaRPr lang="en-US" sz="975" dirty="0"/>
          </a:p>
        </p:txBody>
      </p:sp>
      <p:sp>
        <p:nvSpPr>
          <p:cNvPr id="30" name="Text 28"/>
          <p:cNvSpPr/>
          <p:nvPr/>
        </p:nvSpPr>
        <p:spPr>
          <a:xfrm>
            <a:off x="3663950" y="4120555"/>
            <a:ext cx="13447269" cy="177800"/>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8B95A6"/>
                </a:solidFill>
                <a:latin typeface="JetBrains Mono" pitchFamily="34" charset="0"/>
                <a:ea typeface="JetBrains Mono" pitchFamily="34" charset="-122"/>
                <a:cs typeface="JetBrains Mono" pitchFamily="34" charset="-120"/>
              </a:rPr>
              <a:t>QUICK ACCESS</a:t>
            </a:r>
            <a:endParaRPr lang="en-US" sz="825" dirty="0"/>
          </a:p>
        </p:txBody>
      </p:sp>
      <p:sp>
        <p:nvSpPr>
          <p:cNvPr id="31" name="Shape 29"/>
          <p:cNvSpPr/>
          <p:nvPr/>
        </p:nvSpPr>
        <p:spPr>
          <a:xfrm>
            <a:off x="3663950" y="4336455"/>
            <a:ext cx="3163888" cy="723900"/>
          </a:xfrm>
          <a:prstGeom prst="roundRect">
            <a:avLst>
              <a:gd name="adj" fmla="val 10526"/>
            </a:avLst>
          </a:prstGeom>
          <a:solidFill>
            <a:srgbClr val="FFFFFF"/>
          </a:solidFill>
          <a:ln w="6350">
            <a:solidFill>
              <a:srgbClr val="C9CFD8"/>
            </a:solidFill>
            <a:prstDash val="solid"/>
          </a:ln>
        </p:spPr>
      </p:sp>
      <p:sp>
        <p:nvSpPr>
          <p:cNvPr id="32" name="Text 30"/>
          <p:cNvSpPr/>
          <p:nvPr/>
        </p:nvSpPr>
        <p:spPr>
          <a:xfrm>
            <a:off x="3822700" y="4495205"/>
            <a:ext cx="2931779" cy="234950"/>
          </a:xfrm>
          <a:prstGeom prst="rect">
            <a:avLst/>
          </a:prstGeom>
          <a:noFill/>
          <a:ln/>
        </p:spPr>
        <p:txBody>
          <a:bodyPr wrap="square" lIns="25400" tIns="25400" rIns="25400" bIns="25400" rtlCol="0" anchor="t">
            <a:normAutofit/>
          </a:bodyPr>
          <a:lstStyle/>
          <a:p>
            <a:pPr algn="l" indent="0" marL="0">
              <a:buNone/>
            </a:pPr>
            <a:r>
              <a:rPr lang="en-US" sz="1125" b="1" dirty="0">
                <a:solidFill>
                  <a:srgbClr val="1B1F2A"/>
                </a:solidFill>
                <a:latin typeface="Manrope" pitchFamily="34" charset="0"/>
                <a:ea typeface="Manrope" pitchFamily="34" charset="-122"/>
                <a:cs typeface="Manrope" pitchFamily="34" charset="-120"/>
              </a:rPr>
              <a:t>Marketing — North Star</a:t>
            </a:r>
            <a:endParaRPr lang="en-US" sz="1125" dirty="0"/>
          </a:p>
        </p:txBody>
      </p:sp>
      <p:sp>
        <p:nvSpPr>
          <p:cNvPr id="33" name="Text 31"/>
          <p:cNvSpPr/>
          <p:nvPr/>
        </p:nvSpPr>
        <p:spPr>
          <a:xfrm>
            <a:off x="3822700" y="4730155"/>
            <a:ext cx="2931779"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Dashboard · 14 tiles</a:t>
            </a:r>
            <a:endParaRPr lang="en-US" sz="975" dirty="0"/>
          </a:p>
        </p:txBody>
      </p:sp>
      <p:sp>
        <p:nvSpPr>
          <p:cNvPr id="34" name="Shape 32"/>
          <p:cNvSpPr/>
          <p:nvPr/>
        </p:nvSpPr>
        <p:spPr>
          <a:xfrm>
            <a:off x="6961188" y="4336455"/>
            <a:ext cx="3163888" cy="723900"/>
          </a:xfrm>
          <a:prstGeom prst="roundRect">
            <a:avLst>
              <a:gd name="adj" fmla="val 10526"/>
            </a:avLst>
          </a:prstGeom>
          <a:solidFill>
            <a:srgbClr val="FFFFFF"/>
          </a:solidFill>
          <a:ln w="6350">
            <a:solidFill>
              <a:srgbClr val="C9CFD8"/>
            </a:solidFill>
            <a:prstDash val="solid"/>
          </a:ln>
        </p:spPr>
      </p:sp>
      <p:sp>
        <p:nvSpPr>
          <p:cNvPr id="35" name="Text 33"/>
          <p:cNvSpPr/>
          <p:nvPr/>
        </p:nvSpPr>
        <p:spPr>
          <a:xfrm>
            <a:off x="7119938" y="4495205"/>
            <a:ext cx="2931779" cy="234950"/>
          </a:xfrm>
          <a:prstGeom prst="rect">
            <a:avLst/>
          </a:prstGeom>
          <a:noFill/>
          <a:ln/>
        </p:spPr>
        <p:txBody>
          <a:bodyPr wrap="square" lIns="25400" tIns="25400" rIns="25400" bIns="25400" rtlCol="0" anchor="t">
            <a:normAutofit/>
          </a:bodyPr>
          <a:lstStyle/>
          <a:p>
            <a:pPr algn="l" indent="0" marL="0">
              <a:buNone/>
            </a:pPr>
            <a:r>
              <a:rPr lang="en-US" sz="1125" b="1" dirty="0">
                <a:solidFill>
                  <a:srgbClr val="1B1F2A"/>
                </a:solidFill>
                <a:latin typeface="Manrope" pitchFamily="34" charset="0"/>
                <a:ea typeface="Manrope" pitchFamily="34" charset="-122"/>
                <a:cs typeface="Manrope" pitchFamily="34" charset="-120"/>
              </a:rPr>
              <a:t>Q4 Pipeline</a:t>
            </a:r>
            <a:endParaRPr lang="en-US" sz="1125" dirty="0"/>
          </a:p>
        </p:txBody>
      </p:sp>
      <p:sp>
        <p:nvSpPr>
          <p:cNvPr id="36" name="Text 34"/>
          <p:cNvSpPr/>
          <p:nvPr/>
        </p:nvSpPr>
        <p:spPr>
          <a:xfrm>
            <a:off x="7119938" y="4730155"/>
            <a:ext cx="2931779"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Dashboard · 9 tiles</a:t>
            </a:r>
            <a:endParaRPr lang="en-US" sz="975" dirty="0"/>
          </a:p>
        </p:txBody>
      </p:sp>
      <p:sp>
        <p:nvSpPr>
          <p:cNvPr id="37" name="Shape 35"/>
          <p:cNvSpPr/>
          <p:nvPr/>
        </p:nvSpPr>
        <p:spPr>
          <a:xfrm>
            <a:off x="10258425" y="4336455"/>
            <a:ext cx="3163888" cy="723900"/>
          </a:xfrm>
          <a:prstGeom prst="roundRect">
            <a:avLst>
              <a:gd name="adj" fmla="val 10526"/>
            </a:avLst>
          </a:prstGeom>
          <a:solidFill>
            <a:srgbClr val="FFFFFF"/>
          </a:solidFill>
          <a:ln w="6350">
            <a:solidFill>
              <a:srgbClr val="C9CFD8"/>
            </a:solidFill>
            <a:prstDash val="solid"/>
          </a:ln>
        </p:spPr>
      </p:sp>
      <p:sp>
        <p:nvSpPr>
          <p:cNvPr id="38" name="Text 36"/>
          <p:cNvSpPr/>
          <p:nvPr/>
        </p:nvSpPr>
        <p:spPr>
          <a:xfrm>
            <a:off x="10417176" y="4495205"/>
            <a:ext cx="2931779" cy="234950"/>
          </a:xfrm>
          <a:prstGeom prst="rect">
            <a:avLst/>
          </a:prstGeom>
          <a:noFill/>
          <a:ln/>
        </p:spPr>
        <p:txBody>
          <a:bodyPr wrap="square" lIns="25400" tIns="25400" rIns="25400" bIns="25400" rtlCol="0" anchor="t">
            <a:normAutofit/>
          </a:bodyPr>
          <a:lstStyle/>
          <a:p>
            <a:pPr algn="l" indent="0" marL="0">
              <a:buNone/>
            </a:pPr>
            <a:r>
              <a:rPr lang="en-US" sz="1125" b="1" dirty="0">
                <a:solidFill>
                  <a:srgbClr val="1B1F2A"/>
                </a:solidFill>
                <a:latin typeface="Manrope" pitchFamily="34" charset="0"/>
                <a:ea typeface="Manrope" pitchFamily="34" charset="-122"/>
                <a:cs typeface="Manrope" pitchFamily="34" charset="-120"/>
              </a:rPr>
              <a:t>DAU by Region</a:t>
            </a:r>
            <a:endParaRPr lang="en-US" sz="1125" dirty="0"/>
          </a:p>
        </p:txBody>
      </p:sp>
      <p:sp>
        <p:nvSpPr>
          <p:cNvPr id="39" name="Text 37"/>
          <p:cNvSpPr/>
          <p:nvPr/>
        </p:nvSpPr>
        <p:spPr>
          <a:xfrm>
            <a:off x="10417176" y="4730155"/>
            <a:ext cx="2931779"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Look · Updated 2h ago</a:t>
            </a:r>
            <a:endParaRPr lang="en-US" sz="975" dirty="0"/>
          </a:p>
        </p:txBody>
      </p:sp>
      <p:sp>
        <p:nvSpPr>
          <p:cNvPr id="40" name="Shape 38"/>
          <p:cNvSpPr/>
          <p:nvPr/>
        </p:nvSpPr>
        <p:spPr>
          <a:xfrm>
            <a:off x="13555663" y="4336455"/>
            <a:ext cx="3163888" cy="723900"/>
          </a:xfrm>
          <a:prstGeom prst="roundRect">
            <a:avLst>
              <a:gd name="adj" fmla="val 10526"/>
            </a:avLst>
          </a:prstGeom>
          <a:solidFill>
            <a:srgbClr val="FFFFFF"/>
          </a:solidFill>
          <a:ln w="6350">
            <a:solidFill>
              <a:srgbClr val="C9CFD8"/>
            </a:solidFill>
            <a:prstDash val="solid"/>
          </a:ln>
        </p:spPr>
      </p:sp>
      <p:sp>
        <p:nvSpPr>
          <p:cNvPr id="41" name="Text 39"/>
          <p:cNvSpPr/>
          <p:nvPr/>
        </p:nvSpPr>
        <p:spPr>
          <a:xfrm>
            <a:off x="13714413" y="4495205"/>
            <a:ext cx="2931779" cy="234950"/>
          </a:xfrm>
          <a:prstGeom prst="rect">
            <a:avLst/>
          </a:prstGeom>
          <a:noFill/>
          <a:ln/>
        </p:spPr>
        <p:txBody>
          <a:bodyPr wrap="square" lIns="25400" tIns="25400" rIns="25400" bIns="25400" rtlCol="0" anchor="t">
            <a:normAutofit/>
          </a:bodyPr>
          <a:lstStyle/>
          <a:p>
            <a:pPr algn="l" indent="0" marL="0">
              <a:buNone/>
            </a:pPr>
            <a:r>
              <a:rPr lang="en-US" sz="1125" b="1" dirty="0">
                <a:solidFill>
                  <a:srgbClr val="1B1F2A"/>
                </a:solidFill>
                <a:latin typeface="Manrope" pitchFamily="34" charset="0"/>
                <a:ea typeface="Manrope" pitchFamily="34" charset="-122"/>
                <a:cs typeface="Manrope" pitchFamily="34" charset="-120"/>
              </a:rPr>
              <a:t>Order Analytics</a:t>
            </a:r>
            <a:endParaRPr lang="en-US" sz="1125" dirty="0"/>
          </a:p>
        </p:txBody>
      </p:sp>
      <p:sp>
        <p:nvSpPr>
          <p:cNvPr id="42" name="Text 40"/>
          <p:cNvSpPr/>
          <p:nvPr/>
        </p:nvSpPr>
        <p:spPr>
          <a:xfrm>
            <a:off x="13714413" y="4730155"/>
            <a:ext cx="2931779"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Explore · ecommerce model</a:t>
            </a:r>
            <a:endParaRPr lang="en-US" sz="975" dirty="0"/>
          </a:p>
        </p:txBody>
      </p:sp>
      <p:sp>
        <p:nvSpPr>
          <p:cNvPr id="43" name="Text 41"/>
          <p:cNvSpPr/>
          <p:nvPr/>
        </p:nvSpPr>
        <p:spPr>
          <a:xfrm>
            <a:off x="3663950" y="5288955"/>
            <a:ext cx="13447269" cy="177800"/>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8B95A6"/>
                </a:solidFill>
                <a:latin typeface="JetBrains Mono" pitchFamily="34" charset="0"/>
                <a:ea typeface="JetBrains Mono" pitchFamily="34" charset="-122"/>
                <a:cs typeface="JetBrains Mono" pitchFamily="34" charset="-120"/>
              </a:rPr>
              <a:t>BOARDS</a:t>
            </a:r>
            <a:endParaRPr lang="en-US" sz="825" dirty="0"/>
          </a:p>
        </p:txBody>
      </p:sp>
      <p:sp>
        <p:nvSpPr>
          <p:cNvPr id="44" name="Shape 42"/>
          <p:cNvSpPr/>
          <p:nvPr/>
        </p:nvSpPr>
        <p:spPr>
          <a:xfrm>
            <a:off x="3663950" y="5504855"/>
            <a:ext cx="4262934" cy="488950"/>
          </a:xfrm>
          <a:prstGeom prst="roundRect">
            <a:avLst>
              <a:gd name="adj" fmla="val 15584"/>
            </a:avLst>
          </a:prstGeom>
          <a:solidFill>
            <a:srgbClr val="FFFFFF"/>
          </a:solidFill>
          <a:ln w="6350">
            <a:solidFill>
              <a:srgbClr val="C9CFD8"/>
            </a:solidFill>
            <a:prstDash val="solid"/>
          </a:ln>
        </p:spPr>
      </p:sp>
      <p:sp>
        <p:nvSpPr>
          <p:cNvPr id="45" name="Text 43"/>
          <p:cNvSpPr/>
          <p:nvPr/>
        </p:nvSpPr>
        <p:spPr>
          <a:xfrm>
            <a:off x="3822700" y="5663605"/>
            <a:ext cx="4073322" cy="209550"/>
          </a:xfrm>
          <a:prstGeom prst="rect">
            <a:avLst/>
          </a:prstGeom>
          <a:noFill/>
          <a:ln/>
        </p:spPr>
        <p:txBody>
          <a:bodyPr wrap="square" lIns="25400" tIns="25400" rIns="25400" bIns="25400" rtlCol="0" anchor="t">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Executive Weekly</a:t>
            </a:r>
            <a:endParaRPr lang="en-US" sz="975" dirty="0"/>
          </a:p>
        </p:txBody>
      </p:sp>
      <p:sp>
        <p:nvSpPr>
          <p:cNvPr id="46" name="Shape 44"/>
          <p:cNvSpPr/>
          <p:nvPr/>
        </p:nvSpPr>
        <p:spPr>
          <a:xfrm>
            <a:off x="8060234" y="5504855"/>
            <a:ext cx="4262934" cy="488950"/>
          </a:xfrm>
          <a:prstGeom prst="roundRect">
            <a:avLst>
              <a:gd name="adj" fmla="val 15584"/>
            </a:avLst>
          </a:prstGeom>
          <a:solidFill>
            <a:srgbClr val="FFFFFF"/>
          </a:solidFill>
          <a:ln w="6350">
            <a:solidFill>
              <a:srgbClr val="C9CFD8"/>
            </a:solidFill>
            <a:prstDash val="solid"/>
          </a:ln>
        </p:spPr>
      </p:sp>
      <p:sp>
        <p:nvSpPr>
          <p:cNvPr id="47" name="Text 45"/>
          <p:cNvSpPr/>
          <p:nvPr/>
        </p:nvSpPr>
        <p:spPr>
          <a:xfrm>
            <a:off x="8218984" y="5663605"/>
            <a:ext cx="4073322" cy="209550"/>
          </a:xfrm>
          <a:prstGeom prst="rect">
            <a:avLst/>
          </a:prstGeom>
          <a:noFill/>
          <a:ln/>
        </p:spPr>
        <p:txBody>
          <a:bodyPr wrap="square" lIns="25400" tIns="25400" rIns="25400" bIns="25400" rtlCol="0" anchor="t">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Marketing Operations</a:t>
            </a:r>
            <a:endParaRPr lang="en-US" sz="975" dirty="0"/>
          </a:p>
        </p:txBody>
      </p:sp>
      <p:sp>
        <p:nvSpPr>
          <p:cNvPr id="48" name="Shape 46"/>
          <p:cNvSpPr/>
          <p:nvPr/>
        </p:nvSpPr>
        <p:spPr>
          <a:xfrm>
            <a:off x="12456518" y="5504855"/>
            <a:ext cx="4262934" cy="488950"/>
          </a:xfrm>
          <a:prstGeom prst="roundRect">
            <a:avLst>
              <a:gd name="adj" fmla="val 15584"/>
            </a:avLst>
          </a:prstGeom>
          <a:solidFill>
            <a:srgbClr val="FFFFFF"/>
          </a:solidFill>
          <a:ln w="6350">
            <a:solidFill>
              <a:srgbClr val="C9CFD8"/>
            </a:solidFill>
            <a:prstDash val="solid"/>
          </a:ln>
        </p:spPr>
      </p:sp>
      <p:sp>
        <p:nvSpPr>
          <p:cNvPr id="49" name="Text 47"/>
          <p:cNvSpPr/>
          <p:nvPr/>
        </p:nvSpPr>
        <p:spPr>
          <a:xfrm>
            <a:off x="12615268" y="5663605"/>
            <a:ext cx="4073322" cy="209550"/>
          </a:xfrm>
          <a:prstGeom prst="rect">
            <a:avLst/>
          </a:prstGeom>
          <a:noFill/>
          <a:ln/>
        </p:spPr>
        <p:txBody>
          <a:bodyPr wrap="square" lIns="25400" tIns="25400" rIns="25400" bIns="25400" rtlCol="0" anchor="t">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Customer Support Pulse</a:t>
            </a:r>
            <a:endParaRPr lang="en-US" sz="975" dirty="0"/>
          </a:p>
        </p:txBody>
      </p:sp>
      <p:sp>
        <p:nvSpPr>
          <p:cNvPr id="50" name="Shape 48"/>
          <p:cNvSpPr/>
          <p:nvPr/>
        </p:nvSpPr>
        <p:spPr>
          <a:xfrm>
            <a:off x="3663950" y="6222405"/>
            <a:ext cx="13055601" cy="800100"/>
          </a:xfrm>
          <a:prstGeom prst="roundRect">
            <a:avLst>
              <a:gd name="adj" fmla="val 9524"/>
            </a:avLst>
          </a:prstGeom>
          <a:solidFill>
            <a:srgbClr val="FFFFFF"/>
          </a:solidFill>
          <a:ln w="6350">
            <a:solidFill>
              <a:srgbClr val="C9CFD8"/>
            </a:solidFill>
            <a:prstDash val="solid"/>
          </a:ln>
        </p:spPr>
      </p:sp>
      <p:sp>
        <p:nvSpPr>
          <p:cNvPr id="51" name="Text 49"/>
          <p:cNvSpPr/>
          <p:nvPr/>
        </p:nvSpPr>
        <p:spPr>
          <a:xfrm>
            <a:off x="3841750" y="6400205"/>
            <a:ext cx="13081000" cy="234950"/>
          </a:xfrm>
          <a:prstGeom prst="rect">
            <a:avLst/>
          </a:prstGeom>
          <a:noFill/>
          <a:ln/>
        </p:spPr>
        <p:txBody>
          <a:bodyPr wrap="square" lIns="25400" tIns="25400" rIns="25400" bIns="25400" rtlCol="0" anchor="t">
            <a:normAutofit/>
          </a:bodyPr>
          <a:lstStyle/>
          <a:p>
            <a:pPr algn="l" indent="0" marL="0">
              <a:buNone/>
            </a:pPr>
            <a:r>
              <a:rPr lang="en-US" sz="1125" b="1" dirty="0">
                <a:solidFill>
                  <a:srgbClr val="1B1F2A"/>
                </a:solidFill>
                <a:latin typeface="Manrope" pitchFamily="34" charset="0"/>
                <a:ea typeface="Manrope" pitchFamily="34" charset="-122"/>
                <a:cs typeface="Manrope" pitchFamily="34" charset="-120"/>
              </a:rPr>
              <a:t>Recently viewed</a:t>
            </a:r>
            <a:endParaRPr lang="en-US" sz="1125" dirty="0"/>
          </a:p>
        </p:txBody>
      </p:sp>
      <p:sp>
        <p:nvSpPr>
          <p:cNvPr id="52" name="Text 50"/>
          <p:cNvSpPr/>
          <p:nvPr/>
        </p:nvSpPr>
        <p:spPr>
          <a:xfrm>
            <a:off x="3841750" y="6673255"/>
            <a:ext cx="130810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Marketing — North Star · Q4 Pipeline · Conversion funnel · DAU by Region · Customer churn risk · …</a:t>
            </a:r>
            <a:endParaRPr lang="en-US" sz="975" dirty="0"/>
          </a:p>
        </p:txBody>
      </p:sp>
      <p:sp>
        <p:nvSpPr>
          <p:cNvPr id="53" name="Shape 51"/>
          <p:cNvSpPr/>
          <p:nvPr/>
        </p:nvSpPr>
        <p:spPr>
          <a:xfrm>
            <a:off x="857250" y="3447455"/>
            <a:ext cx="4739481"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54" name="Text 52"/>
          <p:cNvSpPr/>
          <p:nvPr/>
        </p:nvSpPr>
        <p:spPr>
          <a:xfrm>
            <a:off x="990600" y="3523655"/>
            <a:ext cx="4614966"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Global nav — Home, Browse, Explore, Develop, Admin.</a:t>
            </a:r>
            <a:endParaRPr lang="en-US" sz="975" dirty="0"/>
          </a:p>
        </p:txBody>
      </p:sp>
      <p:sp>
        <p:nvSpPr>
          <p:cNvPr id="55" name="Shape 53"/>
          <p:cNvSpPr/>
          <p:nvPr/>
        </p:nvSpPr>
        <p:spPr>
          <a:xfrm>
            <a:off x="133350" y="4018955"/>
            <a:ext cx="4249142"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56" name="Text 54"/>
          <p:cNvSpPr/>
          <p:nvPr/>
        </p:nvSpPr>
        <p:spPr>
          <a:xfrm>
            <a:off x="266700" y="4095155"/>
            <a:ext cx="4109917"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Folder rail — personal, shared, team folders.</a:t>
            </a:r>
            <a:endParaRPr lang="en-US" sz="975" dirty="0"/>
          </a:p>
        </p:txBody>
      </p:sp>
      <p:sp>
        <p:nvSpPr>
          <p:cNvPr id="57" name="Shape 55"/>
          <p:cNvSpPr/>
          <p:nvPr/>
        </p:nvSpPr>
        <p:spPr>
          <a:xfrm>
            <a:off x="2286000" y="5295305"/>
            <a:ext cx="4657725"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58" name="Text 56"/>
          <p:cNvSpPr/>
          <p:nvPr/>
        </p:nvSpPr>
        <p:spPr>
          <a:xfrm>
            <a:off x="2419350" y="5371505"/>
            <a:ext cx="4530757"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Quick access — recent Dashboards, Looks, Explores.</a:t>
            </a:r>
            <a:endParaRPr lang="en-US" sz="975" dirty="0"/>
          </a:p>
        </p:txBody>
      </p:sp>
      <p:sp>
        <p:nvSpPr>
          <p:cNvPr id="59" name="Shape 57"/>
          <p:cNvSpPr/>
          <p:nvPr/>
        </p:nvSpPr>
        <p:spPr>
          <a:xfrm>
            <a:off x="2286000" y="7124105"/>
            <a:ext cx="3922216"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60" name="Text 58"/>
          <p:cNvSpPr/>
          <p:nvPr/>
        </p:nvSpPr>
        <p:spPr>
          <a:xfrm>
            <a:off x="2419350" y="7200305"/>
            <a:ext cx="3773183"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Boards — curated home pages per audience.</a:t>
            </a:r>
            <a:endParaRPr lang="en-US" sz="975" dirty="0"/>
          </a:p>
        </p:txBody>
      </p:sp>
      <p:sp>
        <p:nvSpPr>
          <p:cNvPr id="61" name="Text 59"/>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2" name="Text 60"/>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17 / 60</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969159" y="755650"/>
            <a:ext cx="1175841"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02 · UI TOUR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BROWSE</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Folders, content, search.</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Browse is Looker's "Finder" — every Look, Dashboard and Board lives in a folder, and folders carry permissions. Where a piece of content sits decides who can open it.</a:t>
            </a:r>
            <a:endParaRPr lang="en-US" sz="1650" dirty="0"/>
          </a:p>
        </p:txBody>
      </p:sp>
      <p:sp>
        <p:nvSpPr>
          <p:cNvPr id="9" name="Shape 7"/>
          <p:cNvSpPr/>
          <p:nvPr/>
        </p:nvSpPr>
        <p:spPr>
          <a:xfrm>
            <a:off x="1219200" y="4572496"/>
            <a:ext cx="7696200" cy="4965700"/>
          </a:xfrm>
          <a:prstGeom prst="roundRect">
            <a:avLst>
              <a:gd name="adj" fmla="val 3069"/>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10" name="Shape 8"/>
          <p:cNvSpPr/>
          <p:nvPr/>
        </p:nvSpPr>
        <p:spPr>
          <a:xfrm>
            <a:off x="1225550" y="4578846"/>
            <a:ext cx="7683500" cy="431800"/>
          </a:xfrm>
          <a:prstGeom prst="rect">
            <a:avLst/>
          </a:prstGeom>
          <a:solidFill>
            <a:srgbClr val="F4F6F9"/>
          </a:solidFill>
          <a:ln/>
        </p:spPr>
      </p:sp>
      <p:sp>
        <p:nvSpPr>
          <p:cNvPr id="11" name="Shape 9"/>
          <p:cNvSpPr/>
          <p:nvPr/>
        </p:nvSpPr>
        <p:spPr>
          <a:xfrm>
            <a:off x="1225550" y="5004296"/>
            <a:ext cx="7683500" cy="9525"/>
          </a:xfrm>
          <a:prstGeom prst="rect">
            <a:avLst/>
          </a:prstGeom>
          <a:solidFill>
            <a:srgbClr val="C9CFD8"/>
          </a:solidFill>
          <a:ln/>
        </p:spPr>
      </p:sp>
      <p:sp>
        <p:nvSpPr>
          <p:cNvPr id="12" name="Shape 10"/>
          <p:cNvSpPr/>
          <p:nvPr/>
        </p:nvSpPr>
        <p:spPr>
          <a:xfrm>
            <a:off x="1397000" y="4734421"/>
            <a:ext cx="114300" cy="114300"/>
          </a:xfrm>
          <a:prstGeom prst="ellipse">
            <a:avLst/>
          </a:prstGeom>
          <a:solidFill>
            <a:srgbClr val="E55353"/>
          </a:solidFill>
          <a:ln/>
        </p:spPr>
      </p:sp>
      <p:sp>
        <p:nvSpPr>
          <p:cNvPr id="13" name="Shape 11"/>
          <p:cNvSpPr/>
          <p:nvPr/>
        </p:nvSpPr>
        <p:spPr>
          <a:xfrm>
            <a:off x="1606550" y="4734421"/>
            <a:ext cx="114300" cy="114300"/>
          </a:xfrm>
          <a:prstGeom prst="ellipse">
            <a:avLst/>
          </a:prstGeom>
          <a:solidFill>
            <a:srgbClr val="F4BE5C"/>
          </a:solidFill>
          <a:ln/>
        </p:spPr>
      </p:sp>
      <p:sp>
        <p:nvSpPr>
          <p:cNvPr id="14" name="Shape 12"/>
          <p:cNvSpPr/>
          <p:nvPr/>
        </p:nvSpPr>
        <p:spPr>
          <a:xfrm>
            <a:off x="1816100" y="4734421"/>
            <a:ext cx="114300" cy="114300"/>
          </a:xfrm>
          <a:prstGeom prst="ellipse">
            <a:avLst/>
          </a:prstGeom>
          <a:solidFill>
            <a:srgbClr val="54C175"/>
          </a:solidFill>
          <a:ln/>
        </p:spPr>
      </p:sp>
      <p:sp>
        <p:nvSpPr>
          <p:cNvPr id="15" name="Shape 13"/>
          <p:cNvSpPr/>
          <p:nvPr/>
        </p:nvSpPr>
        <p:spPr>
          <a:xfrm>
            <a:off x="2197100" y="4674096"/>
            <a:ext cx="2263676" cy="234950"/>
          </a:xfrm>
          <a:prstGeom prst="roundRect">
            <a:avLst>
              <a:gd name="adj" fmla="val 24324"/>
            </a:avLst>
          </a:prstGeom>
          <a:solidFill>
            <a:srgbClr val="FFFFFF"/>
          </a:solidFill>
          <a:ln w="6350">
            <a:solidFill>
              <a:srgbClr val="C9CFD8"/>
            </a:solidFill>
            <a:prstDash val="solid"/>
          </a:ln>
        </p:spPr>
      </p:sp>
      <p:sp>
        <p:nvSpPr>
          <p:cNvPr id="16" name="Text 14"/>
          <p:cNvSpPr/>
          <p:nvPr/>
        </p:nvSpPr>
        <p:spPr>
          <a:xfrm>
            <a:off x="2336800" y="4718546"/>
            <a:ext cx="2060476" cy="184150"/>
          </a:xfrm>
          <a:prstGeom prst="rect">
            <a:avLst/>
          </a:prstGeom>
          <a:noFill/>
          <a:ln/>
        </p:spPr>
        <p:txBody>
          <a:bodyPr wrap="square" lIns="25400" tIns="25400" rIns="25400" bIns="25400" rtlCol="0" anchor="t">
            <a:normAutofit/>
          </a:bodyPr>
          <a:lstStyle/>
          <a:p>
            <a:pPr algn="l" indent="0" marL="0">
              <a:buNone/>
            </a:pPr>
            <a:r>
              <a:rPr lang="en-US" sz="900" spc="18" kern="0" dirty="0">
                <a:solidFill>
                  <a:srgbClr val="8B95A6"/>
                </a:solidFill>
                <a:latin typeface="JetBrains Mono" pitchFamily="34" charset="0"/>
                <a:ea typeface="JetBrains Mono" pitchFamily="34" charset="-122"/>
                <a:cs typeface="JetBrains Mono" pitchFamily="34" charset="-120"/>
              </a:rPr>
              <a:t>acme.cloud.looker.com/browse</a:t>
            </a:r>
            <a:endParaRPr lang="en-US" sz="900" dirty="0"/>
          </a:p>
        </p:txBody>
      </p:sp>
      <p:sp>
        <p:nvSpPr>
          <p:cNvPr id="17" name="Shape 15"/>
          <p:cNvSpPr/>
          <p:nvPr/>
        </p:nvSpPr>
        <p:spPr>
          <a:xfrm>
            <a:off x="1225550" y="5010646"/>
            <a:ext cx="2286000" cy="4521200"/>
          </a:xfrm>
          <a:prstGeom prst="rect">
            <a:avLst/>
          </a:prstGeom>
          <a:solidFill>
            <a:srgbClr val="F4F6F9"/>
          </a:solidFill>
          <a:ln/>
        </p:spPr>
      </p:sp>
      <p:sp>
        <p:nvSpPr>
          <p:cNvPr id="18" name="Text 16"/>
          <p:cNvSpPr/>
          <p:nvPr/>
        </p:nvSpPr>
        <p:spPr>
          <a:xfrm>
            <a:off x="1377950" y="5163046"/>
            <a:ext cx="2057400" cy="177800"/>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8B95A6"/>
                </a:solidFill>
                <a:latin typeface="JetBrains Mono" pitchFamily="34" charset="0"/>
                <a:ea typeface="JetBrains Mono" pitchFamily="34" charset="-122"/>
                <a:cs typeface="JetBrains Mono" pitchFamily="34" charset="-120"/>
              </a:rPr>
              <a:t>ALL FOLDERS</a:t>
            </a:r>
            <a:endParaRPr lang="en-US" sz="825" dirty="0"/>
          </a:p>
        </p:txBody>
      </p:sp>
      <p:sp>
        <p:nvSpPr>
          <p:cNvPr id="19" name="Text 17"/>
          <p:cNvSpPr/>
          <p:nvPr/>
        </p:nvSpPr>
        <p:spPr>
          <a:xfrm>
            <a:off x="1377950" y="5359896"/>
            <a:ext cx="20574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 Favorites</a:t>
            </a:r>
            <a:endParaRPr lang="en-US" sz="975" dirty="0"/>
          </a:p>
        </p:txBody>
      </p:sp>
      <p:sp>
        <p:nvSpPr>
          <p:cNvPr id="20" name="Text 18"/>
          <p:cNvSpPr/>
          <p:nvPr/>
        </p:nvSpPr>
        <p:spPr>
          <a:xfrm>
            <a:off x="1377950" y="5588496"/>
            <a:ext cx="20574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Personal</a:t>
            </a:r>
            <a:endParaRPr lang="en-US" sz="975" dirty="0"/>
          </a:p>
        </p:txBody>
      </p:sp>
      <p:sp>
        <p:nvSpPr>
          <p:cNvPr id="21" name="Shape 19"/>
          <p:cNvSpPr/>
          <p:nvPr/>
        </p:nvSpPr>
        <p:spPr>
          <a:xfrm>
            <a:off x="1282700" y="5855196"/>
            <a:ext cx="2171700" cy="298450"/>
          </a:xfrm>
          <a:prstGeom prst="roundRect">
            <a:avLst>
              <a:gd name="adj" fmla="val 19149"/>
            </a:avLst>
          </a:prstGeom>
          <a:solidFill>
            <a:srgbClr val="FFFFFF"/>
          </a:solidFill>
          <a:ln w="6350">
            <a:solidFill>
              <a:srgbClr val="C9CFD8"/>
            </a:solidFill>
            <a:prstDash val="solid"/>
          </a:ln>
        </p:spPr>
      </p:sp>
      <p:sp>
        <p:nvSpPr>
          <p:cNvPr id="22" name="Text 20"/>
          <p:cNvSpPr/>
          <p:nvPr/>
        </p:nvSpPr>
        <p:spPr>
          <a:xfrm>
            <a:off x="1384300" y="5918696"/>
            <a:ext cx="204470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 Shared · Marketing</a:t>
            </a:r>
            <a:endParaRPr lang="en-US" sz="975" dirty="0"/>
          </a:p>
        </p:txBody>
      </p:sp>
      <p:sp>
        <p:nvSpPr>
          <p:cNvPr id="23" name="Text 21"/>
          <p:cNvSpPr/>
          <p:nvPr/>
        </p:nvSpPr>
        <p:spPr>
          <a:xfrm>
            <a:off x="1511300" y="6248896"/>
            <a:ext cx="192405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 Acquisition</a:t>
            </a:r>
            <a:endParaRPr lang="en-US" sz="975" dirty="0"/>
          </a:p>
        </p:txBody>
      </p:sp>
      <p:sp>
        <p:nvSpPr>
          <p:cNvPr id="24" name="Text 22"/>
          <p:cNvSpPr/>
          <p:nvPr/>
        </p:nvSpPr>
        <p:spPr>
          <a:xfrm>
            <a:off x="1511300" y="6477496"/>
            <a:ext cx="192405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 Retention</a:t>
            </a:r>
            <a:endParaRPr lang="en-US" sz="975" dirty="0"/>
          </a:p>
        </p:txBody>
      </p:sp>
      <p:sp>
        <p:nvSpPr>
          <p:cNvPr id="25" name="Text 23"/>
          <p:cNvSpPr/>
          <p:nvPr/>
        </p:nvSpPr>
        <p:spPr>
          <a:xfrm>
            <a:off x="1511300" y="6706096"/>
            <a:ext cx="192405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 Brand</a:t>
            </a:r>
            <a:endParaRPr lang="en-US" sz="975" dirty="0"/>
          </a:p>
        </p:txBody>
      </p:sp>
      <p:sp>
        <p:nvSpPr>
          <p:cNvPr id="26" name="Text 24"/>
          <p:cNvSpPr/>
          <p:nvPr/>
        </p:nvSpPr>
        <p:spPr>
          <a:xfrm>
            <a:off x="1377950" y="6934696"/>
            <a:ext cx="20574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Sales</a:t>
            </a:r>
            <a:endParaRPr lang="en-US" sz="975" dirty="0"/>
          </a:p>
        </p:txBody>
      </p:sp>
      <p:sp>
        <p:nvSpPr>
          <p:cNvPr id="27" name="Text 25"/>
          <p:cNvSpPr/>
          <p:nvPr/>
        </p:nvSpPr>
        <p:spPr>
          <a:xfrm>
            <a:off x="1377950" y="7163296"/>
            <a:ext cx="20574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Finance</a:t>
            </a:r>
            <a:endParaRPr lang="en-US" sz="975" dirty="0"/>
          </a:p>
        </p:txBody>
      </p:sp>
      <p:sp>
        <p:nvSpPr>
          <p:cNvPr id="28" name="Text 26"/>
          <p:cNvSpPr/>
          <p:nvPr/>
        </p:nvSpPr>
        <p:spPr>
          <a:xfrm>
            <a:off x="1377950" y="7391896"/>
            <a:ext cx="20574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Product</a:t>
            </a:r>
            <a:endParaRPr lang="en-US" sz="975" dirty="0"/>
          </a:p>
        </p:txBody>
      </p:sp>
      <p:sp>
        <p:nvSpPr>
          <p:cNvPr id="29" name="Shape 27"/>
          <p:cNvSpPr/>
          <p:nvPr/>
        </p:nvSpPr>
        <p:spPr>
          <a:xfrm>
            <a:off x="3511550" y="5010646"/>
            <a:ext cx="5397500" cy="4521200"/>
          </a:xfrm>
          <a:prstGeom prst="rect">
            <a:avLst/>
          </a:prstGeom>
          <a:solidFill>
            <a:srgbClr val="FFFFFF"/>
          </a:solidFill>
          <a:ln/>
        </p:spPr>
      </p:sp>
      <p:sp>
        <p:nvSpPr>
          <p:cNvPr id="30" name="Shape 28"/>
          <p:cNvSpPr/>
          <p:nvPr/>
        </p:nvSpPr>
        <p:spPr>
          <a:xfrm>
            <a:off x="3683000" y="5477371"/>
            <a:ext cx="5054600" cy="9525"/>
          </a:xfrm>
          <a:prstGeom prst="rect">
            <a:avLst/>
          </a:prstGeom>
          <a:solidFill>
            <a:srgbClr val="C9CFD8"/>
          </a:solidFill>
          <a:ln/>
        </p:spPr>
      </p:sp>
      <p:sp>
        <p:nvSpPr>
          <p:cNvPr id="31" name="Shape 29"/>
          <p:cNvSpPr/>
          <p:nvPr/>
        </p:nvSpPr>
        <p:spPr>
          <a:xfrm>
            <a:off x="3683000" y="5467846"/>
            <a:ext cx="917377" cy="19050"/>
          </a:xfrm>
          <a:prstGeom prst="rect">
            <a:avLst/>
          </a:prstGeom>
          <a:solidFill>
            <a:srgbClr val="FF671F"/>
          </a:solidFill>
          <a:ln/>
        </p:spPr>
      </p:sp>
      <p:sp>
        <p:nvSpPr>
          <p:cNvPr id="32" name="Text 30"/>
          <p:cNvSpPr/>
          <p:nvPr/>
        </p:nvSpPr>
        <p:spPr>
          <a:xfrm>
            <a:off x="3683000" y="5182096"/>
            <a:ext cx="993577"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Dashboards (8)</a:t>
            </a:r>
            <a:endParaRPr lang="en-US" sz="975" dirty="0"/>
          </a:p>
        </p:txBody>
      </p:sp>
      <p:sp>
        <p:nvSpPr>
          <p:cNvPr id="33" name="Text 31"/>
          <p:cNvSpPr/>
          <p:nvPr/>
        </p:nvSpPr>
        <p:spPr>
          <a:xfrm>
            <a:off x="4771827" y="5182096"/>
            <a:ext cx="677565" cy="219075"/>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Looks (24)</a:t>
            </a:r>
            <a:endParaRPr lang="en-US" sz="975" dirty="0"/>
          </a:p>
        </p:txBody>
      </p:sp>
      <p:sp>
        <p:nvSpPr>
          <p:cNvPr id="34" name="Text 32"/>
          <p:cNvSpPr/>
          <p:nvPr/>
        </p:nvSpPr>
        <p:spPr>
          <a:xfrm>
            <a:off x="5544642" y="5182096"/>
            <a:ext cx="676870" cy="219075"/>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Boards (2)</a:t>
            </a:r>
            <a:endParaRPr lang="en-US" sz="975" dirty="0"/>
          </a:p>
        </p:txBody>
      </p:sp>
      <p:sp>
        <p:nvSpPr>
          <p:cNvPr id="35" name="Text 33"/>
          <p:cNvSpPr/>
          <p:nvPr/>
        </p:nvSpPr>
        <p:spPr>
          <a:xfrm>
            <a:off x="3683000" y="5636121"/>
            <a:ext cx="1914724" cy="168275"/>
          </a:xfrm>
          <a:prstGeom prst="rect">
            <a:avLst/>
          </a:prstGeom>
          <a:noFill/>
          <a:ln/>
        </p:spPr>
        <p:txBody>
          <a:bodyPr wrap="square" lIns="25400" tIns="25400" rIns="25400" bIns="25400" rtlCol="0" anchor="ctr">
            <a:normAutofit/>
          </a:bodyPr>
          <a:lstStyle/>
          <a:p>
            <a:pPr algn="l" indent="0" marL="0">
              <a:buNone/>
            </a:pPr>
            <a:r>
              <a:rPr lang="en-US" sz="750" spc="60" kern="0" dirty="0">
                <a:solidFill>
                  <a:srgbClr val="8B95A6"/>
                </a:solidFill>
                <a:latin typeface="JetBrains Mono" pitchFamily="34" charset="0"/>
                <a:ea typeface="JetBrains Mono" pitchFamily="34" charset="-122"/>
                <a:cs typeface="JetBrains Mono" pitchFamily="34" charset="-120"/>
              </a:rPr>
              <a:t>TITLE</a:t>
            </a:r>
            <a:endParaRPr lang="en-US" sz="750" dirty="0"/>
          </a:p>
        </p:txBody>
      </p:sp>
      <p:sp>
        <p:nvSpPr>
          <p:cNvPr id="36" name="Text 34"/>
          <p:cNvSpPr/>
          <p:nvPr/>
        </p:nvSpPr>
        <p:spPr>
          <a:xfrm>
            <a:off x="5531048" y="5588496"/>
            <a:ext cx="1796058" cy="263525"/>
          </a:xfrm>
          <a:prstGeom prst="rect">
            <a:avLst/>
          </a:prstGeom>
          <a:noFill/>
          <a:ln/>
        </p:spPr>
        <p:txBody>
          <a:bodyPr wrap="square" lIns="25400" tIns="25400" rIns="25400" bIns="25400" rtlCol="0" anchor="ctr">
            <a:normAutofit/>
          </a:bodyPr>
          <a:lstStyle/>
          <a:p>
            <a:pPr algn="l" indent="0" marL="0">
              <a:buNone/>
            </a:pPr>
            <a:r>
              <a:rPr lang="en-US" sz="750" spc="60" kern="0" dirty="0">
                <a:solidFill>
                  <a:srgbClr val="8B95A6"/>
                </a:solidFill>
                <a:latin typeface="JetBrains Mono" pitchFamily="34" charset="0"/>
                <a:ea typeface="JetBrains Mono" pitchFamily="34" charset="-122"/>
                <a:cs typeface="JetBrains Mono" pitchFamily="34" charset="-120"/>
              </a:rPr>
              <a:t>FOLDER</a:t>
            </a:r>
            <a:endParaRPr lang="en-US" sz="750" dirty="0"/>
          </a:p>
        </p:txBody>
      </p:sp>
      <p:sp>
        <p:nvSpPr>
          <p:cNvPr id="37" name="Text 35"/>
          <p:cNvSpPr/>
          <p:nvPr/>
        </p:nvSpPr>
        <p:spPr>
          <a:xfrm>
            <a:off x="7269956" y="5588496"/>
            <a:ext cx="746125" cy="263525"/>
          </a:xfrm>
          <a:prstGeom prst="rect">
            <a:avLst/>
          </a:prstGeom>
          <a:noFill/>
          <a:ln/>
        </p:spPr>
        <p:txBody>
          <a:bodyPr wrap="square" lIns="25400" tIns="25400" rIns="25400" bIns="25400" rtlCol="0" anchor="ctr">
            <a:normAutofit/>
          </a:bodyPr>
          <a:lstStyle/>
          <a:p>
            <a:pPr algn="l" indent="0" marL="0">
              <a:buNone/>
            </a:pPr>
            <a:r>
              <a:rPr lang="en-US" sz="750" spc="60" kern="0" dirty="0">
                <a:solidFill>
                  <a:srgbClr val="8B95A6"/>
                </a:solidFill>
                <a:latin typeface="JetBrains Mono" pitchFamily="34" charset="0"/>
                <a:ea typeface="JetBrains Mono" pitchFamily="34" charset="-122"/>
                <a:cs typeface="JetBrains Mono" pitchFamily="34" charset="-120"/>
              </a:rPr>
              <a:t>OWNER</a:t>
            </a:r>
            <a:endParaRPr lang="en-US" sz="750" dirty="0"/>
          </a:p>
        </p:txBody>
      </p:sp>
      <p:sp>
        <p:nvSpPr>
          <p:cNvPr id="38" name="Text 36"/>
          <p:cNvSpPr/>
          <p:nvPr/>
        </p:nvSpPr>
        <p:spPr>
          <a:xfrm>
            <a:off x="7958932" y="5588496"/>
            <a:ext cx="845344" cy="263525"/>
          </a:xfrm>
          <a:prstGeom prst="rect">
            <a:avLst/>
          </a:prstGeom>
          <a:noFill/>
          <a:ln/>
        </p:spPr>
        <p:txBody>
          <a:bodyPr wrap="square" lIns="25400" tIns="25400" rIns="25400" bIns="25400" rtlCol="0" anchor="ctr">
            <a:normAutofit/>
          </a:bodyPr>
          <a:lstStyle/>
          <a:p>
            <a:pPr algn="l" indent="0" marL="0">
              <a:buNone/>
            </a:pPr>
            <a:r>
              <a:rPr lang="en-US" sz="750" spc="60" kern="0" dirty="0">
                <a:solidFill>
                  <a:srgbClr val="8B95A6"/>
                </a:solidFill>
                <a:latin typeface="JetBrains Mono" pitchFamily="34" charset="0"/>
                <a:ea typeface="JetBrains Mono" pitchFamily="34" charset="-122"/>
                <a:cs typeface="JetBrains Mono" pitchFamily="34" charset="-120"/>
              </a:rPr>
              <a:t>MODIFIED</a:t>
            </a:r>
            <a:endParaRPr lang="en-US" sz="750" dirty="0"/>
          </a:p>
        </p:txBody>
      </p:sp>
      <p:sp>
        <p:nvSpPr>
          <p:cNvPr id="39" name="Shape 37"/>
          <p:cNvSpPr/>
          <p:nvPr/>
        </p:nvSpPr>
        <p:spPr>
          <a:xfrm>
            <a:off x="3683000" y="5823446"/>
            <a:ext cx="5054600" cy="9525"/>
          </a:xfrm>
          <a:prstGeom prst="rect">
            <a:avLst/>
          </a:prstGeom>
          <a:solidFill>
            <a:srgbClr val="C9CFD8"/>
          </a:solidFill>
          <a:ln/>
        </p:spPr>
      </p:sp>
      <p:sp>
        <p:nvSpPr>
          <p:cNvPr id="40" name="Text 38"/>
          <p:cNvSpPr/>
          <p:nvPr/>
        </p:nvSpPr>
        <p:spPr>
          <a:xfrm>
            <a:off x="3683000" y="5909171"/>
            <a:ext cx="1914724" cy="215900"/>
          </a:xfrm>
          <a:prstGeom prst="rect">
            <a:avLst/>
          </a:prstGeom>
          <a:noFill/>
          <a:ln/>
        </p:spPr>
        <p:txBody>
          <a:bodyPr wrap="square" lIns="25400" tIns="25400" rIns="25400" bIns="25400" rtlCol="0" anchor="ctr">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Marketing — North Star</a:t>
            </a:r>
            <a:endParaRPr lang="en-US" sz="975" dirty="0"/>
          </a:p>
        </p:txBody>
      </p:sp>
      <p:sp>
        <p:nvSpPr>
          <p:cNvPr id="41" name="Text 39"/>
          <p:cNvSpPr/>
          <p:nvPr/>
        </p:nvSpPr>
        <p:spPr>
          <a:xfrm>
            <a:off x="5531048" y="5832971"/>
            <a:ext cx="1796058"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Marketing</a:t>
            </a:r>
            <a:endParaRPr lang="en-US" sz="975" dirty="0"/>
          </a:p>
        </p:txBody>
      </p:sp>
      <p:sp>
        <p:nvSpPr>
          <p:cNvPr id="42" name="Text 40"/>
          <p:cNvSpPr/>
          <p:nvPr/>
        </p:nvSpPr>
        <p:spPr>
          <a:xfrm>
            <a:off x="7269956" y="5832971"/>
            <a:ext cx="746125"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Priya A.</a:t>
            </a:r>
            <a:endParaRPr lang="en-US" sz="975" dirty="0"/>
          </a:p>
        </p:txBody>
      </p:sp>
      <p:sp>
        <p:nvSpPr>
          <p:cNvPr id="43" name="Text 41"/>
          <p:cNvSpPr/>
          <p:nvPr/>
        </p:nvSpPr>
        <p:spPr>
          <a:xfrm>
            <a:off x="7958932" y="5832971"/>
            <a:ext cx="845344"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2h ago</a:t>
            </a:r>
            <a:endParaRPr lang="en-US" sz="975" dirty="0"/>
          </a:p>
        </p:txBody>
      </p:sp>
      <p:sp>
        <p:nvSpPr>
          <p:cNvPr id="44" name="Shape 42"/>
          <p:cNvSpPr/>
          <p:nvPr/>
        </p:nvSpPr>
        <p:spPr>
          <a:xfrm>
            <a:off x="3683000" y="6172696"/>
            <a:ext cx="5054600" cy="9525"/>
          </a:xfrm>
          <a:prstGeom prst="rect">
            <a:avLst/>
          </a:prstGeom>
          <a:solidFill>
            <a:srgbClr val="C9CFD8"/>
          </a:solidFill>
          <a:ln/>
        </p:spPr>
      </p:sp>
      <p:sp>
        <p:nvSpPr>
          <p:cNvPr id="45" name="Text 43"/>
          <p:cNvSpPr/>
          <p:nvPr/>
        </p:nvSpPr>
        <p:spPr>
          <a:xfrm>
            <a:off x="3683000" y="6258421"/>
            <a:ext cx="1914724" cy="2159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Q4 Pipeline</a:t>
            </a:r>
            <a:endParaRPr lang="en-US" sz="975" dirty="0"/>
          </a:p>
        </p:txBody>
      </p:sp>
      <p:sp>
        <p:nvSpPr>
          <p:cNvPr id="46" name="Text 44"/>
          <p:cNvSpPr/>
          <p:nvPr/>
        </p:nvSpPr>
        <p:spPr>
          <a:xfrm>
            <a:off x="5531048" y="6182221"/>
            <a:ext cx="1796058"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Marketing</a:t>
            </a:r>
            <a:endParaRPr lang="en-US" sz="975" dirty="0"/>
          </a:p>
        </p:txBody>
      </p:sp>
      <p:sp>
        <p:nvSpPr>
          <p:cNvPr id="47" name="Text 45"/>
          <p:cNvSpPr/>
          <p:nvPr/>
        </p:nvSpPr>
        <p:spPr>
          <a:xfrm>
            <a:off x="7269956" y="6182221"/>
            <a:ext cx="746125"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Daniel R.</a:t>
            </a:r>
            <a:endParaRPr lang="en-US" sz="975" dirty="0"/>
          </a:p>
        </p:txBody>
      </p:sp>
      <p:sp>
        <p:nvSpPr>
          <p:cNvPr id="48" name="Text 46"/>
          <p:cNvSpPr/>
          <p:nvPr/>
        </p:nvSpPr>
        <p:spPr>
          <a:xfrm>
            <a:off x="7958932" y="6182221"/>
            <a:ext cx="845344"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Yesterday</a:t>
            </a:r>
            <a:endParaRPr lang="en-US" sz="975" dirty="0"/>
          </a:p>
        </p:txBody>
      </p:sp>
      <p:sp>
        <p:nvSpPr>
          <p:cNvPr id="49" name="Shape 47"/>
          <p:cNvSpPr/>
          <p:nvPr/>
        </p:nvSpPr>
        <p:spPr>
          <a:xfrm>
            <a:off x="3683000" y="6521946"/>
            <a:ext cx="5054600" cy="9525"/>
          </a:xfrm>
          <a:prstGeom prst="rect">
            <a:avLst/>
          </a:prstGeom>
          <a:solidFill>
            <a:srgbClr val="C9CFD8"/>
          </a:solidFill>
          <a:ln/>
        </p:spPr>
      </p:sp>
      <p:sp>
        <p:nvSpPr>
          <p:cNvPr id="50" name="Text 48"/>
          <p:cNvSpPr/>
          <p:nvPr/>
        </p:nvSpPr>
        <p:spPr>
          <a:xfrm>
            <a:off x="3683000" y="6607671"/>
            <a:ext cx="1914724" cy="2159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Email campaign perf</a:t>
            </a:r>
            <a:endParaRPr lang="en-US" sz="975" dirty="0"/>
          </a:p>
        </p:txBody>
      </p:sp>
      <p:sp>
        <p:nvSpPr>
          <p:cNvPr id="51" name="Text 49"/>
          <p:cNvSpPr/>
          <p:nvPr/>
        </p:nvSpPr>
        <p:spPr>
          <a:xfrm>
            <a:off x="5531048" y="6531471"/>
            <a:ext cx="1796058"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Marketing/Acquisition</a:t>
            </a:r>
            <a:endParaRPr lang="en-US" sz="975" dirty="0"/>
          </a:p>
        </p:txBody>
      </p:sp>
      <p:sp>
        <p:nvSpPr>
          <p:cNvPr id="52" name="Text 50"/>
          <p:cNvSpPr/>
          <p:nvPr/>
        </p:nvSpPr>
        <p:spPr>
          <a:xfrm>
            <a:off x="7269956" y="6531471"/>
            <a:ext cx="746125"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Maya K.</a:t>
            </a:r>
            <a:endParaRPr lang="en-US" sz="975" dirty="0"/>
          </a:p>
        </p:txBody>
      </p:sp>
      <p:sp>
        <p:nvSpPr>
          <p:cNvPr id="53" name="Text 51"/>
          <p:cNvSpPr/>
          <p:nvPr/>
        </p:nvSpPr>
        <p:spPr>
          <a:xfrm>
            <a:off x="7958932" y="6531471"/>
            <a:ext cx="845344"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3 days</a:t>
            </a:r>
            <a:endParaRPr lang="en-US" sz="975" dirty="0"/>
          </a:p>
        </p:txBody>
      </p:sp>
      <p:sp>
        <p:nvSpPr>
          <p:cNvPr id="54" name="Shape 52"/>
          <p:cNvSpPr/>
          <p:nvPr/>
        </p:nvSpPr>
        <p:spPr>
          <a:xfrm>
            <a:off x="3683000" y="6871196"/>
            <a:ext cx="5054600" cy="9525"/>
          </a:xfrm>
          <a:prstGeom prst="rect">
            <a:avLst/>
          </a:prstGeom>
          <a:solidFill>
            <a:srgbClr val="C9CFD8"/>
          </a:solidFill>
          <a:ln/>
        </p:spPr>
      </p:sp>
      <p:sp>
        <p:nvSpPr>
          <p:cNvPr id="55" name="Text 53"/>
          <p:cNvSpPr/>
          <p:nvPr/>
        </p:nvSpPr>
        <p:spPr>
          <a:xfrm>
            <a:off x="3683000" y="6956921"/>
            <a:ext cx="1914724" cy="2159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Channel attribution</a:t>
            </a:r>
            <a:endParaRPr lang="en-US" sz="975" dirty="0"/>
          </a:p>
        </p:txBody>
      </p:sp>
      <p:sp>
        <p:nvSpPr>
          <p:cNvPr id="56" name="Text 54"/>
          <p:cNvSpPr/>
          <p:nvPr/>
        </p:nvSpPr>
        <p:spPr>
          <a:xfrm>
            <a:off x="5531048" y="6880721"/>
            <a:ext cx="1796058"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Marketing/Acquisition</a:t>
            </a:r>
            <a:endParaRPr lang="en-US" sz="975" dirty="0"/>
          </a:p>
        </p:txBody>
      </p:sp>
      <p:sp>
        <p:nvSpPr>
          <p:cNvPr id="57" name="Text 55"/>
          <p:cNvSpPr/>
          <p:nvPr/>
        </p:nvSpPr>
        <p:spPr>
          <a:xfrm>
            <a:off x="7269956" y="6880721"/>
            <a:ext cx="746125"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Maya K.</a:t>
            </a:r>
            <a:endParaRPr lang="en-US" sz="975" dirty="0"/>
          </a:p>
        </p:txBody>
      </p:sp>
      <p:sp>
        <p:nvSpPr>
          <p:cNvPr id="58" name="Text 56"/>
          <p:cNvSpPr/>
          <p:nvPr/>
        </p:nvSpPr>
        <p:spPr>
          <a:xfrm>
            <a:off x="7958932" y="6880721"/>
            <a:ext cx="845344" cy="368300"/>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1 week</a:t>
            </a:r>
            <a:endParaRPr lang="en-US" sz="975" dirty="0"/>
          </a:p>
        </p:txBody>
      </p:sp>
      <p:sp>
        <p:nvSpPr>
          <p:cNvPr id="59" name="Shape 57"/>
          <p:cNvSpPr/>
          <p:nvPr/>
        </p:nvSpPr>
        <p:spPr>
          <a:xfrm>
            <a:off x="3683000" y="7220446"/>
            <a:ext cx="5054600" cy="9525"/>
          </a:xfrm>
          <a:prstGeom prst="rect">
            <a:avLst/>
          </a:prstGeom>
          <a:solidFill>
            <a:srgbClr val="C9CFD8"/>
          </a:solidFill>
          <a:ln/>
        </p:spPr>
      </p:sp>
      <p:sp>
        <p:nvSpPr>
          <p:cNvPr id="60" name="Text 58"/>
          <p:cNvSpPr/>
          <p:nvPr/>
        </p:nvSpPr>
        <p:spPr>
          <a:xfrm>
            <a:off x="3683000" y="7306171"/>
            <a:ext cx="1914724" cy="212725"/>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Churn cohorts</a:t>
            </a:r>
            <a:endParaRPr lang="en-US" sz="975" dirty="0"/>
          </a:p>
        </p:txBody>
      </p:sp>
      <p:sp>
        <p:nvSpPr>
          <p:cNvPr id="61" name="Text 59"/>
          <p:cNvSpPr/>
          <p:nvPr/>
        </p:nvSpPr>
        <p:spPr>
          <a:xfrm>
            <a:off x="5531048" y="7229971"/>
            <a:ext cx="1796058" cy="365125"/>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Marketing/Retention</a:t>
            </a:r>
            <a:endParaRPr lang="en-US" sz="975" dirty="0"/>
          </a:p>
        </p:txBody>
      </p:sp>
      <p:sp>
        <p:nvSpPr>
          <p:cNvPr id="62" name="Text 60"/>
          <p:cNvSpPr/>
          <p:nvPr/>
        </p:nvSpPr>
        <p:spPr>
          <a:xfrm>
            <a:off x="7269956" y="7229971"/>
            <a:ext cx="746125" cy="365125"/>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Sam L.</a:t>
            </a:r>
            <a:endParaRPr lang="en-US" sz="975" dirty="0"/>
          </a:p>
        </p:txBody>
      </p:sp>
      <p:sp>
        <p:nvSpPr>
          <p:cNvPr id="63" name="Text 61"/>
          <p:cNvSpPr/>
          <p:nvPr/>
        </p:nvSpPr>
        <p:spPr>
          <a:xfrm>
            <a:off x="7958932" y="7229971"/>
            <a:ext cx="845344" cy="365125"/>
          </a:xfrm>
          <a:prstGeom prst="rect">
            <a:avLst/>
          </a:prstGeom>
          <a:noFill/>
          <a:ln/>
        </p:spPr>
        <p:txBody>
          <a:bodyPr wrap="square" lIns="25400" tIns="25400" rIns="25400" bIns="25400" rtlCol="0" anchor="ctr">
            <a:normAutofit/>
          </a:bodyPr>
          <a:lstStyle/>
          <a:p>
            <a:pPr algn="l" indent="0" marL="0">
              <a:buNone/>
            </a:pPr>
            <a:r>
              <a:rPr lang="en-US" sz="975" dirty="0">
                <a:solidFill>
                  <a:srgbClr val="1B1F2A"/>
                </a:solidFill>
                <a:latin typeface="Manrope" pitchFamily="34" charset="0"/>
                <a:ea typeface="Manrope" pitchFamily="34" charset="-122"/>
                <a:cs typeface="Manrope" pitchFamily="34" charset="-120"/>
              </a:rPr>
              <a:t>1 week</a:t>
            </a:r>
            <a:endParaRPr lang="en-US" sz="975" dirty="0"/>
          </a:p>
        </p:txBody>
      </p:sp>
      <p:sp>
        <p:nvSpPr>
          <p:cNvPr id="64" name="Shape 62"/>
          <p:cNvSpPr/>
          <p:nvPr/>
        </p:nvSpPr>
        <p:spPr>
          <a:xfrm>
            <a:off x="9372600" y="4572496"/>
            <a:ext cx="7696200" cy="3144937"/>
          </a:xfrm>
          <a:prstGeom prst="roundRect">
            <a:avLst>
              <a:gd name="adj" fmla="val 4240"/>
            </a:avLst>
          </a:prstGeom>
          <a:solidFill>
            <a:srgbClr val="F1F2F4"/>
          </a:solidFill>
          <a:ln w="6350">
            <a:solidFill>
              <a:srgbClr val="C9CFD8"/>
            </a:solidFill>
            <a:prstDash val="solid"/>
          </a:ln>
        </p:spPr>
      </p:sp>
      <p:sp>
        <p:nvSpPr>
          <p:cNvPr id="65" name="Text 63"/>
          <p:cNvSpPr/>
          <p:nvPr/>
        </p:nvSpPr>
        <p:spPr>
          <a:xfrm>
            <a:off x="9683750" y="488364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FOLDER HIERARCHY</a:t>
            </a:r>
            <a:endParaRPr lang="en-US" sz="900" dirty="0"/>
          </a:p>
        </p:txBody>
      </p:sp>
      <p:sp>
        <p:nvSpPr>
          <p:cNvPr id="66" name="Text 64"/>
          <p:cNvSpPr/>
          <p:nvPr/>
        </p:nvSpPr>
        <p:spPr>
          <a:xfrm>
            <a:off x="9683750" y="5163046"/>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Three layers, two permission models.</a:t>
            </a:r>
            <a:endParaRPr lang="en-US" sz="1950" dirty="0"/>
          </a:p>
        </p:txBody>
      </p:sp>
      <p:sp>
        <p:nvSpPr>
          <p:cNvPr id="67" name="Shape 65"/>
          <p:cNvSpPr/>
          <p:nvPr/>
        </p:nvSpPr>
        <p:spPr>
          <a:xfrm>
            <a:off x="9683750" y="6096397"/>
            <a:ext cx="7073900" cy="9525"/>
          </a:xfrm>
          <a:prstGeom prst="rect">
            <a:avLst/>
          </a:prstGeom>
          <a:solidFill>
            <a:srgbClr val="C9CFD8"/>
          </a:solidFill>
          <a:ln/>
        </p:spPr>
      </p:sp>
      <p:sp>
        <p:nvSpPr>
          <p:cNvPr id="68" name="Text 66"/>
          <p:cNvSpPr/>
          <p:nvPr/>
        </p:nvSpPr>
        <p:spPr>
          <a:xfrm>
            <a:off x="9683750" y="577800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PERSONAL</a:t>
            </a:r>
            <a:endParaRPr lang="en-US" sz="975" dirty="0"/>
          </a:p>
        </p:txBody>
      </p:sp>
      <p:sp>
        <p:nvSpPr>
          <p:cNvPr id="69" name="Text 67"/>
          <p:cNvSpPr/>
          <p:nvPr/>
        </p:nvSpPr>
        <p:spPr>
          <a:xfrm>
            <a:off x="11722101" y="5714504"/>
            <a:ext cx="426839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Your private sandbox. Only you can see what's inside.</a:t>
            </a:r>
            <a:endParaRPr lang="en-US" sz="1350" dirty="0"/>
          </a:p>
        </p:txBody>
      </p:sp>
      <p:sp>
        <p:nvSpPr>
          <p:cNvPr id="70" name="Shape 68"/>
          <p:cNvSpPr/>
          <p:nvPr/>
        </p:nvSpPr>
        <p:spPr>
          <a:xfrm>
            <a:off x="9683750" y="6751340"/>
            <a:ext cx="7073900" cy="9525"/>
          </a:xfrm>
          <a:prstGeom prst="rect">
            <a:avLst/>
          </a:prstGeom>
          <a:solidFill>
            <a:srgbClr val="C9CFD8"/>
          </a:solidFill>
          <a:ln/>
        </p:spPr>
      </p:sp>
      <p:sp>
        <p:nvSpPr>
          <p:cNvPr id="71" name="Text 69"/>
          <p:cNvSpPr/>
          <p:nvPr/>
        </p:nvSpPr>
        <p:spPr>
          <a:xfrm>
            <a:off x="9683750" y="643294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SHARED</a:t>
            </a:r>
            <a:endParaRPr lang="en-US" sz="975" dirty="0"/>
          </a:p>
        </p:txBody>
      </p:sp>
      <p:sp>
        <p:nvSpPr>
          <p:cNvPr id="72" name="Text 70"/>
          <p:cNvSpPr/>
          <p:nvPr/>
        </p:nvSpPr>
        <p:spPr>
          <a:xfrm>
            <a:off x="11722101" y="6369447"/>
            <a:ext cx="3729618"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Team folders, governed by Group permissions.</a:t>
            </a:r>
            <a:endParaRPr lang="en-US" sz="1350" dirty="0"/>
          </a:p>
        </p:txBody>
      </p:sp>
      <p:sp>
        <p:nvSpPr>
          <p:cNvPr id="73" name="Text 71"/>
          <p:cNvSpPr/>
          <p:nvPr/>
        </p:nvSpPr>
        <p:spPr>
          <a:xfrm>
            <a:off x="9683750" y="7087890"/>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EMBED</a:t>
            </a:r>
            <a:endParaRPr lang="en-US" sz="975" dirty="0"/>
          </a:p>
        </p:txBody>
      </p:sp>
      <p:sp>
        <p:nvSpPr>
          <p:cNvPr id="74" name="Text 72"/>
          <p:cNvSpPr/>
          <p:nvPr/>
        </p:nvSpPr>
        <p:spPr>
          <a:xfrm>
            <a:off x="11722101" y="7024390"/>
            <a:ext cx="458213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Reserved for embedded apps; never shown to end users.</a:t>
            </a:r>
            <a:endParaRPr lang="en-US" sz="1350" dirty="0"/>
          </a:p>
        </p:txBody>
      </p:sp>
      <p:sp>
        <p:nvSpPr>
          <p:cNvPr id="75" name="Shape 73"/>
          <p:cNvSpPr/>
          <p:nvPr/>
        </p:nvSpPr>
        <p:spPr>
          <a:xfrm>
            <a:off x="9372600" y="7946033"/>
            <a:ext cx="7696200" cy="1805583"/>
          </a:xfrm>
          <a:prstGeom prst="roundRect">
            <a:avLst>
              <a:gd name="adj" fmla="val 7385"/>
            </a:avLst>
          </a:prstGeom>
          <a:solidFill>
            <a:srgbClr val="F1F2F4"/>
          </a:solidFill>
          <a:ln w="6350">
            <a:solidFill>
              <a:srgbClr val="C9CFD8"/>
            </a:solidFill>
            <a:prstDash val="solid"/>
          </a:ln>
        </p:spPr>
      </p:sp>
      <p:sp>
        <p:nvSpPr>
          <p:cNvPr id="76" name="Text 74"/>
          <p:cNvSpPr/>
          <p:nvPr/>
        </p:nvSpPr>
        <p:spPr>
          <a:xfrm>
            <a:off x="9683750" y="8257183"/>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WHAT YOU CAN DO HERE</a:t>
            </a:r>
            <a:endParaRPr lang="en-US" sz="900" dirty="0"/>
          </a:p>
        </p:txBody>
      </p:sp>
      <p:sp>
        <p:nvSpPr>
          <p:cNvPr id="77" name="Text 75"/>
          <p:cNvSpPr/>
          <p:nvPr/>
        </p:nvSpPr>
        <p:spPr>
          <a:xfrm>
            <a:off x="9683750" y="8536583"/>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Search, move, favourite, share, schedule, deprecate.</a:t>
            </a:r>
            <a:endParaRPr lang="en-US" sz="1950" dirty="0"/>
          </a:p>
        </p:txBody>
      </p:sp>
      <p:sp>
        <p:nvSpPr>
          <p:cNvPr id="78" name="Text 76"/>
          <p:cNvSpPr/>
          <p:nvPr/>
        </p:nvSpPr>
        <p:spPr>
          <a:xfrm>
            <a:off x="9683750" y="8954691"/>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Search runs across titles, descriptions and tags.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Favorites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pins items to the home page;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Schedules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turns any content into an email or webhook delivery.</a:t>
            </a:r>
            <a:endParaRPr lang="en-US" sz="1275" dirty="0"/>
          </a:p>
        </p:txBody>
      </p:sp>
      <p:sp>
        <p:nvSpPr>
          <p:cNvPr id="79" name="Text 7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80" name="Text 7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18 / 60</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969159" y="755650"/>
            <a:ext cx="1175841"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02 · UI TOUR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EXPLORE</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The Explore — Looker's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query builder</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a:t>
            </a:r>
            <a:endParaRPr lang="en-US" sz="4800" dirty="0"/>
          </a:p>
        </p:txBody>
      </p:sp>
      <p:sp>
        <p:nvSpPr>
          <p:cNvPr id="8" name="Shape 6"/>
          <p:cNvSpPr/>
          <p:nvPr/>
        </p:nvSpPr>
        <p:spPr>
          <a:xfrm>
            <a:off x="1219200" y="3276005"/>
            <a:ext cx="15849600" cy="6489700"/>
          </a:xfrm>
          <a:prstGeom prst="roundRect">
            <a:avLst>
              <a:gd name="adj" fmla="val 2348"/>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9" name="Shape 7"/>
          <p:cNvSpPr/>
          <p:nvPr/>
        </p:nvSpPr>
        <p:spPr>
          <a:xfrm>
            <a:off x="1225550" y="3282355"/>
            <a:ext cx="15836901" cy="533400"/>
          </a:xfrm>
          <a:prstGeom prst="rect">
            <a:avLst/>
          </a:prstGeom>
          <a:solidFill>
            <a:srgbClr val="1A2233"/>
          </a:solidFill>
          <a:ln/>
        </p:spPr>
      </p:sp>
      <p:sp>
        <p:nvSpPr>
          <p:cNvPr id="10" name="Text 8"/>
          <p:cNvSpPr/>
          <p:nvPr/>
        </p:nvSpPr>
        <p:spPr>
          <a:xfrm>
            <a:off x="1416050" y="3431580"/>
            <a:ext cx="662484" cy="27305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FF671F"/>
                </a:solidFill>
                <a:latin typeface="Manrope" pitchFamily="34" charset="0"/>
                <a:ea typeface="Manrope" pitchFamily="34" charset="-122"/>
                <a:cs typeface="Manrope" pitchFamily="34" charset="-120"/>
              </a:rPr>
              <a:t>Looker</a:t>
            </a:r>
            <a:endParaRPr lang="en-US" sz="1350" dirty="0"/>
          </a:p>
        </p:txBody>
      </p:sp>
      <p:sp>
        <p:nvSpPr>
          <p:cNvPr id="11" name="Text 9"/>
          <p:cNvSpPr/>
          <p:nvPr/>
        </p:nvSpPr>
        <p:spPr>
          <a:xfrm>
            <a:off x="2230934" y="3364905"/>
            <a:ext cx="442714"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Home</a:t>
            </a:r>
            <a:endParaRPr lang="en-US" sz="1050" dirty="0"/>
          </a:p>
        </p:txBody>
      </p:sp>
      <p:sp>
        <p:nvSpPr>
          <p:cNvPr id="12" name="Text 10"/>
          <p:cNvSpPr/>
          <p:nvPr/>
        </p:nvSpPr>
        <p:spPr>
          <a:xfrm>
            <a:off x="2806998" y="3364905"/>
            <a:ext cx="535384"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Browse</a:t>
            </a:r>
            <a:endParaRPr lang="en-US" sz="1050" dirty="0"/>
          </a:p>
        </p:txBody>
      </p:sp>
      <p:sp>
        <p:nvSpPr>
          <p:cNvPr id="13" name="Shape 11"/>
          <p:cNvSpPr/>
          <p:nvPr/>
        </p:nvSpPr>
        <p:spPr>
          <a:xfrm>
            <a:off x="3475732" y="3714155"/>
            <a:ext cx="468709" cy="19050"/>
          </a:xfrm>
          <a:prstGeom prst="rect">
            <a:avLst/>
          </a:prstGeom>
          <a:solidFill>
            <a:srgbClr val="FF671F"/>
          </a:solidFill>
          <a:ln/>
        </p:spPr>
      </p:sp>
      <p:sp>
        <p:nvSpPr>
          <p:cNvPr id="14" name="Text 12"/>
          <p:cNvSpPr/>
          <p:nvPr/>
        </p:nvSpPr>
        <p:spPr>
          <a:xfrm>
            <a:off x="3475732" y="3364905"/>
            <a:ext cx="544909"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solidFill>
                <a:latin typeface="Manrope" pitchFamily="34" charset="0"/>
                <a:ea typeface="Manrope" pitchFamily="34" charset="-122"/>
                <a:cs typeface="Manrope" pitchFamily="34" charset="-120"/>
              </a:rPr>
              <a:t>Explore</a:t>
            </a:r>
            <a:endParaRPr lang="en-US" sz="1050" dirty="0"/>
          </a:p>
        </p:txBody>
      </p:sp>
      <p:sp>
        <p:nvSpPr>
          <p:cNvPr id="15" name="Text 13"/>
          <p:cNvSpPr/>
          <p:nvPr/>
        </p:nvSpPr>
        <p:spPr>
          <a:xfrm>
            <a:off x="4153992" y="3364905"/>
            <a:ext cx="582216"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Develop</a:t>
            </a:r>
            <a:endParaRPr lang="en-US" sz="1050" dirty="0"/>
          </a:p>
        </p:txBody>
      </p:sp>
      <p:sp>
        <p:nvSpPr>
          <p:cNvPr id="16" name="Text 14"/>
          <p:cNvSpPr/>
          <p:nvPr/>
        </p:nvSpPr>
        <p:spPr>
          <a:xfrm>
            <a:off x="16077506" y="3460155"/>
            <a:ext cx="870645" cy="215900"/>
          </a:xfrm>
          <a:prstGeom prst="rect">
            <a:avLst/>
          </a:prstGeom>
          <a:noFill/>
          <a:ln/>
        </p:spPr>
        <p:txBody>
          <a:bodyPr wrap="square" lIns="25400" tIns="25400" rIns="25400" bIns="25400" rtlCol="0" anchor="ctr">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Run · Save · ⋯</a:t>
            </a:r>
            <a:endParaRPr lang="en-US" sz="975" dirty="0"/>
          </a:p>
        </p:txBody>
      </p:sp>
      <p:sp>
        <p:nvSpPr>
          <p:cNvPr id="17" name="Shape 15"/>
          <p:cNvSpPr/>
          <p:nvPr/>
        </p:nvSpPr>
        <p:spPr>
          <a:xfrm>
            <a:off x="1225550" y="3815755"/>
            <a:ext cx="15836901" cy="5943600"/>
          </a:xfrm>
          <a:prstGeom prst="rect">
            <a:avLst/>
          </a:prstGeom>
          <a:solidFill>
            <a:srgbClr val="F4F6F9"/>
          </a:solidFill>
          <a:ln/>
        </p:spPr>
      </p:sp>
      <p:sp>
        <p:nvSpPr>
          <p:cNvPr id="18" name="Shape 16"/>
          <p:cNvSpPr/>
          <p:nvPr/>
        </p:nvSpPr>
        <p:spPr>
          <a:xfrm>
            <a:off x="1225550" y="3815755"/>
            <a:ext cx="2667000" cy="5943600"/>
          </a:xfrm>
          <a:prstGeom prst="rect">
            <a:avLst/>
          </a:prstGeom>
          <a:solidFill>
            <a:srgbClr val="FFFFFF"/>
          </a:solidFill>
          <a:ln/>
        </p:spPr>
      </p:sp>
      <p:sp>
        <p:nvSpPr>
          <p:cNvPr id="19" name="Shape 17"/>
          <p:cNvSpPr/>
          <p:nvPr/>
        </p:nvSpPr>
        <p:spPr>
          <a:xfrm>
            <a:off x="3886200" y="3815755"/>
            <a:ext cx="9525" cy="5943600"/>
          </a:xfrm>
          <a:prstGeom prst="rect">
            <a:avLst/>
          </a:prstGeom>
          <a:solidFill>
            <a:srgbClr val="C9CFD8"/>
          </a:solidFill>
          <a:ln/>
        </p:spPr>
      </p:sp>
      <p:sp>
        <p:nvSpPr>
          <p:cNvPr id="20" name="Text 18"/>
          <p:cNvSpPr/>
          <p:nvPr/>
        </p:nvSpPr>
        <p:spPr>
          <a:xfrm>
            <a:off x="1358900" y="3949105"/>
            <a:ext cx="2470150" cy="165100"/>
          </a:xfrm>
          <a:prstGeom prst="rect">
            <a:avLst/>
          </a:prstGeom>
          <a:noFill/>
          <a:ln/>
        </p:spPr>
        <p:txBody>
          <a:bodyPr wrap="square" lIns="25400" tIns="25400" rIns="25400" bIns="25400" rtlCol="0" anchor="t">
            <a:normAutofit/>
          </a:bodyPr>
          <a:lstStyle/>
          <a:p>
            <a:pPr algn="l" indent="0" marL="0">
              <a:buNone/>
            </a:pPr>
            <a:r>
              <a:rPr lang="en-US" sz="750" spc="75" kern="0" dirty="0">
                <a:solidFill>
                  <a:srgbClr val="8B95A6"/>
                </a:solidFill>
                <a:latin typeface="JetBrains Mono" pitchFamily="34" charset="0"/>
                <a:ea typeface="JetBrains Mono" pitchFamily="34" charset="-122"/>
                <a:cs typeface="JetBrains Mono" pitchFamily="34" charset="-120"/>
              </a:rPr>
              <a:t>ORDER ANALYTICS</a:t>
            </a:r>
            <a:endParaRPr lang="en-US" sz="750" dirty="0"/>
          </a:p>
        </p:txBody>
      </p:sp>
      <p:sp>
        <p:nvSpPr>
          <p:cNvPr id="21" name="Shape 19"/>
          <p:cNvSpPr/>
          <p:nvPr/>
        </p:nvSpPr>
        <p:spPr>
          <a:xfrm>
            <a:off x="1358900" y="4171355"/>
            <a:ext cx="2393950" cy="260350"/>
          </a:xfrm>
          <a:prstGeom prst="roundRect">
            <a:avLst>
              <a:gd name="adj" fmla="val 21951"/>
            </a:avLst>
          </a:prstGeom>
          <a:solidFill>
            <a:srgbClr val="EFEFEF">
              <a:alpha val="30000"/>
            </a:srgbClr>
          </a:solidFill>
          <a:ln w="6350">
            <a:solidFill>
              <a:srgbClr val="C9CFD8"/>
            </a:solidFill>
            <a:prstDash val="solid"/>
          </a:ln>
        </p:spPr>
      </p:sp>
      <p:sp>
        <p:nvSpPr>
          <p:cNvPr id="22" name="Text 20"/>
          <p:cNvSpPr/>
          <p:nvPr/>
        </p:nvSpPr>
        <p:spPr>
          <a:xfrm>
            <a:off x="1358900" y="4603155"/>
            <a:ext cx="247015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 Orders</a:t>
            </a:r>
            <a:endParaRPr lang="en-US" sz="975" dirty="0"/>
          </a:p>
        </p:txBody>
      </p:sp>
      <p:sp>
        <p:nvSpPr>
          <p:cNvPr id="23" name="Text 21"/>
          <p:cNvSpPr/>
          <p:nvPr/>
        </p:nvSpPr>
        <p:spPr>
          <a:xfrm>
            <a:off x="1492250" y="4831755"/>
            <a:ext cx="2336800" cy="2222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 Created Date</a:t>
            </a:r>
            <a:endParaRPr lang="en-US" sz="975" dirty="0"/>
          </a:p>
        </p:txBody>
      </p:sp>
      <p:sp>
        <p:nvSpPr>
          <p:cNvPr id="24" name="Text 22"/>
          <p:cNvSpPr/>
          <p:nvPr/>
        </p:nvSpPr>
        <p:spPr>
          <a:xfrm>
            <a:off x="1492250" y="5073055"/>
            <a:ext cx="2336800" cy="2222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latin typeface="Manrope" pitchFamily="34" charset="0"/>
                <a:ea typeface="Manrope" pitchFamily="34" charset="-122"/>
                <a:cs typeface="Manrope" pitchFamily="34" charset="-120"/>
              </a:rPr>
              <a:t>📅 Created Month ✓</a:t>
            </a:r>
            <a:endParaRPr lang="en-US" sz="975" dirty="0"/>
          </a:p>
        </p:txBody>
      </p:sp>
      <p:sp>
        <p:nvSpPr>
          <p:cNvPr id="25" name="Text 23"/>
          <p:cNvSpPr/>
          <p:nvPr/>
        </p:nvSpPr>
        <p:spPr>
          <a:xfrm>
            <a:off x="1492250" y="5314355"/>
            <a:ext cx="2336800" cy="2222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𝓐 Status</a:t>
            </a:r>
            <a:endParaRPr lang="en-US" sz="975" dirty="0"/>
          </a:p>
        </p:txBody>
      </p:sp>
      <p:sp>
        <p:nvSpPr>
          <p:cNvPr id="26" name="Text 24"/>
          <p:cNvSpPr/>
          <p:nvPr/>
        </p:nvSpPr>
        <p:spPr>
          <a:xfrm>
            <a:off x="1492250" y="5555655"/>
            <a:ext cx="2336800" cy="2222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𝓐 Channel</a:t>
            </a:r>
            <a:endParaRPr lang="en-US" sz="975" dirty="0"/>
          </a:p>
        </p:txBody>
      </p:sp>
      <p:sp>
        <p:nvSpPr>
          <p:cNvPr id="27" name="Text 25"/>
          <p:cNvSpPr/>
          <p:nvPr/>
        </p:nvSpPr>
        <p:spPr>
          <a:xfrm>
            <a:off x="1492250" y="5796955"/>
            <a:ext cx="233680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latin typeface="Manrope" pitchFamily="34" charset="0"/>
                <a:ea typeface="Manrope" pitchFamily="34" charset="-122"/>
                <a:cs typeface="Manrope" pitchFamily="34" charset="-120"/>
              </a:rPr>
              <a:t>Σ Count ✓</a:t>
            </a:r>
            <a:endParaRPr lang="en-US" sz="975" dirty="0"/>
          </a:p>
        </p:txBody>
      </p:sp>
      <p:sp>
        <p:nvSpPr>
          <p:cNvPr id="28" name="Text 26"/>
          <p:cNvSpPr/>
          <p:nvPr/>
        </p:nvSpPr>
        <p:spPr>
          <a:xfrm>
            <a:off x="1492250" y="6025555"/>
            <a:ext cx="233680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latin typeface="Manrope" pitchFamily="34" charset="0"/>
                <a:ea typeface="Manrope" pitchFamily="34" charset="-122"/>
                <a:cs typeface="Manrope" pitchFamily="34" charset="-120"/>
              </a:rPr>
              <a:t>Σ Total Revenue ✓</a:t>
            </a:r>
            <a:endParaRPr lang="en-US" sz="975" dirty="0"/>
          </a:p>
        </p:txBody>
      </p:sp>
      <p:sp>
        <p:nvSpPr>
          <p:cNvPr id="29" name="Text 27"/>
          <p:cNvSpPr/>
          <p:nvPr/>
        </p:nvSpPr>
        <p:spPr>
          <a:xfrm>
            <a:off x="1492250" y="6254155"/>
            <a:ext cx="23368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Σ Avg Order Value</a:t>
            </a:r>
            <a:endParaRPr lang="en-US" sz="975" dirty="0"/>
          </a:p>
        </p:txBody>
      </p:sp>
      <p:sp>
        <p:nvSpPr>
          <p:cNvPr id="30" name="Text 28"/>
          <p:cNvSpPr/>
          <p:nvPr/>
        </p:nvSpPr>
        <p:spPr>
          <a:xfrm>
            <a:off x="1358900" y="6558955"/>
            <a:ext cx="247015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 Users</a:t>
            </a:r>
            <a:endParaRPr lang="en-US" sz="975" dirty="0"/>
          </a:p>
        </p:txBody>
      </p:sp>
      <p:sp>
        <p:nvSpPr>
          <p:cNvPr id="31" name="Text 29"/>
          <p:cNvSpPr/>
          <p:nvPr/>
        </p:nvSpPr>
        <p:spPr>
          <a:xfrm>
            <a:off x="1492250" y="6787555"/>
            <a:ext cx="2336800" cy="2222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𝓐 Country</a:t>
            </a:r>
            <a:endParaRPr lang="en-US" sz="975" dirty="0"/>
          </a:p>
        </p:txBody>
      </p:sp>
      <p:sp>
        <p:nvSpPr>
          <p:cNvPr id="32" name="Text 30"/>
          <p:cNvSpPr/>
          <p:nvPr/>
        </p:nvSpPr>
        <p:spPr>
          <a:xfrm>
            <a:off x="1492250" y="7028855"/>
            <a:ext cx="2336800" cy="2222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𝓐 Plan Tier</a:t>
            </a:r>
            <a:endParaRPr lang="en-US" sz="975" dirty="0"/>
          </a:p>
        </p:txBody>
      </p:sp>
      <p:sp>
        <p:nvSpPr>
          <p:cNvPr id="33" name="Text 31"/>
          <p:cNvSpPr/>
          <p:nvPr/>
        </p:nvSpPr>
        <p:spPr>
          <a:xfrm>
            <a:off x="1492250" y="7270155"/>
            <a:ext cx="2336800" cy="20955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Manrope" pitchFamily="34" charset="0"/>
                <a:ea typeface="Manrope" pitchFamily="34" charset="-122"/>
                <a:cs typeface="Manrope" pitchFamily="34" charset="-120"/>
              </a:rPr>
              <a:t>Σ Distinct Count</a:t>
            </a:r>
            <a:endParaRPr lang="en-US" sz="975" dirty="0"/>
          </a:p>
        </p:txBody>
      </p:sp>
      <p:sp>
        <p:nvSpPr>
          <p:cNvPr id="34" name="Text 32"/>
          <p:cNvSpPr/>
          <p:nvPr/>
        </p:nvSpPr>
        <p:spPr>
          <a:xfrm>
            <a:off x="1358900" y="7574955"/>
            <a:ext cx="247015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 Products</a:t>
            </a:r>
            <a:endParaRPr lang="en-US" sz="975" dirty="0"/>
          </a:p>
        </p:txBody>
      </p:sp>
      <p:sp>
        <p:nvSpPr>
          <p:cNvPr id="35" name="Shape 33"/>
          <p:cNvSpPr/>
          <p:nvPr/>
        </p:nvSpPr>
        <p:spPr>
          <a:xfrm>
            <a:off x="3892550" y="3815755"/>
            <a:ext cx="10121901" cy="349250"/>
          </a:xfrm>
          <a:prstGeom prst="rect">
            <a:avLst/>
          </a:prstGeom>
          <a:solidFill>
            <a:srgbClr val="FFFFFF"/>
          </a:solidFill>
          <a:ln/>
        </p:spPr>
      </p:sp>
      <p:sp>
        <p:nvSpPr>
          <p:cNvPr id="36" name="Shape 34"/>
          <p:cNvSpPr/>
          <p:nvPr/>
        </p:nvSpPr>
        <p:spPr>
          <a:xfrm>
            <a:off x="3892550" y="4158655"/>
            <a:ext cx="10121901" cy="9525"/>
          </a:xfrm>
          <a:prstGeom prst="rect">
            <a:avLst/>
          </a:prstGeom>
          <a:solidFill>
            <a:srgbClr val="C9CFD8"/>
          </a:solidFill>
          <a:ln/>
        </p:spPr>
      </p:sp>
      <p:sp>
        <p:nvSpPr>
          <p:cNvPr id="37" name="Text 35"/>
          <p:cNvSpPr/>
          <p:nvPr/>
        </p:nvSpPr>
        <p:spPr>
          <a:xfrm>
            <a:off x="4044950" y="3911005"/>
            <a:ext cx="789682" cy="190500"/>
          </a:xfrm>
          <a:prstGeom prst="rect">
            <a:avLst/>
          </a:prstGeom>
          <a:noFill/>
          <a:ln/>
        </p:spPr>
        <p:txBody>
          <a:bodyPr wrap="square" lIns="25400" tIns="25400" rIns="25400" bIns="25400" rtlCol="0" anchor="t">
            <a:normAutofit/>
          </a:bodyPr>
          <a:lstStyle/>
          <a:p>
            <a:pPr algn="l" indent="0" marL="0">
              <a:buNone/>
            </a:pPr>
            <a:r>
              <a:rPr lang="en-US" sz="900" b="1" dirty="0">
                <a:solidFill>
                  <a:srgbClr val="1B1F2A"/>
                </a:solidFill>
                <a:latin typeface="Manrope" pitchFamily="34" charset="0"/>
                <a:ea typeface="Manrope" pitchFamily="34" charset="-122"/>
                <a:cs typeface="Manrope" pitchFamily="34" charset="-120"/>
              </a:rPr>
              <a:t>Visualization</a:t>
            </a:r>
            <a:endParaRPr lang="en-US" sz="900" dirty="0"/>
          </a:p>
        </p:txBody>
      </p:sp>
      <p:sp>
        <p:nvSpPr>
          <p:cNvPr id="38" name="Text 36"/>
          <p:cNvSpPr/>
          <p:nvPr/>
        </p:nvSpPr>
        <p:spPr>
          <a:xfrm>
            <a:off x="4891782" y="3911005"/>
            <a:ext cx="102196" cy="190500"/>
          </a:xfrm>
          <a:prstGeom prst="rect">
            <a:avLst/>
          </a:prstGeom>
          <a:noFill/>
          <a:ln/>
        </p:spPr>
        <p:txBody>
          <a:bodyPr wrap="square" lIns="0" tIns="0" rIns="0" bIns="0" rtlCol="0" anchor="t">
            <a:normAutofit/>
          </a:bodyPr>
          <a:lstStyle/>
          <a:p>
            <a:pPr algn="l" indent="0" marL="0">
              <a:buNone/>
            </a:pPr>
            <a:r>
              <a:rPr lang="en-US" sz="900" dirty="0">
                <a:solidFill>
                  <a:srgbClr val="384358"/>
                </a:solidFill>
                <a:latin typeface="Manrope" pitchFamily="34" charset="0"/>
                <a:ea typeface="Manrope" pitchFamily="34" charset="-122"/>
                <a:cs typeface="Manrope" pitchFamily="34" charset="-120"/>
              </a:rPr>
              <a:t>·</a:t>
            </a:r>
            <a:endParaRPr lang="en-US" sz="900" dirty="0"/>
          </a:p>
        </p:txBody>
      </p:sp>
      <p:sp>
        <p:nvSpPr>
          <p:cNvPr id="39" name="Text 37"/>
          <p:cNvSpPr/>
          <p:nvPr/>
        </p:nvSpPr>
        <p:spPr>
          <a:xfrm>
            <a:off x="5051128" y="3911005"/>
            <a:ext cx="578743" cy="190500"/>
          </a:xfrm>
          <a:prstGeom prst="rect">
            <a:avLst/>
          </a:prstGeom>
          <a:noFill/>
          <a:ln/>
        </p:spPr>
        <p:txBody>
          <a:bodyPr wrap="square" lIns="25400" tIns="25400" rIns="25400" bIns="25400" rtlCol="0" anchor="t">
            <a:normAutofit/>
          </a:bodyPr>
          <a:lstStyle/>
          <a:p>
            <a:pPr algn="l" indent="0" marL="0">
              <a:buNone/>
            </a:pPr>
            <a:r>
              <a:rPr lang="en-US" sz="900" b="1" dirty="0">
                <a:solidFill>
                  <a:srgbClr val="FF671F"/>
                </a:solidFill>
                <a:latin typeface="Manrope" pitchFamily="34" charset="0"/>
                <a:ea typeface="Manrope" pitchFamily="34" charset="-122"/>
                <a:cs typeface="Manrope" pitchFamily="34" charset="-120"/>
              </a:rPr>
              <a:t>Column ▾</a:t>
            </a:r>
            <a:endParaRPr lang="en-US" sz="900" dirty="0"/>
          </a:p>
        </p:txBody>
      </p:sp>
      <p:sp>
        <p:nvSpPr>
          <p:cNvPr id="40" name="Text 38"/>
          <p:cNvSpPr/>
          <p:nvPr/>
        </p:nvSpPr>
        <p:spPr>
          <a:xfrm>
            <a:off x="5687020" y="3911005"/>
            <a:ext cx="1442740" cy="190500"/>
          </a:xfrm>
          <a:prstGeom prst="rect">
            <a:avLst/>
          </a:prstGeom>
          <a:noFill/>
          <a:ln/>
        </p:spPr>
        <p:txBody>
          <a:bodyPr wrap="square" lIns="0" tIns="0" rIns="0" bIns="0" rtlCol="0" anchor="t">
            <a:normAutofit/>
          </a:bodyPr>
          <a:lstStyle/>
          <a:p>
            <a:pPr algn="l" indent="0" marL="0">
              <a:buNone/>
            </a:pPr>
            <a:r>
              <a:rPr lang="en-US" sz="900" dirty="0">
                <a:solidFill>
                  <a:srgbClr val="384358"/>
                </a:solidFill>
                <a:latin typeface="Manrope" pitchFamily="34" charset="0"/>
                <a:ea typeface="Manrope" pitchFamily="34" charset="-122"/>
                <a:cs typeface="Manrope" pitchFamily="34" charset="-120"/>
              </a:rPr>
              <a:t>· Edit · Type · Series · Y-axis</a:t>
            </a:r>
            <a:endParaRPr lang="en-US" sz="900" dirty="0"/>
          </a:p>
        </p:txBody>
      </p:sp>
      <p:sp>
        <p:nvSpPr>
          <p:cNvPr id="41" name="Shape 39"/>
          <p:cNvSpPr/>
          <p:nvPr/>
        </p:nvSpPr>
        <p:spPr>
          <a:xfrm>
            <a:off x="3892550" y="4165005"/>
            <a:ext cx="10121901" cy="5257800"/>
          </a:xfrm>
          <a:prstGeom prst="rect">
            <a:avLst/>
          </a:prstGeom>
          <a:solidFill>
            <a:srgbClr val="FFFFFF"/>
          </a:solidFill>
          <a:ln/>
        </p:spPr>
      </p:sp>
      <p:sp>
        <p:nvSpPr>
          <p:cNvPr id="42" name="Shape 40"/>
          <p:cNvSpPr/>
          <p:nvPr/>
        </p:nvSpPr>
        <p:spPr>
          <a:xfrm>
            <a:off x="4121150" y="6553895"/>
            <a:ext cx="683121" cy="2640310"/>
          </a:xfrm>
          <a:prstGeom prst="roundRect">
            <a:avLst>
              <a:gd name="adj" fmla="val 5577"/>
            </a:avLst>
          </a:prstGeom>
          <a:solidFill>
            <a:srgbClr val="FF671F"/>
          </a:solidFill>
          <a:ln/>
        </p:spPr>
      </p:sp>
      <p:sp>
        <p:nvSpPr>
          <p:cNvPr id="43" name="Shape 41"/>
          <p:cNvSpPr/>
          <p:nvPr/>
        </p:nvSpPr>
        <p:spPr>
          <a:xfrm>
            <a:off x="4937621" y="7177980"/>
            <a:ext cx="683220" cy="2016224"/>
          </a:xfrm>
          <a:prstGeom prst="roundRect">
            <a:avLst>
              <a:gd name="adj" fmla="val 5577"/>
            </a:avLst>
          </a:prstGeom>
          <a:solidFill>
            <a:srgbClr val="FF671F"/>
          </a:solidFill>
          <a:ln/>
        </p:spPr>
      </p:sp>
      <p:sp>
        <p:nvSpPr>
          <p:cNvPr id="44" name="Shape 42"/>
          <p:cNvSpPr/>
          <p:nvPr/>
        </p:nvSpPr>
        <p:spPr>
          <a:xfrm>
            <a:off x="5754192" y="5929809"/>
            <a:ext cx="683121" cy="3264396"/>
          </a:xfrm>
          <a:prstGeom prst="roundRect">
            <a:avLst>
              <a:gd name="adj" fmla="val 5577"/>
            </a:avLst>
          </a:prstGeom>
          <a:solidFill>
            <a:srgbClr val="FF671F"/>
          </a:solidFill>
          <a:ln/>
        </p:spPr>
      </p:sp>
      <p:sp>
        <p:nvSpPr>
          <p:cNvPr id="45" name="Shape 43"/>
          <p:cNvSpPr/>
          <p:nvPr/>
        </p:nvSpPr>
        <p:spPr>
          <a:xfrm>
            <a:off x="6570663" y="5641777"/>
            <a:ext cx="683220" cy="3552428"/>
          </a:xfrm>
          <a:prstGeom prst="roundRect">
            <a:avLst>
              <a:gd name="adj" fmla="val 5577"/>
            </a:avLst>
          </a:prstGeom>
          <a:solidFill>
            <a:srgbClr val="FF671F"/>
          </a:solidFill>
          <a:ln/>
        </p:spPr>
      </p:sp>
      <p:sp>
        <p:nvSpPr>
          <p:cNvPr id="46" name="Shape 44"/>
          <p:cNvSpPr/>
          <p:nvPr/>
        </p:nvSpPr>
        <p:spPr>
          <a:xfrm>
            <a:off x="7387233" y="4969768"/>
            <a:ext cx="683121" cy="4224437"/>
          </a:xfrm>
          <a:prstGeom prst="roundRect">
            <a:avLst>
              <a:gd name="adj" fmla="val 5577"/>
            </a:avLst>
          </a:prstGeom>
          <a:solidFill>
            <a:srgbClr val="FF671F"/>
          </a:solidFill>
          <a:ln/>
        </p:spPr>
      </p:sp>
      <p:sp>
        <p:nvSpPr>
          <p:cNvPr id="47" name="Shape 45"/>
          <p:cNvSpPr/>
          <p:nvPr/>
        </p:nvSpPr>
        <p:spPr>
          <a:xfrm>
            <a:off x="8203704" y="4585692"/>
            <a:ext cx="683220" cy="4608513"/>
          </a:xfrm>
          <a:prstGeom prst="roundRect">
            <a:avLst>
              <a:gd name="adj" fmla="val 5577"/>
            </a:avLst>
          </a:prstGeom>
          <a:solidFill>
            <a:srgbClr val="FF671F"/>
          </a:solidFill>
          <a:ln/>
        </p:spPr>
      </p:sp>
      <p:sp>
        <p:nvSpPr>
          <p:cNvPr id="48" name="Shape 46"/>
          <p:cNvSpPr/>
          <p:nvPr/>
        </p:nvSpPr>
        <p:spPr>
          <a:xfrm>
            <a:off x="9020274" y="5305723"/>
            <a:ext cx="683121" cy="3888482"/>
          </a:xfrm>
          <a:prstGeom prst="roundRect">
            <a:avLst>
              <a:gd name="adj" fmla="val 5577"/>
            </a:avLst>
          </a:prstGeom>
          <a:solidFill>
            <a:srgbClr val="FF671F"/>
          </a:solidFill>
          <a:ln/>
        </p:spPr>
      </p:sp>
      <p:sp>
        <p:nvSpPr>
          <p:cNvPr id="49" name="Shape 47"/>
          <p:cNvSpPr/>
          <p:nvPr/>
        </p:nvSpPr>
        <p:spPr>
          <a:xfrm>
            <a:off x="9836746" y="5833864"/>
            <a:ext cx="683220" cy="3360341"/>
          </a:xfrm>
          <a:prstGeom prst="roundRect">
            <a:avLst>
              <a:gd name="adj" fmla="val 5577"/>
            </a:avLst>
          </a:prstGeom>
          <a:solidFill>
            <a:srgbClr val="FF671F"/>
          </a:solidFill>
          <a:ln/>
        </p:spPr>
      </p:sp>
      <p:sp>
        <p:nvSpPr>
          <p:cNvPr id="50" name="Shape 48"/>
          <p:cNvSpPr/>
          <p:nvPr/>
        </p:nvSpPr>
        <p:spPr>
          <a:xfrm>
            <a:off x="10653316" y="4777680"/>
            <a:ext cx="683121" cy="4416524"/>
          </a:xfrm>
          <a:prstGeom prst="roundRect">
            <a:avLst>
              <a:gd name="adj" fmla="val 5577"/>
            </a:avLst>
          </a:prstGeom>
          <a:solidFill>
            <a:srgbClr val="FF671F"/>
          </a:solidFill>
          <a:ln/>
        </p:spPr>
      </p:sp>
      <p:sp>
        <p:nvSpPr>
          <p:cNvPr id="51" name="Shape 49"/>
          <p:cNvSpPr/>
          <p:nvPr/>
        </p:nvSpPr>
        <p:spPr>
          <a:xfrm>
            <a:off x="11469787" y="6073875"/>
            <a:ext cx="683121" cy="3120330"/>
          </a:xfrm>
          <a:prstGeom prst="roundRect">
            <a:avLst>
              <a:gd name="adj" fmla="val 5577"/>
            </a:avLst>
          </a:prstGeom>
          <a:solidFill>
            <a:srgbClr val="FF671F"/>
          </a:solidFill>
          <a:ln/>
        </p:spPr>
      </p:sp>
      <p:sp>
        <p:nvSpPr>
          <p:cNvPr id="52" name="Shape 50"/>
          <p:cNvSpPr/>
          <p:nvPr/>
        </p:nvSpPr>
        <p:spPr>
          <a:xfrm>
            <a:off x="12286258" y="5161756"/>
            <a:ext cx="683121" cy="4032449"/>
          </a:xfrm>
          <a:prstGeom prst="roundRect">
            <a:avLst>
              <a:gd name="adj" fmla="val 5577"/>
            </a:avLst>
          </a:prstGeom>
          <a:solidFill>
            <a:srgbClr val="FF671F"/>
          </a:solidFill>
          <a:ln/>
        </p:spPr>
      </p:sp>
      <p:sp>
        <p:nvSpPr>
          <p:cNvPr id="53" name="Shape 51"/>
          <p:cNvSpPr/>
          <p:nvPr/>
        </p:nvSpPr>
        <p:spPr>
          <a:xfrm>
            <a:off x="13102729" y="5449788"/>
            <a:ext cx="683121" cy="3744417"/>
          </a:xfrm>
          <a:prstGeom prst="roundRect">
            <a:avLst>
              <a:gd name="adj" fmla="val 5577"/>
            </a:avLst>
          </a:prstGeom>
          <a:solidFill>
            <a:srgbClr val="FF671F"/>
          </a:solidFill>
          <a:ln/>
        </p:spPr>
      </p:sp>
      <p:sp>
        <p:nvSpPr>
          <p:cNvPr id="54" name="Shape 52"/>
          <p:cNvSpPr/>
          <p:nvPr/>
        </p:nvSpPr>
        <p:spPr>
          <a:xfrm>
            <a:off x="3892550" y="9422805"/>
            <a:ext cx="10121901" cy="336550"/>
          </a:xfrm>
          <a:prstGeom prst="rect">
            <a:avLst/>
          </a:prstGeom>
          <a:solidFill>
            <a:srgbClr val="FAFBFC"/>
          </a:solidFill>
          <a:ln/>
        </p:spPr>
      </p:sp>
      <p:sp>
        <p:nvSpPr>
          <p:cNvPr id="55" name="Shape 53"/>
          <p:cNvSpPr/>
          <p:nvPr/>
        </p:nvSpPr>
        <p:spPr>
          <a:xfrm>
            <a:off x="3892550" y="9422805"/>
            <a:ext cx="10121901" cy="9525"/>
          </a:xfrm>
          <a:prstGeom prst="rect">
            <a:avLst/>
          </a:prstGeom>
          <a:solidFill>
            <a:srgbClr val="C9CFD8"/>
          </a:solidFill>
          <a:ln/>
        </p:spPr>
      </p:sp>
      <p:sp>
        <p:nvSpPr>
          <p:cNvPr id="56" name="Text 54"/>
          <p:cNvSpPr/>
          <p:nvPr/>
        </p:nvSpPr>
        <p:spPr>
          <a:xfrm>
            <a:off x="4044950" y="9524405"/>
            <a:ext cx="10120758" cy="177800"/>
          </a:xfrm>
          <a:prstGeom prst="rect">
            <a:avLst/>
          </a:prstGeom>
          <a:noFill/>
          <a:ln/>
        </p:spPr>
        <p:txBody>
          <a:bodyPr wrap="square" lIns="25400" tIns="25400" rIns="25400" bIns="25400" rtlCol="0" anchor="t">
            <a:normAutofit/>
          </a:bodyPr>
          <a:lstStyle/>
          <a:p>
            <a:pPr algn="l" indent="0" marL="0">
              <a:buNone/>
            </a:pPr>
            <a:r>
              <a:rPr lang="en-US" sz="825" spc="33" kern="0" dirty="0">
                <a:solidFill>
                  <a:srgbClr val="8B95A6"/>
                </a:solidFill>
                <a:latin typeface="JetBrains Mono" pitchFamily="34" charset="0"/>
                <a:ea typeface="JetBrains Mono" pitchFamily="34" charset="-122"/>
                <a:cs typeface="JetBrains Mono" pitchFamily="34" charset="-120"/>
              </a:rPr>
              <a:t>Data · 12 rows · 3 columns · SQL · Generated 0.62s · Cache hit</a:t>
            </a:r>
            <a:endParaRPr lang="en-US" sz="825" dirty="0"/>
          </a:p>
        </p:txBody>
      </p:sp>
      <p:sp>
        <p:nvSpPr>
          <p:cNvPr id="57" name="Shape 55"/>
          <p:cNvSpPr/>
          <p:nvPr/>
        </p:nvSpPr>
        <p:spPr>
          <a:xfrm>
            <a:off x="14014450" y="3815755"/>
            <a:ext cx="3048000" cy="5943600"/>
          </a:xfrm>
          <a:prstGeom prst="rect">
            <a:avLst/>
          </a:prstGeom>
          <a:solidFill>
            <a:srgbClr val="FFFFFF"/>
          </a:solidFill>
          <a:ln/>
        </p:spPr>
      </p:sp>
      <p:sp>
        <p:nvSpPr>
          <p:cNvPr id="58" name="Shape 56"/>
          <p:cNvSpPr/>
          <p:nvPr/>
        </p:nvSpPr>
        <p:spPr>
          <a:xfrm>
            <a:off x="14014450" y="3815755"/>
            <a:ext cx="9525" cy="5943600"/>
          </a:xfrm>
          <a:prstGeom prst="rect">
            <a:avLst/>
          </a:prstGeom>
          <a:solidFill>
            <a:srgbClr val="C9CFD8"/>
          </a:solidFill>
          <a:ln/>
        </p:spPr>
      </p:sp>
      <p:sp>
        <p:nvSpPr>
          <p:cNvPr id="59" name="Text 57"/>
          <p:cNvSpPr/>
          <p:nvPr/>
        </p:nvSpPr>
        <p:spPr>
          <a:xfrm>
            <a:off x="14154150" y="3949105"/>
            <a:ext cx="2858199" cy="165100"/>
          </a:xfrm>
          <a:prstGeom prst="rect">
            <a:avLst/>
          </a:prstGeom>
          <a:noFill/>
          <a:ln/>
        </p:spPr>
        <p:txBody>
          <a:bodyPr wrap="square" lIns="25400" tIns="25400" rIns="25400" bIns="25400" rtlCol="0" anchor="t">
            <a:normAutofit/>
          </a:bodyPr>
          <a:lstStyle/>
          <a:p>
            <a:pPr algn="l" indent="0" marL="0">
              <a:buNone/>
            </a:pPr>
            <a:r>
              <a:rPr lang="en-US" sz="750" spc="75" kern="0" dirty="0">
                <a:solidFill>
                  <a:srgbClr val="8B95A6"/>
                </a:solidFill>
                <a:latin typeface="JetBrains Mono" pitchFamily="34" charset="0"/>
                <a:ea typeface="JetBrains Mono" pitchFamily="34" charset="-122"/>
                <a:cs typeface="JetBrains Mono" pitchFamily="34" charset="-120"/>
              </a:rPr>
              <a:t>FILTERS</a:t>
            </a:r>
            <a:endParaRPr lang="en-US" sz="750" dirty="0"/>
          </a:p>
        </p:txBody>
      </p:sp>
      <p:sp>
        <p:nvSpPr>
          <p:cNvPr id="60" name="Shape 58"/>
          <p:cNvSpPr/>
          <p:nvPr/>
        </p:nvSpPr>
        <p:spPr>
          <a:xfrm>
            <a:off x="14154150" y="4133255"/>
            <a:ext cx="2774950" cy="495300"/>
          </a:xfrm>
          <a:prstGeom prst="roundRect">
            <a:avLst>
              <a:gd name="adj" fmla="val 11538"/>
            </a:avLst>
          </a:prstGeom>
          <a:solidFill>
            <a:srgbClr val="F1F2F4"/>
          </a:solidFill>
          <a:ln/>
        </p:spPr>
      </p:sp>
      <p:sp>
        <p:nvSpPr>
          <p:cNvPr id="61" name="Text 59"/>
          <p:cNvSpPr/>
          <p:nvPr/>
        </p:nvSpPr>
        <p:spPr>
          <a:xfrm>
            <a:off x="14249400" y="4228505"/>
            <a:ext cx="2667699" cy="342900"/>
          </a:xfrm>
          <a:prstGeom prst="rect">
            <a:avLst/>
          </a:prstGeom>
          <a:noFill/>
          <a:ln/>
        </p:spPr>
        <p:txBody>
          <a:bodyPr wrap="square" lIns="25400" tIns="25400" rIns="25400" bIns="25400" rtlCol="0" anchor="t">
            <a:normAutofit/>
          </a:bodyPr>
          <a:lstStyle/>
          <a:p>
            <a:pPr algn="l" indent="0" marL="0">
              <a:buNone/>
            </a:pPr>
            <a:r>
              <a:rPr lang="en-US" sz="900" dirty="0">
                <a:solidFill>
                  <a:srgbClr val="384358"/>
                </a:solidFill>
                <a:highlight>
                  <a:srgbClr val="F1F2F4"/>
                </a:highlight>
                <a:latin typeface="Manrope" pitchFamily="34" charset="0"/>
                <a:ea typeface="Manrope" pitchFamily="34" charset="-122"/>
                <a:cs typeface="Manrope" pitchFamily="34" charset="-120"/>
              </a:rPr>
              <a:t>Orders.Status </a:t>
            </a:r>
            <a:pPr algn="l" indent="0" marL="0">
              <a:buNone/>
            </a:pPr>
            <a:r>
              <a:rPr lang="en-US" sz="900" b="1" dirty="0">
                <a:solidFill>
                  <a:srgbClr val="384358"/>
                </a:solidFill>
                <a:latin typeface="Manrope" pitchFamily="34" charset="0"/>
                <a:ea typeface="Manrope" pitchFamily="34" charset="-122"/>
                <a:cs typeface="Manrope" pitchFamily="34" charset="-120"/>
              </a:rPr>
              <a:t>is </a:t>
            </a:r>
            <a:pPr algn="l" indent="0" marL="0">
              <a:buNone/>
            </a:pPr>
            <a:r>
              <a:rPr lang="en-US" sz="900" dirty="0">
                <a:solidFill>
                  <a:srgbClr val="384358"/>
                </a:solidFill>
                <a:highlight>
                  <a:srgbClr val="F1F2F4"/>
                </a:highlight>
                <a:latin typeface="Manrope" pitchFamily="34" charset="0"/>
                <a:ea typeface="Manrope" pitchFamily="34" charset="-122"/>
                <a:cs typeface="Manrope" pitchFamily="34" charset="-120"/>
              </a:rPr>
              <a:t>Complete</a:t>
            </a:r>
            <a:endParaRPr lang="en-US" sz="900" dirty="0"/>
          </a:p>
        </p:txBody>
      </p:sp>
      <p:sp>
        <p:nvSpPr>
          <p:cNvPr id="62" name="Shape 60"/>
          <p:cNvSpPr/>
          <p:nvPr/>
        </p:nvSpPr>
        <p:spPr>
          <a:xfrm>
            <a:off x="14154150" y="4685705"/>
            <a:ext cx="2774950" cy="495300"/>
          </a:xfrm>
          <a:prstGeom prst="roundRect">
            <a:avLst>
              <a:gd name="adj" fmla="val 11538"/>
            </a:avLst>
          </a:prstGeom>
          <a:solidFill>
            <a:srgbClr val="F1F2F4"/>
          </a:solidFill>
          <a:ln/>
        </p:spPr>
      </p:sp>
      <p:sp>
        <p:nvSpPr>
          <p:cNvPr id="63" name="Text 61"/>
          <p:cNvSpPr/>
          <p:nvPr/>
        </p:nvSpPr>
        <p:spPr>
          <a:xfrm>
            <a:off x="14249400" y="4780955"/>
            <a:ext cx="2667699" cy="342900"/>
          </a:xfrm>
          <a:prstGeom prst="rect">
            <a:avLst/>
          </a:prstGeom>
          <a:noFill/>
          <a:ln/>
        </p:spPr>
        <p:txBody>
          <a:bodyPr wrap="square" lIns="25400" tIns="25400" rIns="25400" bIns="25400" rtlCol="0" anchor="t">
            <a:normAutofit/>
          </a:bodyPr>
          <a:lstStyle/>
          <a:p>
            <a:pPr algn="l" indent="0" marL="0">
              <a:buNone/>
            </a:pPr>
            <a:r>
              <a:rPr lang="en-US" sz="900" dirty="0">
                <a:solidFill>
                  <a:srgbClr val="384358"/>
                </a:solidFill>
                <a:highlight>
                  <a:srgbClr val="F1F2F4"/>
                </a:highlight>
                <a:latin typeface="Manrope" pitchFamily="34" charset="0"/>
                <a:ea typeface="Manrope" pitchFamily="34" charset="-122"/>
                <a:cs typeface="Manrope" pitchFamily="34" charset="-120"/>
              </a:rPr>
              <a:t>Orders.Created Date </a:t>
            </a:r>
            <a:pPr algn="l" indent="0" marL="0">
              <a:buNone/>
            </a:pPr>
            <a:r>
              <a:rPr lang="en-US" sz="900" b="1" dirty="0">
                <a:solidFill>
                  <a:srgbClr val="384358"/>
                </a:solidFill>
                <a:latin typeface="Manrope" pitchFamily="34" charset="0"/>
                <a:ea typeface="Manrope" pitchFamily="34" charset="-122"/>
                <a:cs typeface="Manrope" pitchFamily="34" charset="-120"/>
              </a:rPr>
              <a:t>is in the last </a:t>
            </a:r>
            <a:pPr algn="l" indent="0" marL="0">
              <a:buNone/>
            </a:pPr>
            <a:r>
              <a:rPr lang="en-US" sz="900" dirty="0">
                <a:solidFill>
                  <a:srgbClr val="384358"/>
                </a:solidFill>
                <a:highlight>
                  <a:srgbClr val="F1F2F4"/>
                </a:highlight>
                <a:latin typeface="Manrope" pitchFamily="34" charset="0"/>
                <a:ea typeface="Manrope" pitchFamily="34" charset="-122"/>
                <a:cs typeface="Manrope" pitchFamily="34" charset="-120"/>
              </a:rPr>
              <a:t>12 months</a:t>
            </a:r>
            <a:endParaRPr lang="en-US" sz="900" dirty="0"/>
          </a:p>
        </p:txBody>
      </p:sp>
      <p:sp>
        <p:nvSpPr>
          <p:cNvPr id="64" name="Text 62"/>
          <p:cNvSpPr/>
          <p:nvPr/>
        </p:nvSpPr>
        <p:spPr>
          <a:xfrm>
            <a:off x="14154150" y="5314355"/>
            <a:ext cx="2858199" cy="165100"/>
          </a:xfrm>
          <a:prstGeom prst="rect">
            <a:avLst/>
          </a:prstGeom>
          <a:noFill/>
          <a:ln/>
        </p:spPr>
        <p:txBody>
          <a:bodyPr wrap="square" lIns="25400" tIns="25400" rIns="25400" bIns="25400" rtlCol="0" anchor="t">
            <a:normAutofit/>
          </a:bodyPr>
          <a:lstStyle/>
          <a:p>
            <a:pPr algn="l" indent="0" marL="0">
              <a:buNone/>
            </a:pPr>
            <a:r>
              <a:rPr lang="en-US" sz="750" spc="75" kern="0" dirty="0">
                <a:solidFill>
                  <a:srgbClr val="8B95A6"/>
                </a:solidFill>
                <a:latin typeface="JetBrains Mono" pitchFamily="34" charset="0"/>
                <a:ea typeface="JetBrains Mono" pitchFamily="34" charset="-122"/>
                <a:cs typeface="JetBrains Mono" pitchFamily="34" charset="-120"/>
              </a:rPr>
              <a:t>PIVOT</a:t>
            </a:r>
            <a:endParaRPr lang="en-US" sz="750" dirty="0"/>
          </a:p>
        </p:txBody>
      </p:sp>
      <p:sp>
        <p:nvSpPr>
          <p:cNvPr id="65" name="Text 63"/>
          <p:cNvSpPr/>
          <p:nvPr/>
        </p:nvSpPr>
        <p:spPr>
          <a:xfrm>
            <a:off x="14154150" y="5498505"/>
            <a:ext cx="2858199" cy="190500"/>
          </a:xfrm>
          <a:prstGeom prst="rect">
            <a:avLst/>
          </a:prstGeom>
          <a:noFill/>
          <a:ln/>
        </p:spPr>
        <p:txBody>
          <a:bodyPr wrap="square" lIns="25400" tIns="25400" rIns="25400" bIns="25400" rtlCol="0" anchor="t">
            <a:normAutofit/>
          </a:bodyPr>
          <a:lstStyle/>
          <a:p>
            <a:pPr algn="l" indent="0" marL="0">
              <a:buNone/>
            </a:pPr>
            <a:r>
              <a:rPr lang="en-US" sz="900" dirty="0">
                <a:solidFill>
                  <a:srgbClr val="8B95A6"/>
                </a:solidFill>
                <a:latin typeface="Manrope" pitchFamily="34" charset="0"/>
                <a:ea typeface="Manrope" pitchFamily="34" charset="-122"/>
                <a:cs typeface="Manrope" pitchFamily="34" charset="-120"/>
              </a:rPr>
              <a:t>— none —</a:t>
            </a:r>
            <a:endParaRPr lang="en-US" sz="900" dirty="0"/>
          </a:p>
        </p:txBody>
      </p:sp>
      <p:sp>
        <p:nvSpPr>
          <p:cNvPr id="66" name="Text 64"/>
          <p:cNvSpPr/>
          <p:nvPr/>
        </p:nvSpPr>
        <p:spPr>
          <a:xfrm>
            <a:off x="14154150" y="5784255"/>
            <a:ext cx="2858199" cy="165100"/>
          </a:xfrm>
          <a:prstGeom prst="rect">
            <a:avLst/>
          </a:prstGeom>
          <a:noFill/>
          <a:ln/>
        </p:spPr>
        <p:txBody>
          <a:bodyPr wrap="square" lIns="25400" tIns="25400" rIns="25400" bIns="25400" rtlCol="0" anchor="t">
            <a:normAutofit/>
          </a:bodyPr>
          <a:lstStyle/>
          <a:p>
            <a:pPr algn="l" indent="0" marL="0">
              <a:buNone/>
            </a:pPr>
            <a:r>
              <a:rPr lang="en-US" sz="750" spc="75" kern="0" dirty="0">
                <a:solidFill>
                  <a:srgbClr val="8B95A6"/>
                </a:solidFill>
                <a:latin typeface="JetBrains Mono" pitchFamily="34" charset="0"/>
                <a:ea typeface="JetBrains Mono" pitchFamily="34" charset="-122"/>
                <a:cs typeface="JetBrains Mono" pitchFamily="34" charset="-120"/>
              </a:rPr>
              <a:t>SORT &amp; LIMIT</a:t>
            </a:r>
            <a:endParaRPr lang="en-US" sz="750" dirty="0"/>
          </a:p>
        </p:txBody>
      </p:sp>
      <p:sp>
        <p:nvSpPr>
          <p:cNvPr id="67" name="Text 65"/>
          <p:cNvSpPr/>
          <p:nvPr/>
        </p:nvSpPr>
        <p:spPr>
          <a:xfrm>
            <a:off x="14154150" y="5968405"/>
            <a:ext cx="2858199" cy="190500"/>
          </a:xfrm>
          <a:prstGeom prst="rect">
            <a:avLst/>
          </a:prstGeom>
          <a:noFill/>
          <a:ln/>
        </p:spPr>
        <p:txBody>
          <a:bodyPr wrap="square" lIns="25400" tIns="25400" rIns="25400" bIns="25400" rtlCol="0" anchor="t">
            <a:normAutofit/>
          </a:bodyPr>
          <a:lstStyle/>
          <a:p>
            <a:pPr algn="l" indent="0" marL="0">
              <a:buNone/>
            </a:pPr>
            <a:r>
              <a:rPr lang="en-US" sz="900" dirty="0">
                <a:solidFill>
                  <a:srgbClr val="384358"/>
                </a:solidFill>
                <a:latin typeface="Manrope" pitchFamily="34" charset="0"/>
                <a:ea typeface="Manrope" pitchFamily="34" charset="-122"/>
                <a:cs typeface="Manrope" pitchFamily="34" charset="-120"/>
              </a:rPr>
              <a:t>Created Month ↑ · Row limit 500</a:t>
            </a:r>
            <a:endParaRPr lang="en-US" sz="900" dirty="0"/>
          </a:p>
        </p:txBody>
      </p:sp>
      <p:sp>
        <p:nvSpPr>
          <p:cNvPr id="68" name="Text 66"/>
          <p:cNvSpPr/>
          <p:nvPr/>
        </p:nvSpPr>
        <p:spPr>
          <a:xfrm>
            <a:off x="14154150" y="6254155"/>
            <a:ext cx="2858199" cy="165100"/>
          </a:xfrm>
          <a:prstGeom prst="rect">
            <a:avLst/>
          </a:prstGeom>
          <a:noFill/>
          <a:ln/>
        </p:spPr>
        <p:txBody>
          <a:bodyPr wrap="square" lIns="25400" tIns="25400" rIns="25400" bIns="25400" rtlCol="0" anchor="t">
            <a:normAutofit/>
          </a:bodyPr>
          <a:lstStyle/>
          <a:p>
            <a:pPr algn="l" indent="0" marL="0">
              <a:buNone/>
            </a:pPr>
            <a:r>
              <a:rPr lang="en-US" sz="750" spc="75" kern="0" dirty="0">
                <a:solidFill>
                  <a:srgbClr val="8B95A6"/>
                </a:solidFill>
                <a:latin typeface="JetBrains Mono" pitchFamily="34" charset="0"/>
                <a:ea typeface="JetBrains Mono" pitchFamily="34" charset="-122"/>
                <a:cs typeface="JetBrains Mono" pitchFamily="34" charset="-120"/>
              </a:rPr>
              <a:t>SQL</a:t>
            </a:r>
            <a:endParaRPr lang="en-US" sz="750" dirty="0"/>
          </a:p>
        </p:txBody>
      </p:sp>
      <p:sp>
        <p:nvSpPr>
          <p:cNvPr id="69" name="Shape 67"/>
          <p:cNvSpPr/>
          <p:nvPr/>
        </p:nvSpPr>
        <p:spPr>
          <a:xfrm>
            <a:off x="14154150" y="6438305"/>
            <a:ext cx="2774950" cy="1604963"/>
          </a:xfrm>
          <a:prstGeom prst="roundRect">
            <a:avLst>
              <a:gd name="adj" fmla="val 3561"/>
            </a:avLst>
          </a:prstGeom>
          <a:solidFill>
            <a:srgbClr val="1B1F2A"/>
          </a:solidFill>
          <a:ln/>
        </p:spPr>
      </p:sp>
      <p:sp>
        <p:nvSpPr>
          <p:cNvPr id="70" name="Text 68"/>
          <p:cNvSpPr/>
          <p:nvPr/>
        </p:nvSpPr>
        <p:spPr>
          <a:xfrm>
            <a:off x="14249400" y="6533555"/>
            <a:ext cx="2667699" cy="1452563"/>
          </a:xfrm>
          <a:prstGeom prst="rect">
            <a:avLst/>
          </a:prstGeom>
          <a:noFill/>
          <a:ln/>
        </p:spPr>
        <p:txBody>
          <a:bodyPr wrap="square" lIns="25400" tIns="25400" rIns="25400" bIns="25400" rtlCol="0" anchor="t">
            <a:normAutofit/>
          </a:bodyPr>
          <a:lstStyle/>
          <a:p>
            <a:pPr algn="l" indent="0" marL="0">
              <a:lnSpc>
                <a:spcPct val="150000"/>
              </a:lnSpc>
              <a:buNone/>
            </a:pPr>
            <a:r>
              <a:rPr lang="en-US" sz="825" dirty="0">
                <a:solidFill>
                  <a:srgbClr val="9DD0FF"/>
                </a:solidFill>
                <a:highlight>
                  <a:srgbClr val="1B1F2A"/>
                </a:highlight>
                <a:latin typeface="JetBrains Mono" pitchFamily="34" charset="0"/>
                <a:ea typeface="JetBrains Mono" pitchFamily="34" charset="-122"/>
                <a:cs typeface="JetBrains Mono" pitchFamily="34" charset="-120"/>
              </a:rPr>
              <a:t>SELECT DATE_TRUNC( orders.created_at, MONTH) AS m, SUM(amount) AS rev FROM orders WHERE status='complete' GROUP BY 1 ORDER BY 1;</a:t>
            </a:r>
            <a:endParaRPr lang="en-US" sz="825" dirty="0"/>
          </a:p>
        </p:txBody>
      </p:sp>
      <p:sp>
        <p:nvSpPr>
          <p:cNvPr id="71" name="Shape 69"/>
          <p:cNvSpPr/>
          <p:nvPr/>
        </p:nvSpPr>
        <p:spPr>
          <a:xfrm>
            <a:off x="133350" y="4018955"/>
            <a:ext cx="5148064"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2" name="Text 70"/>
          <p:cNvSpPr/>
          <p:nvPr/>
        </p:nvSpPr>
        <p:spPr>
          <a:xfrm>
            <a:off x="266700" y="4095155"/>
            <a:ext cx="5035806"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Field picker — every dimension &amp; measure from the model.</a:t>
            </a:r>
            <a:endParaRPr lang="en-US" sz="975" dirty="0"/>
          </a:p>
        </p:txBody>
      </p:sp>
      <p:sp>
        <p:nvSpPr>
          <p:cNvPr id="73" name="Shape 71"/>
          <p:cNvSpPr/>
          <p:nvPr/>
        </p:nvSpPr>
        <p:spPr>
          <a:xfrm>
            <a:off x="2971800" y="4018955"/>
            <a:ext cx="4739481"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4" name="Text 72"/>
          <p:cNvSpPr/>
          <p:nvPr/>
        </p:nvSpPr>
        <p:spPr>
          <a:xfrm>
            <a:off x="3105150" y="4095155"/>
            <a:ext cx="4614966"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Visualization toolbar — switch chart type any time.</a:t>
            </a:r>
            <a:endParaRPr lang="en-US" sz="975" dirty="0"/>
          </a:p>
        </p:txBody>
      </p:sp>
      <p:sp>
        <p:nvSpPr>
          <p:cNvPr id="75" name="Shape 73"/>
          <p:cNvSpPr/>
          <p:nvPr/>
        </p:nvSpPr>
        <p:spPr>
          <a:xfrm>
            <a:off x="15703451" y="4018955"/>
            <a:ext cx="2451199"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6" name="Text 74"/>
          <p:cNvSpPr/>
          <p:nvPr/>
        </p:nvSpPr>
        <p:spPr>
          <a:xfrm>
            <a:off x="15836801" y="4095155"/>
            <a:ext cx="2260699"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Filter pane &amp; live SQL.</a:t>
            </a:r>
            <a:endParaRPr lang="en-US" sz="975" dirty="0"/>
          </a:p>
        </p:txBody>
      </p:sp>
      <p:sp>
        <p:nvSpPr>
          <p:cNvPr id="77" name="Shape 75"/>
          <p:cNvSpPr/>
          <p:nvPr/>
        </p:nvSpPr>
        <p:spPr>
          <a:xfrm>
            <a:off x="2971800" y="9270405"/>
            <a:ext cx="4412556"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8" name="Text 76"/>
          <p:cNvSpPr/>
          <p:nvPr/>
        </p:nvSpPr>
        <p:spPr>
          <a:xfrm>
            <a:off x="3105150" y="9346605"/>
            <a:ext cx="4278232"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Performance footer — runtime, cache, row count.</a:t>
            </a:r>
            <a:endParaRPr lang="en-US" sz="975" dirty="0"/>
          </a:p>
        </p:txBody>
      </p:sp>
      <p:sp>
        <p:nvSpPr>
          <p:cNvPr id="79" name="Text 7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80" name="Text 7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19 / 60</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969159" y="755650"/>
            <a:ext cx="1175841"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02 · UI TOUR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FIELDS, FILTERS, PIVOTS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Three field types. Two ways to slice.</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Every Explore exposes two field families: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dimensions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rows of your result) and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measures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aggregations). Add a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pivot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to turn a dimension into columns instead of rows. Filters can be applied </a:t>
            </a:r>
            <a:pPr algn="l" indent="0" marL="0">
              <a:lnSpc>
                <a:spcPct val="145000"/>
              </a:lnSpc>
              <a:buNone/>
            </a:pPr>
            <a:r>
              <a:rPr lang="en-US" sz="1650" dirty="0">
                <a:solidFill>
                  <a:srgbClr val="FF671F"/>
                </a:solidFill>
                <a:latin typeface="Manrope" pitchFamily="34" charset="0"/>
                <a:ea typeface="Manrope" pitchFamily="34" charset="-122"/>
                <a:cs typeface="Manrope" pitchFamily="34" charset="-120"/>
              </a:rPr>
              <a:t>before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aggregation or </a:t>
            </a:r>
            <a:pPr algn="l" indent="0" marL="0">
              <a:lnSpc>
                <a:spcPct val="145000"/>
              </a:lnSpc>
              <a:buNone/>
            </a:pPr>
            <a:r>
              <a:rPr lang="en-US" sz="1650" dirty="0">
                <a:solidFill>
                  <a:srgbClr val="FF671F"/>
                </a:solidFill>
                <a:latin typeface="Manrope" pitchFamily="34" charset="0"/>
                <a:ea typeface="Manrope" pitchFamily="34" charset="-122"/>
                <a:cs typeface="Manrope" pitchFamily="34" charset="-120"/>
              </a:rPr>
              <a:t>after</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t>
            </a:r>
            <a:endParaRPr lang="en-US" sz="1650" dirty="0"/>
          </a:p>
        </p:txBody>
      </p:sp>
      <p:sp>
        <p:nvSpPr>
          <p:cNvPr id="9" name="Shape 7"/>
          <p:cNvSpPr/>
          <p:nvPr/>
        </p:nvSpPr>
        <p:spPr>
          <a:xfrm>
            <a:off x="1219200" y="4267696"/>
            <a:ext cx="5080000" cy="2961283"/>
          </a:xfrm>
          <a:prstGeom prst="roundRect">
            <a:avLst>
              <a:gd name="adj" fmla="val 4503"/>
            </a:avLst>
          </a:prstGeom>
          <a:solidFill>
            <a:srgbClr val="F1F2F4"/>
          </a:solidFill>
          <a:ln/>
        </p:spPr>
      </p:sp>
      <p:sp>
        <p:nvSpPr>
          <p:cNvPr id="10" name="Shape 8"/>
          <p:cNvSpPr/>
          <p:nvPr/>
        </p:nvSpPr>
        <p:spPr>
          <a:xfrm>
            <a:off x="1219200" y="4267696"/>
            <a:ext cx="5080000" cy="38100"/>
          </a:xfrm>
          <a:prstGeom prst="rect">
            <a:avLst/>
          </a:prstGeom>
          <a:solidFill>
            <a:srgbClr val="FF671F"/>
          </a:solidFill>
          <a:ln/>
        </p:spPr>
      </p:sp>
      <p:sp>
        <p:nvSpPr>
          <p:cNvPr id="11" name="Text 9"/>
          <p:cNvSpPr/>
          <p:nvPr/>
        </p:nvSpPr>
        <p:spPr>
          <a:xfrm>
            <a:off x="1524000" y="4610596"/>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DIMENSIONS</a:t>
            </a:r>
            <a:endParaRPr lang="en-US" sz="900" dirty="0"/>
          </a:p>
        </p:txBody>
      </p:sp>
      <p:sp>
        <p:nvSpPr>
          <p:cNvPr id="12" name="Text 10"/>
          <p:cNvSpPr/>
          <p:nvPr/>
        </p:nvSpPr>
        <p:spPr>
          <a:xfrm>
            <a:off x="1524000" y="4889996"/>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Attributes of a single row.</a:t>
            </a:r>
            <a:endParaRPr lang="en-US" sz="1950" dirty="0"/>
          </a:p>
        </p:txBody>
      </p:sp>
      <p:sp>
        <p:nvSpPr>
          <p:cNvPr id="13" name="Text 11"/>
          <p:cNvSpPr/>
          <p:nvPr/>
        </p:nvSpPr>
        <p:spPr>
          <a:xfrm>
            <a:off x="1524000" y="5308104"/>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String, number, date, geo, tier. They go on the GROUP BY clause.</a:t>
            </a:r>
            <a:endParaRPr lang="en-US" sz="1275" dirty="0"/>
          </a:p>
        </p:txBody>
      </p:sp>
      <p:sp>
        <p:nvSpPr>
          <p:cNvPr id="14" name="Shape 12"/>
          <p:cNvSpPr/>
          <p:nvPr/>
        </p:nvSpPr>
        <p:spPr>
          <a:xfrm>
            <a:off x="1524000" y="6022479"/>
            <a:ext cx="4470400" cy="901700"/>
          </a:xfrm>
          <a:prstGeom prst="roundRect">
            <a:avLst>
              <a:gd name="adj" fmla="val 8451"/>
            </a:avLst>
          </a:prstGeom>
          <a:solidFill>
            <a:srgbClr val="FFFFFF"/>
          </a:solidFill>
          <a:ln w="6350">
            <a:solidFill>
              <a:srgbClr val="C9CFD8"/>
            </a:solidFill>
            <a:prstDash val="solid"/>
          </a:ln>
        </p:spPr>
      </p:sp>
      <p:sp>
        <p:nvSpPr>
          <p:cNvPr id="15" name="Text 13"/>
          <p:cNvSpPr/>
          <p:nvPr/>
        </p:nvSpPr>
        <p:spPr>
          <a:xfrm>
            <a:off x="1663700" y="6162179"/>
            <a:ext cx="4316730" cy="2222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𝓐 users.country</a:t>
            </a:r>
            <a:endParaRPr lang="en-US" sz="1050" dirty="0"/>
          </a:p>
        </p:txBody>
      </p:sp>
      <p:sp>
        <p:nvSpPr>
          <p:cNvPr id="16" name="Text 14"/>
          <p:cNvSpPr/>
          <p:nvPr/>
        </p:nvSpPr>
        <p:spPr>
          <a:xfrm>
            <a:off x="1663700" y="6384429"/>
            <a:ext cx="4316730" cy="2286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 orders.created_month</a:t>
            </a:r>
            <a:endParaRPr lang="en-US" sz="1050" dirty="0"/>
          </a:p>
        </p:txBody>
      </p:sp>
      <p:sp>
        <p:nvSpPr>
          <p:cNvPr id="17" name="Text 15"/>
          <p:cNvSpPr/>
          <p:nvPr/>
        </p:nvSpPr>
        <p:spPr>
          <a:xfrm>
            <a:off x="1663700" y="661302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 products.price_band</a:t>
            </a:r>
            <a:endParaRPr lang="en-US" sz="1050" dirty="0"/>
          </a:p>
        </p:txBody>
      </p:sp>
      <p:sp>
        <p:nvSpPr>
          <p:cNvPr id="18" name="Shape 16"/>
          <p:cNvSpPr/>
          <p:nvPr/>
        </p:nvSpPr>
        <p:spPr>
          <a:xfrm>
            <a:off x="6604000" y="4267696"/>
            <a:ext cx="5080000" cy="2961283"/>
          </a:xfrm>
          <a:prstGeom prst="roundRect">
            <a:avLst>
              <a:gd name="adj" fmla="val 4503"/>
            </a:avLst>
          </a:prstGeom>
          <a:solidFill>
            <a:srgbClr val="F1F2F4"/>
          </a:solidFill>
          <a:ln/>
        </p:spPr>
      </p:sp>
      <p:sp>
        <p:nvSpPr>
          <p:cNvPr id="19" name="Shape 17"/>
          <p:cNvSpPr/>
          <p:nvPr/>
        </p:nvSpPr>
        <p:spPr>
          <a:xfrm>
            <a:off x="6604000" y="4267696"/>
            <a:ext cx="5080000" cy="38100"/>
          </a:xfrm>
          <a:prstGeom prst="rect">
            <a:avLst/>
          </a:prstGeom>
          <a:solidFill>
            <a:srgbClr val="FF671F"/>
          </a:solidFill>
          <a:ln/>
        </p:spPr>
      </p:sp>
      <p:sp>
        <p:nvSpPr>
          <p:cNvPr id="20" name="Text 18"/>
          <p:cNvSpPr/>
          <p:nvPr/>
        </p:nvSpPr>
        <p:spPr>
          <a:xfrm>
            <a:off x="6908800" y="4610596"/>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MEASURES</a:t>
            </a:r>
            <a:endParaRPr lang="en-US" sz="900" dirty="0"/>
          </a:p>
        </p:txBody>
      </p:sp>
      <p:sp>
        <p:nvSpPr>
          <p:cNvPr id="21" name="Text 19"/>
          <p:cNvSpPr/>
          <p:nvPr/>
        </p:nvSpPr>
        <p:spPr>
          <a:xfrm>
            <a:off x="6908800" y="4889996"/>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Aggregations across rows.</a:t>
            </a:r>
            <a:endParaRPr lang="en-US" sz="1950" dirty="0"/>
          </a:p>
        </p:txBody>
      </p:sp>
      <p:sp>
        <p:nvSpPr>
          <p:cNvPr id="22" name="Text 20"/>
          <p:cNvSpPr/>
          <p:nvPr/>
        </p:nvSpPr>
        <p:spPr>
          <a:xfrm>
            <a:off x="6908800" y="5308104"/>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Counts, sums, averages, ratios. They go on the SELECT and use SUM/COUNT/AVG.</a:t>
            </a:r>
            <a:endParaRPr lang="en-US" sz="1275" dirty="0"/>
          </a:p>
        </p:txBody>
      </p:sp>
      <p:sp>
        <p:nvSpPr>
          <p:cNvPr id="23" name="Shape 21"/>
          <p:cNvSpPr/>
          <p:nvPr/>
        </p:nvSpPr>
        <p:spPr>
          <a:xfrm>
            <a:off x="6908800" y="6022479"/>
            <a:ext cx="4470400" cy="869950"/>
          </a:xfrm>
          <a:prstGeom prst="roundRect">
            <a:avLst>
              <a:gd name="adj" fmla="val 8759"/>
            </a:avLst>
          </a:prstGeom>
          <a:solidFill>
            <a:srgbClr val="FFFFFF"/>
          </a:solidFill>
          <a:ln w="6350">
            <a:solidFill>
              <a:srgbClr val="C9CFD8"/>
            </a:solidFill>
            <a:prstDash val="solid"/>
          </a:ln>
        </p:spPr>
      </p:sp>
      <p:sp>
        <p:nvSpPr>
          <p:cNvPr id="24" name="Text 22"/>
          <p:cNvSpPr/>
          <p:nvPr/>
        </p:nvSpPr>
        <p:spPr>
          <a:xfrm>
            <a:off x="7048500" y="616217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Σ orders.count</a:t>
            </a:r>
            <a:endParaRPr lang="en-US" sz="1050" dirty="0"/>
          </a:p>
        </p:txBody>
      </p:sp>
      <p:sp>
        <p:nvSpPr>
          <p:cNvPr id="25" name="Text 23"/>
          <p:cNvSpPr/>
          <p:nvPr/>
        </p:nvSpPr>
        <p:spPr>
          <a:xfrm>
            <a:off x="7048500" y="637172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Σ orders.total_revenue</a:t>
            </a:r>
            <a:endParaRPr lang="en-US" sz="1050" dirty="0"/>
          </a:p>
        </p:txBody>
      </p:sp>
      <p:sp>
        <p:nvSpPr>
          <p:cNvPr id="26" name="Text 24"/>
          <p:cNvSpPr/>
          <p:nvPr/>
        </p:nvSpPr>
        <p:spPr>
          <a:xfrm>
            <a:off x="7048500" y="658127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Σ users.distinct_count</a:t>
            </a:r>
            <a:endParaRPr lang="en-US" sz="1050" dirty="0"/>
          </a:p>
        </p:txBody>
      </p:sp>
      <p:sp>
        <p:nvSpPr>
          <p:cNvPr id="27" name="Shape 25"/>
          <p:cNvSpPr/>
          <p:nvPr/>
        </p:nvSpPr>
        <p:spPr>
          <a:xfrm>
            <a:off x="11988801" y="4267696"/>
            <a:ext cx="5080000" cy="2961283"/>
          </a:xfrm>
          <a:prstGeom prst="roundRect">
            <a:avLst>
              <a:gd name="adj" fmla="val 4503"/>
            </a:avLst>
          </a:prstGeom>
          <a:solidFill>
            <a:srgbClr val="F1F2F4"/>
          </a:solidFill>
          <a:ln/>
        </p:spPr>
      </p:sp>
      <p:sp>
        <p:nvSpPr>
          <p:cNvPr id="28" name="Shape 26"/>
          <p:cNvSpPr/>
          <p:nvPr/>
        </p:nvSpPr>
        <p:spPr>
          <a:xfrm>
            <a:off x="11988801" y="4267696"/>
            <a:ext cx="5080000" cy="38100"/>
          </a:xfrm>
          <a:prstGeom prst="rect">
            <a:avLst/>
          </a:prstGeom>
          <a:solidFill>
            <a:srgbClr val="FF671F"/>
          </a:solidFill>
          <a:ln/>
        </p:spPr>
      </p:sp>
      <p:sp>
        <p:nvSpPr>
          <p:cNvPr id="29" name="Text 27"/>
          <p:cNvSpPr/>
          <p:nvPr/>
        </p:nvSpPr>
        <p:spPr>
          <a:xfrm>
            <a:off x="12293601" y="4610596"/>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FILTERS</a:t>
            </a:r>
            <a:endParaRPr lang="en-US" sz="900" dirty="0"/>
          </a:p>
        </p:txBody>
      </p:sp>
      <p:sp>
        <p:nvSpPr>
          <p:cNvPr id="30" name="Text 28"/>
          <p:cNvSpPr/>
          <p:nvPr/>
        </p:nvSpPr>
        <p:spPr>
          <a:xfrm>
            <a:off x="12293601" y="4889996"/>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Before vs after.</a:t>
            </a:r>
            <a:endParaRPr lang="en-US" sz="1950" dirty="0"/>
          </a:p>
        </p:txBody>
      </p:sp>
      <p:sp>
        <p:nvSpPr>
          <p:cNvPr id="31" name="Text 29"/>
          <p:cNvSpPr/>
          <p:nvPr/>
        </p:nvSpPr>
        <p:spPr>
          <a:xfrm>
            <a:off x="12293601" y="5308104"/>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Filter</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=WHERE, before aggregation.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Filter on measure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=HAVING, after.</a:t>
            </a:r>
            <a:endParaRPr lang="en-US" sz="1275" dirty="0"/>
          </a:p>
        </p:txBody>
      </p:sp>
      <p:sp>
        <p:nvSpPr>
          <p:cNvPr id="32" name="Shape 30"/>
          <p:cNvSpPr/>
          <p:nvPr/>
        </p:nvSpPr>
        <p:spPr>
          <a:xfrm>
            <a:off x="12293601" y="6022479"/>
            <a:ext cx="4470400" cy="869950"/>
          </a:xfrm>
          <a:prstGeom prst="roundRect">
            <a:avLst>
              <a:gd name="adj" fmla="val 8759"/>
            </a:avLst>
          </a:prstGeom>
          <a:solidFill>
            <a:srgbClr val="FFFFFF"/>
          </a:solidFill>
          <a:ln w="6350">
            <a:solidFill>
              <a:srgbClr val="C9CFD8"/>
            </a:solidFill>
            <a:prstDash val="solid"/>
          </a:ln>
        </p:spPr>
      </p:sp>
      <p:sp>
        <p:nvSpPr>
          <p:cNvPr id="33" name="Text 31"/>
          <p:cNvSpPr/>
          <p:nvPr/>
        </p:nvSpPr>
        <p:spPr>
          <a:xfrm>
            <a:off x="12433300" y="616217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WHERE status = 'complete'</a:t>
            </a:r>
            <a:endParaRPr lang="en-US" sz="1050" dirty="0"/>
          </a:p>
        </p:txBody>
      </p:sp>
      <p:sp>
        <p:nvSpPr>
          <p:cNvPr id="34" name="Text 32"/>
          <p:cNvSpPr/>
          <p:nvPr/>
        </p:nvSpPr>
        <p:spPr>
          <a:xfrm>
            <a:off x="12433300" y="637172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JetBrains Mono" pitchFamily="34" charset="0"/>
                <a:ea typeface="JetBrains Mono" pitchFamily="34" charset="-122"/>
                <a:cs typeface="JetBrains Mono" pitchFamily="34" charset="-120"/>
              </a:rPr>
              <a:t>WHERE date IN last 90 days</a:t>
            </a:r>
            <a:endParaRPr lang="en-US" sz="1050" dirty="0"/>
          </a:p>
        </p:txBody>
      </p:sp>
      <p:sp>
        <p:nvSpPr>
          <p:cNvPr id="35" name="Text 33"/>
          <p:cNvSpPr/>
          <p:nvPr/>
        </p:nvSpPr>
        <p:spPr>
          <a:xfrm>
            <a:off x="12433300" y="6581279"/>
            <a:ext cx="431673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FF671F"/>
                </a:solidFill>
                <a:latin typeface="JetBrains Mono" pitchFamily="34" charset="0"/>
                <a:ea typeface="JetBrains Mono" pitchFamily="34" charset="-122"/>
                <a:cs typeface="JetBrains Mono" pitchFamily="34" charset="-120"/>
              </a:rPr>
              <a:t>HAVING revenue &gt; 10000</a:t>
            </a:r>
            <a:endParaRPr lang="en-US" sz="1050" dirty="0"/>
          </a:p>
        </p:txBody>
      </p:sp>
      <p:sp>
        <p:nvSpPr>
          <p:cNvPr id="36" name="Shape 34"/>
          <p:cNvSpPr/>
          <p:nvPr/>
        </p:nvSpPr>
        <p:spPr>
          <a:xfrm>
            <a:off x="1219200" y="7457579"/>
            <a:ext cx="15849600" cy="660400"/>
          </a:xfrm>
          <a:prstGeom prst="roundRect">
            <a:avLst>
              <a:gd name="adj" fmla="val 20192"/>
            </a:avLst>
          </a:prstGeom>
          <a:solidFill>
            <a:srgbClr val="FFF7F1"/>
          </a:solidFill>
          <a:ln/>
        </p:spPr>
      </p:sp>
      <p:sp>
        <p:nvSpPr>
          <p:cNvPr id="37" name="Shape 35"/>
          <p:cNvSpPr/>
          <p:nvPr/>
        </p:nvSpPr>
        <p:spPr>
          <a:xfrm>
            <a:off x="1219200" y="7457579"/>
            <a:ext cx="38100" cy="660400"/>
          </a:xfrm>
          <a:prstGeom prst="rect">
            <a:avLst/>
          </a:prstGeom>
          <a:solidFill>
            <a:srgbClr val="FF671F"/>
          </a:solidFill>
          <a:ln/>
        </p:spPr>
      </p:sp>
      <p:sp>
        <p:nvSpPr>
          <p:cNvPr id="38" name="Text 36"/>
          <p:cNvSpPr/>
          <p:nvPr/>
        </p:nvSpPr>
        <p:spPr>
          <a:xfrm>
            <a:off x="1524000" y="7648079"/>
            <a:ext cx="15753588" cy="31750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EXAM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If a question says "filter the underlying rows", that's a dimension filter (WHERE). "Show only categories whose total exceeds X" is a measure filter (HAVING).</a:t>
            </a:r>
            <a:endParaRPr lang="en-US" sz="1275" dirty="0"/>
          </a:p>
        </p:txBody>
      </p:sp>
      <p:sp>
        <p:nvSpPr>
          <p:cNvPr id="39" name="Text 3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0" name="Text 3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20 / 60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969159" y="755650"/>
            <a:ext cx="1175841"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02 · UI TOUR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VISUALIZATION PICKER</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Same query,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eleven </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possible charts.</a:t>
            </a:r>
            <a:endParaRPr lang="en-US" sz="4800" dirty="0"/>
          </a:p>
        </p:txBody>
      </p:sp>
      <p:sp>
        <p:nvSpPr>
          <p:cNvPr id="8" name="Text 6"/>
          <p:cNvSpPr/>
          <p:nvPr/>
        </p:nvSpPr>
        <p:spPr>
          <a:xfrm>
            <a:off x="1219200" y="2971205"/>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When you change the visualization type in an Explore, Looker does not re-run the query — it re-shapes the result. Pick the chart that matches the business question; a list of numbers is rarely the right answer.</a:t>
            </a:r>
            <a:endParaRPr lang="en-US" sz="1650" dirty="0"/>
          </a:p>
        </p:txBody>
      </p:sp>
      <p:sp>
        <p:nvSpPr>
          <p:cNvPr id="9" name="Shape 7"/>
          <p:cNvSpPr/>
          <p:nvPr/>
        </p:nvSpPr>
        <p:spPr>
          <a:xfrm>
            <a:off x="1219200" y="4417021"/>
            <a:ext cx="3833812" cy="2044700"/>
          </a:xfrm>
          <a:prstGeom prst="roundRect">
            <a:avLst>
              <a:gd name="adj" fmla="val 3727"/>
            </a:avLst>
          </a:prstGeom>
          <a:solidFill>
            <a:srgbClr val="FFFFFF"/>
          </a:solidFill>
          <a:ln w="6350">
            <a:solidFill>
              <a:srgbClr val="C9CFD8"/>
            </a:solidFill>
            <a:prstDash val="solid"/>
          </a:ln>
        </p:spPr>
      </p:sp>
      <p:sp>
        <p:nvSpPr>
          <p:cNvPr id="10" name="Text 8"/>
          <p:cNvSpPr/>
          <p:nvPr/>
        </p:nvSpPr>
        <p:spPr>
          <a:xfrm>
            <a:off x="1397000" y="459482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COLUMN</a:t>
            </a:r>
            <a:endParaRPr lang="en-US" sz="825" dirty="0"/>
          </a:p>
        </p:txBody>
      </p:sp>
      <p:sp>
        <p:nvSpPr>
          <p:cNvPr id="11" name="Text 9"/>
          <p:cNvSpPr/>
          <p:nvPr/>
        </p:nvSpPr>
        <p:spPr>
          <a:xfrm>
            <a:off x="1397000" y="484882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Revenue by month</a:t>
            </a:r>
            <a:endParaRPr lang="en-US" sz="1050" dirty="0"/>
          </a:p>
        </p:txBody>
      </p:sp>
      <p:sp>
        <p:nvSpPr>
          <p:cNvPr id="12" name="Shape 10"/>
          <p:cNvSpPr/>
          <p:nvPr/>
        </p:nvSpPr>
        <p:spPr>
          <a:xfrm>
            <a:off x="1397000" y="5883871"/>
            <a:ext cx="532011" cy="400050"/>
          </a:xfrm>
          <a:prstGeom prst="roundRect">
            <a:avLst>
              <a:gd name="adj" fmla="val 7143"/>
            </a:avLst>
          </a:prstGeom>
          <a:solidFill>
            <a:srgbClr val="FF671F"/>
          </a:solidFill>
          <a:ln/>
        </p:spPr>
      </p:sp>
      <p:sp>
        <p:nvSpPr>
          <p:cNvPr id="13" name="Shape 11"/>
          <p:cNvSpPr/>
          <p:nvPr/>
        </p:nvSpPr>
        <p:spPr>
          <a:xfrm>
            <a:off x="1986161" y="5598121"/>
            <a:ext cx="532110" cy="685800"/>
          </a:xfrm>
          <a:prstGeom prst="roundRect">
            <a:avLst>
              <a:gd name="adj" fmla="val 5370"/>
            </a:avLst>
          </a:prstGeom>
          <a:solidFill>
            <a:srgbClr val="384358"/>
          </a:solidFill>
          <a:ln/>
        </p:spPr>
      </p:sp>
      <p:sp>
        <p:nvSpPr>
          <p:cNvPr id="14" name="Shape 12"/>
          <p:cNvSpPr/>
          <p:nvPr/>
        </p:nvSpPr>
        <p:spPr>
          <a:xfrm>
            <a:off x="2575421" y="5735340"/>
            <a:ext cx="532011" cy="548580"/>
          </a:xfrm>
          <a:prstGeom prst="roundRect">
            <a:avLst>
              <a:gd name="adj" fmla="val 5371"/>
            </a:avLst>
          </a:prstGeom>
          <a:solidFill>
            <a:srgbClr val="FF671F"/>
          </a:solidFill>
          <a:ln/>
        </p:spPr>
      </p:sp>
      <p:sp>
        <p:nvSpPr>
          <p:cNvPr id="15" name="Shape 13"/>
          <p:cNvSpPr/>
          <p:nvPr/>
        </p:nvSpPr>
        <p:spPr>
          <a:xfrm>
            <a:off x="3164582" y="5346700"/>
            <a:ext cx="532110" cy="937220"/>
          </a:xfrm>
          <a:prstGeom prst="roundRect">
            <a:avLst>
              <a:gd name="adj" fmla="val 5370"/>
            </a:avLst>
          </a:prstGeom>
          <a:solidFill>
            <a:srgbClr val="384358"/>
          </a:solidFill>
          <a:ln/>
        </p:spPr>
      </p:sp>
      <p:sp>
        <p:nvSpPr>
          <p:cNvPr id="16" name="Shape 14"/>
          <p:cNvSpPr/>
          <p:nvPr/>
        </p:nvSpPr>
        <p:spPr>
          <a:xfrm>
            <a:off x="3753842" y="5438180"/>
            <a:ext cx="532110" cy="845741"/>
          </a:xfrm>
          <a:prstGeom prst="roundRect">
            <a:avLst>
              <a:gd name="adj" fmla="val 5370"/>
            </a:avLst>
          </a:prstGeom>
          <a:solidFill>
            <a:srgbClr val="FF671F"/>
          </a:solidFill>
          <a:ln/>
        </p:spPr>
      </p:sp>
      <p:sp>
        <p:nvSpPr>
          <p:cNvPr id="17" name="Shape 15"/>
          <p:cNvSpPr/>
          <p:nvPr/>
        </p:nvSpPr>
        <p:spPr>
          <a:xfrm>
            <a:off x="4343102" y="5232400"/>
            <a:ext cx="532110" cy="1051520"/>
          </a:xfrm>
          <a:prstGeom prst="roundRect">
            <a:avLst>
              <a:gd name="adj" fmla="val 5370"/>
            </a:avLst>
          </a:prstGeom>
          <a:solidFill>
            <a:srgbClr val="384358"/>
          </a:solidFill>
          <a:ln/>
        </p:spPr>
      </p:sp>
      <p:sp>
        <p:nvSpPr>
          <p:cNvPr id="18" name="Shape 16"/>
          <p:cNvSpPr/>
          <p:nvPr/>
        </p:nvSpPr>
        <p:spPr>
          <a:xfrm>
            <a:off x="5224463" y="4417021"/>
            <a:ext cx="3833812" cy="2044700"/>
          </a:xfrm>
          <a:prstGeom prst="roundRect">
            <a:avLst>
              <a:gd name="adj" fmla="val 3727"/>
            </a:avLst>
          </a:prstGeom>
          <a:solidFill>
            <a:srgbClr val="FFFFFF"/>
          </a:solidFill>
          <a:ln w="6350">
            <a:solidFill>
              <a:srgbClr val="C9CFD8"/>
            </a:solidFill>
            <a:prstDash val="solid"/>
          </a:ln>
        </p:spPr>
      </p:sp>
      <p:sp>
        <p:nvSpPr>
          <p:cNvPr id="19" name="Text 17"/>
          <p:cNvSpPr/>
          <p:nvPr/>
        </p:nvSpPr>
        <p:spPr>
          <a:xfrm>
            <a:off x="5402263" y="459482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BAR (HORIZONTAL)</a:t>
            </a:r>
            <a:endParaRPr lang="en-US" sz="825" dirty="0"/>
          </a:p>
        </p:txBody>
      </p:sp>
      <p:sp>
        <p:nvSpPr>
          <p:cNvPr id="20" name="Text 18"/>
          <p:cNvSpPr/>
          <p:nvPr/>
        </p:nvSpPr>
        <p:spPr>
          <a:xfrm>
            <a:off x="5402263" y="484882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Top channels</a:t>
            </a:r>
            <a:endParaRPr lang="en-US" sz="1050" dirty="0"/>
          </a:p>
        </p:txBody>
      </p:sp>
      <p:sp>
        <p:nvSpPr>
          <p:cNvPr id="21" name="Text 19"/>
          <p:cNvSpPr/>
          <p:nvPr/>
        </p:nvSpPr>
        <p:spPr>
          <a:xfrm>
            <a:off x="5402263" y="5140921"/>
            <a:ext cx="600075" cy="190500"/>
          </a:xfrm>
          <a:prstGeom prst="rect">
            <a:avLst/>
          </a:prstGeom>
          <a:noFill/>
          <a:ln/>
        </p:spPr>
        <p:txBody>
          <a:bodyPr wrap="square" lIns="25400" tIns="25400" rIns="25400" bIns="25400" rtlCol="0" anchor="t">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Email</a:t>
            </a:r>
            <a:endParaRPr lang="en-US" sz="900" dirty="0"/>
          </a:p>
        </p:txBody>
      </p:sp>
      <p:sp>
        <p:nvSpPr>
          <p:cNvPr id="22" name="Shape 20"/>
          <p:cNvSpPr/>
          <p:nvPr/>
        </p:nvSpPr>
        <p:spPr>
          <a:xfrm>
            <a:off x="6002338" y="5150446"/>
            <a:ext cx="2878138" cy="133350"/>
          </a:xfrm>
          <a:prstGeom prst="rect">
            <a:avLst/>
          </a:prstGeom>
          <a:solidFill>
            <a:srgbClr val="FF671F"/>
          </a:solidFill>
          <a:ln/>
        </p:spPr>
      </p:sp>
      <p:sp>
        <p:nvSpPr>
          <p:cNvPr id="23" name="Text 21"/>
          <p:cNvSpPr/>
          <p:nvPr/>
        </p:nvSpPr>
        <p:spPr>
          <a:xfrm>
            <a:off x="5402263" y="5350471"/>
            <a:ext cx="600075" cy="190500"/>
          </a:xfrm>
          <a:prstGeom prst="rect">
            <a:avLst/>
          </a:prstGeom>
          <a:noFill/>
          <a:ln/>
        </p:spPr>
        <p:txBody>
          <a:bodyPr wrap="square" lIns="25400" tIns="25400" rIns="25400" bIns="25400" rtlCol="0" anchor="t">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Paid</a:t>
            </a:r>
            <a:endParaRPr lang="en-US" sz="900" dirty="0"/>
          </a:p>
        </p:txBody>
      </p:sp>
      <p:sp>
        <p:nvSpPr>
          <p:cNvPr id="24" name="Shape 22"/>
          <p:cNvSpPr/>
          <p:nvPr/>
        </p:nvSpPr>
        <p:spPr>
          <a:xfrm>
            <a:off x="6002338" y="5359996"/>
            <a:ext cx="2878138" cy="133350"/>
          </a:xfrm>
          <a:prstGeom prst="rect">
            <a:avLst/>
          </a:prstGeom>
          <a:solidFill>
            <a:srgbClr val="FF671F"/>
          </a:solidFill>
          <a:ln/>
        </p:spPr>
      </p:sp>
      <p:sp>
        <p:nvSpPr>
          <p:cNvPr id="25" name="Text 23"/>
          <p:cNvSpPr/>
          <p:nvPr/>
        </p:nvSpPr>
        <p:spPr>
          <a:xfrm>
            <a:off x="5402263" y="5560021"/>
            <a:ext cx="600075" cy="190500"/>
          </a:xfrm>
          <a:prstGeom prst="rect">
            <a:avLst/>
          </a:prstGeom>
          <a:noFill/>
          <a:ln/>
        </p:spPr>
        <p:txBody>
          <a:bodyPr wrap="square" lIns="25400" tIns="25400" rIns="25400" bIns="25400" rtlCol="0" anchor="t">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Organic</a:t>
            </a:r>
            <a:endParaRPr lang="en-US" sz="900" dirty="0"/>
          </a:p>
        </p:txBody>
      </p:sp>
      <p:sp>
        <p:nvSpPr>
          <p:cNvPr id="26" name="Shape 24"/>
          <p:cNvSpPr/>
          <p:nvPr/>
        </p:nvSpPr>
        <p:spPr>
          <a:xfrm>
            <a:off x="6002338" y="5569546"/>
            <a:ext cx="2878138" cy="133350"/>
          </a:xfrm>
          <a:prstGeom prst="rect">
            <a:avLst/>
          </a:prstGeom>
          <a:solidFill>
            <a:srgbClr val="FF671F"/>
          </a:solidFill>
          <a:ln/>
        </p:spPr>
      </p:sp>
      <p:sp>
        <p:nvSpPr>
          <p:cNvPr id="27" name="Text 25"/>
          <p:cNvSpPr/>
          <p:nvPr/>
        </p:nvSpPr>
        <p:spPr>
          <a:xfrm>
            <a:off x="5402263" y="5769571"/>
            <a:ext cx="600075" cy="190500"/>
          </a:xfrm>
          <a:prstGeom prst="rect">
            <a:avLst/>
          </a:prstGeom>
          <a:noFill/>
          <a:ln/>
        </p:spPr>
        <p:txBody>
          <a:bodyPr wrap="square" lIns="25400" tIns="25400" rIns="25400" bIns="25400" rtlCol="0" anchor="t">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Referral</a:t>
            </a:r>
            <a:endParaRPr lang="en-US" sz="900" dirty="0"/>
          </a:p>
        </p:txBody>
      </p:sp>
      <p:sp>
        <p:nvSpPr>
          <p:cNvPr id="28" name="Shape 26"/>
          <p:cNvSpPr/>
          <p:nvPr/>
        </p:nvSpPr>
        <p:spPr>
          <a:xfrm>
            <a:off x="6002338" y="5779096"/>
            <a:ext cx="2878138" cy="133350"/>
          </a:xfrm>
          <a:prstGeom prst="rect">
            <a:avLst/>
          </a:prstGeom>
          <a:solidFill>
            <a:srgbClr val="FF671F"/>
          </a:solidFill>
          <a:ln/>
        </p:spPr>
      </p:sp>
      <p:sp>
        <p:nvSpPr>
          <p:cNvPr id="29" name="Text 27"/>
          <p:cNvSpPr/>
          <p:nvPr/>
        </p:nvSpPr>
        <p:spPr>
          <a:xfrm>
            <a:off x="5402263" y="5979121"/>
            <a:ext cx="600075" cy="190500"/>
          </a:xfrm>
          <a:prstGeom prst="rect">
            <a:avLst/>
          </a:prstGeom>
          <a:noFill/>
          <a:ln/>
        </p:spPr>
        <p:txBody>
          <a:bodyPr wrap="square" lIns="25400" tIns="25400" rIns="25400" bIns="25400" rtlCol="0" anchor="t">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Direct</a:t>
            </a:r>
            <a:endParaRPr lang="en-US" sz="900" dirty="0"/>
          </a:p>
        </p:txBody>
      </p:sp>
      <p:sp>
        <p:nvSpPr>
          <p:cNvPr id="30" name="Shape 28"/>
          <p:cNvSpPr/>
          <p:nvPr/>
        </p:nvSpPr>
        <p:spPr>
          <a:xfrm>
            <a:off x="6002338" y="5988646"/>
            <a:ext cx="2878138" cy="133350"/>
          </a:xfrm>
          <a:prstGeom prst="rect">
            <a:avLst/>
          </a:prstGeom>
          <a:solidFill>
            <a:srgbClr val="FF671F"/>
          </a:solidFill>
          <a:ln/>
        </p:spPr>
      </p:sp>
      <p:sp>
        <p:nvSpPr>
          <p:cNvPr id="31" name="Shape 29"/>
          <p:cNvSpPr/>
          <p:nvPr/>
        </p:nvSpPr>
        <p:spPr>
          <a:xfrm>
            <a:off x="9229725" y="4417021"/>
            <a:ext cx="3833812" cy="2044700"/>
          </a:xfrm>
          <a:prstGeom prst="roundRect">
            <a:avLst>
              <a:gd name="adj" fmla="val 3727"/>
            </a:avLst>
          </a:prstGeom>
          <a:solidFill>
            <a:srgbClr val="FFFFFF"/>
          </a:solidFill>
          <a:ln w="6350">
            <a:solidFill>
              <a:srgbClr val="C9CFD8"/>
            </a:solidFill>
            <a:prstDash val="solid"/>
          </a:ln>
        </p:spPr>
      </p:sp>
      <p:sp>
        <p:nvSpPr>
          <p:cNvPr id="32" name="Text 30"/>
          <p:cNvSpPr/>
          <p:nvPr/>
        </p:nvSpPr>
        <p:spPr>
          <a:xfrm>
            <a:off x="9407525" y="459482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LINE</a:t>
            </a:r>
            <a:endParaRPr lang="en-US" sz="825" dirty="0"/>
          </a:p>
        </p:txBody>
      </p:sp>
      <p:sp>
        <p:nvSpPr>
          <p:cNvPr id="33" name="Text 31"/>
          <p:cNvSpPr/>
          <p:nvPr/>
        </p:nvSpPr>
        <p:spPr>
          <a:xfrm>
            <a:off x="9407525" y="484882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DAU trend</a:t>
            </a:r>
            <a:endParaRPr lang="en-US" sz="1050" dirty="0"/>
          </a:p>
        </p:txBody>
      </p:sp>
      <p:pic>
        <p:nvPicPr>
          <p:cNvPr id="34" name="Image 0" descr="preencoded.png">    </p:cNvPr>
          <p:cNvPicPr>
            <a:picLocks noChangeAspect="1"/>
          </p:cNvPicPr>
          <p:nvPr/>
        </p:nvPicPr>
        <p:blipFill>
          <a:blip r:embed="rId1"/>
          <a:stretch>
            <a:fillRect/>
          </a:stretch>
        </p:blipFill>
        <p:spPr>
          <a:xfrm>
            <a:off x="9407525" y="5140921"/>
            <a:ext cx="3478213" cy="1143000"/>
          </a:xfrm>
          <a:prstGeom prst="rect">
            <a:avLst/>
          </a:prstGeom>
        </p:spPr>
      </p:pic>
      <p:sp>
        <p:nvSpPr>
          <p:cNvPr id="35" name="Shape 32"/>
          <p:cNvSpPr/>
          <p:nvPr/>
        </p:nvSpPr>
        <p:spPr>
          <a:xfrm>
            <a:off x="13234988" y="4417021"/>
            <a:ext cx="3833812" cy="2044700"/>
          </a:xfrm>
          <a:prstGeom prst="roundRect">
            <a:avLst>
              <a:gd name="adj" fmla="val 3727"/>
            </a:avLst>
          </a:prstGeom>
          <a:solidFill>
            <a:srgbClr val="FFFFFF"/>
          </a:solidFill>
          <a:ln w="6350">
            <a:solidFill>
              <a:srgbClr val="C9CFD8"/>
            </a:solidFill>
            <a:prstDash val="solid"/>
          </a:ln>
        </p:spPr>
      </p:sp>
      <p:sp>
        <p:nvSpPr>
          <p:cNvPr id="36" name="Text 33"/>
          <p:cNvSpPr/>
          <p:nvPr/>
        </p:nvSpPr>
        <p:spPr>
          <a:xfrm>
            <a:off x="13412788" y="459482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AREA</a:t>
            </a:r>
            <a:endParaRPr lang="en-US" sz="825" dirty="0"/>
          </a:p>
        </p:txBody>
      </p:sp>
      <p:sp>
        <p:nvSpPr>
          <p:cNvPr id="37" name="Text 34"/>
          <p:cNvSpPr/>
          <p:nvPr/>
        </p:nvSpPr>
        <p:spPr>
          <a:xfrm>
            <a:off x="13412788" y="484882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Cumulative signups</a:t>
            </a:r>
            <a:endParaRPr lang="en-US" sz="1050" dirty="0"/>
          </a:p>
        </p:txBody>
      </p:sp>
      <p:pic>
        <p:nvPicPr>
          <p:cNvPr id="38" name="Image 1" descr="preencoded.png">    </p:cNvPr>
          <p:cNvPicPr>
            <a:picLocks noChangeAspect="1"/>
          </p:cNvPicPr>
          <p:nvPr/>
        </p:nvPicPr>
        <p:blipFill>
          <a:blip r:embed="rId2"/>
          <a:stretch>
            <a:fillRect/>
          </a:stretch>
        </p:blipFill>
        <p:spPr>
          <a:xfrm>
            <a:off x="13412788" y="5140921"/>
            <a:ext cx="3478213" cy="1143000"/>
          </a:xfrm>
          <a:prstGeom prst="rect">
            <a:avLst/>
          </a:prstGeom>
        </p:spPr>
      </p:pic>
      <p:sp>
        <p:nvSpPr>
          <p:cNvPr id="39" name="Shape 35"/>
          <p:cNvSpPr/>
          <p:nvPr/>
        </p:nvSpPr>
        <p:spPr>
          <a:xfrm>
            <a:off x="1219200" y="6633171"/>
            <a:ext cx="3833812" cy="2241550"/>
          </a:xfrm>
          <a:prstGeom prst="roundRect">
            <a:avLst>
              <a:gd name="adj" fmla="val 3399"/>
            </a:avLst>
          </a:prstGeom>
          <a:solidFill>
            <a:srgbClr val="FFFFFF"/>
          </a:solidFill>
          <a:ln w="6350">
            <a:solidFill>
              <a:srgbClr val="C9CFD8"/>
            </a:solidFill>
            <a:prstDash val="solid"/>
          </a:ln>
        </p:spPr>
      </p:sp>
      <p:sp>
        <p:nvSpPr>
          <p:cNvPr id="40" name="Text 36"/>
          <p:cNvSpPr/>
          <p:nvPr/>
        </p:nvSpPr>
        <p:spPr>
          <a:xfrm>
            <a:off x="1397000" y="681097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PIE</a:t>
            </a:r>
            <a:endParaRPr lang="en-US" sz="825" dirty="0"/>
          </a:p>
        </p:txBody>
      </p:sp>
      <p:sp>
        <p:nvSpPr>
          <p:cNvPr id="41" name="Text 37"/>
          <p:cNvSpPr/>
          <p:nvPr/>
        </p:nvSpPr>
        <p:spPr>
          <a:xfrm>
            <a:off x="1397000" y="7064971"/>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Channel mix</a:t>
            </a:r>
            <a:endParaRPr lang="en-US" sz="1050" dirty="0"/>
          </a:p>
        </p:txBody>
      </p:sp>
      <p:sp>
        <p:nvSpPr>
          <p:cNvPr id="42" name="Shape 38"/>
          <p:cNvSpPr/>
          <p:nvPr/>
        </p:nvSpPr>
        <p:spPr>
          <a:xfrm>
            <a:off x="2564606" y="7357071"/>
            <a:ext cx="1143000" cy="1143000"/>
          </a:xfrm>
          <a:prstGeom prst="ellipse">
            <a:avLst/>
          </a:prstGeom>
          <a:solidFill>
            <a:srgbClr val="FF671F"/>
          </a:solidFill>
          <a:ln/>
        </p:spPr>
      </p:sp>
      <p:sp>
        <p:nvSpPr>
          <p:cNvPr id="43" name="Shape 39"/>
          <p:cNvSpPr/>
          <p:nvPr/>
        </p:nvSpPr>
        <p:spPr>
          <a:xfrm>
            <a:off x="5224463" y="6633171"/>
            <a:ext cx="3833812" cy="2241550"/>
          </a:xfrm>
          <a:prstGeom prst="roundRect">
            <a:avLst>
              <a:gd name="adj" fmla="val 3399"/>
            </a:avLst>
          </a:prstGeom>
          <a:solidFill>
            <a:srgbClr val="FFFFFF"/>
          </a:solidFill>
          <a:ln w="6350">
            <a:solidFill>
              <a:srgbClr val="C9CFD8"/>
            </a:solidFill>
            <a:prstDash val="solid"/>
          </a:ln>
        </p:spPr>
      </p:sp>
      <p:sp>
        <p:nvSpPr>
          <p:cNvPr id="44" name="Text 40"/>
          <p:cNvSpPr/>
          <p:nvPr/>
        </p:nvSpPr>
        <p:spPr>
          <a:xfrm>
            <a:off x="5402263" y="681097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DONUT</a:t>
            </a:r>
            <a:endParaRPr lang="en-US" sz="825" dirty="0"/>
          </a:p>
        </p:txBody>
      </p:sp>
      <p:sp>
        <p:nvSpPr>
          <p:cNvPr id="45" name="Text 41"/>
          <p:cNvSpPr/>
          <p:nvPr/>
        </p:nvSpPr>
        <p:spPr>
          <a:xfrm>
            <a:off x="5402263" y="7064971"/>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Subscription · Free</a:t>
            </a:r>
            <a:endParaRPr lang="en-US" sz="1050" dirty="0"/>
          </a:p>
        </p:txBody>
      </p:sp>
      <p:sp>
        <p:nvSpPr>
          <p:cNvPr id="46" name="Shape 42"/>
          <p:cNvSpPr/>
          <p:nvPr/>
        </p:nvSpPr>
        <p:spPr>
          <a:xfrm>
            <a:off x="6569869" y="7357071"/>
            <a:ext cx="1143000" cy="1143000"/>
          </a:xfrm>
          <a:prstGeom prst="ellipse">
            <a:avLst/>
          </a:prstGeom>
          <a:solidFill>
            <a:srgbClr val="FF671F"/>
          </a:solidFill>
          <a:ln/>
        </p:spPr>
      </p:sp>
      <p:sp>
        <p:nvSpPr>
          <p:cNvPr id="47" name="Shape 43"/>
          <p:cNvSpPr/>
          <p:nvPr/>
        </p:nvSpPr>
        <p:spPr>
          <a:xfrm>
            <a:off x="9229725" y="6633171"/>
            <a:ext cx="3833812" cy="2241550"/>
          </a:xfrm>
          <a:prstGeom prst="roundRect">
            <a:avLst>
              <a:gd name="adj" fmla="val 3399"/>
            </a:avLst>
          </a:prstGeom>
          <a:solidFill>
            <a:srgbClr val="FFFFFF"/>
          </a:solidFill>
          <a:ln w="6350">
            <a:solidFill>
              <a:srgbClr val="C9CFD8"/>
            </a:solidFill>
            <a:prstDash val="solid"/>
          </a:ln>
        </p:spPr>
      </p:sp>
      <p:sp>
        <p:nvSpPr>
          <p:cNvPr id="48" name="Text 44"/>
          <p:cNvSpPr/>
          <p:nvPr/>
        </p:nvSpPr>
        <p:spPr>
          <a:xfrm>
            <a:off x="9407525" y="681097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SINGLE VALUE</a:t>
            </a:r>
            <a:endParaRPr lang="en-US" sz="825" dirty="0"/>
          </a:p>
        </p:txBody>
      </p:sp>
      <p:sp>
        <p:nvSpPr>
          <p:cNvPr id="49" name="Text 45"/>
          <p:cNvSpPr/>
          <p:nvPr/>
        </p:nvSpPr>
        <p:spPr>
          <a:xfrm>
            <a:off x="9407525" y="7064971"/>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MRR</a:t>
            </a:r>
            <a:endParaRPr lang="en-US" sz="1050" dirty="0"/>
          </a:p>
        </p:txBody>
      </p:sp>
      <p:sp>
        <p:nvSpPr>
          <p:cNvPr id="50" name="Text 46"/>
          <p:cNvSpPr/>
          <p:nvPr/>
        </p:nvSpPr>
        <p:spPr>
          <a:xfrm>
            <a:off x="9407525" y="7357071"/>
            <a:ext cx="3582559"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96" kern="0" dirty="0">
                <a:solidFill>
                  <a:srgbClr val="1B1F2A"/>
                </a:solidFill>
                <a:latin typeface="Manrope" pitchFamily="34" charset="0"/>
                <a:ea typeface="Manrope" pitchFamily="34" charset="-122"/>
                <a:cs typeface="Manrope" pitchFamily="34" charset="-120"/>
              </a:rPr>
              <a:t>$148 </a:t>
            </a:r>
            <a:pPr algn="l" indent="0" marL="0">
              <a:lnSpc>
                <a:spcPct val="100000"/>
              </a:lnSpc>
              <a:buNone/>
            </a:pPr>
            <a:r>
              <a:rPr lang="en-US" sz="1350" b="1" spc="-96" kern="0" dirty="0">
                <a:solidFill>
                  <a:srgbClr val="FF671F"/>
                </a:solidFill>
                <a:latin typeface="Manrope" pitchFamily="34" charset="0"/>
                <a:ea typeface="Manrope" pitchFamily="34" charset="-122"/>
                <a:cs typeface="Manrope" pitchFamily="34" charset="-120"/>
              </a:rPr>
              <a:t>K +12%</a:t>
            </a:r>
            <a:endParaRPr lang="en-US" sz="4800" dirty="0"/>
          </a:p>
        </p:txBody>
      </p:sp>
      <p:sp>
        <p:nvSpPr>
          <p:cNvPr id="51" name="Shape 47"/>
          <p:cNvSpPr/>
          <p:nvPr/>
        </p:nvSpPr>
        <p:spPr>
          <a:xfrm>
            <a:off x="13234988" y="6633171"/>
            <a:ext cx="3833812" cy="2241550"/>
          </a:xfrm>
          <a:prstGeom prst="roundRect">
            <a:avLst>
              <a:gd name="adj" fmla="val 3399"/>
            </a:avLst>
          </a:prstGeom>
          <a:solidFill>
            <a:srgbClr val="FFFFFF"/>
          </a:solidFill>
          <a:ln w="6350">
            <a:solidFill>
              <a:srgbClr val="C9CFD8"/>
            </a:solidFill>
            <a:prstDash val="solid"/>
          </a:ln>
        </p:spPr>
      </p:sp>
      <p:sp>
        <p:nvSpPr>
          <p:cNvPr id="52" name="Text 48"/>
          <p:cNvSpPr/>
          <p:nvPr/>
        </p:nvSpPr>
        <p:spPr>
          <a:xfrm>
            <a:off x="13412788" y="6810970"/>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TABLE</a:t>
            </a:r>
            <a:endParaRPr lang="en-US" sz="825" dirty="0"/>
          </a:p>
        </p:txBody>
      </p:sp>
      <p:sp>
        <p:nvSpPr>
          <p:cNvPr id="53" name="Text 49"/>
          <p:cNvSpPr/>
          <p:nvPr/>
        </p:nvSpPr>
        <p:spPr>
          <a:xfrm>
            <a:off x="13412788" y="7064971"/>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Top regions</a:t>
            </a:r>
            <a:endParaRPr lang="en-US" sz="1050" dirty="0"/>
          </a:p>
        </p:txBody>
      </p:sp>
      <p:sp>
        <p:nvSpPr>
          <p:cNvPr id="54" name="Shape 50"/>
          <p:cNvSpPr/>
          <p:nvPr/>
        </p:nvSpPr>
        <p:spPr>
          <a:xfrm>
            <a:off x="13412788" y="7595196"/>
            <a:ext cx="1936254" cy="9525"/>
          </a:xfrm>
          <a:prstGeom prst="rect">
            <a:avLst/>
          </a:prstGeom>
          <a:solidFill>
            <a:srgbClr val="C9CFD8"/>
          </a:solidFill>
          <a:ln/>
        </p:spPr>
      </p:sp>
      <p:sp>
        <p:nvSpPr>
          <p:cNvPr id="55" name="Text 51"/>
          <p:cNvSpPr/>
          <p:nvPr/>
        </p:nvSpPr>
        <p:spPr>
          <a:xfrm>
            <a:off x="13488988" y="7414221"/>
            <a:ext cx="1860054" cy="161925"/>
          </a:xfrm>
          <a:prstGeom prst="rect">
            <a:avLst/>
          </a:prstGeom>
          <a:noFill/>
          <a:ln/>
        </p:spPr>
        <p:txBody>
          <a:bodyPr wrap="square" lIns="25400" tIns="25400" rIns="25400" bIns="25400" rtlCol="0" anchor="ctr">
            <a:normAutofit/>
          </a:bodyPr>
          <a:lstStyle/>
          <a:p>
            <a:pPr algn="l" indent="0" marL="0">
              <a:buNone/>
            </a:pPr>
            <a:r>
              <a:rPr lang="en-US" sz="750" b="1" spc="75" kern="0" dirty="0">
                <a:solidFill>
                  <a:srgbClr val="8B95A6"/>
                </a:solidFill>
                <a:latin typeface="JetBrains Mono" pitchFamily="34" charset="0"/>
                <a:ea typeface="JetBrains Mono" pitchFamily="34" charset="-122"/>
                <a:cs typeface="JetBrains Mono" pitchFamily="34" charset="-120"/>
              </a:rPr>
              <a:t>REGION</a:t>
            </a:r>
            <a:endParaRPr lang="en-US" sz="750" dirty="0"/>
          </a:p>
        </p:txBody>
      </p:sp>
      <p:sp>
        <p:nvSpPr>
          <p:cNvPr id="56" name="Shape 52"/>
          <p:cNvSpPr/>
          <p:nvPr/>
        </p:nvSpPr>
        <p:spPr>
          <a:xfrm>
            <a:off x="15349042" y="7595196"/>
            <a:ext cx="1541959" cy="9525"/>
          </a:xfrm>
          <a:prstGeom prst="rect">
            <a:avLst/>
          </a:prstGeom>
          <a:solidFill>
            <a:srgbClr val="C9CFD8"/>
          </a:solidFill>
          <a:ln/>
        </p:spPr>
      </p:sp>
      <p:sp>
        <p:nvSpPr>
          <p:cNvPr id="57" name="Text 53"/>
          <p:cNvSpPr/>
          <p:nvPr/>
        </p:nvSpPr>
        <p:spPr>
          <a:xfrm>
            <a:off x="15425242" y="7414221"/>
            <a:ext cx="1465759" cy="161925"/>
          </a:xfrm>
          <a:prstGeom prst="rect">
            <a:avLst/>
          </a:prstGeom>
          <a:noFill/>
          <a:ln/>
        </p:spPr>
        <p:txBody>
          <a:bodyPr wrap="square" lIns="25400" tIns="25400" rIns="25400" bIns="25400" rtlCol="0" anchor="ctr">
            <a:normAutofit/>
          </a:bodyPr>
          <a:lstStyle/>
          <a:p>
            <a:pPr algn="l" indent="0" marL="0">
              <a:buNone/>
            </a:pPr>
            <a:r>
              <a:rPr lang="en-US" sz="750" b="1" spc="75" kern="0" dirty="0">
                <a:solidFill>
                  <a:srgbClr val="8B95A6"/>
                </a:solidFill>
                <a:latin typeface="JetBrains Mono" pitchFamily="34" charset="0"/>
                <a:ea typeface="JetBrains Mono" pitchFamily="34" charset="-122"/>
                <a:cs typeface="JetBrains Mono" pitchFamily="34" charset="-120"/>
              </a:rPr>
              <a:t>REV</a:t>
            </a:r>
            <a:endParaRPr lang="en-US" sz="750" dirty="0"/>
          </a:p>
        </p:txBody>
      </p:sp>
      <p:sp>
        <p:nvSpPr>
          <p:cNvPr id="58" name="Shape 54"/>
          <p:cNvSpPr/>
          <p:nvPr/>
        </p:nvSpPr>
        <p:spPr>
          <a:xfrm>
            <a:off x="13412788" y="7868245"/>
            <a:ext cx="1936254" cy="9525"/>
          </a:xfrm>
          <a:prstGeom prst="rect">
            <a:avLst/>
          </a:prstGeom>
          <a:solidFill>
            <a:srgbClr val="C9CFD8"/>
          </a:solidFill>
          <a:ln/>
        </p:spPr>
      </p:sp>
      <p:sp>
        <p:nvSpPr>
          <p:cNvPr id="59" name="Text 55"/>
          <p:cNvSpPr/>
          <p:nvPr/>
        </p:nvSpPr>
        <p:spPr>
          <a:xfrm>
            <a:off x="13488988" y="7658695"/>
            <a:ext cx="186005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EMEA</a:t>
            </a:r>
            <a:endParaRPr lang="en-US" sz="900" dirty="0"/>
          </a:p>
        </p:txBody>
      </p:sp>
      <p:sp>
        <p:nvSpPr>
          <p:cNvPr id="60" name="Shape 56"/>
          <p:cNvSpPr/>
          <p:nvPr/>
        </p:nvSpPr>
        <p:spPr>
          <a:xfrm>
            <a:off x="15349042" y="7868245"/>
            <a:ext cx="1541959" cy="9525"/>
          </a:xfrm>
          <a:prstGeom prst="rect">
            <a:avLst/>
          </a:prstGeom>
          <a:solidFill>
            <a:srgbClr val="C9CFD8"/>
          </a:solidFill>
          <a:ln/>
        </p:spPr>
      </p:sp>
      <p:sp>
        <p:nvSpPr>
          <p:cNvPr id="61" name="Text 57"/>
          <p:cNvSpPr/>
          <p:nvPr/>
        </p:nvSpPr>
        <p:spPr>
          <a:xfrm>
            <a:off x="15349042" y="7658695"/>
            <a:ext cx="1465759" cy="190500"/>
          </a:xfrm>
          <a:prstGeom prst="rect">
            <a:avLst/>
          </a:prstGeom>
          <a:noFill/>
          <a:ln/>
        </p:spPr>
        <p:txBody>
          <a:bodyPr wrap="square" lIns="25400" tIns="25400" rIns="25400" bIns="25400" rtlCol="0" anchor="ctr">
            <a:normAutofit/>
          </a:bodyPr>
          <a:lstStyle/>
          <a:p>
            <a:pPr algn="r" indent="0" marL="0">
              <a:buNone/>
            </a:pPr>
            <a:r>
              <a:rPr lang="en-US" sz="900" b="1" dirty="0">
                <a:solidFill>
                  <a:srgbClr val="FF671F"/>
                </a:solidFill>
                <a:latin typeface="Manrope" pitchFamily="34" charset="0"/>
                <a:ea typeface="Manrope" pitchFamily="34" charset="-122"/>
                <a:cs typeface="Manrope" pitchFamily="34" charset="-120"/>
              </a:rPr>
              <a:t>$48K</a:t>
            </a:r>
            <a:endParaRPr lang="en-US" sz="900" dirty="0"/>
          </a:p>
        </p:txBody>
      </p:sp>
      <p:sp>
        <p:nvSpPr>
          <p:cNvPr id="62" name="Shape 58"/>
          <p:cNvSpPr/>
          <p:nvPr/>
        </p:nvSpPr>
        <p:spPr>
          <a:xfrm>
            <a:off x="13412788" y="8141296"/>
            <a:ext cx="1936254" cy="9525"/>
          </a:xfrm>
          <a:prstGeom prst="rect">
            <a:avLst/>
          </a:prstGeom>
          <a:solidFill>
            <a:srgbClr val="C9CFD8"/>
          </a:solidFill>
          <a:ln/>
        </p:spPr>
      </p:sp>
      <p:sp>
        <p:nvSpPr>
          <p:cNvPr id="63" name="Text 59"/>
          <p:cNvSpPr/>
          <p:nvPr/>
        </p:nvSpPr>
        <p:spPr>
          <a:xfrm>
            <a:off x="13488988" y="7931746"/>
            <a:ext cx="186005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NAM</a:t>
            </a:r>
            <a:endParaRPr lang="en-US" sz="900" dirty="0"/>
          </a:p>
        </p:txBody>
      </p:sp>
      <p:sp>
        <p:nvSpPr>
          <p:cNvPr id="64" name="Shape 60"/>
          <p:cNvSpPr/>
          <p:nvPr/>
        </p:nvSpPr>
        <p:spPr>
          <a:xfrm>
            <a:off x="15349042" y="8141296"/>
            <a:ext cx="1541959" cy="9525"/>
          </a:xfrm>
          <a:prstGeom prst="rect">
            <a:avLst/>
          </a:prstGeom>
          <a:solidFill>
            <a:srgbClr val="C9CFD8"/>
          </a:solidFill>
          <a:ln/>
        </p:spPr>
      </p:sp>
      <p:sp>
        <p:nvSpPr>
          <p:cNvPr id="65" name="Text 61"/>
          <p:cNvSpPr/>
          <p:nvPr/>
        </p:nvSpPr>
        <p:spPr>
          <a:xfrm>
            <a:off x="15349042" y="7931746"/>
            <a:ext cx="1465759" cy="190500"/>
          </a:xfrm>
          <a:prstGeom prst="rect">
            <a:avLst/>
          </a:prstGeom>
          <a:noFill/>
          <a:ln/>
        </p:spPr>
        <p:txBody>
          <a:bodyPr wrap="square" lIns="25400" tIns="25400" rIns="25400" bIns="25400" rtlCol="0" anchor="ctr">
            <a:normAutofit/>
          </a:bodyPr>
          <a:lstStyle/>
          <a:p>
            <a:pPr algn="r" indent="0" marL="0">
              <a:buNone/>
            </a:pPr>
            <a:r>
              <a:rPr lang="en-US" sz="900" b="1" dirty="0">
                <a:solidFill>
                  <a:srgbClr val="FF671F"/>
                </a:solidFill>
                <a:latin typeface="Manrope" pitchFamily="34" charset="0"/>
                <a:ea typeface="Manrope" pitchFamily="34" charset="-122"/>
                <a:cs typeface="Manrope" pitchFamily="34" charset="-120"/>
              </a:rPr>
              <a:t>$42K</a:t>
            </a:r>
            <a:endParaRPr lang="en-US" sz="900" dirty="0"/>
          </a:p>
        </p:txBody>
      </p:sp>
      <p:sp>
        <p:nvSpPr>
          <p:cNvPr id="66" name="Shape 62"/>
          <p:cNvSpPr/>
          <p:nvPr/>
        </p:nvSpPr>
        <p:spPr>
          <a:xfrm>
            <a:off x="13412788" y="8414346"/>
            <a:ext cx="1936254" cy="9525"/>
          </a:xfrm>
          <a:prstGeom prst="rect">
            <a:avLst/>
          </a:prstGeom>
          <a:solidFill>
            <a:srgbClr val="C9CFD8"/>
          </a:solidFill>
          <a:ln/>
        </p:spPr>
      </p:sp>
      <p:sp>
        <p:nvSpPr>
          <p:cNvPr id="67" name="Text 63"/>
          <p:cNvSpPr/>
          <p:nvPr/>
        </p:nvSpPr>
        <p:spPr>
          <a:xfrm>
            <a:off x="13488988" y="8204796"/>
            <a:ext cx="186005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APAC</a:t>
            </a:r>
            <a:endParaRPr lang="en-US" sz="900" dirty="0"/>
          </a:p>
        </p:txBody>
      </p:sp>
      <p:sp>
        <p:nvSpPr>
          <p:cNvPr id="68" name="Shape 64"/>
          <p:cNvSpPr/>
          <p:nvPr/>
        </p:nvSpPr>
        <p:spPr>
          <a:xfrm>
            <a:off x="15349042" y="8414346"/>
            <a:ext cx="1541959" cy="9525"/>
          </a:xfrm>
          <a:prstGeom prst="rect">
            <a:avLst/>
          </a:prstGeom>
          <a:solidFill>
            <a:srgbClr val="C9CFD8"/>
          </a:solidFill>
          <a:ln/>
        </p:spPr>
      </p:sp>
      <p:sp>
        <p:nvSpPr>
          <p:cNvPr id="69" name="Text 65"/>
          <p:cNvSpPr/>
          <p:nvPr/>
        </p:nvSpPr>
        <p:spPr>
          <a:xfrm>
            <a:off x="15349042" y="8204796"/>
            <a:ext cx="1465759" cy="190500"/>
          </a:xfrm>
          <a:prstGeom prst="rect">
            <a:avLst/>
          </a:prstGeom>
          <a:noFill/>
          <a:ln/>
        </p:spPr>
        <p:txBody>
          <a:bodyPr wrap="square" lIns="25400" tIns="25400" rIns="25400" bIns="25400" rtlCol="0" anchor="ctr">
            <a:normAutofit/>
          </a:bodyPr>
          <a:lstStyle/>
          <a:p>
            <a:pPr algn="r" indent="0" marL="0">
              <a:buNone/>
            </a:pPr>
            <a:r>
              <a:rPr lang="en-US" sz="900" b="1" dirty="0">
                <a:solidFill>
                  <a:srgbClr val="FF671F"/>
                </a:solidFill>
                <a:latin typeface="Manrope" pitchFamily="34" charset="0"/>
                <a:ea typeface="Manrope" pitchFamily="34" charset="-122"/>
                <a:cs typeface="Manrope" pitchFamily="34" charset="-120"/>
              </a:rPr>
              <a:t>$31K</a:t>
            </a:r>
            <a:endParaRPr lang="en-US" sz="900" dirty="0"/>
          </a:p>
        </p:txBody>
      </p:sp>
      <p:sp>
        <p:nvSpPr>
          <p:cNvPr id="70" name="Shape 66"/>
          <p:cNvSpPr/>
          <p:nvPr/>
        </p:nvSpPr>
        <p:spPr>
          <a:xfrm>
            <a:off x="13412788" y="8687395"/>
            <a:ext cx="1936254" cy="9525"/>
          </a:xfrm>
          <a:prstGeom prst="rect">
            <a:avLst/>
          </a:prstGeom>
          <a:solidFill>
            <a:srgbClr val="C9CFD8"/>
          </a:solidFill>
          <a:ln/>
        </p:spPr>
      </p:sp>
      <p:sp>
        <p:nvSpPr>
          <p:cNvPr id="71" name="Text 67"/>
          <p:cNvSpPr/>
          <p:nvPr/>
        </p:nvSpPr>
        <p:spPr>
          <a:xfrm>
            <a:off x="13488988" y="8477845"/>
            <a:ext cx="1860054" cy="190500"/>
          </a:xfrm>
          <a:prstGeom prst="rect">
            <a:avLst/>
          </a:prstGeom>
          <a:noFill/>
          <a:ln/>
        </p:spPr>
        <p:txBody>
          <a:bodyPr wrap="square" lIns="25400" tIns="25400" rIns="25400" bIns="25400" rtlCol="0" anchor="ctr">
            <a:normAutofit/>
          </a:bodyPr>
          <a:lstStyle/>
          <a:p>
            <a:pPr algn="l" indent="0" marL="0">
              <a:buNone/>
            </a:pPr>
            <a:r>
              <a:rPr lang="en-US" sz="900" dirty="0">
                <a:solidFill>
                  <a:srgbClr val="1B1F2A"/>
                </a:solidFill>
                <a:latin typeface="Manrope" pitchFamily="34" charset="0"/>
                <a:ea typeface="Manrope" pitchFamily="34" charset="-122"/>
                <a:cs typeface="Manrope" pitchFamily="34" charset="-120"/>
              </a:rPr>
              <a:t>LATAM</a:t>
            </a:r>
            <a:endParaRPr lang="en-US" sz="900" dirty="0"/>
          </a:p>
        </p:txBody>
      </p:sp>
      <p:sp>
        <p:nvSpPr>
          <p:cNvPr id="72" name="Shape 68"/>
          <p:cNvSpPr/>
          <p:nvPr/>
        </p:nvSpPr>
        <p:spPr>
          <a:xfrm>
            <a:off x="15349042" y="8687395"/>
            <a:ext cx="1541959" cy="9525"/>
          </a:xfrm>
          <a:prstGeom prst="rect">
            <a:avLst/>
          </a:prstGeom>
          <a:solidFill>
            <a:srgbClr val="C9CFD8"/>
          </a:solidFill>
          <a:ln/>
        </p:spPr>
      </p:sp>
      <p:sp>
        <p:nvSpPr>
          <p:cNvPr id="73" name="Text 69"/>
          <p:cNvSpPr/>
          <p:nvPr/>
        </p:nvSpPr>
        <p:spPr>
          <a:xfrm>
            <a:off x="15349042" y="8477845"/>
            <a:ext cx="1465759" cy="190500"/>
          </a:xfrm>
          <a:prstGeom prst="rect">
            <a:avLst/>
          </a:prstGeom>
          <a:noFill/>
          <a:ln/>
        </p:spPr>
        <p:txBody>
          <a:bodyPr wrap="square" lIns="25400" tIns="25400" rIns="25400" bIns="25400" rtlCol="0" anchor="ctr">
            <a:normAutofit/>
          </a:bodyPr>
          <a:lstStyle/>
          <a:p>
            <a:pPr algn="r" indent="0" marL="0">
              <a:buNone/>
            </a:pPr>
            <a:r>
              <a:rPr lang="en-US" sz="900" b="1" dirty="0">
                <a:solidFill>
                  <a:srgbClr val="FF671F"/>
                </a:solidFill>
                <a:latin typeface="Manrope" pitchFamily="34" charset="0"/>
                <a:ea typeface="Manrope" pitchFamily="34" charset="-122"/>
                <a:cs typeface="Manrope" pitchFamily="34" charset="-120"/>
              </a:rPr>
              <a:t>$18K</a:t>
            </a:r>
            <a:endParaRPr lang="en-US" sz="900" dirty="0"/>
          </a:p>
        </p:txBody>
      </p:sp>
      <p:sp>
        <p:nvSpPr>
          <p:cNvPr id="74" name="Shape 70"/>
          <p:cNvSpPr/>
          <p:nvPr/>
        </p:nvSpPr>
        <p:spPr>
          <a:xfrm>
            <a:off x="1219200" y="9046171"/>
            <a:ext cx="3833812" cy="2044700"/>
          </a:xfrm>
          <a:prstGeom prst="roundRect">
            <a:avLst>
              <a:gd name="adj" fmla="val 3727"/>
            </a:avLst>
          </a:prstGeom>
          <a:solidFill>
            <a:srgbClr val="FFFFFF"/>
          </a:solidFill>
          <a:ln w="6350">
            <a:solidFill>
              <a:srgbClr val="C9CFD8"/>
            </a:solidFill>
            <a:prstDash val="solid"/>
          </a:ln>
        </p:spPr>
      </p:sp>
      <p:sp>
        <p:nvSpPr>
          <p:cNvPr id="75" name="Text 71"/>
          <p:cNvSpPr/>
          <p:nvPr/>
        </p:nvSpPr>
        <p:spPr>
          <a:xfrm>
            <a:off x="1397000" y="9223971"/>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MAP (REGION)</a:t>
            </a:r>
            <a:endParaRPr lang="en-US" sz="825" dirty="0"/>
          </a:p>
        </p:txBody>
      </p:sp>
      <p:sp>
        <p:nvSpPr>
          <p:cNvPr id="76" name="Text 72"/>
          <p:cNvSpPr/>
          <p:nvPr/>
        </p:nvSpPr>
        <p:spPr>
          <a:xfrm>
            <a:off x="1397000" y="947797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Order density</a:t>
            </a:r>
            <a:endParaRPr lang="en-US" sz="1050" dirty="0"/>
          </a:p>
        </p:txBody>
      </p:sp>
      <p:sp>
        <p:nvSpPr>
          <p:cNvPr id="77" name="Shape 73"/>
          <p:cNvSpPr/>
          <p:nvPr/>
        </p:nvSpPr>
        <p:spPr>
          <a:xfrm>
            <a:off x="1397000" y="9770071"/>
            <a:ext cx="3478213" cy="1143000"/>
          </a:xfrm>
          <a:prstGeom prst="roundRect">
            <a:avLst>
              <a:gd name="adj" fmla="val 5000"/>
            </a:avLst>
          </a:prstGeom>
          <a:solidFill>
            <a:srgbClr val="F1F2F4"/>
          </a:solidFill>
          <a:ln/>
        </p:spPr>
      </p:sp>
      <p:sp>
        <p:nvSpPr>
          <p:cNvPr id="78" name="Shape 74"/>
          <p:cNvSpPr/>
          <p:nvPr/>
        </p:nvSpPr>
        <p:spPr>
          <a:xfrm>
            <a:off x="5224463" y="9046171"/>
            <a:ext cx="3833812" cy="2044700"/>
          </a:xfrm>
          <a:prstGeom prst="roundRect">
            <a:avLst>
              <a:gd name="adj" fmla="val 3727"/>
            </a:avLst>
          </a:prstGeom>
          <a:solidFill>
            <a:srgbClr val="FFFFFF"/>
          </a:solidFill>
          <a:ln w="6350">
            <a:solidFill>
              <a:srgbClr val="C9CFD8"/>
            </a:solidFill>
            <a:prstDash val="solid"/>
          </a:ln>
        </p:spPr>
      </p:sp>
      <p:sp>
        <p:nvSpPr>
          <p:cNvPr id="79" name="Text 75"/>
          <p:cNvSpPr/>
          <p:nvPr/>
        </p:nvSpPr>
        <p:spPr>
          <a:xfrm>
            <a:off x="5402263" y="9223971"/>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SCATTER</a:t>
            </a:r>
            <a:endParaRPr lang="en-US" sz="825" dirty="0"/>
          </a:p>
        </p:txBody>
      </p:sp>
      <p:sp>
        <p:nvSpPr>
          <p:cNvPr id="80" name="Text 76"/>
          <p:cNvSpPr/>
          <p:nvPr/>
        </p:nvSpPr>
        <p:spPr>
          <a:xfrm>
            <a:off x="5402263" y="947797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Spend × revenue</a:t>
            </a:r>
            <a:endParaRPr lang="en-US" sz="1050" dirty="0"/>
          </a:p>
        </p:txBody>
      </p:sp>
      <p:pic>
        <p:nvPicPr>
          <p:cNvPr id="81" name="Image 2" descr="preencoded.png">    </p:cNvPr>
          <p:cNvPicPr>
            <a:picLocks noChangeAspect="1"/>
          </p:cNvPicPr>
          <p:nvPr/>
        </p:nvPicPr>
        <p:blipFill>
          <a:blip r:embed="rId3"/>
          <a:stretch>
            <a:fillRect/>
          </a:stretch>
        </p:blipFill>
        <p:spPr>
          <a:xfrm>
            <a:off x="5402263" y="9770071"/>
            <a:ext cx="3478213" cy="1143000"/>
          </a:xfrm>
          <a:prstGeom prst="rect">
            <a:avLst/>
          </a:prstGeom>
        </p:spPr>
      </p:pic>
      <p:sp>
        <p:nvSpPr>
          <p:cNvPr id="82" name="Shape 77"/>
          <p:cNvSpPr/>
          <p:nvPr/>
        </p:nvSpPr>
        <p:spPr>
          <a:xfrm>
            <a:off x="9229725" y="9046171"/>
            <a:ext cx="3833812" cy="2044700"/>
          </a:xfrm>
          <a:prstGeom prst="roundRect">
            <a:avLst>
              <a:gd name="adj" fmla="val 3727"/>
            </a:avLst>
          </a:prstGeom>
          <a:solidFill>
            <a:srgbClr val="FFFFFF"/>
          </a:solidFill>
          <a:ln w="6350">
            <a:solidFill>
              <a:srgbClr val="C9CFD8"/>
            </a:solidFill>
            <a:prstDash val="solid"/>
          </a:ln>
        </p:spPr>
      </p:sp>
      <p:sp>
        <p:nvSpPr>
          <p:cNvPr id="83" name="Text 78"/>
          <p:cNvSpPr/>
          <p:nvPr/>
        </p:nvSpPr>
        <p:spPr>
          <a:xfrm>
            <a:off x="9407525" y="9223971"/>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FUNNEL</a:t>
            </a:r>
            <a:endParaRPr lang="en-US" sz="825" dirty="0"/>
          </a:p>
        </p:txBody>
      </p:sp>
      <p:sp>
        <p:nvSpPr>
          <p:cNvPr id="84" name="Text 79"/>
          <p:cNvSpPr/>
          <p:nvPr/>
        </p:nvSpPr>
        <p:spPr>
          <a:xfrm>
            <a:off x="9407525" y="947797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Signup funnel</a:t>
            </a:r>
            <a:endParaRPr lang="en-US" sz="1050" dirty="0"/>
          </a:p>
        </p:txBody>
      </p:sp>
      <p:sp>
        <p:nvSpPr>
          <p:cNvPr id="85" name="Shape 80"/>
          <p:cNvSpPr/>
          <p:nvPr/>
        </p:nvSpPr>
        <p:spPr>
          <a:xfrm>
            <a:off x="9407525" y="9770071"/>
            <a:ext cx="3478213" cy="171450"/>
          </a:xfrm>
          <a:prstGeom prst="rect">
            <a:avLst/>
          </a:prstGeom>
          <a:solidFill>
            <a:srgbClr val="FF671F"/>
          </a:solidFill>
          <a:ln/>
        </p:spPr>
      </p:sp>
      <p:sp>
        <p:nvSpPr>
          <p:cNvPr id="86" name="Shape 81"/>
          <p:cNvSpPr/>
          <p:nvPr/>
        </p:nvSpPr>
        <p:spPr>
          <a:xfrm>
            <a:off x="9755386" y="9979621"/>
            <a:ext cx="2782491" cy="171450"/>
          </a:xfrm>
          <a:prstGeom prst="rect">
            <a:avLst/>
          </a:prstGeom>
          <a:solidFill>
            <a:srgbClr val="FF671F">
              <a:alpha val="85000"/>
            </a:srgbClr>
          </a:solidFill>
          <a:ln/>
        </p:spPr>
      </p:sp>
      <p:sp>
        <p:nvSpPr>
          <p:cNvPr id="87" name="Shape 82"/>
          <p:cNvSpPr/>
          <p:nvPr/>
        </p:nvSpPr>
        <p:spPr>
          <a:xfrm>
            <a:off x="10190163" y="10189171"/>
            <a:ext cx="1912938" cy="171450"/>
          </a:xfrm>
          <a:prstGeom prst="rect">
            <a:avLst/>
          </a:prstGeom>
          <a:solidFill>
            <a:srgbClr val="FF671F">
              <a:alpha val="70000"/>
            </a:srgbClr>
          </a:solidFill>
          <a:ln/>
        </p:spPr>
      </p:sp>
      <p:sp>
        <p:nvSpPr>
          <p:cNvPr id="88" name="Shape 83"/>
          <p:cNvSpPr/>
          <p:nvPr/>
        </p:nvSpPr>
        <p:spPr>
          <a:xfrm>
            <a:off x="10590114" y="10398721"/>
            <a:ext cx="1112937" cy="171450"/>
          </a:xfrm>
          <a:prstGeom prst="rect">
            <a:avLst/>
          </a:prstGeom>
          <a:solidFill>
            <a:srgbClr val="FF671F">
              <a:alpha val="55000"/>
            </a:srgbClr>
          </a:solidFill>
          <a:ln/>
        </p:spPr>
      </p:sp>
      <p:sp>
        <p:nvSpPr>
          <p:cNvPr id="89" name="Shape 84"/>
          <p:cNvSpPr/>
          <p:nvPr/>
        </p:nvSpPr>
        <p:spPr>
          <a:xfrm>
            <a:off x="13234988" y="9046171"/>
            <a:ext cx="3833812" cy="2044700"/>
          </a:xfrm>
          <a:prstGeom prst="roundRect">
            <a:avLst>
              <a:gd name="adj" fmla="val 3727"/>
            </a:avLst>
          </a:prstGeom>
          <a:solidFill>
            <a:srgbClr val="FFFFFF"/>
          </a:solidFill>
          <a:ln w="6350">
            <a:solidFill>
              <a:srgbClr val="C9CFD8"/>
            </a:solidFill>
            <a:prstDash val="solid"/>
          </a:ln>
        </p:spPr>
      </p:sp>
      <p:sp>
        <p:nvSpPr>
          <p:cNvPr id="90" name="Text 85"/>
          <p:cNvSpPr/>
          <p:nvPr/>
        </p:nvSpPr>
        <p:spPr>
          <a:xfrm>
            <a:off x="13412788" y="9223971"/>
            <a:ext cx="358255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HEATMAP</a:t>
            </a:r>
            <a:endParaRPr lang="en-US" sz="825" dirty="0"/>
          </a:p>
        </p:txBody>
      </p:sp>
      <p:sp>
        <p:nvSpPr>
          <p:cNvPr id="91" name="Text 86"/>
          <p:cNvSpPr/>
          <p:nvPr/>
        </p:nvSpPr>
        <p:spPr>
          <a:xfrm>
            <a:off x="13412788" y="9477970"/>
            <a:ext cx="3582559"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1B1F2A"/>
                </a:solidFill>
                <a:latin typeface="Manrope" pitchFamily="34" charset="0"/>
                <a:ea typeface="Manrope" pitchFamily="34" charset="-122"/>
                <a:cs typeface="Manrope" pitchFamily="34" charset="-120"/>
              </a:rPr>
              <a:t>Hour × day</a:t>
            </a:r>
            <a:endParaRPr lang="en-US" sz="1050" dirty="0"/>
          </a:p>
        </p:txBody>
      </p:sp>
      <p:sp>
        <p:nvSpPr>
          <p:cNvPr id="92" name="Shape 87"/>
          <p:cNvSpPr/>
          <p:nvPr/>
        </p:nvSpPr>
        <p:spPr>
          <a:xfrm>
            <a:off x="13412788" y="9770071"/>
            <a:ext cx="472380" cy="133350"/>
          </a:xfrm>
          <a:prstGeom prst="rect">
            <a:avLst/>
          </a:prstGeom>
          <a:solidFill>
            <a:srgbClr val="FFE3D2"/>
          </a:solidFill>
          <a:ln/>
        </p:spPr>
      </p:sp>
      <p:sp>
        <p:nvSpPr>
          <p:cNvPr id="93" name="Shape 88"/>
          <p:cNvSpPr/>
          <p:nvPr/>
        </p:nvSpPr>
        <p:spPr>
          <a:xfrm>
            <a:off x="13913744" y="9770071"/>
            <a:ext cx="472380" cy="133350"/>
          </a:xfrm>
          <a:prstGeom prst="rect">
            <a:avLst/>
          </a:prstGeom>
          <a:solidFill>
            <a:srgbClr val="FFC7A1"/>
          </a:solidFill>
          <a:ln/>
        </p:spPr>
      </p:sp>
      <p:sp>
        <p:nvSpPr>
          <p:cNvPr id="94" name="Shape 89"/>
          <p:cNvSpPr/>
          <p:nvPr/>
        </p:nvSpPr>
        <p:spPr>
          <a:xfrm>
            <a:off x="14414699" y="9770071"/>
            <a:ext cx="472380" cy="133350"/>
          </a:xfrm>
          <a:prstGeom prst="rect">
            <a:avLst/>
          </a:prstGeom>
          <a:solidFill>
            <a:srgbClr val="FF9C61"/>
          </a:solidFill>
          <a:ln/>
        </p:spPr>
      </p:sp>
      <p:sp>
        <p:nvSpPr>
          <p:cNvPr id="95" name="Shape 90"/>
          <p:cNvSpPr/>
          <p:nvPr/>
        </p:nvSpPr>
        <p:spPr>
          <a:xfrm>
            <a:off x="14915655" y="9770071"/>
            <a:ext cx="472380" cy="133350"/>
          </a:xfrm>
          <a:prstGeom prst="rect">
            <a:avLst/>
          </a:prstGeom>
          <a:solidFill>
            <a:srgbClr val="FF8A4C"/>
          </a:solidFill>
          <a:ln/>
        </p:spPr>
      </p:sp>
      <p:sp>
        <p:nvSpPr>
          <p:cNvPr id="96" name="Shape 91"/>
          <p:cNvSpPr/>
          <p:nvPr/>
        </p:nvSpPr>
        <p:spPr>
          <a:xfrm>
            <a:off x="15416610" y="9770071"/>
            <a:ext cx="472380" cy="133350"/>
          </a:xfrm>
          <a:prstGeom prst="rect">
            <a:avLst/>
          </a:prstGeom>
          <a:solidFill>
            <a:srgbClr val="FF671F"/>
          </a:solidFill>
          <a:ln/>
        </p:spPr>
      </p:sp>
      <p:sp>
        <p:nvSpPr>
          <p:cNvPr id="97" name="Shape 92"/>
          <p:cNvSpPr/>
          <p:nvPr/>
        </p:nvSpPr>
        <p:spPr>
          <a:xfrm>
            <a:off x="15917566" y="9770071"/>
            <a:ext cx="472380" cy="133350"/>
          </a:xfrm>
          <a:prstGeom prst="rect">
            <a:avLst/>
          </a:prstGeom>
          <a:solidFill>
            <a:srgbClr val="FF9C61"/>
          </a:solidFill>
          <a:ln/>
        </p:spPr>
      </p:sp>
      <p:sp>
        <p:nvSpPr>
          <p:cNvPr id="98" name="Shape 93"/>
          <p:cNvSpPr/>
          <p:nvPr/>
        </p:nvSpPr>
        <p:spPr>
          <a:xfrm>
            <a:off x="16418521" y="9770071"/>
            <a:ext cx="472480" cy="133350"/>
          </a:xfrm>
          <a:prstGeom prst="rect">
            <a:avLst/>
          </a:prstGeom>
          <a:solidFill>
            <a:srgbClr val="FFC7A1"/>
          </a:solidFill>
          <a:ln/>
        </p:spPr>
      </p:sp>
      <p:sp>
        <p:nvSpPr>
          <p:cNvPr id="99" name="Shape 94"/>
          <p:cNvSpPr/>
          <p:nvPr/>
        </p:nvSpPr>
        <p:spPr>
          <a:xfrm>
            <a:off x="13412788" y="9931996"/>
            <a:ext cx="472380" cy="133350"/>
          </a:xfrm>
          <a:prstGeom prst="rect">
            <a:avLst/>
          </a:prstGeom>
          <a:solidFill>
            <a:srgbClr val="FFC7A1"/>
          </a:solidFill>
          <a:ln/>
        </p:spPr>
      </p:sp>
      <p:sp>
        <p:nvSpPr>
          <p:cNvPr id="100" name="Shape 95"/>
          <p:cNvSpPr/>
          <p:nvPr/>
        </p:nvSpPr>
        <p:spPr>
          <a:xfrm>
            <a:off x="13913744" y="9931996"/>
            <a:ext cx="472380" cy="133350"/>
          </a:xfrm>
          <a:prstGeom prst="rect">
            <a:avLst/>
          </a:prstGeom>
          <a:solidFill>
            <a:srgbClr val="FF9C61"/>
          </a:solidFill>
          <a:ln/>
        </p:spPr>
      </p:sp>
      <p:sp>
        <p:nvSpPr>
          <p:cNvPr id="101" name="Shape 96"/>
          <p:cNvSpPr/>
          <p:nvPr/>
        </p:nvSpPr>
        <p:spPr>
          <a:xfrm>
            <a:off x="14414699" y="9931996"/>
            <a:ext cx="472380" cy="133350"/>
          </a:xfrm>
          <a:prstGeom prst="rect">
            <a:avLst/>
          </a:prstGeom>
          <a:solidFill>
            <a:srgbClr val="FF671F"/>
          </a:solidFill>
          <a:ln/>
        </p:spPr>
      </p:sp>
      <p:sp>
        <p:nvSpPr>
          <p:cNvPr id="102" name="Shape 97"/>
          <p:cNvSpPr/>
          <p:nvPr/>
        </p:nvSpPr>
        <p:spPr>
          <a:xfrm>
            <a:off x="14915655" y="9931996"/>
            <a:ext cx="472380" cy="133350"/>
          </a:xfrm>
          <a:prstGeom prst="rect">
            <a:avLst/>
          </a:prstGeom>
          <a:solidFill>
            <a:srgbClr val="FF671F"/>
          </a:solidFill>
          <a:ln/>
        </p:spPr>
      </p:sp>
      <p:sp>
        <p:nvSpPr>
          <p:cNvPr id="103" name="Shape 98"/>
          <p:cNvSpPr/>
          <p:nvPr/>
        </p:nvSpPr>
        <p:spPr>
          <a:xfrm>
            <a:off x="15416610" y="9931996"/>
            <a:ext cx="472380" cy="133350"/>
          </a:xfrm>
          <a:prstGeom prst="rect">
            <a:avLst/>
          </a:prstGeom>
          <a:solidFill>
            <a:srgbClr val="FF8A4C"/>
          </a:solidFill>
          <a:ln/>
        </p:spPr>
      </p:sp>
      <p:sp>
        <p:nvSpPr>
          <p:cNvPr id="104" name="Shape 99"/>
          <p:cNvSpPr/>
          <p:nvPr/>
        </p:nvSpPr>
        <p:spPr>
          <a:xfrm>
            <a:off x="15917566" y="9931996"/>
            <a:ext cx="472380" cy="133350"/>
          </a:xfrm>
          <a:prstGeom prst="rect">
            <a:avLst/>
          </a:prstGeom>
          <a:solidFill>
            <a:srgbClr val="FFC7A1"/>
          </a:solidFill>
          <a:ln/>
        </p:spPr>
      </p:sp>
      <p:sp>
        <p:nvSpPr>
          <p:cNvPr id="105" name="Shape 100"/>
          <p:cNvSpPr/>
          <p:nvPr/>
        </p:nvSpPr>
        <p:spPr>
          <a:xfrm>
            <a:off x="16418521" y="9931996"/>
            <a:ext cx="472480" cy="133350"/>
          </a:xfrm>
          <a:prstGeom prst="rect">
            <a:avLst/>
          </a:prstGeom>
          <a:solidFill>
            <a:srgbClr val="FFE3D2"/>
          </a:solidFill>
          <a:ln/>
        </p:spPr>
      </p:sp>
      <p:sp>
        <p:nvSpPr>
          <p:cNvPr id="106" name="Shape 101"/>
          <p:cNvSpPr/>
          <p:nvPr/>
        </p:nvSpPr>
        <p:spPr>
          <a:xfrm>
            <a:off x="13412788" y="10093921"/>
            <a:ext cx="472380" cy="133350"/>
          </a:xfrm>
          <a:prstGeom prst="rect">
            <a:avLst/>
          </a:prstGeom>
          <a:solidFill>
            <a:srgbClr val="FFE3D2"/>
          </a:solidFill>
          <a:ln/>
        </p:spPr>
      </p:sp>
      <p:sp>
        <p:nvSpPr>
          <p:cNvPr id="107" name="Shape 102"/>
          <p:cNvSpPr/>
          <p:nvPr/>
        </p:nvSpPr>
        <p:spPr>
          <a:xfrm>
            <a:off x="13913744" y="10093921"/>
            <a:ext cx="472380" cy="133350"/>
          </a:xfrm>
          <a:prstGeom prst="rect">
            <a:avLst/>
          </a:prstGeom>
          <a:solidFill>
            <a:srgbClr val="FFC7A1"/>
          </a:solidFill>
          <a:ln/>
        </p:spPr>
      </p:sp>
      <p:sp>
        <p:nvSpPr>
          <p:cNvPr id="108" name="Shape 103"/>
          <p:cNvSpPr/>
          <p:nvPr/>
        </p:nvSpPr>
        <p:spPr>
          <a:xfrm>
            <a:off x="14414699" y="10093921"/>
            <a:ext cx="472380" cy="133350"/>
          </a:xfrm>
          <a:prstGeom prst="rect">
            <a:avLst/>
          </a:prstGeom>
          <a:solidFill>
            <a:srgbClr val="FF9C61"/>
          </a:solidFill>
          <a:ln/>
        </p:spPr>
      </p:sp>
      <p:sp>
        <p:nvSpPr>
          <p:cNvPr id="109" name="Shape 104"/>
          <p:cNvSpPr/>
          <p:nvPr/>
        </p:nvSpPr>
        <p:spPr>
          <a:xfrm>
            <a:off x="14915655" y="10093921"/>
            <a:ext cx="472380" cy="133350"/>
          </a:xfrm>
          <a:prstGeom prst="rect">
            <a:avLst/>
          </a:prstGeom>
          <a:solidFill>
            <a:srgbClr val="FFC7A1"/>
          </a:solidFill>
          <a:ln/>
        </p:spPr>
      </p:sp>
      <p:sp>
        <p:nvSpPr>
          <p:cNvPr id="110" name="Shape 105"/>
          <p:cNvSpPr/>
          <p:nvPr/>
        </p:nvSpPr>
        <p:spPr>
          <a:xfrm>
            <a:off x="15416610" y="10093921"/>
            <a:ext cx="472380" cy="133350"/>
          </a:xfrm>
          <a:prstGeom prst="rect">
            <a:avLst/>
          </a:prstGeom>
          <a:solidFill>
            <a:srgbClr val="FFE3D2"/>
          </a:solidFill>
          <a:ln/>
        </p:spPr>
      </p:sp>
      <p:sp>
        <p:nvSpPr>
          <p:cNvPr id="111" name="Shape 106"/>
          <p:cNvSpPr/>
          <p:nvPr/>
        </p:nvSpPr>
        <p:spPr>
          <a:xfrm>
            <a:off x="15917566" y="10093921"/>
            <a:ext cx="472380" cy="133350"/>
          </a:xfrm>
          <a:prstGeom prst="rect">
            <a:avLst/>
          </a:prstGeom>
          <a:solidFill>
            <a:srgbClr val="FFE3D2"/>
          </a:solidFill>
          <a:ln/>
        </p:spPr>
      </p:sp>
      <p:sp>
        <p:nvSpPr>
          <p:cNvPr id="112" name="Shape 107"/>
          <p:cNvSpPr/>
          <p:nvPr/>
        </p:nvSpPr>
        <p:spPr>
          <a:xfrm>
            <a:off x="16418521" y="10093921"/>
            <a:ext cx="472480" cy="133350"/>
          </a:xfrm>
          <a:prstGeom prst="rect">
            <a:avLst/>
          </a:prstGeom>
          <a:solidFill>
            <a:srgbClr val="FFE3D2"/>
          </a:solidFill>
          <a:ln/>
        </p:spPr>
      </p:sp>
      <p:sp>
        <p:nvSpPr>
          <p:cNvPr id="113" name="Text 10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114" name="Text 10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21 / 60</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969159" y="755650"/>
            <a:ext cx="1175841"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02 · UI TOUR</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THREE THINGS THAT LOOK SIMILAR</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Explore vs Look vs Dashboard — when does each one come up?</a:t>
            </a:r>
            <a:endParaRPr lang="en-US" sz="6000" dirty="0"/>
          </a:p>
        </p:txBody>
      </p:sp>
      <p:sp>
        <p:nvSpPr>
          <p:cNvPr id="8" name="Text 6"/>
          <p:cNvSpPr/>
          <p:nvPr/>
        </p:nvSpPr>
        <p:spPr>
          <a:xfrm>
            <a:off x="1219200" y="390386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common point of confusion. They're all "places you see a chart"; the difference is whether the query is reusable and where the visualization lives.</a:t>
            </a:r>
            <a:endParaRPr lang="en-US" sz="1650" dirty="0"/>
          </a:p>
        </p:txBody>
      </p:sp>
      <p:sp>
        <p:nvSpPr>
          <p:cNvPr id="9" name="Shape 7"/>
          <p:cNvSpPr/>
          <p:nvPr/>
        </p:nvSpPr>
        <p:spPr>
          <a:xfrm>
            <a:off x="1219200" y="4741069"/>
            <a:ext cx="2552700" cy="631825"/>
          </a:xfrm>
          <a:prstGeom prst="rect">
            <a:avLst/>
          </a:prstGeom>
          <a:solidFill>
            <a:srgbClr val="F1F2F4"/>
          </a:solidFill>
          <a:ln/>
        </p:spPr>
      </p:sp>
      <p:sp>
        <p:nvSpPr>
          <p:cNvPr id="10" name="Shape 8"/>
          <p:cNvSpPr/>
          <p:nvPr/>
        </p:nvSpPr>
        <p:spPr>
          <a:xfrm>
            <a:off x="1219200" y="5366544"/>
            <a:ext cx="2552700" cy="9525"/>
          </a:xfrm>
          <a:prstGeom prst="rect">
            <a:avLst/>
          </a:prstGeom>
          <a:solidFill>
            <a:srgbClr val="C9CFD8"/>
          </a:solidFill>
          <a:ln/>
        </p:spPr>
      </p:sp>
      <p:sp>
        <p:nvSpPr>
          <p:cNvPr id="11" name="Text 9"/>
          <p:cNvSpPr/>
          <p:nvPr/>
        </p:nvSpPr>
        <p:spPr>
          <a:xfrm>
            <a:off x="1447800" y="4912519"/>
            <a:ext cx="2172081" cy="320675"/>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ASPECT</a:t>
            </a:r>
            <a:endParaRPr lang="en-US" sz="975" dirty="0"/>
          </a:p>
        </p:txBody>
      </p:sp>
      <p:sp>
        <p:nvSpPr>
          <p:cNvPr id="12" name="Shape 10"/>
          <p:cNvSpPr/>
          <p:nvPr/>
        </p:nvSpPr>
        <p:spPr>
          <a:xfrm>
            <a:off x="3771900" y="4741069"/>
            <a:ext cx="4459883" cy="631825"/>
          </a:xfrm>
          <a:prstGeom prst="rect">
            <a:avLst/>
          </a:prstGeom>
          <a:solidFill>
            <a:srgbClr val="F1F2F4"/>
          </a:solidFill>
          <a:ln/>
        </p:spPr>
      </p:sp>
      <p:sp>
        <p:nvSpPr>
          <p:cNvPr id="13" name="Shape 11"/>
          <p:cNvSpPr/>
          <p:nvPr/>
        </p:nvSpPr>
        <p:spPr>
          <a:xfrm>
            <a:off x="3771900" y="5366544"/>
            <a:ext cx="4459883" cy="9525"/>
          </a:xfrm>
          <a:prstGeom prst="rect">
            <a:avLst/>
          </a:prstGeom>
          <a:solidFill>
            <a:srgbClr val="C9CFD8"/>
          </a:solidFill>
          <a:ln/>
        </p:spPr>
      </p:sp>
      <p:sp>
        <p:nvSpPr>
          <p:cNvPr id="14" name="Text 12"/>
          <p:cNvSpPr/>
          <p:nvPr/>
        </p:nvSpPr>
        <p:spPr>
          <a:xfrm>
            <a:off x="4000500" y="4912519"/>
            <a:ext cx="4136479"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Explore</a:t>
            </a:r>
            <a:endParaRPr lang="en-US" sz="1650" dirty="0"/>
          </a:p>
        </p:txBody>
      </p:sp>
      <p:sp>
        <p:nvSpPr>
          <p:cNvPr id="15" name="Shape 13"/>
          <p:cNvSpPr/>
          <p:nvPr/>
        </p:nvSpPr>
        <p:spPr>
          <a:xfrm>
            <a:off x="8231783" y="4741069"/>
            <a:ext cx="4403427" cy="631825"/>
          </a:xfrm>
          <a:prstGeom prst="rect">
            <a:avLst/>
          </a:prstGeom>
          <a:solidFill>
            <a:srgbClr val="F1F2F4"/>
          </a:solidFill>
          <a:ln/>
        </p:spPr>
      </p:sp>
      <p:sp>
        <p:nvSpPr>
          <p:cNvPr id="16" name="Shape 14"/>
          <p:cNvSpPr/>
          <p:nvPr/>
        </p:nvSpPr>
        <p:spPr>
          <a:xfrm>
            <a:off x="8231783" y="5366544"/>
            <a:ext cx="4403427" cy="9525"/>
          </a:xfrm>
          <a:prstGeom prst="rect">
            <a:avLst/>
          </a:prstGeom>
          <a:solidFill>
            <a:srgbClr val="C9CFD8"/>
          </a:solidFill>
          <a:ln/>
        </p:spPr>
      </p:sp>
      <p:sp>
        <p:nvSpPr>
          <p:cNvPr id="17" name="Text 15"/>
          <p:cNvSpPr/>
          <p:nvPr/>
        </p:nvSpPr>
        <p:spPr>
          <a:xfrm>
            <a:off x="8460383" y="4912519"/>
            <a:ext cx="4078330"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Look</a:t>
            </a:r>
            <a:endParaRPr lang="en-US" sz="1650" dirty="0"/>
          </a:p>
        </p:txBody>
      </p:sp>
      <p:sp>
        <p:nvSpPr>
          <p:cNvPr id="18" name="Shape 16"/>
          <p:cNvSpPr/>
          <p:nvPr/>
        </p:nvSpPr>
        <p:spPr>
          <a:xfrm>
            <a:off x="12635210" y="4741069"/>
            <a:ext cx="4433590" cy="631825"/>
          </a:xfrm>
          <a:prstGeom prst="rect">
            <a:avLst/>
          </a:prstGeom>
          <a:solidFill>
            <a:srgbClr val="F1F2F4"/>
          </a:solidFill>
          <a:ln/>
        </p:spPr>
      </p:sp>
      <p:sp>
        <p:nvSpPr>
          <p:cNvPr id="19" name="Shape 17"/>
          <p:cNvSpPr/>
          <p:nvPr/>
        </p:nvSpPr>
        <p:spPr>
          <a:xfrm>
            <a:off x="12635210" y="5366544"/>
            <a:ext cx="4433590" cy="9525"/>
          </a:xfrm>
          <a:prstGeom prst="rect">
            <a:avLst/>
          </a:prstGeom>
          <a:solidFill>
            <a:srgbClr val="C9CFD8"/>
          </a:solidFill>
          <a:ln/>
        </p:spPr>
      </p:sp>
      <p:sp>
        <p:nvSpPr>
          <p:cNvPr id="20" name="Text 18"/>
          <p:cNvSpPr/>
          <p:nvPr/>
        </p:nvSpPr>
        <p:spPr>
          <a:xfrm>
            <a:off x="12863810" y="4912519"/>
            <a:ext cx="4109398"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Dashboard</a:t>
            </a:r>
            <a:endParaRPr lang="en-US" sz="1650" dirty="0"/>
          </a:p>
        </p:txBody>
      </p:sp>
      <p:sp>
        <p:nvSpPr>
          <p:cNvPr id="21" name="Shape 19"/>
          <p:cNvSpPr/>
          <p:nvPr/>
        </p:nvSpPr>
        <p:spPr>
          <a:xfrm>
            <a:off x="1219200" y="5950546"/>
            <a:ext cx="2552700" cy="9525"/>
          </a:xfrm>
          <a:prstGeom prst="rect">
            <a:avLst/>
          </a:prstGeom>
          <a:solidFill>
            <a:srgbClr val="C9CFD8"/>
          </a:solidFill>
          <a:ln/>
        </p:spPr>
      </p:sp>
      <p:sp>
        <p:nvSpPr>
          <p:cNvPr id="22" name="Text 20"/>
          <p:cNvSpPr/>
          <p:nvPr/>
        </p:nvSpPr>
        <p:spPr>
          <a:xfrm>
            <a:off x="1447800" y="5544344"/>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WHAT IT IS</a:t>
            </a:r>
            <a:endParaRPr lang="en-US" sz="975" dirty="0"/>
          </a:p>
        </p:txBody>
      </p:sp>
      <p:sp>
        <p:nvSpPr>
          <p:cNvPr id="23" name="Shape 21"/>
          <p:cNvSpPr/>
          <p:nvPr/>
        </p:nvSpPr>
        <p:spPr>
          <a:xfrm>
            <a:off x="3771900" y="5950546"/>
            <a:ext cx="4459883" cy="9525"/>
          </a:xfrm>
          <a:prstGeom prst="rect">
            <a:avLst/>
          </a:prstGeom>
          <a:solidFill>
            <a:srgbClr val="C9CFD8"/>
          </a:solidFill>
          <a:ln/>
        </p:spPr>
      </p:sp>
      <p:sp>
        <p:nvSpPr>
          <p:cNvPr id="24" name="Text 22"/>
          <p:cNvSpPr/>
          <p:nvPr/>
        </p:nvSpPr>
        <p:spPr>
          <a:xfrm>
            <a:off x="4000500" y="5544344"/>
            <a:ext cx="4136479"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An ad-hoc query against a model.</a:t>
            </a:r>
            <a:endParaRPr lang="en-US" sz="1275" dirty="0"/>
          </a:p>
        </p:txBody>
      </p:sp>
      <p:sp>
        <p:nvSpPr>
          <p:cNvPr id="25" name="Shape 23"/>
          <p:cNvSpPr/>
          <p:nvPr/>
        </p:nvSpPr>
        <p:spPr>
          <a:xfrm>
            <a:off x="8231783" y="5950546"/>
            <a:ext cx="4403427" cy="9525"/>
          </a:xfrm>
          <a:prstGeom prst="rect">
            <a:avLst/>
          </a:prstGeom>
          <a:solidFill>
            <a:srgbClr val="C9CFD8"/>
          </a:solidFill>
          <a:ln/>
        </p:spPr>
      </p:sp>
      <p:sp>
        <p:nvSpPr>
          <p:cNvPr id="26" name="Text 24"/>
          <p:cNvSpPr/>
          <p:nvPr/>
        </p:nvSpPr>
        <p:spPr>
          <a:xfrm>
            <a:off x="8460383" y="5544344"/>
            <a:ext cx="407833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 </a:t>
            </a:r>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saved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Explore query, with its viz.</a:t>
            </a:r>
            <a:endParaRPr lang="en-US" sz="1275" dirty="0"/>
          </a:p>
        </p:txBody>
      </p:sp>
      <p:sp>
        <p:nvSpPr>
          <p:cNvPr id="27" name="Shape 25"/>
          <p:cNvSpPr/>
          <p:nvPr/>
        </p:nvSpPr>
        <p:spPr>
          <a:xfrm>
            <a:off x="12635210" y="5950546"/>
            <a:ext cx="4433590" cy="9525"/>
          </a:xfrm>
          <a:prstGeom prst="rect">
            <a:avLst/>
          </a:prstGeom>
          <a:solidFill>
            <a:srgbClr val="C9CFD8"/>
          </a:solidFill>
          <a:ln/>
        </p:spPr>
      </p:sp>
      <p:sp>
        <p:nvSpPr>
          <p:cNvPr id="28" name="Text 26"/>
          <p:cNvSpPr/>
          <p:nvPr/>
        </p:nvSpPr>
        <p:spPr>
          <a:xfrm>
            <a:off x="12863810" y="5544344"/>
            <a:ext cx="4109398"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 page of tiles with shared filters.</a:t>
            </a:r>
            <a:endParaRPr lang="en-US" sz="1275" dirty="0"/>
          </a:p>
        </p:txBody>
      </p:sp>
      <p:sp>
        <p:nvSpPr>
          <p:cNvPr id="29" name="Shape 27"/>
          <p:cNvSpPr/>
          <p:nvPr/>
        </p:nvSpPr>
        <p:spPr>
          <a:xfrm>
            <a:off x="1219200" y="6534547"/>
            <a:ext cx="2552700" cy="9525"/>
          </a:xfrm>
          <a:prstGeom prst="rect">
            <a:avLst/>
          </a:prstGeom>
          <a:solidFill>
            <a:srgbClr val="C9CFD8"/>
          </a:solidFill>
          <a:ln/>
        </p:spPr>
      </p:sp>
      <p:sp>
        <p:nvSpPr>
          <p:cNvPr id="30" name="Text 28"/>
          <p:cNvSpPr/>
          <p:nvPr/>
        </p:nvSpPr>
        <p:spPr>
          <a:xfrm>
            <a:off x="1447800" y="6128346"/>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LIVES WHERE</a:t>
            </a:r>
            <a:endParaRPr lang="en-US" sz="975" dirty="0"/>
          </a:p>
        </p:txBody>
      </p:sp>
      <p:sp>
        <p:nvSpPr>
          <p:cNvPr id="31" name="Shape 29"/>
          <p:cNvSpPr/>
          <p:nvPr/>
        </p:nvSpPr>
        <p:spPr>
          <a:xfrm>
            <a:off x="3771900" y="6534547"/>
            <a:ext cx="4459883" cy="9525"/>
          </a:xfrm>
          <a:prstGeom prst="rect">
            <a:avLst/>
          </a:prstGeom>
          <a:solidFill>
            <a:srgbClr val="C9CFD8"/>
          </a:solidFill>
          <a:ln/>
        </p:spPr>
      </p:sp>
      <p:sp>
        <p:nvSpPr>
          <p:cNvPr id="32" name="Text 30"/>
          <p:cNvSpPr/>
          <p:nvPr/>
        </p:nvSpPr>
        <p:spPr>
          <a:xfrm>
            <a:off x="4000500" y="6128346"/>
            <a:ext cx="4136479"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The Explore screen — usually unsaved.</a:t>
            </a:r>
            <a:endParaRPr lang="en-US" sz="1275" dirty="0"/>
          </a:p>
        </p:txBody>
      </p:sp>
      <p:sp>
        <p:nvSpPr>
          <p:cNvPr id="33" name="Shape 31"/>
          <p:cNvSpPr/>
          <p:nvPr/>
        </p:nvSpPr>
        <p:spPr>
          <a:xfrm>
            <a:off x="8231783" y="6534547"/>
            <a:ext cx="4403427" cy="9525"/>
          </a:xfrm>
          <a:prstGeom prst="rect">
            <a:avLst/>
          </a:prstGeom>
          <a:solidFill>
            <a:srgbClr val="C9CFD8"/>
          </a:solidFill>
          <a:ln/>
        </p:spPr>
      </p:sp>
      <p:sp>
        <p:nvSpPr>
          <p:cNvPr id="34" name="Text 32"/>
          <p:cNvSpPr/>
          <p:nvPr/>
        </p:nvSpPr>
        <p:spPr>
          <a:xfrm>
            <a:off x="8460383" y="6128346"/>
            <a:ext cx="407833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 folder, with its own URL.</a:t>
            </a:r>
            <a:endParaRPr lang="en-US" sz="1275" dirty="0"/>
          </a:p>
        </p:txBody>
      </p:sp>
      <p:sp>
        <p:nvSpPr>
          <p:cNvPr id="35" name="Shape 33"/>
          <p:cNvSpPr/>
          <p:nvPr/>
        </p:nvSpPr>
        <p:spPr>
          <a:xfrm>
            <a:off x="12635210" y="6534547"/>
            <a:ext cx="4433590" cy="9525"/>
          </a:xfrm>
          <a:prstGeom prst="rect">
            <a:avLst/>
          </a:prstGeom>
          <a:solidFill>
            <a:srgbClr val="C9CFD8"/>
          </a:solidFill>
          <a:ln/>
        </p:spPr>
      </p:sp>
      <p:sp>
        <p:nvSpPr>
          <p:cNvPr id="36" name="Text 34"/>
          <p:cNvSpPr/>
          <p:nvPr/>
        </p:nvSpPr>
        <p:spPr>
          <a:xfrm>
            <a:off x="12863810" y="6128346"/>
            <a:ext cx="4109398"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 folder, with its own URL.</a:t>
            </a:r>
            <a:endParaRPr lang="en-US" sz="1275" dirty="0"/>
          </a:p>
        </p:txBody>
      </p:sp>
      <p:sp>
        <p:nvSpPr>
          <p:cNvPr id="37" name="Shape 35"/>
          <p:cNvSpPr/>
          <p:nvPr/>
        </p:nvSpPr>
        <p:spPr>
          <a:xfrm>
            <a:off x="1219200" y="7118549"/>
            <a:ext cx="2552700" cy="9525"/>
          </a:xfrm>
          <a:prstGeom prst="rect">
            <a:avLst/>
          </a:prstGeom>
          <a:solidFill>
            <a:srgbClr val="C9CFD8"/>
          </a:solidFill>
          <a:ln/>
        </p:spPr>
      </p:sp>
      <p:sp>
        <p:nvSpPr>
          <p:cNvPr id="38" name="Text 36"/>
          <p:cNvSpPr/>
          <p:nvPr/>
        </p:nvSpPr>
        <p:spPr>
          <a:xfrm>
            <a:off x="1447800" y="6712347"/>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REUSABLE?</a:t>
            </a:r>
            <a:endParaRPr lang="en-US" sz="975" dirty="0"/>
          </a:p>
        </p:txBody>
      </p:sp>
      <p:sp>
        <p:nvSpPr>
          <p:cNvPr id="39" name="Shape 37"/>
          <p:cNvSpPr/>
          <p:nvPr/>
        </p:nvSpPr>
        <p:spPr>
          <a:xfrm>
            <a:off x="3771900" y="7118549"/>
            <a:ext cx="4459883" cy="9525"/>
          </a:xfrm>
          <a:prstGeom prst="rect">
            <a:avLst/>
          </a:prstGeom>
          <a:solidFill>
            <a:srgbClr val="C9CFD8"/>
          </a:solidFill>
          <a:ln/>
        </p:spPr>
      </p:sp>
      <p:sp>
        <p:nvSpPr>
          <p:cNvPr id="40" name="Text 38"/>
          <p:cNvSpPr/>
          <p:nvPr/>
        </p:nvSpPr>
        <p:spPr>
          <a:xfrm>
            <a:off x="4000500" y="6712347"/>
            <a:ext cx="4136479"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Not by itself — you'd save it as a Look first.</a:t>
            </a:r>
            <a:endParaRPr lang="en-US" sz="1275" dirty="0"/>
          </a:p>
        </p:txBody>
      </p:sp>
      <p:sp>
        <p:nvSpPr>
          <p:cNvPr id="41" name="Shape 39"/>
          <p:cNvSpPr/>
          <p:nvPr/>
        </p:nvSpPr>
        <p:spPr>
          <a:xfrm>
            <a:off x="8231783" y="7118549"/>
            <a:ext cx="4403427" cy="9525"/>
          </a:xfrm>
          <a:prstGeom prst="rect">
            <a:avLst/>
          </a:prstGeom>
          <a:solidFill>
            <a:srgbClr val="C9CFD8"/>
          </a:solidFill>
          <a:ln/>
        </p:spPr>
      </p:sp>
      <p:sp>
        <p:nvSpPr>
          <p:cNvPr id="42" name="Text 40"/>
          <p:cNvSpPr/>
          <p:nvPr/>
        </p:nvSpPr>
        <p:spPr>
          <a:xfrm>
            <a:off x="8460383" y="6712347"/>
            <a:ext cx="407833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Yes — drop a Look into many Dashboards.</a:t>
            </a:r>
            <a:endParaRPr lang="en-US" sz="1275" dirty="0"/>
          </a:p>
        </p:txBody>
      </p:sp>
      <p:sp>
        <p:nvSpPr>
          <p:cNvPr id="43" name="Shape 41"/>
          <p:cNvSpPr/>
          <p:nvPr/>
        </p:nvSpPr>
        <p:spPr>
          <a:xfrm>
            <a:off x="12635210" y="7118549"/>
            <a:ext cx="4433590" cy="9525"/>
          </a:xfrm>
          <a:prstGeom prst="rect">
            <a:avLst/>
          </a:prstGeom>
          <a:solidFill>
            <a:srgbClr val="C9CFD8"/>
          </a:solidFill>
          <a:ln/>
        </p:spPr>
      </p:sp>
      <p:sp>
        <p:nvSpPr>
          <p:cNvPr id="44" name="Text 42"/>
          <p:cNvSpPr/>
          <p:nvPr/>
        </p:nvSpPr>
        <p:spPr>
          <a:xfrm>
            <a:off x="12863810" y="6712347"/>
            <a:ext cx="4109398"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Yes — share, schedule, embed.</a:t>
            </a:r>
            <a:endParaRPr lang="en-US" sz="1275" dirty="0"/>
          </a:p>
        </p:txBody>
      </p:sp>
      <p:sp>
        <p:nvSpPr>
          <p:cNvPr id="45" name="Shape 43"/>
          <p:cNvSpPr/>
          <p:nvPr/>
        </p:nvSpPr>
        <p:spPr>
          <a:xfrm>
            <a:off x="1219200" y="7702550"/>
            <a:ext cx="2552700" cy="9525"/>
          </a:xfrm>
          <a:prstGeom prst="rect">
            <a:avLst/>
          </a:prstGeom>
          <a:solidFill>
            <a:srgbClr val="C9CFD8"/>
          </a:solidFill>
          <a:ln/>
        </p:spPr>
      </p:sp>
      <p:sp>
        <p:nvSpPr>
          <p:cNvPr id="46" name="Text 44"/>
          <p:cNvSpPr/>
          <p:nvPr/>
        </p:nvSpPr>
        <p:spPr>
          <a:xfrm>
            <a:off x="1447800" y="7296349"/>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BEST FOR</a:t>
            </a:r>
            <a:endParaRPr lang="en-US" sz="975" dirty="0"/>
          </a:p>
        </p:txBody>
      </p:sp>
      <p:sp>
        <p:nvSpPr>
          <p:cNvPr id="47" name="Shape 45"/>
          <p:cNvSpPr/>
          <p:nvPr/>
        </p:nvSpPr>
        <p:spPr>
          <a:xfrm>
            <a:off x="3771900" y="7702550"/>
            <a:ext cx="4459883" cy="9525"/>
          </a:xfrm>
          <a:prstGeom prst="rect">
            <a:avLst/>
          </a:prstGeom>
          <a:solidFill>
            <a:srgbClr val="C9CFD8"/>
          </a:solidFill>
          <a:ln/>
        </p:spPr>
      </p:sp>
      <p:sp>
        <p:nvSpPr>
          <p:cNvPr id="48" name="Text 46"/>
          <p:cNvSpPr/>
          <p:nvPr/>
        </p:nvSpPr>
        <p:spPr>
          <a:xfrm>
            <a:off x="4000500" y="7296349"/>
            <a:ext cx="4136479"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Answering a one-off question right now.</a:t>
            </a:r>
            <a:endParaRPr lang="en-US" sz="1275" dirty="0"/>
          </a:p>
        </p:txBody>
      </p:sp>
      <p:sp>
        <p:nvSpPr>
          <p:cNvPr id="49" name="Shape 47"/>
          <p:cNvSpPr/>
          <p:nvPr/>
        </p:nvSpPr>
        <p:spPr>
          <a:xfrm>
            <a:off x="8231783" y="7702550"/>
            <a:ext cx="4403427" cy="9525"/>
          </a:xfrm>
          <a:prstGeom prst="rect">
            <a:avLst/>
          </a:prstGeom>
          <a:solidFill>
            <a:srgbClr val="C9CFD8"/>
          </a:solidFill>
          <a:ln/>
        </p:spPr>
      </p:sp>
      <p:sp>
        <p:nvSpPr>
          <p:cNvPr id="50" name="Text 48"/>
          <p:cNvSpPr/>
          <p:nvPr/>
        </p:nvSpPr>
        <p:spPr>
          <a:xfrm>
            <a:off x="8460383" y="7296349"/>
            <a:ext cx="407833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 single canonical chart you'll reuse.</a:t>
            </a:r>
            <a:endParaRPr lang="en-US" sz="1275" dirty="0"/>
          </a:p>
        </p:txBody>
      </p:sp>
      <p:sp>
        <p:nvSpPr>
          <p:cNvPr id="51" name="Shape 49"/>
          <p:cNvSpPr/>
          <p:nvPr/>
        </p:nvSpPr>
        <p:spPr>
          <a:xfrm>
            <a:off x="12635210" y="7702550"/>
            <a:ext cx="4433590" cy="9525"/>
          </a:xfrm>
          <a:prstGeom prst="rect">
            <a:avLst/>
          </a:prstGeom>
          <a:solidFill>
            <a:srgbClr val="C9CFD8"/>
          </a:solidFill>
          <a:ln/>
        </p:spPr>
      </p:sp>
      <p:sp>
        <p:nvSpPr>
          <p:cNvPr id="52" name="Text 50"/>
          <p:cNvSpPr/>
          <p:nvPr/>
        </p:nvSpPr>
        <p:spPr>
          <a:xfrm>
            <a:off x="12863810" y="7296349"/>
            <a:ext cx="4109398"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A curated story for an audience.</a:t>
            </a:r>
            <a:endParaRPr lang="en-US" sz="1275" dirty="0"/>
          </a:p>
        </p:txBody>
      </p:sp>
      <p:sp>
        <p:nvSpPr>
          <p:cNvPr id="53" name="Shape 51"/>
          <p:cNvSpPr/>
          <p:nvPr/>
        </p:nvSpPr>
        <p:spPr>
          <a:xfrm>
            <a:off x="1219200" y="8286552"/>
            <a:ext cx="2552700" cy="9525"/>
          </a:xfrm>
          <a:prstGeom prst="rect">
            <a:avLst/>
          </a:prstGeom>
          <a:solidFill>
            <a:srgbClr val="C9CFD8"/>
          </a:solidFill>
          <a:ln/>
        </p:spPr>
      </p:sp>
      <p:sp>
        <p:nvSpPr>
          <p:cNvPr id="54" name="Text 52"/>
          <p:cNvSpPr/>
          <p:nvPr/>
        </p:nvSpPr>
        <p:spPr>
          <a:xfrm>
            <a:off x="1447800" y="7880350"/>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FILTERS</a:t>
            </a:r>
            <a:endParaRPr lang="en-US" sz="975" dirty="0"/>
          </a:p>
        </p:txBody>
      </p:sp>
      <p:sp>
        <p:nvSpPr>
          <p:cNvPr id="55" name="Shape 53"/>
          <p:cNvSpPr/>
          <p:nvPr/>
        </p:nvSpPr>
        <p:spPr>
          <a:xfrm>
            <a:off x="3771900" y="8286552"/>
            <a:ext cx="4459883" cy="9525"/>
          </a:xfrm>
          <a:prstGeom prst="rect">
            <a:avLst/>
          </a:prstGeom>
          <a:solidFill>
            <a:srgbClr val="C9CFD8"/>
          </a:solidFill>
          <a:ln/>
        </p:spPr>
      </p:sp>
      <p:sp>
        <p:nvSpPr>
          <p:cNvPr id="56" name="Text 54"/>
          <p:cNvSpPr/>
          <p:nvPr/>
        </p:nvSpPr>
        <p:spPr>
          <a:xfrm>
            <a:off x="4000500" y="7880350"/>
            <a:ext cx="4136479"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Per-query.</a:t>
            </a:r>
            <a:endParaRPr lang="en-US" sz="1275" dirty="0"/>
          </a:p>
        </p:txBody>
      </p:sp>
      <p:sp>
        <p:nvSpPr>
          <p:cNvPr id="57" name="Shape 55"/>
          <p:cNvSpPr/>
          <p:nvPr/>
        </p:nvSpPr>
        <p:spPr>
          <a:xfrm>
            <a:off x="8231783" y="8286552"/>
            <a:ext cx="4403427" cy="9525"/>
          </a:xfrm>
          <a:prstGeom prst="rect">
            <a:avLst/>
          </a:prstGeom>
          <a:solidFill>
            <a:srgbClr val="C9CFD8"/>
          </a:solidFill>
          <a:ln/>
        </p:spPr>
      </p:sp>
      <p:sp>
        <p:nvSpPr>
          <p:cNvPr id="58" name="Text 56"/>
          <p:cNvSpPr/>
          <p:nvPr/>
        </p:nvSpPr>
        <p:spPr>
          <a:xfrm>
            <a:off x="8460383" y="7880350"/>
            <a:ext cx="4078330"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Baked into the Look.</a:t>
            </a:r>
            <a:endParaRPr lang="en-US" sz="1275" dirty="0"/>
          </a:p>
        </p:txBody>
      </p:sp>
      <p:sp>
        <p:nvSpPr>
          <p:cNvPr id="59" name="Shape 57"/>
          <p:cNvSpPr/>
          <p:nvPr/>
        </p:nvSpPr>
        <p:spPr>
          <a:xfrm>
            <a:off x="12635210" y="8286552"/>
            <a:ext cx="4433590" cy="9525"/>
          </a:xfrm>
          <a:prstGeom prst="rect">
            <a:avLst/>
          </a:prstGeom>
          <a:solidFill>
            <a:srgbClr val="C9CFD8"/>
          </a:solidFill>
          <a:ln/>
        </p:spPr>
      </p:sp>
      <p:sp>
        <p:nvSpPr>
          <p:cNvPr id="60" name="Text 58"/>
          <p:cNvSpPr/>
          <p:nvPr/>
        </p:nvSpPr>
        <p:spPr>
          <a:xfrm>
            <a:off x="12863810" y="7880350"/>
            <a:ext cx="4109398"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Dashboard-level filters apply to every tile.</a:t>
            </a:r>
            <a:endParaRPr lang="en-US" sz="1275" dirty="0"/>
          </a:p>
        </p:txBody>
      </p:sp>
      <p:sp>
        <p:nvSpPr>
          <p:cNvPr id="61" name="Text 59"/>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2" name="Text 60"/>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22 / 60</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8435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rcRect l="0" r="0" t="0" b="0"/>
          <a:stretch/>
        </p:blipFill>
        <p:spPr>
          <a:xfrm>
            <a:off x="11811000" y="3810000"/>
            <a:ext cx="6477000" cy="6477000"/>
          </a:xfrm>
          <a:prstGeom prst="rect">
            <a:avLst/>
          </a:prstGeom>
        </p:spPr>
      </p:pic>
      <p:sp>
        <p:nvSpPr>
          <p:cNvPr id="3" name="Shape 0"/>
          <p:cNvSpPr/>
          <p:nvPr/>
        </p:nvSpPr>
        <p:spPr>
          <a:xfrm>
            <a:off x="1219200" y="657225"/>
            <a:ext cx="361950" cy="361950"/>
          </a:xfrm>
          <a:prstGeom prst="rect">
            <a:avLst/>
          </a:prstGeom>
          <a:solidFill>
            <a:srgbClr val="FFFFFF"/>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6152416" y="755650"/>
            <a:ext cx="99258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CHAPTER 03</a:t>
            </a:r>
            <a:endParaRPr lang="en-US" sz="975" dirty="0"/>
          </a:p>
        </p:txBody>
      </p:sp>
      <p:sp>
        <p:nvSpPr>
          <p:cNvPr id="7" name="Text 4"/>
          <p:cNvSpPr/>
          <p:nvPr/>
        </p:nvSpPr>
        <p:spPr>
          <a:xfrm>
            <a:off x="1219200" y="2667000"/>
            <a:ext cx="12753975" cy="292100"/>
          </a:xfrm>
          <a:prstGeom prst="rect">
            <a:avLst/>
          </a:prstGeom>
          <a:noFill/>
          <a:ln/>
        </p:spPr>
        <p:txBody>
          <a:bodyPr wrap="square" lIns="25400" tIns="25400" rIns="25400" bIns="25400" rtlCol="0" anchor="t">
            <a:normAutofit/>
          </a:bodyPr>
          <a:lstStyle/>
          <a:p>
            <a:pPr algn="l" indent="0" marL="0">
              <a:buNone/>
            </a:pPr>
            <a:r>
              <a:rPr lang="en-US" sz="1500" spc="300" kern="0" dirty="0">
                <a:solidFill>
                  <a:srgbClr val="FF671F"/>
                </a:solidFill>
                <a:latin typeface="JetBrains Mono" pitchFamily="34" charset="0"/>
                <a:ea typeface="JetBrains Mono" pitchFamily="34" charset="-122"/>
                <a:cs typeface="JetBrains Mono" pitchFamily="34" charset="-120"/>
              </a:rPr>
              <a:t>CHAPTER 03 · SLIDES 23–37</a:t>
            </a:r>
            <a:endParaRPr lang="en-US" sz="1500" dirty="0"/>
          </a:p>
        </p:txBody>
      </p:sp>
      <p:sp>
        <p:nvSpPr>
          <p:cNvPr id="8" name="Text 5"/>
          <p:cNvSpPr/>
          <p:nvPr/>
        </p:nvSpPr>
        <p:spPr>
          <a:xfrm>
            <a:off x="1219200" y="3225800"/>
            <a:ext cx="12753975" cy="1377255"/>
          </a:xfrm>
          <a:prstGeom prst="rect">
            <a:avLst/>
          </a:prstGeom>
          <a:noFill/>
          <a:ln/>
        </p:spPr>
        <p:txBody>
          <a:bodyPr wrap="square" lIns="25400" tIns="25400" rIns="25400" bIns="25400" rtlCol="0" anchor="t">
            <a:normAutofit/>
          </a:bodyPr>
          <a:lstStyle/>
          <a:p>
            <a:pPr algn="l" indent="0" marL="0">
              <a:lnSpc>
                <a:spcPct val="95000"/>
              </a:lnSpc>
              <a:buNone/>
            </a:pPr>
            <a:r>
              <a:rPr lang="en-US" sz="11100" b="1" spc="-278" kern="0" dirty="0">
                <a:solidFill>
                  <a:srgbClr val="FF671F"/>
                </a:solidFill>
                <a:latin typeface="Manrope" pitchFamily="34" charset="0"/>
                <a:ea typeface="Manrope" pitchFamily="34" charset="-122"/>
                <a:cs typeface="Manrope" pitchFamily="34" charset="-120"/>
              </a:rPr>
              <a:t>Dashboards.</a:t>
            </a:r>
            <a:endParaRPr lang="en-US" sz="11100" dirty="0"/>
          </a:p>
        </p:txBody>
      </p:sp>
      <p:sp>
        <p:nvSpPr>
          <p:cNvPr id="9" name="Text 6"/>
          <p:cNvSpPr/>
          <p:nvPr/>
        </p:nvSpPr>
        <p:spPr>
          <a:xfrm>
            <a:off x="1219200" y="4831656"/>
            <a:ext cx="9810750" cy="1117997"/>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alpha val="70000"/>
                  </a:srgbClr>
                </a:solidFill>
                <a:latin typeface="Manrope" pitchFamily="34" charset="0"/>
                <a:ea typeface="Manrope" pitchFamily="34" charset="-122"/>
                <a:cs typeface="Manrope" pitchFamily="34" charset="-120"/>
              </a:rPr>
              <a:t>Create, modify and share — the longest chapter in this module and the largest slice of the exam's Looker section. Fifteen slides on the page stakeholders actually open.</a:t>
            </a:r>
            <a:endParaRPr lang="en-US" sz="2100" dirty="0"/>
          </a:p>
        </p:txBody>
      </p:sp>
      <p:sp>
        <p:nvSpPr>
          <p:cNvPr id="10" name="Text 7"/>
          <p:cNvSpPr/>
          <p:nvPr/>
        </p:nvSpPr>
        <p:spPr>
          <a:xfrm>
            <a:off x="12496800" y="2667000"/>
            <a:ext cx="4709160" cy="20320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FFFFFF">
                    <a:alpha val="50000"/>
                  </a:srgbClr>
                </a:solidFill>
                <a:latin typeface="JetBrains Mono" pitchFamily="34" charset="0"/>
                <a:ea typeface="JetBrains Mono" pitchFamily="34" charset="-122"/>
                <a:cs typeface="JetBrains Mono" pitchFamily="34" charset="-120"/>
              </a:rPr>
              <a:t>IN THIS CHAPTER</a:t>
            </a:r>
            <a:endParaRPr lang="en-US" sz="975" dirty="0"/>
          </a:p>
        </p:txBody>
      </p:sp>
      <p:sp>
        <p:nvSpPr>
          <p:cNvPr id="11" name="Shape 8"/>
          <p:cNvSpPr/>
          <p:nvPr/>
        </p:nvSpPr>
        <p:spPr>
          <a:xfrm>
            <a:off x="12496800" y="3429000"/>
            <a:ext cx="4572000" cy="9525"/>
          </a:xfrm>
          <a:prstGeom prst="rect">
            <a:avLst/>
          </a:prstGeom>
          <a:solidFill>
            <a:srgbClr val="FFFFFF">
              <a:alpha val="12000"/>
            </a:srgbClr>
          </a:solidFill>
          <a:ln/>
        </p:spPr>
      </p:sp>
      <p:sp>
        <p:nvSpPr>
          <p:cNvPr id="12" name="Text 9"/>
          <p:cNvSpPr/>
          <p:nvPr/>
        </p:nvSpPr>
        <p:spPr>
          <a:xfrm>
            <a:off x="12496800" y="3060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Meet Looker</a:t>
            </a:r>
            <a:endParaRPr lang="en-US" sz="1350" dirty="0"/>
          </a:p>
        </p:txBody>
      </p:sp>
      <p:sp>
        <p:nvSpPr>
          <p:cNvPr id="13" name="Shape 10"/>
          <p:cNvSpPr/>
          <p:nvPr/>
        </p:nvSpPr>
        <p:spPr>
          <a:xfrm>
            <a:off x="12496800" y="3937000"/>
            <a:ext cx="4572000" cy="9525"/>
          </a:xfrm>
          <a:prstGeom prst="rect">
            <a:avLst/>
          </a:prstGeom>
          <a:solidFill>
            <a:srgbClr val="FFFFFF">
              <a:alpha val="12000"/>
            </a:srgbClr>
          </a:solidFill>
          <a:ln/>
        </p:spPr>
      </p:sp>
      <p:sp>
        <p:nvSpPr>
          <p:cNvPr id="14" name="Text 11"/>
          <p:cNvSpPr/>
          <p:nvPr/>
        </p:nvSpPr>
        <p:spPr>
          <a:xfrm>
            <a:off x="12496800" y="3568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Tour the UI</a:t>
            </a:r>
            <a:endParaRPr lang="en-US" sz="1350" dirty="0"/>
          </a:p>
        </p:txBody>
      </p:sp>
      <p:sp>
        <p:nvSpPr>
          <p:cNvPr id="15" name="Shape 12"/>
          <p:cNvSpPr/>
          <p:nvPr/>
        </p:nvSpPr>
        <p:spPr>
          <a:xfrm>
            <a:off x="12496800" y="4445000"/>
            <a:ext cx="4572000" cy="9525"/>
          </a:xfrm>
          <a:prstGeom prst="rect">
            <a:avLst/>
          </a:prstGeom>
          <a:solidFill>
            <a:srgbClr val="FFFFFF">
              <a:alpha val="12000"/>
            </a:srgbClr>
          </a:solidFill>
          <a:ln/>
        </p:spPr>
      </p:sp>
      <p:sp>
        <p:nvSpPr>
          <p:cNvPr id="16" name="Text 13"/>
          <p:cNvSpPr/>
          <p:nvPr/>
        </p:nvSpPr>
        <p:spPr>
          <a:xfrm>
            <a:off x="12496800" y="4076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solidFill>
                <a:latin typeface="Manrope" pitchFamily="34" charset="0"/>
                <a:ea typeface="Manrope" pitchFamily="34" charset="-122"/>
                <a:cs typeface="Manrope" pitchFamily="34" charset="-120"/>
              </a:rPr>
              <a:t>Dashboards</a:t>
            </a:r>
            <a:endParaRPr lang="en-US" sz="1350" dirty="0"/>
          </a:p>
        </p:txBody>
      </p:sp>
      <p:sp>
        <p:nvSpPr>
          <p:cNvPr id="17" name="Shape 14"/>
          <p:cNvSpPr/>
          <p:nvPr/>
        </p:nvSpPr>
        <p:spPr>
          <a:xfrm>
            <a:off x="12496800" y="4953000"/>
            <a:ext cx="4572000" cy="9525"/>
          </a:xfrm>
          <a:prstGeom prst="rect">
            <a:avLst/>
          </a:prstGeom>
          <a:solidFill>
            <a:srgbClr val="FFFFFF">
              <a:alpha val="12000"/>
            </a:srgbClr>
          </a:solidFill>
          <a:ln/>
        </p:spPr>
      </p:sp>
      <p:sp>
        <p:nvSpPr>
          <p:cNvPr id="18" name="Text 15"/>
          <p:cNvSpPr/>
          <p:nvPr/>
        </p:nvSpPr>
        <p:spPr>
          <a:xfrm>
            <a:off x="12496800" y="4584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LookML &amp; parameters</a:t>
            </a:r>
            <a:endParaRPr lang="en-US" sz="1350" dirty="0"/>
          </a:p>
        </p:txBody>
      </p:sp>
      <p:sp>
        <p:nvSpPr>
          <p:cNvPr id="19" name="Shape 16"/>
          <p:cNvSpPr/>
          <p:nvPr/>
        </p:nvSpPr>
        <p:spPr>
          <a:xfrm>
            <a:off x="12496800" y="5461000"/>
            <a:ext cx="4572000" cy="9525"/>
          </a:xfrm>
          <a:prstGeom prst="rect">
            <a:avLst/>
          </a:prstGeom>
          <a:solidFill>
            <a:srgbClr val="FFFFFF">
              <a:alpha val="12000"/>
            </a:srgbClr>
          </a:solidFill>
          <a:ln/>
        </p:spPr>
      </p:sp>
      <p:sp>
        <p:nvSpPr>
          <p:cNvPr id="20" name="Text 17"/>
          <p:cNvSpPr/>
          <p:nvPr/>
        </p:nvSpPr>
        <p:spPr>
          <a:xfrm>
            <a:off x="12496800" y="5092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Looker vs Looker Studio</a:t>
            </a:r>
            <a:endParaRPr lang="en-US" sz="1350" dirty="0"/>
          </a:p>
        </p:txBody>
      </p:sp>
      <p:sp>
        <p:nvSpPr>
          <p:cNvPr id="21" name="Text 1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globallogic.com</a:t>
            </a:r>
            <a:endParaRPr lang="en-US" sz="1050" dirty="0"/>
          </a:p>
        </p:txBody>
      </p:sp>
      <p:sp>
        <p:nvSpPr>
          <p:cNvPr id="22" name="Text 1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23 / 60</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DEFINITION</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A dashboard is a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page</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 not a chart.</a:t>
            </a:r>
            <a:endParaRPr lang="en-US" sz="6000" dirty="0"/>
          </a:p>
        </p:txBody>
      </p:sp>
      <p:sp>
        <p:nvSpPr>
          <p:cNvPr id="8" name="Text 6"/>
          <p:cNvSpPr/>
          <p:nvPr/>
        </p:nvSpPr>
        <p:spPr>
          <a:xfrm>
            <a:off x="1219200" y="3126681"/>
            <a:ext cx="14716125" cy="949523"/>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Looker dashboard is a canvas of tiles arranged for a specific audience and a specific question. Each tile is a small query — usually run on every refresh, sometimes served from cache — and tiles can share filters so the whole page moves together when a viewer slices by region, date or product.</a:t>
            </a:r>
            <a:endParaRPr lang="en-US" sz="1650" dirty="0"/>
          </a:p>
        </p:txBody>
      </p:sp>
      <p:sp>
        <p:nvSpPr>
          <p:cNvPr id="9" name="Shape 7"/>
          <p:cNvSpPr/>
          <p:nvPr/>
        </p:nvSpPr>
        <p:spPr>
          <a:xfrm>
            <a:off x="1219200" y="4876304"/>
            <a:ext cx="5080000" cy="2073870"/>
          </a:xfrm>
          <a:prstGeom prst="roundRect">
            <a:avLst>
              <a:gd name="adj" fmla="val 6430"/>
            </a:avLst>
          </a:prstGeom>
          <a:solidFill>
            <a:srgbClr val="F1F2F4"/>
          </a:solidFill>
          <a:ln/>
        </p:spPr>
      </p:sp>
      <p:sp>
        <p:nvSpPr>
          <p:cNvPr id="10" name="Shape 8"/>
          <p:cNvSpPr/>
          <p:nvPr/>
        </p:nvSpPr>
        <p:spPr>
          <a:xfrm>
            <a:off x="1219200" y="4876304"/>
            <a:ext cx="5080000" cy="38100"/>
          </a:xfrm>
          <a:prstGeom prst="rect">
            <a:avLst/>
          </a:prstGeom>
          <a:solidFill>
            <a:srgbClr val="FF671F"/>
          </a:solidFill>
          <a:ln/>
        </p:spPr>
      </p:sp>
      <p:sp>
        <p:nvSpPr>
          <p:cNvPr id="11" name="Text 9"/>
          <p:cNvSpPr/>
          <p:nvPr/>
        </p:nvSpPr>
        <p:spPr>
          <a:xfrm>
            <a:off x="1524000" y="5219204"/>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TILES</a:t>
            </a:r>
            <a:endParaRPr lang="en-US" sz="900" dirty="0"/>
          </a:p>
        </p:txBody>
      </p:sp>
      <p:sp>
        <p:nvSpPr>
          <p:cNvPr id="12" name="Text 10"/>
          <p:cNvSpPr/>
          <p:nvPr/>
        </p:nvSpPr>
        <p:spPr>
          <a:xfrm>
            <a:off x="1524000" y="5498604"/>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The cells of the dashboard.</a:t>
            </a:r>
            <a:endParaRPr lang="en-US" sz="1950" dirty="0"/>
          </a:p>
        </p:txBody>
      </p:sp>
      <p:sp>
        <p:nvSpPr>
          <p:cNvPr id="13" name="Text 11"/>
          <p:cNvSpPr/>
          <p:nvPr/>
        </p:nvSpPr>
        <p:spPr>
          <a:xfrm>
            <a:off x="1524000" y="5916712"/>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Each tile is a query plus a visualization. Tiles can be built from an existing Look (linked) or defined directly in the dashboard (free-standing).</a:t>
            </a:r>
            <a:endParaRPr lang="en-US" sz="1275" dirty="0"/>
          </a:p>
        </p:txBody>
      </p:sp>
      <p:sp>
        <p:nvSpPr>
          <p:cNvPr id="14" name="Shape 12"/>
          <p:cNvSpPr/>
          <p:nvPr/>
        </p:nvSpPr>
        <p:spPr>
          <a:xfrm>
            <a:off x="6604000" y="4876304"/>
            <a:ext cx="5080000" cy="2073870"/>
          </a:xfrm>
          <a:prstGeom prst="roundRect">
            <a:avLst>
              <a:gd name="adj" fmla="val 6430"/>
            </a:avLst>
          </a:prstGeom>
          <a:solidFill>
            <a:srgbClr val="F1F2F4"/>
          </a:solidFill>
          <a:ln/>
        </p:spPr>
      </p:sp>
      <p:sp>
        <p:nvSpPr>
          <p:cNvPr id="15" name="Shape 13"/>
          <p:cNvSpPr/>
          <p:nvPr/>
        </p:nvSpPr>
        <p:spPr>
          <a:xfrm>
            <a:off x="6604000" y="4876304"/>
            <a:ext cx="5080000" cy="38100"/>
          </a:xfrm>
          <a:prstGeom prst="rect">
            <a:avLst/>
          </a:prstGeom>
          <a:solidFill>
            <a:srgbClr val="FF671F"/>
          </a:solidFill>
          <a:ln/>
        </p:spPr>
      </p:sp>
      <p:sp>
        <p:nvSpPr>
          <p:cNvPr id="16" name="Text 14"/>
          <p:cNvSpPr/>
          <p:nvPr/>
        </p:nvSpPr>
        <p:spPr>
          <a:xfrm>
            <a:off x="6908800" y="5219204"/>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FILTERS</a:t>
            </a:r>
            <a:endParaRPr lang="en-US" sz="900" dirty="0"/>
          </a:p>
        </p:txBody>
      </p:sp>
      <p:sp>
        <p:nvSpPr>
          <p:cNvPr id="17" name="Text 15"/>
          <p:cNvSpPr/>
          <p:nvPr/>
        </p:nvSpPr>
        <p:spPr>
          <a:xfrm>
            <a:off x="6908800" y="5498604"/>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Controls at the top.</a:t>
            </a:r>
            <a:endParaRPr lang="en-US" sz="1950" dirty="0"/>
          </a:p>
        </p:txBody>
      </p:sp>
      <p:sp>
        <p:nvSpPr>
          <p:cNvPr id="18" name="Text 16"/>
          <p:cNvSpPr/>
          <p:nvPr/>
        </p:nvSpPr>
        <p:spPr>
          <a:xfrm>
            <a:off x="6908800" y="5916712"/>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Date range, region, channel, customer — applied to every tile that uses the matching field. Filters can also be locked to a specific value for a curated narrative.</a:t>
            </a:r>
            <a:endParaRPr lang="en-US" sz="1275" dirty="0"/>
          </a:p>
        </p:txBody>
      </p:sp>
      <p:sp>
        <p:nvSpPr>
          <p:cNvPr id="19" name="Shape 17"/>
          <p:cNvSpPr/>
          <p:nvPr/>
        </p:nvSpPr>
        <p:spPr>
          <a:xfrm>
            <a:off x="11988801" y="4876304"/>
            <a:ext cx="5080000" cy="2073870"/>
          </a:xfrm>
          <a:prstGeom prst="roundRect">
            <a:avLst>
              <a:gd name="adj" fmla="val 6430"/>
            </a:avLst>
          </a:prstGeom>
          <a:solidFill>
            <a:srgbClr val="F1F2F4"/>
          </a:solidFill>
          <a:ln/>
        </p:spPr>
      </p:sp>
      <p:sp>
        <p:nvSpPr>
          <p:cNvPr id="20" name="Shape 18"/>
          <p:cNvSpPr/>
          <p:nvPr/>
        </p:nvSpPr>
        <p:spPr>
          <a:xfrm>
            <a:off x="11988801" y="4876304"/>
            <a:ext cx="5080000" cy="38100"/>
          </a:xfrm>
          <a:prstGeom prst="rect">
            <a:avLst/>
          </a:prstGeom>
          <a:solidFill>
            <a:srgbClr val="FF671F"/>
          </a:solidFill>
          <a:ln/>
        </p:spPr>
      </p:sp>
      <p:sp>
        <p:nvSpPr>
          <p:cNvPr id="21" name="Text 19"/>
          <p:cNvSpPr/>
          <p:nvPr/>
        </p:nvSpPr>
        <p:spPr>
          <a:xfrm>
            <a:off x="12293601" y="5219204"/>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LAYOUT</a:t>
            </a:r>
            <a:endParaRPr lang="en-US" sz="900" dirty="0"/>
          </a:p>
        </p:txBody>
      </p:sp>
      <p:sp>
        <p:nvSpPr>
          <p:cNvPr id="22" name="Text 20"/>
          <p:cNvSpPr/>
          <p:nvPr/>
        </p:nvSpPr>
        <p:spPr>
          <a:xfrm>
            <a:off x="12293601" y="5498604"/>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Sections, rows, text.</a:t>
            </a:r>
            <a:endParaRPr lang="en-US" sz="1950" dirty="0"/>
          </a:p>
        </p:txBody>
      </p:sp>
      <p:sp>
        <p:nvSpPr>
          <p:cNvPr id="23" name="Text 21"/>
          <p:cNvSpPr/>
          <p:nvPr/>
        </p:nvSpPr>
        <p:spPr>
          <a:xfrm>
            <a:off x="12293601" y="5916712"/>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Drag tiles around an invisible 12-column grid. Add Markdown text tiles to label sections; group tiles into expandable sections for long reports.</a:t>
            </a:r>
            <a:endParaRPr lang="en-US" sz="1275" dirty="0"/>
          </a:p>
        </p:txBody>
      </p:sp>
      <p:sp>
        <p:nvSpPr>
          <p:cNvPr id="24" name="Text 22"/>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25" name="Text 2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24 / 60</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ANATOMY</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Six parts of every Looker dashboard.</a:t>
            </a:r>
            <a:endParaRPr lang="en-US" sz="4800" dirty="0"/>
          </a:p>
        </p:txBody>
      </p:sp>
      <p:sp>
        <p:nvSpPr>
          <p:cNvPr id="8" name="Shape 6"/>
          <p:cNvSpPr/>
          <p:nvPr/>
        </p:nvSpPr>
        <p:spPr>
          <a:xfrm>
            <a:off x="1219200" y="3276005"/>
            <a:ext cx="15849600" cy="6489700"/>
          </a:xfrm>
          <a:prstGeom prst="roundRect">
            <a:avLst>
              <a:gd name="adj" fmla="val 2348"/>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9" name="Shape 7"/>
          <p:cNvSpPr/>
          <p:nvPr/>
        </p:nvSpPr>
        <p:spPr>
          <a:xfrm>
            <a:off x="1225550" y="3282355"/>
            <a:ext cx="15836901" cy="234950"/>
          </a:xfrm>
          <a:prstGeom prst="rect">
            <a:avLst/>
          </a:prstGeom>
          <a:solidFill>
            <a:srgbClr val="1A2233"/>
          </a:solidFill>
          <a:ln/>
        </p:spPr>
      </p:sp>
      <p:sp>
        <p:nvSpPr>
          <p:cNvPr id="10" name="Text 8"/>
          <p:cNvSpPr/>
          <p:nvPr/>
        </p:nvSpPr>
        <p:spPr>
          <a:xfrm>
            <a:off x="1416050" y="3282355"/>
            <a:ext cx="662484" cy="27305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FF671F"/>
                </a:solidFill>
                <a:latin typeface="Manrope" pitchFamily="34" charset="0"/>
                <a:ea typeface="Manrope" pitchFamily="34" charset="-122"/>
                <a:cs typeface="Manrope" pitchFamily="34" charset="-120"/>
              </a:rPr>
              <a:t>Looker</a:t>
            </a:r>
            <a:endParaRPr lang="en-US" sz="1350" dirty="0"/>
          </a:p>
        </p:txBody>
      </p:sp>
      <p:sp>
        <p:nvSpPr>
          <p:cNvPr id="11" name="Text 9"/>
          <p:cNvSpPr/>
          <p:nvPr/>
        </p:nvSpPr>
        <p:spPr>
          <a:xfrm>
            <a:off x="2230934" y="3310930"/>
            <a:ext cx="442714"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Home</a:t>
            </a:r>
            <a:endParaRPr lang="en-US" sz="1050" dirty="0"/>
          </a:p>
        </p:txBody>
      </p:sp>
      <p:sp>
        <p:nvSpPr>
          <p:cNvPr id="12" name="Text 10"/>
          <p:cNvSpPr/>
          <p:nvPr/>
        </p:nvSpPr>
        <p:spPr>
          <a:xfrm>
            <a:off x="2806998" y="3310930"/>
            <a:ext cx="535384"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Browse</a:t>
            </a:r>
            <a:endParaRPr lang="en-US" sz="1050" dirty="0"/>
          </a:p>
        </p:txBody>
      </p:sp>
      <p:sp>
        <p:nvSpPr>
          <p:cNvPr id="13" name="Text 11"/>
          <p:cNvSpPr/>
          <p:nvPr/>
        </p:nvSpPr>
        <p:spPr>
          <a:xfrm>
            <a:off x="3475732" y="3310930"/>
            <a:ext cx="544909"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Explore</a:t>
            </a:r>
            <a:endParaRPr lang="en-US" sz="1050" dirty="0"/>
          </a:p>
        </p:txBody>
      </p:sp>
      <p:sp>
        <p:nvSpPr>
          <p:cNvPr id="14" name="Text 12"/>
          <p:cNvSpPr/>
          <p:nvPr/>
        </p:nvSpPr>
        <p:spPr>
          <a:xfrm>
            <a:off x="15391309" y="3310930"/>
            <a:ext cx="1556841" cy="215900"/>
          </a:xfrm>
          <a:prstGeom prst="rect">
            <a:avLst/>
          </a:prstGeom>
          <a:noFill/>
          <a:ln/>
        </p:spPr>
        <p:txBody>
          <a:bodyPr wrap="square" lIns="25400" tIns="25400" rIns="25400" bIns="25400" rtlCol="0" anchor="ctr">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Edit · Share · Schedule · ⋯</a:t>
            </a:r>
            <a:endParaRPr lang="en-US" sz="975" dirty="0"/>
          </a:p>
        </p:txBody>
      </p:sp>
      <p:sp>
        <p:nvSpPr>
          <p:cNvPr id="15" name="Shape 13"/>
          <p:cNvSpPr/>
          <p:nvPr/>
        </p:nvSpPr>
        <p:spPr>
          <a:xfrm>
            <a:off x="1225550" y="3517305"/>
            <a:ext cx="15836901" cy="717550"/>
          </a:xfrm>
          <a:prstGeom prst="rect">
            <a:avLst/>
          </a:prstGeom>
          <a:solidFill>
            <a:srgbClr val="FFFFFF"/>
          </a:solidFill>
          <a:ln/>
        </p:spPr>
      </p:sp>
      <p:sp>
        <p:nvSpPr>
          <p:cNvPr id="16" name="Shape 14"/>
          <p:cNvSpPr/>
          <p:nvPr/>
        </p:nvSpPr>
        <p:spPr>
          <a:xfrm>
            <a:off x="1225550" y="4228505"/>
            <a:ext cx="15836901" cy="9525"/>
          </a:xfrm>
          <a:prstGeom prst="rect">
            <a:avLst/>
          </a:prstGeom>
          <a:solidFill>
            <a:srgbClr val="C9CFD8"/>
          </a:solidFill>
          <a:ln/>
        </p:spPr>
      </p:sp>
      <p:sp>
        <p:nvSpPr>
          <p:cNvPr id="17" name="Text 15"/>
          <p:cNvSpPr/>
          <p:nvPr/>
        </p:nvSpPr>
        <p:spPr>
          <a:xfrm>
            <a:off x="1435100" y="3669705"/>
            <a:ext cx="3729720" cy="298450"/>
          </a:xfrm>
          <a:prstGeom prst="rect">
            <a:avLst/>
          </a:prstGeom>
          <a:noFill/>
          <a:ln/>
        </p:spPr>
        <p:txBody>
          <a:bodyPr wrap="square" lIns="25400" tIns="25400" rIns="25400" bIns="25400" rtlCol="0" anchor="t">
            <a:normAutofit/>
          </a:bodyPr>
          <a:lstStyle/>
          <a:p>
            <a:pPr algn="l" indent="0" marL="0">
              <a:buNone/>
            </a:pPr>
            <a:r>
              <a:rPr lang="en-US" sz="1500" b="1" dirty="0">
                <a:solidFill>
                  <a:srgbClr val="1B1F2A"/>
                </a:solidFill>
                <a:latin typeface="Manrope" pitchFamily="34" charset="0"/>
                <a:ea typeface="Manrope" pitchFamily="34" charset="-122"/>
                <a:cs typeface="Manrope" pitchFamily="34" charset="-120"/>
              </a:rPr>
              <a:t>Marketing — North Star</a:t>
            </a:r>
            <a:endParaRPr lang="en-US" sz="1500" dirty="0"/>
          </a:p>
        </p:txBody>
      </p:sp>
      <p:sp>
        <p:nvSpPr>
          <p:cNvPr id="18" name="Text 16"/>
          <p:cNvSpPr/>
          <p:nvPr/>
        </p:nvSpPr>
        <p:spPr>
          <a:xfrm>
            <a:off x="1435100" y="3930055"/>
            <a:ext cx="3729720" cy="1841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8B95A6"/>
                </a:solidFill>
                <a:latin typeface="JetBrains Mono" pitchFamily="34" charset="0"/>
                <a:ea typeface="JetBrains Mono" pitchFamily="34" charset="-122"/>
                <a:cs typeface="JetBrains Mono" pitchFamily="34" charset="-120"/>
              </a:rPr>
              <a:t>Marketing · Updated 2 hours ago · Owner Priya A.</a:t>
            </a:r>
            <a:endParaRPr lang="en-US" sz="900" dirty="0"/>
          </a:p>
        </p:txBody>
      </p:sp>
      <p:sp>
        <p:nvSpPr>
          <p:cNvPr id="19" name="Shape 17"/>
          <p:cNvSpPr/>
          <p:nvPr/>
        </p:nvSpPr>
        <p:spPr>
          <a:xfrm>
            <a:off x="14068723" y="3739555"/>
            <a:ext cx="718443" cy="266700"/>
          </a:xfrm>
          <a:prstGeom prst="roundRect">
            <a:avLst>
              <a:gd name="adj" fmla="val 21429"/>
            </a:avLst>
          </a:prstGeom>
          <a:solidFill>
            <a:srgbClr val="F1F2F4"/>
          </a:solidFill>
          <a:ln/>
        </p:spPr>
      </p:sp>
      <p:sp>
        <p:nvSpPr>
          <p:cNvPr id="20" name="Text 18"/>
          <p:cNvSpPr/>
          <p:nvPr/>
        </p:nvSpPr>
        <p:spPr>
          <a:xfrm>
            <a:off x="14163973" y="3796705"/>
            <a:ext cx="604143" cy="190500"/>
          </a:xfrm>
          <a:prstGeom prst="rect">
            <a:avLst/>
          </a:prstGeom>
          <a:noFill/>
          <a:ln/>
        </p:spPr>
        <p:txBody>
          <a:bodyPr wrap="square" lIns="25400" tIns="25400" rIns="25400" bIns="25400" rtlCol="0" anchor="t">
            <a:normAutofit/>
          </a:bodyPr>
          <a:lstStyle/>
          <a:p>
            <a:pPr algn="l" indent="0" marL="0">
              <a:buNone/>
            </a:pPr>
            <a:r>
              <a:rPr lang="en-US" sz="900" dirty="0">
                <a:solidFill>
                  <a:srgbClr val="384358"/>
                </a:solidFill>
                <a:latin typeface="Manrope" pitchFamily="34" charset="0"/>
                <a:ea typeface="Manrope" pitchFamily="34" charset="-122"/>
                <a:cs typeface="Manrope" pitchFamily="34" charset="-120"/>
              </a:rPr>
              <a:t>Last 30d ▾</a:t>
            </a:r>
            <a:endParaRPr lang="en-US" sz="900" dirty="0"/>
          </a:p>
        </p:txBody>
      </p:sp>
      <p:sp>
        <p:nvSpPr>
          <p:cNvPr id="21" name="Shape 19"/>
          <p:cNvSpPr/>
          <p:nvPr/>
        </p:nvSpPr>
        <p:spPr>
          <a:xfrm>
            <a:off x="14863366" y="3739555"/>
            <a:ext cx="906760" cy="266700"/>
          </a:xfrm>
          <a:prstGeom prst="roundRect">
            <a:avLst>
              <a:gd name="adj" fmla="val 21429"/>
            </a:avLst>
          </a:prstGeom>
          <a:solidFill>
            <a:srgbClr val="F1F2F4"/>
          </a:solidFill>
          <a:ln/>
        </p:spPr>
      </p:sp>
      <p:sp>
        <p:nvSpPr>
          <p:cNvPr id="22" name="Text 20"/>
          <p:cNvSpPr/>
          <p:nvPr/>
        </p:nvSpPr>
        <p:spPr>
          <a:xfrm>
            <a:off x="14958616" y="3796705"/>
            <a:ext cx="792460" cy="190500"/>
          </a:xfrm>
          <a:prstGeom prst="rect">
            <a:avLst/>
          </a:prstGeom>
          <a:noFill/>
          <a:ln/>
        </p:spPr>
        <p:txBody>
          <a:bodyPr wrap="square" lIns="25400" tIns="25400" rIns="25400" bIns="25400" rtlCol="0" anchor="t">
            <a:normAutofit/>
          </a:bodyPr>
          <a:lstStyle/>
          <a:p>
            <a:pPr algn="l" indent="0" marL="0">
              <a:buNone/>
            </a:pPr>
            <a:r>
              <a:rPr lang="en-US" sz="900" dirty="0">
                <a:solidFill>
                  <a:srgbClr val="384358"/>
                </a:solidFill>
                <a:latin typeface="Manrope" pitchFamily="34" charset="0"/>
                <a:ea typeface="Manrope" pitchFamily="34" charset="-122"/>
                <a:cs typeface="Manrope" pitchFamily="34" charset="-120"/>
              </a:rPr>
              <a:t>Channel · All ▾</a:t>
            </a:r>
            <a:endParaRPr lang="en-US" sz="900" dirty="0"/>
          </a:p>
        </p:txBody>
      </p:sp>
      <p:sp>
        <p:nvSpPr>
          <p:cNvPr id="23" name="Shape 21"/>
          <p:cNvSpPr/>
          <p:nvPr/>
        </p:nvSpPr>
        <p:spPr>
          <a:xfrm>
            <a:off x="15846326" y="3739555"/>
            <a:ext cx="1006574" cy="266700"/>
          </a:xfrm>
          <a:prstGeom prst="roundRect">
            <a:avLst>
              <a:gd name="adj" fmla="val 21429"/>
            </a:avLst>
          </a:prstGeom>
          <a:solidFill>
            <a:srgbClr val="F1F2F4"/>
          </a:solidFill>
          <a:ln/>
        </p:spPr>
      </p:sp>
      <p:sp>
        <p:nvSpPr>
          <p:cNvPr id="24" name="Text 22"/>
          <p:cNvSpPr/>
          <p:nvPr/>
        </p:nvSpPr>
        <p:spPr>
          <a:xfrm>
            <a:off x="15941576" y="3796705"/>
            <a:ext cx="892274" cy="190500"/>
          </a:xfrm>
          <a:prstGeom prst="rect">
            <a:avLst/>
          </a:prstGeom>
          <a:noFill/>
          <a:ln/>
        </p:spPr>
        <p:txBody>
          <a:bodyPr wrap="square" lIns="25400" tIns="25400" rIns="25400" bIns="25400" rtlCol="0" anchor="t">
            <a:normAutofit/>
          </a:bodyPr>
          <a:lstStyle/>
          <a:p>
            <a:pPr algn="l" indent="0" marL="0">
              <a:buNone/>
            </a:pPr>
            <a:r>
              <a:rPr lang="en-US" sz="900" dirty="0">
                <a:solidFill>
                  <a:srgbClr val="384358"/>
                </a:solidFill>
                <a:latin typeface="Manrope" pitchFamily="34" charset="0"/>
                <a:ea typeface="Manrope" pitchFamily="34" charset="-122"/>
                <a:cs typeface="Manrope" pitchFamily="34" charset="-120"/>
              </a:rPr>
              <a:t>Region · EMEA ▾</a:t>
            </a:r>
            <a:endParaRPr lang="en-US" sz="900" dirty="0"/>
          </a:p>
        </p:txBody>
      </p:sp>
      <p:sp>
        <p:nvSpPr>
          <p:cNvPr id="25" name="Shape 23"/>
          <p:cNvSpPr/>
          <p:nvPr/>
        </p:nvSpPr>
        <p:spPr>
          <a:xfrm>
            <a:off x="1225550" y="4234855"/>
            <a:ext cx="15836901" cy="5727700"/>
          </a:xfrm>
          <a:prstGeom prst="rect">
            <a:avLst/>
          </a:prstGeom>
          <a:solidFill>
            <a:srgbClr val="F4F6F9"/>
          </a:solidFill>
          <a:ln/>
        </p:spPr>
      </p:sp>
      <p:sp>
        <p:nvSpPr>
          <p:cNvPr id="26" name="Shape 24"/>
          <p:cNvSpPr/>
          <p:nvPr/>
        </p:nvSpPr>
        <p:spPr>
          <a:xfrm>
            <a:off x="1416050" y="4425355"/>
            <a:ext cx="3763963" cy="1333500"/>
          </a:xfrm>
          <a:prstGeom prst="roundRect">
            <a:avLst>
              <a:gd name="adj" fmla="val 5714"/>
            </a:avLst>
          </a:prstGeom>
          <a:solidFill>
            <a:srgbClr val="FFFFFF"/>
          </a:solidFill>
          <a:ln w="6350">
            <a:solidFill>
              <a:srgbClr val="C9CFD8"/>
            </a:solidFill>
            <a:prstDash val="solid"/>
          </a:ln>
        </p:spPr>
      </p:sp>
      <p:sp>
        <p:nvSpPr>
          <p:cNvPr id="27" name="Text 25"/>
          <p:cNvSpPr/>
          <p:nvPr/>
        </p:nvSpPr>
        <p:spPr>
          <a:xfrm>
            <a:off x="1555750" y="4565055"/>
            <a:ext cx="358909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MRR</a:t>
            </a:r>
            <a:endParaRPr lang="en-US" sz="825" dirty="0"/>
          </a:p>
        </p:txBody>
      </p:sp>
      <p:sp>
        <p:nvSpPr>
          <p:cNvPr id="28" name="Text 26"/>
          <p:cNvSpPr/>
          <p:nvPr/>
        </p:nvSpPr>
        <p:spPr>
          <a:xfrm>
            <a:off x="1555750" y="4927005"/>
            <a:ext cx="3589099"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1B1F2A"/>
                </a:solidFill>
                <a:latin typeface="Manrope" pitchFamily="34" charset="0"/>
                <a:ea typeface="Manrope" pitchFamily="34" charset="-122"/>
                <a:cs typeface="Manrope" pitchFamily="34" charset="-120"/>
              </a:rPr>
              <a:t>$148K</a:t>
            </a:r>
            <a:endParaRPr lang="en-US" sz="2550" dirty="0"/>
          </a:p>
        </p:txBody>
      </p:sp>
      <p:sp>
        <p:nvSpPr>
          <p:cNvPr id="29" name="Text 27"/>
          <p:cNvSpPr/>
          <p:nvPr/>
        </p:nvSpPr>
        <p:spPr>
          <a:xfrm>
            <a:off x="1555750" y="5473105"/>
            <a:ext cx="3589099" cy="184150"/>
          </a:xfrm>
          <a:prstGeom prst="rect">
            <a:avLst/>
          </a:prstGeom>
          <a:noFill/>
          <a:ln/>
        </p:spPr>
        <p:txBody>
          <a:bodyPr wrap="square" lIns="25400" tIns="25400" rIns="25400" bIns="25400" rtlCol="0" anchor="t">
            <a:normAutofit/>
          </a:bodyPr>
          <a:lstStyle/>
          <a:p>
            <a:pPr algn="l" indent="0" marL="0">
              <a:buNone/>
            </a:pPr>
            <a:r>
              <a:rPr lang="en-US" sz="825" dirty="0">
                <a:solidFill>
                  <a:srgbClr val="23A05D"/>
                </a:solidFill>
                <a:latin typeface="Manrope" pitchFamily="34" charset="0"/>
                <a:ea typeface="Manrope" pitchFamily="34" charset="-122"/>
                <a:cs typeface="Manrope" pitchFamily="34" charset="-120"/>
              </a:rPr>
              <a:t>▲ 12% MoM</a:t>
            </a:r>
            <a:endParaRPr lang="en-US" sz="825" dirty="0"/>
          </a:p>
        </p:txBody>
      </p:sp>
      <p:sp>
        <p:nvSpPr>
          <p:cNvPr id="30" name="Shape 28"/>
          <p:cNvSpPr/>
          <p:nvPr/>
        </p:nvSpPr>
        <p:spPr>
          <a:xfrm>
            <a:off x="5313363" y="4425355"/>
            <a:ext cx="3763963" cy="1333500"/>
          </a:xfrm>
          <a:prstGeom prst="roundRect">
            <a:avLst>
              <a:gd name="adj" fmla="val 5714"/>
            </a:avLst>
          </a:prstGeom>
          <a:solidFill>
            <a:srgbClr val="FFFFFF"/>
          </a:solidFill>
          <a:ln w="6350">
            <a:solidFill>
              <a:srgbClr val="C9CFD8"/>
            </a:solidFill>
            <a:prstDash val="solid"/>
          </a:ln>
        </p:spPr>
      </p:sp>
      <p:sp>
        <p:nvSpPr>
          <p:cNvPr id="31" name="Text 29"/>
          <p:cNvSpPr/>
          <p:nvPr/>
        </p:nvSpPr>
        <p:spPr>
          <a:xfrm>
            <a:off x="5453063" y="4565055"/>
            <a:ext cx="358909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CAC</a:t>
            </a:r>
            <a:endParaRPr lang="en-US" sz="825" dirty="0"/>
          </a:p>
        </p:txBody>
      </p:sp>
      <p:sp>
        <p:nvSpPr>
          <p:cNvPr id="32" name="Text 30"/>
          <p:cNvSpPr/>
          <p:nvPr/>
        </p:nvSpPr>
        <p:spPr>
          <a:xfrm>
            <a:off x="5453063" y="4927005"/>
            <a:ext cx="3589099"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1B1F2A"/>
                </a:solidFill>
                <a:latin typeface="Manrope" pitchFamily="34" charset="0"/>
                <a:ea typeface="Manrope" pitchFamily="34" charset="-122"/>
                <a:cs typeface="Manrope" pitchFamily="34" charset="-120"/>
              </a:rPr>
              <a:t>$74</a:t>
            </a:r>
            <a:endParaRPr lang="en-US" sz="2550" dirty="0"/>
          </a:p>
        </p:txBody>
      </p:sp>
      <p:sp>
        <p:nvSpPr>
          <p:cNvPr id="33" name="Text 31"/>
          <p:cNvSpPr/>
          <p:nvPr/>
        </p:nvSpPr>
        <p:spPr>
          <a:xfrm>
            <a:off x="5453063" y="5473105"/>
            <a:ext cx="3589099" cy="184150"/>
          </a:xfrm>
          <a:prstGeom prst="rect">
            <a:avLst/>
          </a:prstGeom>
          <a:noFill/>
          <a:ln/>
        </p:spPr>
        <p:txBody>
          <a:bodyPr wrap="square" lIns="25400" tIns="25400" rIns="25400" bIns="25400" rtlCol="0" anchor="t">
            <a:normAutofit/>
          </a:bodyPr>
          <a:lstStyle/>
          <a:p>
            <a:pPr algn="l" indent="0" marL="0">
              <a:buNone/>
            </a:pPr>
            <a:r>
              <a:rPr lang="en-US" sz="825" dirty="0">
                <a:solidFill>
                  <a:srgbClr val="D04545"/>
                </a:solidFill>
                <a:latin typeface="Manrope" pitchFamily="34" charset="0"/>
                <a:ea typeface="Manrope" pitchFamily="34" charset="-122"/>
                <a:cs typeface="Manrope" pitchFamily="34" charset="-120"/>
              </a:rPr>
              <a:t>▼ 3% MoM</a:t>
            </a:r>
            <a:endParaRPr lang="en-US" sz="825" dirty="0"/>
          </a:p>
        </p:txBody>
      </p:sp>
      <p:sp>
        <p:nvSpPr>
          <p:cNvPr id="34" name="Shape 32"/>
          <p:cNvSpPr/>
          <p:nvPr/>
        </p:nvSpPr>
        <p:spPr>
          <a:xfrm>
            <a:off x="9210675" y="4425355"/>
            <a:ext cx="3763963" cy="1333500"/>
          </a:xfrm>
          <a:prstGeom prst="roundRect">
            <a:avLst>
              <a:gd name="adj" fmla="val 5714"/>
            </a:avLst>
          </a:prstGeom>
          <a:solidFill>
            <a:srgbClr val="FFFFFF"/>
          </a:solidFill>
          <a:ln w="6350">
            <a:solidFill>
              <a:srgbClr val="C9CFD8"/>
            </a:solidFill>
            <a:prstDash val="solid"/>
          </a:ln>
        </p:spPr>
      </p:sp>
      <p:sp>
        <p:nvSpPr>
          <p:cNvPr id="35" name="Text 33"/>
          <p:cNvSpPr/>
          <p:nvPr/>
        </p:nvSpPr>
        <p:spPr>
          <a:xfrm>
            <a:off x="9350375" y="4565055"/>
            <a:ext cx="358909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CONVERSION</a:t>
            </a:r>
            <a:endParaRPr lang="en-US" sz="825" dirty="0"/>
          </a:p>
        </p:txBody>
      </p:sp>
      <p:sp>
        <p:nvSpPr>
          <p:cNvPr id="36" name="Text 34"/>
          <p:cNvSpPr/>
          <p:nvPr/>
        </p:nvSpPr>
        <p:spPr>
          <a:xfrm>
            <a:off x="9350375" y="4927005"/>
            <a:ext cx="3589099"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1B1F2A"/>
                </a:solidFill>
                <a:latin typeface="Manrope" pitchFamily="34" charset="0"/>
                <a:ea typeface="Manrope" pitchFamily="34" charset="-122"/>
                <a:cs typeface="Manrope" pitchFamily="34" charset="-120"/>
              </a:rPr>
              <a:t>4.2%</a:t>
            </a:r>
            <a:endParaRPr lang="en-US" sz="2550" dirty="0"/>
          </a:p>
        </p:txBody>
      </p:sp>
      <p:sp>
        <p:nvSpPr>
          <p:cNvPr id="37" name="Text 35"/>
          <p:cNvSpPr/>
          <p:nvPr/>
        </p:nvSpPr>
        <p:spPr>
          <a:xfrm>
            <a:off x="9350375" y="5473105"/>
            <a:ext cx="3589099" cy="184150"/>
          </a:xfrm>
          <a:prstGeom prst="rect">
            <a:avLst/>
          </a:prstGeom>
          <a:noFill/>
          <a:ln/>
        </p:spPr>
        <p:txBody>
          <a:bodyPr wrap="square" lIns="25400" tIns="25400" rIns="25400" bIns="25400" rtlCol="0" anchor="t">
            <a:normAutofit/>
          </a:bodyPr>
          <a:lstStyle/>
          <a:p>
            <a:pPr algn="l" indent="0" marL="0">
              <a:buNone/>
            </a:pPr>
            <a:r>
              <a:rPr lang="en-US" sz="825" dirty="0">
                <a:solidFill>
                  <a:srgbClr val="23A05D"/>
                </a:solidFill>
                <a:latin typeface="Manrope" pitchFamily="34" charset="0"/>
                <a:ea typeface="Manrope" pitchFamily="34" charset="-122"/>
                <a:cs typeface="Manrope" pitchFamily="34" charset="-120"/>
              </a:rPr>
              <a:t>▲ 0.4 pp</a:t>
            </a:r>
            <a:endParaRPr lang="en-US" sz="825" dirty="0"/>
          </a:p>
        </p:txBody>
      </p:sp>
      <p:sp>
        <p:nvSpPr>
          <p:cNvPr id="38" name="Shape 36"/>
          <p:cNvSpPr/>
          <p:nvPr/>
        </p:nvSpPr>
        <p:spPr>
          <a:xfrm>
            <a:off x="13107988" y="4425355"/>
            <a:ext cx="3763963" cy="1333500"/>
          </a:xfrm>
          <a:prstGeom prst="roundRect">
            <a:avLst>
              <a:gd name="adj" fmla="val 5714"/>
            </a:avLst>
          </a:prstGeom>
          <a:solidFill>
            <a:srgbClr val="FFFFFF"/>
          </a:solidFill>
          <a:ln w="6350">
            <a:solidFill>
              <a:srgbClr val="C9CFD8"/>
            </a:solidFill>
            <a:prstDash val="solid"/>
          </a:ln>
        </p:spPr>
      </p:sp>
      <p:sp>
        <p:nvSpPr>
          <p:cNvPr id="39" name="Text 37"/>
          <p:cNvSpPr/>
          <p:nvPr/>
        </p:nvSpPr>
        <p:spPr>
          <a:xfrm>
            <a:off x="13247688" y="4565055"/>
            <a:ext cx="3589099" cy="177800"/>
          </a:xfrm>
          <a:prstGeom prst="rect">
            <a:avLst/>
          </a:prstGeom>
          <a:noFill/>
          <a:ln/>
        </p:spPr>
        <p:txBody>
          <a:bodyPr wrap="square" lIns="25400" tIns="25400" rIns="25400" bIns="25400" rtlCol="0" anchor="t">
            <a:normAutofit/>
          </a:bodyPr>
          <a:lstStyle/>
          <a:p>
            <a:pPr algn="l" indent="0" marL="0">
              <a:buNone/>
            </a:pPr>
            <a:r>
              <a:rPr lang="en-US" sz="825" spc="50" kern="0" dirty="0">
                <a:solidFill>
                  <a:srgbClr val="8B95A6"/>
                </a:solidFill>
                <a:latin typeface="JetBrains Mono" pitchFamily="34" charset="0"/>
                <a:ea typeface="JetBrains Mono" pitchFamily="34" charset="-122"/>
                <a:cs typeface="JetBrains Mono" pitchFamily="34" charset="-120"/>
              </a:rPr>
              <a:t>ACTIVE USERS</a:t>
            </a:r>
            <a:endParaRPr lang="en-US" sz="825" dirty="0"/>
          </a:p>
        </p:txBody>
      </p:sp>
      <p:sp>
        <p:nvSpPr>
          <p:cNvPr id="40" name="Text 38"/>
          <p:cNvSpPr/>
          <p:nvPr/>
        </p:nvSpPr>
        <p:spPr>
          <a:xfrm>
            <a:off x="13247688" y="4927005"/>
            <a:ext cx="3589099" cy="36195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1B1F2A"/>
                </a:solidFill>
                <a:latin typeface="Manrope" pitchFamily="34" charset="0"/>
                <a:ea typeface="Manrope" pitchFamily="34" charset="-122"/>
                <a:cs typeface="Manrope" pitchFamily="34" charset="-120"/>
              </a:rPr>
              <a:t>28.4K</a:t>
            </a:r>
            <a:endParaRPr lang="en-US" sz="2550" dirty="0"/>
          </a:p>
        </p:txBody>
      </p:sp>
      <p:sp>
        <p:nvSpPr>
          <p:cNvPr id="41" name="Text 39"/>
          <p:cNvSpPr/>
          <p:nvPr/>
        </p:nvSpPr>
        <p:spPr>
          <a:xfrm>
            <a:off x="13247688" y="5473105"/>
            <a:ext cx="3589099" cy="184150"/>
          </a:xfrm>
          <a:prstGeom prst="rect">
            <a:avLst/>
          </a:prstGeom>
          <a:noFill/>
          <a:ln/>
        </p:spPr>
        <p:txBody>
          <a:bodyPr wrap="square" lIns="25400" tIns="25400" rIns="25400" bIns="25400" rtlCol="0" anchor="t">
            <a:normAutofit/>
          </a:bodyPr>
          <a:lstStyle/>
          <a:p>
            <a:pPr algn="l" indent="0" marL="0">
              <a:buNone/>
            </a:pPr>
            <a:r>
              <a:rPr lang="en-US" sz="825" dirty="0">
                <a:solidFill>
                  <a:srgbClr val="23A05D"/>
                </a:solidFill>
                <a:latin typeface="Manrope" pitchFamily="34" charset="0"/>
                <a:ea typeface="Manrope" pitchFamily="34" charset="-122"/>
                <a:cs typeface="Manrope" pitchFamily="34" charset="-120"/>
              </a:rPr>
              <a:t>▲ 6% MoM</a:t>
            </a:r>
            <a:endParaRPr lang="en-US" sz="825" dirty="0"/>
          </a:p>
        </p:txBody>
      </p:sp>
      <p:sp>
        <p:nvSpPr>
          <p:cNvPr id="42" name="Shape 40"/>
          <p:cNvSpPr/>
          <p:nvPr/>
        </p:nvSpPr>
        <p:spPr>
          <a:xfrm>
            <a:off x="1416050" y="5892205"/>
            <a:ext cx="7661275" cy="2095500"/>
          </a:xfrm>
          <a:prstGeom prst="roundRect">
            <a:avLst>
              <a:gd name="adj" fmla="val 3636"/>
            </a:avLst>
          </a:prstGeom>
          <a:solidFill>
            <a:srgbClr val="FFFFFF"/>
          </a:solidFill>
          <a:ln w="6350">
            <a:solidFill>
              <a:srgbClr val="C9CFD8"/>
            </a:solidFill>
            <a:prstDash val="solid"/>
          </a:ln>
        </p:spPr>
      </p:sp>
      <p:sp>
        <p:nvSpPr>
          <p:cNvPr id="43" name="Text 41"/>
          <p:cNvSpPr/>
          <p:nvPr/>
        </p:nvSpPr>
        <p:spPr>
          <a:xfrm>
            <a:off x="1555750" y="6031905"/>
            <a:ext cx="7603331"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Revenue by month</a:t>
            </a:r>
            <a:endParaRPr lang="en-US" sz="975" dirty="0"/>
          </a:p>
        </p:txBody>
      </p:sp>
      <p:pic>
        <p:nvPicPr>
          <p:cNvPr id="44" name="Image 0" descr="preencoded.png">    </p:cNvPr>
          <p:cNvPicPr>
            <a:picLocks noChangeAspect="1"/>
          </p:cNvPicPr>
          <p:nvPr/>
        </p:nvPicPr>
        <p:blipFill>
          <a:blip r:embed="rId1"/>
          <a:stretch>
            <a:fillRect/>
          </a:stretch>
        </p:blipFill>
        <p:spPr>
          <a:xfrm>
            <a:off x="1555750" y="6260505"/>
            <a:ext cx="7381875" cy="1524000"/>
          </a:xfrm>
          <a:prstGeom prst="rect">
            <a:avLst/>
          </a:prstGeom>
        </p:spPr>
      </p:pic>
      <p:sp>
        <p:nvSpPr>
          <p:cNvPr id="45" name="Shape 42"/>
          <p:cNvSpPr/>
          <p:nvPr/>
        </p:nvSpPr>
        <p:spPr>
          <a:xfrm>
            <a:off x="9210675" y="5892205"/>
            <a:ext cx="3763963" cy="2095500"/>
          </a:xfrm>
          <a:prstGeom prst="roundRect">
            <a:avLst>
              <a:gd name="adj" fmla="val 3636"/>
            </a:avLst>
          </a:prstGeom>
          <a:solidFill>
            <a:srgbClr val="FFFFFF"/>
          </a:solidFill>
          <a:ln w="6350">
            <a:solidFill>
              <a:srgbClr val="C9CFD8"/>
            </a:solidFill>
            <a:prstDash val="solid"/>
          </a:ln>
        </p:spPr>
      </p:sp>
      <p:sp>
        <p:nvSpPr>
          <p:cNvPr id="46" name="Text 43"/>
          <p:cNvSpPr/>
          <p:nvPr/>
        </p:nvSpPr>
        <p:spPr>
          <a:xfrm>
            <a:off x="9350375" y="6031905"/>
            <a:ext cx="3589099"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Channel mix</a:t>
            </a:r>
            <a:endParaRPr lang="en-US" sz="975" dirty="0"/>
          </a:p>
        </p:txBody>
      </p:sp>
      <p:sp>
        <p:nvSpPr>
          <p:cNvPr id="47" name="Shape 44"/>
          <p:cNvSpPr/>
          <p:nvPr/>
        </p:nvSpPr>
        <p:spPr>
          <a:xfrm>
            <a:off x="10473532" y="6260505"/>
            <a:ext cx="1238250" cy="1238250"/>
          </a:xfrm>
          <a:prstGeom prst="ellipse">
            <a:avLst/>
          </a:prstGeom>
          <a:solidFill>
            <a:srgbClr val="FF671F"/>
          </a:solidFill>
          <a:ln/>
        </p:spPr>
      </p:sp>
      <p:sp>
        <p:nvSpPr>
          <p:cNvPr id="48" name="Shape 45"/>
          <p:cNvSpPr/>
          <p:nvPr/>
        </p:nvSpPr>
        <p:spPr>
          <a:xfrm>
            <a:off x="13107988" y="5892205"/>
            <a:ext cx="3763963" cy="2095500"/>
          </a:xfrm>
          <a:prstGeom prst="roundRect">
            <a:avLst>
              <a:gd name="adj" fmla="val 3636"/>
            </a:avLst>
          </a:prstGeom>
          <a:solidFill>
            <a:srgbClr val="FFFFFF"/>
          </a:solidFill>
          <a:ln w="6350">
            <a:solidFill>
              <a:srgbClr val="C9CFD8"/>
            </a:solidFill>
            <a:prstDash val="solid"/>
          </a:ln>
        </p:spPr>
      </p:sp>
      <p:sp>
        <p:nvSpPr>
          <p:cNvPr id="49" name="Text 46"/>
          <p:cNvSpPr/>
          <p:nvPr/>
        </p:nvSpPr>
        <p:spPr>
          <a:xfrm>
            <a:off x="13247688" y="6031905"/>
            <a:ext cx="3589099"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Top regions</a:t>
            </a:r>
            <a:endParaRPr lang="en-US" sz="975" dirty="0"/>
          </a:p>
        </p:txBody>
      </p:sp>
      <p:sp>
        <p:nvSpPr>
          <p:cNvPr id="50" name="Shape 47"/>
          <p:cNvSpPr/>
          <p:nvPr/>
        </p:nvSpPr>
        <p:spPr>
          <a:xfrm>
            <a:off x="13247688" y="6498630"/>
            <a:ext cx="1987649" cy="9525"/>
          </a:xfrm>
          <a:prstGeom prst="rect">
            <a:avLst/>
          </a:prstGeom>
          <a:solidFill>
            <a:srgbClr val="C9CFD8"/>
          </a:solidFill>
          <a:ln/>
        </p:spPr>
      </p:sp>
      <p:sp>
        <p:nvSpPr>
          <p:cNvPr id="51" name="Text 48"/>
          <p:cNvSpPr/>
          <p:nvPr/>
        </p:nvSpPr>
        <p:spPr>
          <a:xfrm>
            <a:off x="13323888" y="6317655"/>
            <a:ext cx="1911449" cy="161925"/>
          </a:xfrm>
          <a:prstGeom prst="rect">
            <a:avLst/>
          </a:prstGeom>
          <a:noFill/>
          <a:ln/>
        </p:spPr>
        <p:txBody>
          <a:bodyPr wrap="square" lIns="25400" tIns="25400" rIns="25400" bIns="25400" rtlCol="0" anchor="ctr">
            <a:normAutofit/>
          </a:bodyPr>
          <a:lstStyle/>
          <a:p>
            <a:pPr algn="l" indent="0" marL="0">
              <a:buNone/>
            </a:pPr>
            <a:r>
              <a:rPr lang="en-US" sz="750" b="1" spc="75" kern="0" dirty="0">
                <a:solidFill>
                  <a:srgbClr val="8B95A6"/>
                </a:solidFill>
                <a:latin typeface="JetBrains Mono" pitchFamily="34" charset="0"/>
                <a:ea typeface="JetBrains Mono" pitchFamily="34" charset="-122"/>
                <a:cs typeface="JetBrains Mono" pitchFamily="34" charset="-120"/>
              </a:rPr>
              <a:t>REGION</a:t>
            </a:r>
            <a:endParaRPr lang="en-US" sz="750" dirty="0"/>
          </a:p>
        </p:txBody>
      </p:sp>
      <p:sp>
        <p:nvSpPr>
          <p:cNvPr id="52" name="Shape 49"/>
          <p:cNvSpPr/>
          <p:nvPr/>
        </p:nvSpPr>
        <p:spPr>
          <a:xfrm>
            <a:off x="15235337" y="6498630"/>
            <a:ext cx="1496913" cy="9525"/>
          </a:xfrm>
          <a:prstGeom prst="rect">
            <a:avLst/>
          </a:prstGeom>
          <a:solidFill>
            <a:srgbClr val="C9CFD8"/>
          </a:solidFill>
          <a:ln/>
        </p:spPr>
      </p:sp>
      <p:sp>
        <p:nvSpPr>
          <p:cNvPr id="53" name="Text 50"/>
          <p:cNvSpPr/>
          <p:nvPr/>
        </p:nvSpPr>
        <p:spPr>
          <a:xfrm>
            <a:off x="15311537" y="6317655"/>
            <a:ext cx="1420713" cy="161925"/>
          </a:xfrm>
          <a:prstGeom prst="rect">
            <a:avLst/>
          </a:prstGeom>
          <a:noFill/>
          <a:ln/>
        </p:spPr>
        <p:txBody>
          <a:bodyPr wrap="square" lIns="25400" tIns="25400" rIns="25400" bIns="25400" rtlCol="0" anchor="ctr">
            <a:normAutofit/>
          </a:bodyPr>
          <a:lstStyle/>
          <a:p>
            <a:pPr algn="l" indent="0" marL="0">
              <a:buNone/>
            </a:pPr>
            <a:r>
              <a:rPr lang="en-US" sz="750" b="1" spc="75" kern="0" dirty="0">
                <a:solidFill>
                  <a:srgbClr val="8B95A6"/>
                </a:solidFill>
                <a:latin typeface="JetBrains Mono" pitchFamily="34" charset="0"/>
                <a:ea typeface="JetBrains Mono" pitchFamily="34" charset="-122"/>
                <a:cs typeface="JetBrains Mono" pitchFamily="34" charset="-120"/>
              </a:rPr>
              <a:t>REV</a:t>
            </a:r>
            <a:endParaRPr lang="en-US" sz="750" dirty="0"/>
          </a:p>
        </p:txBody>
      </p:sp>
      <p:sp>
        <p:nvSpPr>
          <p:cNvPr id="54" name="Shape 51"/>
          <p:cNvSpPr/>
          <p:nvPr/>
        </p:nvSpPr>
        <p:spPr>
          <a:xfrm>
            <a:off x="13247688" y="6765330"/>
            <a:ext cx="1987649" cy="9525"/>
          </a:xfrm>
          <a:prstGeom prst="rect">
            <a:avLst/>
          </a:prstGeom>
          <a:solidFill>
            <a:srgbClr val="C9CFD8"/>
          </a:solidFill>
          <a:ln/>
        </p:spPr>
      </p:sp>
      <p:sp>
        <p:nvSpPr>
          <p:cNvPr id="55" name="Text 52"/>
          <p:cNvSpPr/>
          <p:nvPr/>
        </p:nvSpPr>
        <p:spPr>
          <a:xfrm>
            <a:off x="13323888" y="6562130"/>
            <a:ext cx="1911449" cy="184150"/>
          </a:xfrm>
          <a:prstGeom prst="rect">
            <a:avLst/>
          </a:prstGeom>
          <a:noFill/>
          <a:ln/>
        </p:spPr>
        <p:txBody>
          <a:bodyPr wrap="square" lIns="25400" tIns="25400" rIns="25400" bIns="25400" rtlCol="0" anchor="ctr">
            <a:normAutofit/>
          </a:bodyPr>
          <a:lstStyle/>
          <a:p>
            <a:pPr algn="l" indent="0" marL="0">
              <a:buNone/>
            </a:pPr>
            <a:r>
              <a:rPr lang="en-US" sz="825" dirty="0">
                <a:solidFill>
                  <a:srgbClr val="1B1F2A"/>
                </a:solidFill>
                <a:latin typeface="Manrope" pitchFamily="34" charset="0"/>
                <a:ea typeface="Manrope" pitchFamily="34" charset="-122"/>
                <a:cs typeface="Manrope" pitchFamily="34" charset="-120"/>
              </a:rPr>
              <a:t>EMEA</a:t>
            </a:r>
            <a:endParaRPr lang="en-US" sz="825" dirty="0"/>
          </a:p>
        </p:txBody>
      </p:sp>
      <p:sp>
        <p:nvSpPr>
          <p:cNvPr id="56" name="Shape 53"/>
          <p:cNvSpPr/>
          <p:nvPr/>
        </p:nvSpPr>
        <p:spPr>
          <a:xfrm>
            <a:off x="15235337" y="6765330"/>
            <a:ext cx="1496913" cy="9525"/>
          </a:xfrm>
          <a:prstGeom prst="rect">
            <a:avLst/>
          </a:prstGeom>
          <a:solidFill>
            <a:srgbClr val="C9CFD8"/>
          </a:solidFill>
          <a:ln/>
        </p:spPr>
      </p:sp>
      <p:sp>
        <p:nvSpPr>
          <p:cNvPr id="57" name="Text 54"/>
          <p:cNvSpPr/>
          <p:nvPr/>
        </p:nvSpPr>
        <p:spPr>
          <a:xfrm>
            <a:off x="15235337" y="6562130"/>
            <a:ext cx="1420713" cy="184150"/>
          </a:xfrm>
          <a:prstGeom prst="rect">
            <a:avLst/>
          </a:prstGeom>
          <a:noFill/>
          <a:ln/>
        </p:spPr>
        <p:txBody>
          <a:bodyPr wrap="square" lIns="25400" tIns="25400" rIns="25400" bIns="25400" rtlCol="0" anchor="ctr">
            <a:normAutofit/>
          </a:bodyPr>
          <a:lstStyle/>
          <a:p>
            <a:pPr algn="r" indent="0" marL="0">
              <a:buNone/>
            </a:pPr>
            <a:r>
              <a:rPr lang="en-US" sz="825" b="1" dirty="0">
                <a:solidFill>
                  <a:srgbClr val="FF671F"/>
                </a:solidFill>
                <a:latin typeface="Manrope" pitchFamily="34" charset="0"/>
                <a:ea typeface="Manrope" pitchFamily="34" charset="-122"/>
                <a:cs typeface="Manrope" pitchFamily="34" charset="-120"/>
              </a:rPr>
              <a:t>$48K</a:t>
            </a:r>
            <a:endParaRPr lang="en-US" sz="825" dirty="0"/>
          </a:p>
        </p:txBody>
      </p:sp>
      <p:sp>
        <p:nvSpPr>
          <p:cNvPr id="58" name="Shape 55"/>
          <p:cNvSpPr/>
          <p:nvPr/>
        </p:nvSpPr>
        <p:spPr>
          <a:xfrm>
            <a:off x="13247688" y="7032030"/>
            <a:ext cx="1987649" cy="9525"/>
          </a:xfrm>
          <a:prstGeom prst="rect">
            <a:avLst/>
          </a:prstGeom>
          <a:solidFill>
            <a:srgbClr val="C9CFD8"/>
          </a:solidFill>
          <a:ln/>
        </p:spPr>
      </p:sp>
      <p:sp>
        <p:nvSpPr>
          <p:cNvPr id="59" name="Text 56"/>
          <p:cNvSpPr/>
          <p:nvPr/>
        </p:nvSpPr>
        <p:spPr>
          <a:xfrm>
            <a:off x="13323888" y="6828830"/>
            <a:ext cx="1911449" cy="184150"/>
          </a:xfrm>
          <a:prstGeom prst="rect">
            <a:avLst/>
          </a:prstGeom>
          <a:noFill/>
          <a:ln/>
        </p:spPr>
        <p:txBody>
          <a:bodyPr wrap="square" lIns="25400" tIns="25400" rIns="25400" bIns="25400" rtlCol="0" anchor="ctr">
            <a:normAutofit/>
          </a:bodyPr>
          <a:lstStyle/>
          <a:p>
            <a:pPr algn="l" indent="0" marL="0">
              <a:buNone/>
            </a:pPr>
            <a:r>
              <a:rPr lang="en-US" sz="825" dirty="0">
                <a:solidFill>
                  <a:srgbClr val="1B1F2A"/>
                </a:solidFill>
                <a:latin typeface="Manrope" pitchFamily="34" charset="0"/>
                <a:ea typeface="Manrope" pitchFamily="34" charset="-122"/>
                <a:cs typeface="Manrope" pitchFamily="34" charset="-120"/>
              </a:rPr>
              <a:t>NAM</a:t>
            </a:r>
            <a:endParaRPr lang="en-US" sz="825" dirty="0"/>
          </a:p>
        </p:txBody>
      </p:sp>
      <p:sp>
        <p:nvSpPr>
          <p:cNvPr id="60" name="Shape 57"/>
          <p:cNvSpPr/>
          <p:nvPr/>
        </p:nvSpPr>
        <p:spPr>
          <a:xfrm>
            <a:off x="15235337" y="7032030"/>
            <a:ext cx="1496913" cy="9525"/>
          </a:xfrm>
          <a:prstGeom prst="rect">
            <a:avLst/>
          </a:prstGeom>
          <a:solidFill>
            <a:srgbClr val="C9CFD8"/>
          </a:solidFill>
          <a:ln/>
        </p:spPr>
      </p:sp>
      <p:sp>
        <p:nvSpPr>
          <p:cNvPr id="61" name="Text 58"/>
          <p:cNvSpPr/>
          <p:nvPr/>
        </p:nvSpPr>
        <p:spPr>
          <a:xfrm>
            <a:off x="15235337" y="6828830"/>
            <a:ext cx="1420713" cy="184150"/>
          </a:xfrm>
          <a:prstGeom prst="rect">
            <a:avLst/>
          </a:prstGeom>
          <a:noFill/>
          <a:ln/>
        </p:spPr>
        <p:txBody>
          <a:bodyPr wrap="square" lIns="25400" tIns="25400" rIns="25400" bIns="25400" rtlCol="0" anchor="ctr">
            <a:normAutofit/>
          </a:bodyPr>
          <a:lstStyle/>
          <a:p>
            <a:pPr algn="r" indent="0" marL="0">
              <a:buNone/>
            </a:pPr>
            <a:r>
              <a:rPr lang="en-US" sz="825" b="1" dirty="0">
                <a:solidFill>
                  <a:srgbClr val="FF671F"/>
                </a:solidFill>
                <a:latin typeface="Manrope" pitchFamily="34" charset="0"/>
                <a:ea typeface="Manrope" pitchFamily="34" charset="-122"/>
                <a:cs typeface="Manrope" pitchFamily="34" charset="-120"/>
              </a:rPr>
              <a:t>$42K</a:t>
            </a:r>
            <a:endParaRPr lang="en-US" sz="825" dirty="0"/>
          </a:p>
        </p:txBody>
      </p:sp>
      <p:sp>
        <p:nvSpPr>
          <p:cNvPr id="62" name="Shape 59"/>
          <p:cNvSpPr/>
          <p:nvPr/>
        </p:nvSpPr>
        <p:spPr>
          <a:xfrm>
            <a:off x="13247688" y="7298730"/>
            <a:ext cx="1987649" cy="9525"/>
          </a:xfrm>
          <a:prstGeom prst="rect">
            <a:avLst/>
          </a:prstGeom>
          <a:solidFill>
            <a:srgbClr val="C9CFD8"/>
          </a:solidFill>
          <a:ln/>
        </p:spPr>
      </p:sp>
      <p:sp>
        <p:nvSpPr>
          <p:cNvPr id="63" name="Text 60"/>
          <p:cNvSpPr/>
          <p:nvPr/>
        </p:nvSpPr>
        <p:spPr>
          <a:xfrm>
            <a:off x="13323888" y="7095530"/>
            <a:ext cx="1911449" cy="184150"/>
          </a:xfrm>
          <a:prstGeom prst="rect">
            <a:avLst/>
          </a:prstGeom>
          <a:noFill/>
          <a:ln/>
        </p:spPr>
        <p:txBody>
          <a:bodyPr wrap="square" lIns="25400" tIns="25400" rIns="25400" bIns="25400" rtlCol="0" anchor="ctr">
            <a:normAutofit/>
          </a:bodyPr>
          <a:lstStyle/>
          <a:p>
            <a:pPr algn="l" indent="0" marL="0">
              <a:buNone/>
            </a:pPr>
            <a:r>
              <a:rPr lang="en-US" sz="825" dirty="0">
                <a:solidFill>
                  <a:srgbClr val="1B1F2A"/>
                </a:solidFill>
                <a:latin typeface="Manrope" pitchFamily="34" charset="0"/>
                <a:ea typeface="Manrope" pitchFamily="34" charset="-122"/>
                <a:cs typeface="Manrope" pitchFamily="34" charset="-120"/>
              </a:rPr>
              <a:t>APAC</a:t>
            </a:r>
            <a:endParaRPr lang="en-US" sz="825" dirty="0"/>
          </a:p>
        </p:txBody>
      </p:sp>
      <p:sp>
        <p:nvSpPr>
          <p:cNvPr id="64" name="Shape 61"/>
          <p:cNvSpPr/>
          <p:nvPr/>
        </p:nvSpPr>
        <p:spPr>
          <a:xfrm>
            <a:off x="15235337" y="7298730"/>
            <a:ext cx="1496913" cy="9525"/>
          </a:xfrm>
          <a:prstGeom prst="rect">
            <a:avLst/>
          </a:prstGeom>
          <a:solidFill>
            <a:srgbClr val="C9CFD8"/>
          </a:solidFill>
          <a:ln/>
        </p:spPr>
      </p:sp>
      <p:sp>
        <p:nvSpPr>
          <p:cNvPr id="65" name="Text 62"/>
          <p:cNvSpPr/>
          <p:nvPr/>
        </p:nvSpPr>
        <p:spPr>
          <a:xfrm>
            <a:off x="15235337" y="7095530"/>
            <a:ext cx="1420713" cy="184150"/>
          </a:xfrm>
          <a:prstGeom prst="rect">
            <a:avLst/>
          </a:prstGeom>
          <a:noFill/>
          <a:ln/>
        </p:spPr>
        <p:txBody>
          <a:bodyPr wrap="square" lIns="25400" tIns="25400" rIns="25400" bIns="25400" rtlCol="0" anchor="ctr">
            <a:normAutofit/>
          </a:bodyPr>
          <a:lstStyle/>
          <a:p>
            <a:pPr algn="r" indent="0" marL="0">
              <a:buNone/>
            </a:pPr>
            <a:r>
              <a:rPr lang="en-US" sz="825" b="1" dirty="0">
                <a:solidFill>
                  <a:srgbClr val="FF671F"/>
                </a:solidFill>
                <a:latin typeface="Manrope" pitchFamily="34" charset="0"/>
                <a:ea typeface="Manrope" pitchFamily="34" charset="-122"/>
                <a:cs typeface="Manrope" pitchFamily="34" charset="-120"/>
              </a:rPr>
              <a:t>$31K</a:t>
            </a:r>
            <a:endParaRPr lang="en-US" sz="825" dirty="0"/>
          </a:p>
        </p:txBody>
      </p:sp>
      <p:sp>
        <p:nvSpPr>
          <p:cNvPr id="66" name="Shape 63"/>
          <p:cNvSpPr/>
          <p:nvPr/>
        </p:nvSpPr>
        <p:spPr>
          <a:xfrm>
            <a:off x="13247688" y="7565430"/>
            <a:ext cx="1987649" cy="9525"/>
          </a:xfrm>
          <a:prstGeom prst="rect">
            <a:avLst/>
          </a:prstGeom>
          <a:solidFill>
            <a:srgbClr val="C9CFD8"/>
          </a:solidFill>
          <a:ln/>
        </p:spPr>
      </p:sp>
      <p:sp>
        <p:nvSpPr>
          <p:cNvPr id="67" name="Text 64"/>
          <p:cNvSpPr/>
          <p:nvPr/>
        </p:nvSpPr>
        <p:spPr>
          <a:xfrm>
            <a:off x="13323888" y="7362230"/>
            <a:ext cx="1911449" cy="184150"/>
          </a:xfrm>
          <a:prstGeom prst="rect">
            <a:avLst/>
          </a:prstGeom>
          <a:noFill/>
          <a:ln/>
        </p:spPr>
        <p:txBody>
          <a:bodyPr wrap="square" lIns="25400" tIns="25400" rIns="25400" bIns="25400" rtlCol="0" anchor="ctr">
            <a:normAutofit/>
          </a:bodyPr>
          <a:lstStyle/>
          <a:p>
            <a:pPr algn="l" indent="0" marL="0">
              <a:buNone/>
            </a:pPr>
            <a:r>
              <a:rPr lang="en-US" sz="825" dirty="0">
                <a:solidFill>
                  <a:srgbClr val="1B1F2A"/>
                </a:solidFill>
                <a:latin typeface="Manrope" pitchFamily="34" charset="0"/>
                <a:ea typeface="Manrope" pitchFamily="34" charset="-122"/>
                <a:cs typeface="Manrope" pitchFamily="34" charset="-120"/>
              </a:rPr>
              <a:t>LATAM</a:t>
            </a:r>
            <a:endParaRPr lang="en-US" sz="825" dirty="0"/>
          </a:p>
        </p:txBody>
      </p:sp>
      <p:sp>
        <p:nvSpPr>
          <p:cNvPr id="68" name="Shape 65"/>
          <p:cNvSpPr/>
          <p:nvPr/>
        </p:nvSpPr>
        <p:spPr>
          <a:xfrm>
            <a:off x="15235337" y="7565430"/>
            <a:ext cx="1496913" cy="9525"/>
          </a:xfrm>
          <a:prstGeom prst="rect">
            <a:avLst/>
          </a:prstGeom>
          <a:solidFill>
            <a:srgbClr val="C9CFD8"/>
          </a:solidFill>
          <a:ln/>
        </p:spPr>
      </p:sp>
      <p:sp>
        <p:nvSpPr>
          <p:cNvPr id="69" name="Text 66"/>
          <p:cNvSpPr/>
          <p:nvPr/>
        </p:nvSpPr>
        <p:spPr>
          <a:xfrm>
            <a:off x="15235337" y="7362230"/>
            <a:ext cx="1420713" cy="184150"/>
          </a:xfrm>
          <a:prstGeom prst="rect">
            <a:avLst/>
          </a:prstGeom>
          <a:noFill/>
          <a:ln/>
        </p:spPr>
        <p:txBody>
          <a:bodyPr wrap="square" lIns="25400" tIns="25400" rIns="25400" bIns="25400" rtlCol="0" anchor="ctr">
            <a:normAutofit/>
          </a:bodyPr>
          <a:lstStyle/>
          <a:p>
            <a:pPr algn="r" indent="0" marL="0">
              <a:buNone/>
            </a:pPr>
            <a:r>
              <a:rPr lang="en-US" sz="825" b="1" dirty="0">
                <a:solidFill>
                  <a:srgbClr val="FF671F"/>
                </a:solidFill>
                <a:latin typeface="Manrope" pitchFamily="34" charset="0"/>
                <a:ea typeface="Manrope" pitchFamily="34" charset="-122"/>
                <a:cs typeface="Manrope" pitchFamily="34" charset="-120"/>
              </a:rPr>
              <a:t>$18K</a:t>
            </a:r>
            <a:endParaRPr lang="en-US" sz="825" dirty="0"/>
          </a:p>
        </p:txBody>
      </p:sp>
      <p:sp>
        <p:nvSpPr>
          <p:cNvPr id="70" name="Shape 67"/>
          <p:cNvSpPr/>
          <p:nvPr/>
        </p:nvSpPr>
        <p:spPr>
          <a:xfrm>
            <a:off x="1416050" y="8121055"/>
            <a:ext cx="15455901" cy="1651000"/>
          </a:xfrm>
          <a:prstGeom prst="roundRect">
            <a:avLst>
              <a:gd name="adj" fmla="val 4615"/>
            </a:avLst>
          </a:prstGeom>
          <a:solidFill>
            <a:srgbClr val="FFFFFF"/>
          </a:solidFill>
          <a:ln w="6350">
            <a:solidFill>
              <a:srgbClr val="C9CFD8"/>
            </a:solidFill>
            <a:prstDash val="solid"/>
          </a:ln>
        </p:spPr>
      </p:sp>
      <p:sp>
        <p:nvSpPr>
          <p:cNvPr id="71" name="Text 68"/>
          <p:cNvSpPr/>
          <p:nvPr/>
        </p:nvSpPr>
        <p:spPr>
          <a:xfrm>
            <a:off x="1555750" y="8260755"/>
            <a:ext cx="15631795"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1B1F2A"/>
                </a:solidFill>
                <a:latin typeface="Manrope" pitchFamily="34" charset="0"/>
                <a:ea typeface="Manrope" pitchFamily="34" charset="-122"/>
                <a:cs typeface="Manrope" pitchFamily="34" charset="-120"/>
              </a:rPr>
              <a:t>Daily active users — last 90 days</a:t>
            </a:r>
            <a:endParaRPr lang="en-US" sz="975" dirty="0"/>
          </a:p>
        </p:txBody>
      </p:sp>
      <p:sp>
        <p:nvSpPr>
          <p:cNvPr id="72" name="Shape 69"/>
          <p:cNvSpPr/>
          <p:nvPr/>
        </p:nvSpPr>
        <p:spPr>
          <a:xfrm>
            <a:off x="1555750" y="9198075"/>
            <a:ext cx="789087" cy="434280"/>
          </a:xfrm>
          <a:prstGeom prst="roundRect">
            <a:avLst>
              <a:gd name="adj" fmla="val 6580"/>
            </a:avLst>
          </a:prstGeom>
          <a:solidFill>
            <a:srgbClr val="FF671F"/>
          </a:solidFill>
          <a:ln/>
        </p:spPr>
      </p:sp>
      <p:sp>
        <p:nvSpPr>
          <p:cNvPr id="73" name="Shape 70"/>
          <p:cNvSpPr/>
          <p:nvPr/>
        </p:nvSpPr>
        <p:spPr>
          <a:xfrm>
            <a:off x="2401987" y="9152334"/>
            <a:ext cx="789186" cy="480020"/>
          </a:xfrm>
          <a:prstGeom prst="roundRect">
            <a:avLst>
              <a:gd name="adj" fmla="val 5953"/>
            </a:avLst>
          </a:prstGeom>
          <a:solidFill>
            <a:srgbClr val="384358"/>
          </a:solidFill>
          <a:ln/>
        </p:spPr>
      </p:sp>
      <p:sp>
        <p:nvSpPr>
          <p:cNvPr id="74" name="Shape 71"/>
          <p:cNvSpPr/>
          <p:nvPr/>
        </p:nvSpPr>
        <p:spPr>
          <a:xfrm>
            <a:off x="3248323" y="9003705"/>
            <a:ext cx="789087" cy="628650"/>
          </a:xfrm>
          <a:prstGeom prst="roundRect">
            <a:avLst>
              <a:gd name="adj" fmla="val 4545"/>
            </a:avLst>
          </a:prstGeom>
          <a:solidFill>
            <a:srgbClr val="FF671F"/>
          </a:solidFill>
          <a:ln/>
        </p:spPr>
      </p:sp>
      <p:sp>
        <p:nvSpPr>
          <p:cNvPr id="75" name="Shape 72"/>
          <p:cNvSpPr/>
          <p:nvPr/>
        </p:nvSpPr>
        <p:spPr>
          <a:xfrm>
            <a:off x="4094559" y="9083775"/>
            <a:ext cx="789186" cy="548580"/>
          </a:xfrm>
          <a:prstGeom prst="roundRect">
            <a:avLst>
              <a:gd name="adj" fmla="val 5209"/>
            </a:avLst>
          </a:prstGeom>
          <a:solidFill>
            <a:srgbClr val="384358"/>
          </a:solidFill>
          <a:ln/>
        </p:spPr>
      </p:sp>
      <p:sp>
        <p:nvSpPr>
          <p:cNvPr id="76" name="Shape 73"/>
          <p:cNvSpPr/>
          <p:nvPr/>
        </p:nvSpPr>
        <p:spPr>
          <a:xfrm>
            <a:off x="4940896" y="8923734"/>
            <a:ext cx="789087" cy="708620"/>
          </a:xfrm>
          <a:prstGeom prst="roundRect">
            <a:avLst>
              <a:gd name="adj" fmla="val 4032"/>
            </a:avLst>
          </a:prstGeom>
          <a:solidFill>
            <a:srgbClr val="FF671F"/>
          </a:solidFill>
          <a:ln/>
        </p:spPr>
      </p:sp>
      <p:sp>
        <p:nvSpPr>
          <p:cNvPr id="77" name="Shape 74"/>
          <p:cNvSpPr/>
          <p:nvPr/>
        </p:nvSpPr>
        <p:spPr>
          <a:xfrm>
            <a:off x="5787132" y="9049445"/>
            <a:ext cx="789186" cy="582910"/>
          </a:xfrm>
          <a:prstGeom prst="roundRect">
            <a:avLst>
              <a:gd name="adj" fmla="val 4902"/>
            </a:avLst>
          </a:prstGeom>
          <a:solidFill>
            <a:srgbClr val="384358"/>
          </a:solidFill>
          <a:ln/>
        </p:spPr>
      </p:sp>
      <p:sp>
        <p:nvSpPr>
          <p:cNvPr id="78" name="Shape 75"/>
          <p:cNvSpPr/>
          <p:nvPr/>
        </p:nvSpPr>
        <p:spPr>
          <a:xfrm>
            <a:off x="6633468" y="8855175"/>
            <a:ext cx="789087" cy="777180"/>
          </a:xfrm>
          <a:prstGeom prst="roundRect">
            <a:avLst>
              <a:gd name="adj" fmla="val 3677"/>
            </a:avLst>
          </a:prstGeom>
          <a:solidFill>
            <a:srgbClr val="FF671F"/>
          </a:solidFill>
          <a:ln/>
        </p:spPr>
      </p:sp>
      <p:sp>
        <p:nvSpPr>
          <p:cNvPr id="79" name="Shape 76"/>
          <p:cNvSpPr/>
          <p:nvPr/>
        </p:nvSpPr>
        <p:spPr>
          <a:xfrm>
            <a:off x="7479705" y="8809434"/>
            <a:ext cx="789186" cy="822920"/>
          </a:xfrm>
          <a:prstGeom prst="roundRect">
            <a:avLst>
              <a:gd name="adj" fmla="val 3621"/>
            </a:avLst>
          </a:prstGeom>
          <a:solidFill>
            <a:srgbClr val="384358"/>
          </a:solidFill>
          <a:ln/>
        </p:spPr>
      </p:sp>
      <p:sp>
        <p:nvSpPr>
          <p:cNvPr id="80" name="Shape 77"/>
          <p:cNvSpPr/>
          <p:nvPr/>
        </p:nvSpPr>
        <p:spPr>
          <a:xfrm>
            <a:off x="8326041" y="8946555"/>
            <a:ext cx="789186" cy="685800"/>
          </a:xfrm>
          <a:prstGeom prst="roundRect">
            <a:avLst>
              <a:gd name="adj" fmla="val 4167"/>
            </a:avLst>
          </a:prstGeom>
          <a:solidFill>
            <a:srgbClr val="FF671F"/>
          </a:solidFill>
          <a:ln/>
        </p:spPr>
      </p:sp>
      <p:sp>
        <p:nvSpPr>
          <p:cNvPr id="81" name="Shape 78"/>
          <p:cNvSpPr/>
          <p:nvPr/>
        </p:nvSpPr>
        <p:spPr>
          <a:xfrm>
            <a:off x="9172377" y="8740875"/>
            <a:ext cx="789186" cy="891480"/>
          </a:xfrm>
          <a:prstGeom prst="roundRect">
            <a:avLst>
              <a:gd name="adj" fmla="val 3621"/>
            </a:avLst>
          </a:prstGeom>
          <a:solidFill>
            <a:srgbClr val="384358"/>
          </a:solidFill>
          <a:ln/>
        </p:spPr>
      </p:sp>
      <p:sp>
        <p:nvSpPr>
          <p:cNvPr id="82" name="Shape 79"/>
          <p:cNvSpPr/>
          <p:nvPr/>
        </p:nvSpPr>
        <p:spPr>
          <a:xfrm>
            <a:off x="10018713" y="8889405"/>
            <a:ext cx="789186" cy="742950"/>
          </a:xfrm>
          <a:prstGeom prst="roundRect">
            <a:avLst>
              <a:gd name="adj" fmla="val 3846"/>
            </a:avLst>
          </a:prstGeom>
          <a:solidFill>
            <a:srgbClr val="FF671F"/>
          </a:solidFill>
          <a:ln/>
        </p:spPr>
      </p:sp>
      <p:sp>
        <p:nvSpPr>
          <p:cNvPr id="83" name="Shape 80"/>
          <p:cNvSpPr/>
          <p:nvPr/>
        </p:nvSpPr>
        <p:spPr>
          <a:xfrm>
            <a:off x="10865048" y="8695134"/>
            <a:ext cx="789186" cy="937220"/>
          </a:xfrm>
          <a:prstGeom prst="roundRect">
            <a:avLst>
              <a:gd name="adj" fmla="val 3621"/>
            </a:avLst>
          </a:prstGeom>
          <a:solidFill>
            <a:srgbClr val="384358"/>
          </a:solidFill>
          <a:ln/>
        </p:spPr>
      </p:sp>
      <p:sp>
        <p:nvSpPr>
          <p:cNvPr id="84" name="Shape 81"/>
          <p:cNvSpPr/>
          <p:nvPr/>
        </p:nvSpPr>
        <p:spPr>
          <a:xfrm>
            <a:off x="11711385" y="8786614"/>
            <a:ext cx="789186" cy="845741"/>
          </a:xfrm>
          <a:prstGeom prst="roundRect">
            <a:avLst>
              <a:gd name="adj" fmla="val 3621"/>
            </a:avLst>
          </a:prstGeom>
          <a:solidFill>
            <a:srgbClr val="FF671F"/>
          </a:solidFill>
          <a:ln/>
        </p:spPr>
      </p:sp>
      <p:sp>
        <p:nvSpPr>
          <p:cNvPr id="85" name="Shape 82"/>
          <p:cNvSpPr/>
          <p:nvPr/>
        </p:nvSpPr>
        <p:spPr>
          <a:xfrm>
            <a:off x="12557721" y="8626575"/>
            <a:ext cx="789186" cy="1005780"/>
          </a:xfrm>
          <a:prstGeom prst="roundRect">
            <a:avLst>
              <a:gd name="adj" fmla="val 3621"/>
            </a:avLst>
          </a:prstGeom>
          <a:solidFill>
            <a:srgbClr val="384358"/>
          </a:solidFill>
          <a:ln/>
        </p:spPr>
      </p:sp>
      <p:sp>
        <p:nvSpPr>
          <p:cNvPr id="86" name="Shape 83"/>
          <p:cNvSpPr/>
          <p:nvPr/>
        </p:nvSpPr>
        <p:spPr>
          <a:xfrm>
            <a:off x="13404056" y="8717955"/>
            <a:ext cx="789186" cy="914400"/>
          </a:xfrm>
          <a:prstGeom prst="roundRect">
            <a:avLst>
              <a:gd name="adj" fmla="val 3621"/>
            </a:avLst>
          </a:prstGeom>
          <a:solidFill>
            <a:srgbClr val="FF671F"/>
          </a:solidFill>
          <a:ln/>
        </p:spPr>
      </p:sp>
      <p:sp>
        <p:nvSpPr>
          <p:cNvPr id="87" name="Shape 84"/>
          <p:cNvSpPr/>
          <p:nvPr/>
        </p:nvSpPr>
        <p:spPr>
          <a:xfrm>
            <a:off x="14250393" y="8580834"/>
            <a:ext cx="789186" cy="1051520"/>
          </a:xfrm>
          <a:prstGeom prst="roundRect">
            <a:avLst>
              <a:gd name="adj" fmla="val 3621"/>
            </a:avLst>
          </a:prstGeom>
          <a:solidFill>
            <a:srgbClr val="384358"/>
          </a:solidFill>
          <a:ln/>
        </p:spPr>
      </p:sp>
      <p:sp>
        <p:nvSpPr>
          <p:cNvPr id="88" name="Shape 85"/>
          <p:cNvSpPr/>
          <p:nvPr/>
        </p:nvSpPr>
        <p:spPr>
          <a:xfrm>
            <a:off x="15096729" y="8672314"/>
            <a:ext cx="789186" cy="960041"/>
          </a:xfrm>
          <a:prstGeom prst="roundRect">
            <a:avLst>
              <a:gd name="adj" fmla="val 3621"/>
            </a:avLst>
          </a:prstGeom>
          <a:solidFill>
            <a:srgbClr val="FF671F"/>
          </a:solidFill>
          <a:ln/>
        </p:spPr>
      </p:sp>
      <p:sp>
        <p:nvSpPr>
          <p:cNvPr id="89" name="Shape 86"/>
          <p:cNvSpPr/>
          <p:nvPr/>
        </p:nvSpPr>
        <p:spPr>
          <a:xfrm>
            <a:off x="15943064" y="8535095"/>
            <a:ext cx="789186" cy="1097260"/>
          </a:xfrm>
          <a:prstGeom prst="roundRect">
            <a:avLst>
              <a:gd name="adj" fmla="val 3621"/>
            </a:avLst>
          </a:prstGeom>
          <a:solidFill>
            <a:srgbClr val="384358"/>
          </a:solidFill>
          <a:ln/>
        </p:spPr>
      </p:sp>
      <p:sp>
        <p:nvSpPr>
          <p:cNvPr id="90" name="Shape 87"/>
          <p:cNvSpPr/>
          <p:nvPr/>
        </p:nvSpPr>
        <p:spPr>
          <a:xfrm>
            <a:off x="133350" y="4018955"/>
            <a:ext cx="3677047"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91" name="Text 88"/>
          <p:cNvSpPr/>
          <p:nvPr/>
        </p:nvSpPr>
        <p:spPr>
          <a:xfrm>
            <a:off x="266700" y="4095155"/>
            <a:ext cx="3520658"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Title bar — name, owner, last refresh.</a:t>
            </a:r>
            <a:endParaRPr lang="en-US" sz="975" dirty="0"/>
          </a:p>
        </p:txBody>
      </p:sp>
      <p:sp>
        <p:nvSpPr>
          <p:cNvPr id="92" name="Shape 89"/>
          <p:cNvSpPr/>
          <p:nvPr/>
        </p:nvSpPr>
        <p:spPr>
          <a:xfrm>
            <a:off x="14848087" y="4018955"/>
            <a:ext cx="3268464"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93" name="Text 90"/>
          <p:cNvSpPr/>
          <p:nvPr/>
        </p:nvSpPr>
        <p:spPr>
          <a:xfrm>
            <a:off x="14981437" y="4095155"/>
            <a:ext cx="3099818"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Edit / Share / Schedule controls.</a:t>
            </a:r>
            <a:endParaRPr lang="en-US" sz="975" dirty="0"/>
          </a:p>
        </p:txBody>
      </p:sp>
      <p:sp>
        <p:nvSpPr>
          <p:cNvPr id="94" name="Shape 91"/>
          <p:cNvSpPr/>
          <p:nvPr/>
        </p:nvSpPr>
        <p:spPr>
          <a:xfrm>
            <a:off x="13785752" y="4609505"/>
            <a:ext cx="4330799"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95" name="Text 92"/>
          <p:cNvSpPr/>
          <p:nvPr/>
        </p:nvSpPr>
        <p:spPr>
          <a:xfrm>
            <a:off x="13919102" y="4685705"/>
            <a:ext cx="4194023"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Dashboard-level filters — apply to every tile.</a:t>
            </a:r>
            <a:endParaRPr lang="en-US" sz="975" dirty="0"/>
          </a:p>
        </p:txBody>
      </p:sp>
      <p:sp>
        <p:nvSpPr>
          <p:cNvPr id="96" name="Shape 93"/>
          <p:cNvSpPr/>
          <p:nvPr/>
        </p:nvSpPr>
        <p:spPr>
          <a:xfrm>
            <a:off x="171450" y="5352455"/>
            <a:ext cx="3840460"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97" name="Text 94"/>
          <p:cNvSpPr/>
          <p:nvPr/>
        </p:nvSpPr>
        <p:spPr>
          <a:xfrm>
            <a:off x="304800" y="5428655"/>
            <a:ext cx="3688974"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KPI tiles — single value visualizations.</a:t>
            </a:r>
            <a:endParaRPr lang="en-US" sz="975" dirty="0"/>
          </a:p>
        </p:txBody>
      </p:sp>
      <p:sp>
        <p:nvSpPr>
          <p:cNvPr id="98" name="Shape 95"/>
          <p:cNvSpPr/>
          <p:nvPr/>
        </p:nvSpPr>
        <p:spPr>
          <a:xfrm>
            <a:off x="171450" y="6952655"/>
            <a:ext cx="3513634"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99" name="Text 96"/>
          <p:cNvSpPr/>
          <p:nvPr/>
        </p:nvSpPr>
        <p:spPr>
          <a:xfrm>
            <a:off x="304800" y="7028855"/>
            <a:ext cx="3352343"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Chart tiles — line, pie, bar, table.</a:t>
            </a:r>
            <a:endParaRPr lang="en-US" sz="975" dirty="0"/>
          </a:p>
        </p:txBody>
      </p:sp>
      <p:sp>
        <p:nvSpPr>
          <p:cNvPr id="100" name="Shape 97"/>
          <p:cNvSpPr/>
          <p:nvPr/>
        </p:nvSpPr>
        <p:spPr>
          <a:xfrm>
            <a:off x="171450" y="9232305"/>
            <a:ext cx="3677047"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101" name="Text 98"/>
          <p:cNvSpPr/>
          <p:nvPr/>
        </p:nvSpPr>
        <p:spPr>
          <a:xfrm>
            <a:off x="304800" y="9308505"/>
            <a:ext cx="3520658"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Layout grid — drag tiles to rearrange.</a:t>
            </a:r>
            <a:endParaRPr lang="en-US" sz="975" dirty="0"/>
          </a:p>
        </p:txBody>
      </p:sp>
      <p:sp>
        <p:nvSpPr>
          <p:cNvPr id="102" name="Text 99"/>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103" name="Text 100"/>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25 / 60</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TILE TYPES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Four tile flavours — pick the right one.</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Every tile is one of four kinds. Knowing the difference matters: </a:t>
            </a:r>
            <a:pPr algn="l" indent="0" marL="0">
              <a:lnSpc>
                <a:spcPct val="145000"/>
              </a:lnSpc>
              <a:buNone/>
            </a:pPr>
            <a:r>
              <a:rPr lang="en-US" sz="1650" dirty="0">
                <a:solidFill>
                  <a:srgbClr val="FF671F"/>
                </a:solidFill>
                <a:latin typeface="Manrope" pitchFamily="34" charset="0"/>
                <a:ea typeface="Manrope" pitchFamily="34" charset="-122"/>
                <a:cs typeface="Manrope" pitchFamily="34" charset="-120"/>
              </a:rPr>
              <a:t>query tiles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rerun on every refresh, while </a:t>
            </a:r>
            <a:pPr algn="l" indent="0" marL="0">
              <a:lnSpc>
                <a:spcPct val="145000"/>
              </a:lnSpc>
              <a:buNone/>
            </a:pPr>
            <a:r>
              <a:rPr lang="en-US" sz="1650" dirty="0">
                <a:solidFill>
                  <a:srgbClr val="FF671F"/>
                </a:solidFill>
                <a:latin typeface="Manrope" pitchFamily="34" charset="0"/>
                <a:ea typeface="Manrope" pitchFamily="34" charset="-122"/>
                <a:cs typeface="Manrope" pitchFamily="34" charset="-120"/>
              </a:rPr>
              <a:t>text and button tiles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never query the warehouse.</a:t>
            </a:r>
            <a:endParaRPr lang="en-US" sz="1650" dirty="0"/>
          </a:p>
        </p:txBody>
      </p:sp>
      <p:sp>
        <p:nvSpPr>
          <p:cNvPr id="9" name="Shape 7"/>
          <p:cNvSpPr/>
          <p:nvPr/>
        </p:nvSpPr>
        <p:spPr>
          <a:xfrm>
            <a:off x="1219200" y="4572496"/>
            <a:ext cx="3790950" cy="2393851"/>
          </a:xfrm>
          <a:prstGeom prst="roundRect">
            <a:avLst>
              <a:gd name="adj" fmla="val 5571"/>
            </a:avLst>
          </a:prstGeom>
          <a:solidFill>
            <a:srgbClr val="F1F2F4"/>
          </a:solidFill>
          <a:ln/>
        </p:spPr>
      </p:sp>
      <p:sp>
        <p:nvSpPr>
          <p:cNvPr id="10" name="Shape 8"/>
          <p:cNvSpPr/>
          <p:nvPr/>
        </p:nvSpPr>
        <p:spPr>
          <a:xfrm>
            <a:off x="1219200" y="4572496"/>
            <a:ext cx="3790950" cy="38100"/>
          </a:xfrm>
          <a:prstGeom prst="rect">
            <a:avLst/>
          </a:prstGeom>
          <a:solidFill>
            <a:srgbClr val="FF671F"/>
          </a:solidFill>
          <a:ln/>
        </p:spPr>
      </p:sp>
      <p:sp>
        <p:nvSpPr>
          <p:cNvPr id="11" name="Text 9"/>
          <p:cNvSpPr/>
          <p:nvPr/>
        </p:nvSpPr>
        <p:spPr>
          <a:xfrm>
            <a:off x="1524000" y="49153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TYPE 01</a:t>
            </a:r>
            <a:endParaRPr lang="en-US" sz="900" dirty="0"/>
          </a:p>
        </p:txBody>
      </p:sp>
      <p:sp>
        <p:nvSpPr>
          <p:cNvPr id="12" name="Text 10"/>
          <p:cNvSpPr/>
          <p:nvPr/>
        </p:nvSpPr>
        <p:spPr>
          <a:xfrm>
            <a:off x="1524000" y="51947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Query tile</a:t>
            </a:r>
            <a:endParaRPr lang="en-US" sz="1950" dirty="0"/>
          </a:p>
        </p:txBody>
      </p:sp>
      <p:sp>
        <p:nvSpPr>
          <p:cNvPr id="13" name="Text 11"/>
          <p:cNvSpPr/>
          <p:nvPr/>
        </p:nvSpPr>
        <p:spPr>
          <a:xfrm>
            <a:off x="1524000" y="56129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An ad-hoc query defined directly in the dashboard. Lives only here; if you delete the dashboard, the query goes with it.</a:t>
            </a:r>
            <a:endParaRPr lang="en-US" sz="1275" dirty="0"/>
          </a:p>
        </p:txBody>
      </p:sp>
      <p:sp>
        <p:nvSpPr>
          <p:cNvPr id="14" name="Text 12"/>
          <p:cNvSpPr/>
          <p:nvPr/>
        </p:nvSpPr>
        <p:spPr>
          <a:xfrm>
            <a:off x="1524000" y="6474916"/>
            <a:ext cx="3276791"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8B95A6"/>
                </a:solidFill>
                <a:latin typeface="Manrope" pitchFamily="34" charset="0"/>
                <a:ea typeface="Manrope" pitchFamily="34" charset="-122"/>
                <a:cs typeface="Manrope" pitchFamily="34" charset="-120"/>
              </a:rPr>
              <a:t>Best for tiles unique to one dashboard.</a:t>
            </a:r>
            <a:endParaRPr lang="en-US" sz="1050" dirty="0"/>
          </a:p>
        </p:txBody>
      </p:sp>
      <p:sp>
        <p:nvSpPr>
          <p:cNvPr id="15" name="Shape 13"/>
          <p:cNvSpPr/>
          <p:nvPr/>
        </p:nvSpPr>
        <p:spPr>
          <a:xfrm>
            <a:off x="5238750" y="4572496"/>
            <a:ext cx="3790950" cy="2393851"/>
          </a:xfrm>
          <a:prstGeom prst="roundRect">
            <a:avLst>
              <a:gd name="adj" fmla="val 5571"/>
            </a:avLst>
          </a:prstGeom>
          <a:solidFill>
            <a:srgbClr val="F1F2F4"/>
          </a:solidFill>
          <a:ln/>
        </p:spPr>
      </p:sp>
      <p:sp>
        <p:nvSpPr>
          <p:cNvPr id="16" name="Shape 14"/>
          <p:cNvSpPr/>
          <p:nvPr/>
        </p:nvSpPr>
        <p:spPr>
          <a:xfrm>
            <a:off x="5238750" y="4572496"/>
            <a:ext cx="3790950" cy="38100"/>
          </a:xfrm>
          <a:prstGeom prst="rect">
            <a:avLst/>
          </a:prstGeom>
          <a:solidFill>
            <a:srgbClr val="FF671F"/>
          </a:solidFill>
          <a:ln/>
        </p:spPr>
      </p:sp>
      <p:sp>
        <p:nvSpPr>
          <p:cNvPr id="17" name="Text 15"/>
          <p:cNvSpPr/>
          <p:nvPr/>
        </p:nvSpPr>
        <p:spPr>
          <a:xfrm>
            <a:off x="5543550" y="49153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TYPE 02</a:t>
            </a:r>
            <a:endParaRPr lang="en-US" sz="900" dirty="0"/>
          </a:p>
        </p:txBody>
      </p:sp>
      <p:sp>
        <p:nvSpPr>
          <p:cNvPr id="18" name="Text 16"/>
          <p:cNvSpPr/>
          <p:nvPr/>
        </p:nvSpPr>
        <p:spPr>
          <a:xfrm>
            <a:off x="5543550" y="51947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Look-linked tile</a:t>
            </a:r>
            <a:endParaRPr lang="en-US" sz="1950" dirty="0"/>
          </a:p>
        </p:txBody>
      </p:sp>
      <p:sp>
        <p:nvSpPr>
          <p:cNvPr id="19" name="Text 17"/>
          <p:cNvSpPr/>
          <p:nvPr/>
        </p:nvSpPr>
        <p:spPr>
          <a:xfrm>
            <a:off x="5543550" y="56129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 reference to a saved Look. Update the Look and every dashboard that links to it updates too.</a:t>
            </a:r>
            <a:endParaRPr lang="en-US" sz="1275" dirty="0"/>
          </a:p>
        </p:txBody>
      </p:sp>
      <p:sp>
        <p:nvSpPr>
          <p:cNvPr id="20" name="Text 18"/>
          <p:cNvSpPr/>
          <p:nvPr/>
        </p:nvSpPr>
        <p:spPr>
          <a:xfrm>
            <a:off x="5543550" y="6474916"/>
            <a:ext cx="3276791"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8B95A6"/>
                </a:solidFill>
                <a:latin typeface="Manrope" pitchFamily="34" charset="0"/>
                <a:ea typeface="Manrope" pitchFamily="34" charset="-122"/>
                <a:cs typeface="Manrope" pitchFamily="34" charset="-120"/>
              </a:rPr>
              <a:t>Best for reusable canonical charts.</a:t>
            </a:r>
            <a:endParaRPr lang="en-US" sz="1050" dirty="0"/>
          </a:p>
        </p:txBody>
      </p:sp>
      <p:sp>
        <p:nvSpPr>
          <p:cNvPr id="21" name="Shape 19"/>
          <p:cNvSpPr/>
          <p:nvPr/>
        </p:nvSpPr>
        <p:spPr>
          <a:xfrm>
            <a:off x="9258300" y="4572496"/>
            <a:ext cx="3790950" cy="2393851"/>
          </a:xfrm>
          <a:prstGeom prst="roundRect">
            <a:avLst>
              <a:gd name="adj" fmla="val 5571"/>
            </a:avLst>
          </a:prstGeom>
          <a:solidFill>
            <a:srgbClr val="F1F2F4"/>
          </a:solidFill>
          <a:ln/>
        </p:spPr>
      </p:sp>
      <p:sp>
        <p:nvSpPr>
          <p:cNvPr id="22" name="Shape 20"/>
          <p:cNvSpPr/>
          <p:nvPr/>
        </p:nvSpPr>
        <p:spPr>
          <a:xfrm>
            <a:off x="9258300" y="4572496"/>
            <a:ext cx="3790950" cy="38100"/>
          </a:xfrm>
          <a:prstGeom prst="rect">
            <a:avLst/>
          </a:prstGeom>
          <a:solidFill>
            <a:srgbClr val="FF671F"/>
          </a:solidFill>
          <a:ln/>
        </p:spPr>
      </p:sp>
      <p:sp>
        <p:nvSpPr>
          <p:cNvPr id="23" name="Text 21"/>
          <p:cNvSpPr/>
          <p:nvPr/>
        </p:nvSpPr>
        <p:spPr>
          <a:xfrm>
            <a:off x="9563100" y="49153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TYPE 03</a:t>
            </a:r>
            <a:endParaRPr lang="en-US" sz="900" dirty="0"/>
          </a:p>
        </p:txBody>
      </p:sp>
      <p:sp>
        <p:nvSpPr>
          <p:cNvPr id="24" name="Text 22"/>
          <p:cNvSpPr/>
          <p:nvPr/>
        </p:nvSpPr>
        <p:spPr>
          <a:xfrm>
            <a:off x="9563100" y="51947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Text tile</a:t>
            </a:r>
            <a:endParaRPr lang="en-US" sz="1950" dirty="0"/>
          </a:p>
        </p:txBody>
      </p:sp>
      <p:sp>
        <p:nvSpPr>
          <p:cNvPr id="25" name="Text 23"/>
          <p:cNvSpPr/>
          <p:nvPr/>
        </p:nvSpPr>
        <p:spPr>
          <a:xfrm>
            <a:off x="9563100" y="56129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Markdown — section headings, narrative captions, links to runbooks. No query, no warehouse load.</a:t>
            </a:r>
            <a:endParaRPr lang="en-US" sz="1275" dirty="0"/>
          </a:p>
        </p:txBody>
      </p:sp>
      <p:sp>
        <p:nvSpPr>
          <p:cNvPr id="26" name="Text 24"/>
          <p:cNvSpPr/>
          <p:nvPr/>
        </p:nvSpPr>
        <p:spPr>
          <a:xfrm>
            <a:off x="9563100" y="6474916"/>
            <a:ext cx="3276791"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8B95A6"/>
                </a:solidFill>
                <a:latin typeface="Manrope" pitchFamily="34" charset="0"/>
                <a:ea typeface="Manrope" pitchFamily="34" charset="-122"/>
                <a:cs typeface="Manrope" pitchFamily="34" charset="-120"/>
              </a:rPr>
              <a:t>Best for "what am I looking at?" copy.</a:t>
            </a:r>
            <a:endParaRPr lang="en-US" sz="1050" dirty="0"/>
          </a:p>
        </p:txBody>
      </p:sp>
      <p:sp>
        <p:nvSpPr>
          <p:cNvPr id="27" name="Shape 25"/>
          <p:cNvSpPr/>
          <p:nvPr/>
        </p:nvSpPr>
        <p:spPr>
          <a:xfrm>
            <a:off x="13277850" y="4572496"/>
            <a:ext cx="3790950" cy="2393851"/>
          </a:xfrm>
          <a:prstGeom prst="roundRect">
            <a:avLst>
              <a:gd name="adj" fmla="val 5571"/>
            </a:avLst>
          </a:prstGeom>
          <a:solidFill>
            <a:srgbClr val="F1F2F4"/>
          </a:solidFill>
          <a:ln/>
        </p:spPr>
      </p:sp>
      <p:sp>
        <p:nvSpPr>
          <p:cNvPr id="28" name="Shape 26"/>
          <p:cNvSpPr/>
          <p:nvPr/>
        </p:nvSpPr>
        <p:spPr>
          <a:xfrm>
            <a:off x="13277850" y="4572496"/>
            <a:ext cx="3790950" cy="38100"/>
          </a:xfrm>
          <a:prstGeom prst="rect">
            <a:avLst/>
          </a:prstGeom>
          <a:solidFill>
            <a:srgbClr val="FF671F"/>
          </a:solidFill>
          <a:ln/>
        </p:spPr>
      </p:sp>
      <p:sp>
        <p:nvSpPr>
          <p:cNvPr id="29" name="Text 27"/>
          <p:cNvSpPr/>
          <p:nvPr/>
        </p:nvSpPr>
        <p:spPr>
          <a:xfrm>
            <a:off x="13582650" y="49153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TYPE 04</a:t>
            </a:r>
            <a:endParaRPr lang="en-US" sz="900" dirty="0"/>
          </a:p>
        </p:txBody>
      </p:sp>
      <p:sp>
        <p:nvSpPr>
          <p:cNvPr id="30" name="Text 28"/>
          <p:cNvSpPr/>
          <p:nvPr/>
        </p:nvSpPr>
        <p:spPr>
          <a:xfrm>
            <a:off x="13582650" y="51947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Button tile</a:t>
            </a:r>
            <a:endParaRPr lang="en-US" sz="1950" dirty="0"/>
          </a:p>
        </p:txBody>
      </p:sp>
      <p:sp>
        <p:nvSpPr>
          <p:cNvPr id="31" name="Text 29"/>
          <p:cNvSpPr/>
          <p:nvPr/>
        </p:nvSpPr>
        <p:spPr>
          <a:xfrm>
            <a:off x="13582650" y="56129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 clickable action — opens a URL, an Explore with pre-filled filters, or another dashboard.</a:t>
            </a:r>
            <a:endParaRPr lang="en-US" sz="1275" dirty="0"/>
          </a:p>
        </p:txBody>
      </p:sp>
      <p:sp>
        <p:nvSpPr>
          <p:cNvPr id="32" name="Text 30"/>
          <p:cNvSpPr/>
          <p:nvPr/>
        </p:nvSpPr>
        <p:spPr>
          <a:xfrm>
            <a:off x="13582650" y="6474916"/>
            <a:ext cx="3276791"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8B95A6"/>
                </a:solidFill>
                <a:latin typeface="Manrope" pitchFamily="34" charset="0"/>
                <a:ea typeface="Manrope" pitchFamily="34" charset="-122"/>
                <a:cs typeface="Manrope" pitchFamily="34" charset="-120"/>
              </a:rPr>
              <a:t>Best for cross-linking related views.</a:t>
            </a:r>
            <a:endParaRPr lang="en-US" sz="1050" dirty="0"/>
          </a:p>
        </p:txBody>
      </p:sp>
      <p:sp>
        <p:nvSpPr>
          <p:cNvPr id="33" name="Shape 31"/>
          <p:cNvSpPr/>
          <p:nvPr/>
        </p:nvSpPr>
        <p:spPr>
          <a:xfrm>
            <a:off x="1219200" y="7194947"/>
            <a:ext cx="15849600" cy="660400"/>
          </a:xfrm>
          <a:prstGeom prst="roundRect">
            <a:avLst>
              <a:gd name="adj" fmla="val 20192"/>
            </a:avLst>
          </a:prstGeom>
          <a:solidFill>
            <a:srgbClr val="FFF7F1"/>
          </a:solidFill>
          <a:ln/>
        </p:spPr>
      </p:sp>
      <p:sp>
        <p:nvSpPr>
          <p:cNvPr id="34" name="Shape 32"/>
          <p:cNvSpPr/>
          <p:nvPr/>
        </p:nvSpPr>
        <p:spPr>
          <a:xfrm>
            <a:off x="1219200" y="7194947"/>
            <a:ext cx="38100" cy="660400"/>
          </a:xfrm>
          <a:prstGeom prst="rect">
            <a:avLst/>
          </a:prstGeom>
          <a:solidFill>
            <a:srgbClr val="FF671F"/>
          </a:solidFill>
          <a:ln/>
        </p:spPr>
      </p:sp>
      <p:sp>
        <p:nvSpPr>
          <p:cNvPr id="35" name="Text 33"/>
          <p:cNvSpPr/>
          <p:nvPr/>
        </p:nvSpPr>
        <p:spPr>
          <a:xfrm>
            <a:off x="1524000" y="7385447"/>
            <a:ext cx="15753588" cy="31750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TIP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Prefer Look-linked tiles for any chart used in more than one place — you change it once and every dashboard refreshes. Query tiles are tempting but they fragment your governance.</a:t>
            </a:r>
            <a:endParaRPr lang="en-US" sz="1275" dirty="0"/>
          </a:p>
        </p:txBody>
      </p:sp>
      <p:sp>
        <p:nvSpPr>
          <p:cNvPr id="36" name="Text 34"/>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7" name="Text 35"/>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26 / 60</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MATCH THE CHART TO THE QUESTION</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Eleven chart types, six business questions.</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Don't memorize "use a line chart for time series" — memorize the business question. Looker's defaults are good but not always right.</a:t>
            </a:r>
            <a:endParaRPr lang="en-US" sz="1650" dirty="0"/>
          </a:p>
        </p:txBody>
      </p:sp>
      <p:sp>
        <p:nvSpPr>
          <p:cNvPr id="9" name="Shape 7"/>
          <p:cNvSpPr/>
          <p:nvPr/>
        </p:nvSpPr>
        <p:spPr>
          <a:xfrm>
            <a:off x="1219200" y="3963888"/>
            <a:ext cx="2552700" cy="631825"/>
          </a:xfrm>
          <a:prstGeom prst="rect">
            <a:avLst/>
          </a:prstGeom>
          <a:solidFill>
            <a:srgbClr val="F1F2F4"/>
          </a:solidFill>
          <a:ln/>
        </p:spPr>
      </p:sp>
      <p:sp>
        <p:nvSpPr>
          <p:cNvPr id="10" name="Shape 8"/>
          <p:cNvSpPr/>
          <p:nvPr/>
        </p:nvSpPr>
        <p:spPr>
          <a:xfrm>
            <a:off x="1219200" y="4589363"/>
            <a:ext cx="2552700" cy="9525"/>
          </a:xfrm>
          <a:prstGeom prst="rect">
            <a:avLst/>
          </a:prstGeom>
          <a:solidFill>
            <a:srgbClr val="C9CFD8"/>
          </a:solidFill>
          <a:ln/>
        </p:spPr>
      </p:sp>
      <p:sp>
        <p:nvSpPr>
          <p:cNvPr id="11" name="Text 9"/>
          <p:cNvSpPr/>
          <p:nvPr/>
        </p:nvSpPr>
        <p:spPr>
          <a:xfrm>
            <a:off x="1447800" y="4135338"/>
            <a:ext cx="2172081" cy="320675"/>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BUSINESS QUESTION</a:t>
            </a:r>
            <a:endParaRPr lang="en-US" sz="975" dirty="0"/>
          </a:p>
        </p:txBody>
      </p:sp>
      <p:sp>
        <p:nvSpPr>
          <p:cNvPr id="12" name="Shape 10"/>
          <p:cNvSpPr/>
          <p:nvPr/>
        </p:nvSpPr>
        <p:spPr>
          <a:xfrm>
            <a:off x="3771900" y="3963888"/>
            <a:ext cx="3065859" cy="631825"/>
          </a:xfrm>
          <a:prstGeom prst="rect">
            <a:avLst/>
          </a:prstGeom>
          <a:solidFill>
            <a:srgbClr val="F1F2F4"/>
          </a:solidFill>
          <a:ln/>
        </p:spPr>
      </p:sp>
      <p:sp>
        <p:nvSpPr>
          <p:cNvPr id="13" name="Shape 11"/>
          <p:cNvSpPr/>
          <p:nvPr/>
        </p:nvSpPr>
        <p:spPr>
          <a:xfrm>
            <a:off x="3771900" y="4589363"/>
            <a:ext cx="3065859" cy="9525"/>
          </a:xfrm>
          <a:prstGeom prst="rect">
            <a:avLst/>
          </a:prstGeom>
          <a:solidFill>
            <a:srgbClr val="C9CFD8"/>
          </a:solidFill>
          <a:ln/>
        </p:spPr>
      </p:sp>
      <p:sp>
        <p:nvSpPr>
          <p:cNvPr id="14" name="Text 12"/>
          <p:cNvSpPr/>
          <p:nvPr/>
        </p:nvSpPr>
        <p:spPr>
          <a:xfrm>
            <a:off x="4000500" y="4135338"/>
            <a:ext cx="2700635"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First-choice viz</a:t>
            </a:r>
            <a:endParaRPr lang="en-US" sz="1650" dirty="0"/>
          </a:p>
        </p:txBody>
      </p:sp>
      <p:sp>
        <p:nvSpPr>
          <p:cNvPr id="15" name="Shape 13"/>
          <p:cNvSpPr/>
          <p:nvPr/>
        </p:nvSpPr>
        <p:spPr>
          <a:xfrm>
            <a:off x="6837759" y="3963888"/>
            <a:ext cx="7269659" cy="631825"/>
          </a:xfrm>
          <a:prstGeom prst="rect">
            <a:avLst/>
          </a:prstGeom>
          <a:solidFill>
            <a:srgbClr val="F1F2F4"/>
          </a:solidFill>
          <a:ln/>
        </p:spPr>
      </p:sp>
      <p:sp>
        <p:nvSpPr>
          <p:cNvPr id="16" name="Shape 14"/>
          <p:cNvSpPr/>
          <p:nvPr/>
        </p:nvSpPr>
        <p:spPr>
          <a:xfrm>
            <a:off x="6837759" y="4589363"/>
            <a:ext cx="7269659" cy="9525"/>
          </a:xfrm>
          <a:prstGeom prst="rect">
            <a:avLst/>
          </a:prstGeom>
          <a:solidFill>
            <a:srgbClr val="C9CFD8"/>
          </a:solidFill>
          <a:ln/>
        </p:spPr>
      </p:sp>
      <p:sp>
        <p:nvSpPr>
          <p:cNvPr id="17" name="Text 15"/>
          <p:cNvSpPr/>
          <p:nvPr/>
        </p:nvSpPr>
        <p:spPr>
          <a:xfrm>
            <a:off x="7066359" y="4135338"/>
            <a:ext cx="7030548"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B1F2A"/>
                </a:solidFill>
                <a:latin typeface="Manrope" pitchFamily="34" charset="0"/>
                <a:ea typeface="Manrope" pitchFamily="34" charset="-122"/>
                <a:cs typeface="Manrope" pitchFamily="34" charset="-120"/>
              </a:rPr>
              <a:t>Why</a:t>
            </a:r>
            <a:endParaRPr lang="en-US" sz="1650" dirty="0"/>
          </a:p>
        </p:txBody>
      </p:sp>
      <p:sp>
        <p:nvSpPr>
          <p:cNvPr id="18" name="Shape 16"/>
          <p:cNvSpPr/>
          <p:nvPr/>
        </p:nvSpPr>
        <p:spPr>
          <a:xfrm>
            <a:off x="14107418" y="3963888"/>
            <a:ext cx="2961382" cy="631825"/>
          </a:xfrm>
          <a:prstGeom prst="rect">
            <a:avLst/>
          </a:prstGeom>
          <a:solidFill>
            <a:srgbClr val="F1F2F4"/>
          </a:solidFill>
          <a:ln/>
        </p:spPr>
      </p:sp>
      <p:sp>
        <p:nvSpPr>
          <p:cNvPr id="19" name="Shape 17"/>
          <p:cNvSpPr/>
          <p:nvPr/>
        </p:nvSpPr>
        <p:spPr>
          <a:xfrm>
            <a:off x="14107418" y="4589363"/>
            <a:ext cx="2961382" cy="9525"/>
          </a:xfrm>
          <a:prstGeom prst="rect">
            <a:avLst/>
          </a:prstGeom>
          <a:solidFill>
            <a:srgbClr val="C9CFD8"/>
          </a:solidFill>
          <a:ln/>
        </p:spPr>
      </p:sp>
      <p:sp>
        <p:nvSpPr>
          <p:cNvPr id="20" name="Text 18"/>
          <p:cNvSpPr/>
          <p:nvPr/>
        </p:nvSpPr>
        <p:spPr>
          <a:xfrm>
            <a:off x="14336018" y="4135338"/>
            <a:ext cx="2593023"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F4DFF"/>
                </a:solidFill>
                <a:latin typeface="Manrope" pitchFamily="34" charset="0"/>
                <a:ea typeface="Manrope" pitchFamily="34" charset="-122"/>
                <a:cs typeface="Manrope" pitchFamily="34" charset="-120"/>
              </a:rPr>
              <a:t>Avoid</a:t>
            </a:r>
            <a:endParaRPr lang="en-US" sz="1650" dirty="0"/>
          </a:p>
        </p:txBody>
      </p:sp>
      <p:sp>
        <p:nvSpPr>
          <p:cNvPr id="21" name="Shape 19"/>
          <p:cNvSpPr/>
          <p:nvPr/>
        </p:nvSpPr>
        <p:spPr>
          <a:xfrm>
            <a:off x="1219200" y="5297587"/>
            <a:ext cx="2552700" cy="9525"/>
          </a:xfrm>
          <a:prstGeom prst="rect">
            <a:avLst/>
          </a:prstGeom>
          <a:solidFill>
            <a:srgbClr val="C9CFD8"/>
          </a:solidFill>
          <a:ln/>
        </p:spPr>
      </p:sp>
      <p:sp>
        <p:nvSpPr>
          <p:cNvPr id="22" name="Text 20"/>
          <p:cNvSpPr/>
          <p:nvPr/>
        </p:nvSpPr>
        <p:spPr>
          <a:xfrm>
            <a:off x="1447800" y="4767163"/>
            <a:ext cx="2172081" cy="397073"/>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HOW IS X CHANGING OVER TIME?</a:t>
            </a:r>
            <a:endParaRPr lang="en-US" sz="975" dirty="0"/>
          </a:p>
        </p:txBody>
      </p:sp>
      <p:sp>
        <p:nvSpPr>
          <p:cNvPr id="23" name="Shape 21"/>
          <p:cNvSpPr/>
          <p:nvPr/>
        </p:nvSpPr>
        <p:spPr>
          <a:xfrm>
            <a:off x="3771900" y="5297587"/>
            <a:ext cx="3065859" cy="9525"/>
          </a:xfrm>
          <a:prstGeom prst="rect">
            <a:avLst/>
          </a:prstGeom>
          <a:solidFill>
            <a:srgbClr val="C9CFD8"/>
          </a:solidFill>
          <a:ln/>
        </p:spPr>
      </p:sp>
      <p:sp>
        <p:nvSpPr>
          <p:cNvPr id="24" name="Text 22"/>
          <p:cNvSpPr/>
          <p:nvPr/>
        </p:nvSpPr>
        <p:spPr>
          <a:xfrm>
            <a:off x="4000500" y="4767163"/>
            <a:ext cx="2700635"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Line / Area</a:t>
            </a:r>
            <a:endParaRPr lang="en-US" sz="1275" dirty="0"/>
          </a:p>
        </p:txBody>
      </p:sp>
      <p:sp>
        <p:nvSpPr>
          <p:cNvPr id="25" name="Shape 23"/>
          <p:cNvSpPr/>
          <p:nvPr/>
        </p:nvSpPr>
        <p:spPr>
          <a:xfrm>
            <a:off x="6837759" y="5297587"/>
            <a:ext cx="7269659" cy="9525"/>
          </a:xfrm>
          <a:prstGeom prst="rect">
            <a:avLst/>
          </a:prstGeom>
          <a:solidFill>
            <a:srgbClr val="C9CFD8"/>
          </a:solidFill>
          <a:ln/>
        </p:spPr>
      </p:sp>
      <p:sp>
        <p:nvSpPr>
          <p:cNvPr id="26" name="Text 24"/>
          <p:cNvSpPr/>
          <p:nvPr/>
        </p:nvSpPr>
        <p:spPr>
          <a:xfrm>
            <a:off x="7066359" y="4767163"/>
            <a:ext cx="7030548"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Continuous x-axis emphasizes trend, not categories.</a:t>
            </a:r>
            <a:endParaRPr lang="en-US" sz="1275" dirty="0"/>
          </a:p>
        </p:txBody>
      </p:sp>
      <p:sp>
        <p:nvSpPr>
          <p:cNvPr id="27" name="Shape 25"/>
          <p:cNvSpPr/>
          <p:nvPr/>
        </p:nvSpPr>
        <p:spPr>
          <a:xfrm>
            <a:off x="14107418" y="5297587"/>
            <a:ext cx="2961382" cy="9525"/>
          </a:xfrm>
          <a:prstGeom prst="rect">
            <a:avLst/>
          </a:prstGeom>
          <a:solidFill>
            <a:srgbClr val="C9CFD8"/>
          </a:solidFill>
          <a:ln/>
        </p:spPr>
      </p:sp>
      <p:sp>
        <p:nvSpPr>
          <p:cNvPr id="28" name="Text 26"/>
          <p:cNvSpPr/>
          <p:nvPr/>
        </p:nvSpPr>
        <p:spPr>
          <a:xfrm>
            <a:off x="14336018" y="4767163"/>
            <a:ext cx="2593023"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Pie, single value</a:t>
            </a:r>
            <a:endParaRPr lang="en-US" sz="1275" dirty="0"/>
          </a:p>
        </p:txBody>
      </p:sp>
      <p:sp>
        <p:nvSpPr>
          <p:cNvPr id="29" name="Shape 27"/>
          <p:cNvSpPr/>
          <p:nvPr/>
        </p:nvSpPr>
        <p:spPr>
          <a:xfrm>
            <a:off x="1219200" y="6005810"/>
            <a:ext cx="2552700" cy="9525"/>
          </a:xfrm>
          <a:prstGeom prst="rect">
            <a:avLst/>
          </a:prstGeom>
          <a:solidFill>
            <a:srgbClr val="C9CFD8"/>
          </a:solidFill>
          <a:ln/>
        </p:spPr>
      </p:sp>
      <p:sp>
        <p:nvSpPr>
          <p:cNvPr id="30" name="Text 28"/>
          <p:cNvSpPr/>
          <p:nvPr/>
        </p:nvSpPr>
        <p:spPr>
          <a:xfrm>
            <a:off x="1447800" y="5475387"/>
            <a:ext cx="2172081" cy="397073"/>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HOW DO CATEGORIES COMPARE?</a:t>
            </a:r>
            <a:endParaRPr lang="en-US" sz="975" dirty="0"/>
          </a:p>
        </p:txBody>
      </p:sp>
      <p:sp>
        <p:nvSpPr>
          <p:cNvPr id="31" name="Shape 29"/>
          <p:cNvSpPr/>
          <p:nvPr/>
        </p:nvSpPr>
        <p:spPr>
          <a:xfrm>
            <a:off x="3771900" y="6005810"/>
            <a:ext cx="3065859" cy="9525"/>
          </a:xfrm>
          <a:prstGeom prst="rect">
            <a:avLst/>
          </a:prstGeom>
          <a:solidFill>
            <a:srgbClr val="C9CFD8"/>
          </a:solidFill>
          <a:ln/>
        </p:spPr>
      </p:sp>
      <p:sp>
        <p:nvSpPr>
          <p:cNvPr id="32" name="Text 30"/>
          <p:cNvSpPr/>
          <p:nvPr/>
        </p:nvSpPr>
        <p:spPr>
          <a:xfrm>
            <a:off x="4000500" y="5475387"/>
            <a:ext cx="2700635"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Column / Bar</a:t>
            </a:r>
            <a:endParaRPr lang="en-US" sz="1275" dirty="0"/>
          </a:p>
        </p:txBody>
      </p:sp>
      <p:sp>
        <p:nvSpPr>
          <p:cNvPr id="33" name="Shape 31"/>
          <p:cNvSpPr/>
          <p:nvPr/>
        </p:nvSpPr>
        <p:spPr>
          <a:xfrm>
            <a:off x="6837759" y="6005810"/>
            <a:ext cx="7269659" cy="9525"/>
          </a:xfrm>
          <a:prstGeom prst="rect">
            <a:avLst/>
          </a:prstGeom>
          <a:solidFill>
            <a:srgbClr val="C9CFD8"/>
          </a:solidFill>
          <a:ln/>
        </p:spPr>
      </p:sp>
      <p:sp>
        <p:nvSpPr>
          <p:cNvPr id="34" name="Text 32"/>
          <p:cNvSpPr/>
          <p:nvPr/>
        </p:nvSpPr>
        <p:spPr>
          <a:xfrm>
            <a:off x="7066359" y="5475387"/>
            <a:ext cx="7030548"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Easy to read magnitudes at a glance; ordered top-down.</a:t>
            </a:r>
            <a:endParaRPr lang="en-US" sz="1275" dirty="0"/>
          </a:p>
        </p:txBody>
      </p:sp>
      <p:sp>
        <p:nvSpPr>
          <p:cNvPr id="35" name="Shape 33"/>
          <p:cNvSpPr/>
          <p:nvPr/>
        </p:nvSpPr>
        <p:spPr>
          <a:xfrm>
            <a:off x="14107418" y="6005810"/>
            <a:ext cx="2961382" cy="9525"/>
          </a:xfrm>
          <a:prstGeom prst="rect">
            <a:avLst/>
          </a:prstGeom>
          <a:solidFill>
            <a:srgbClr val="C9CFD8"/>
          </a:solidFill>
          <a:ln/>
        </p:spPr>
      </p:sp>
      <p:sp>
        <p:nvSpPr>
          <p:cNvPr id="36" name="Text 34"/>
          <p:cNvSpPr/>
          <p:nvPr/>
        </p:nvSpPr>
        <p:spPr>
          <a:xfrm>
            <a:off x="14336018" y="5475387"/>
            <a:ext cx="2593023"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Pie with many slices</a:t>
            </a:r>
            <a:endParaRPr lang="en-US" sz="1275" dirty="0"/>
          </a:p>
        </p:txBody>
      </p:sp>
      <p:sp>
        <p:nvSpPr>
          <p:cNvPr id="37" name="Shape 35"/>
          <p:cNvSpPr/>
          <p:nvPr/>
        </p:nvSpPr>
        <p:spPr>
          <a:xfrm>
            <a:off x="1219200" y="6714034"/>
            <a:ext cx="2552700" cy="9525"/>
          </a:xfrm>
          <a:prstGeom prst="rect">
            <a:avLst/>
          </a:prstGeom>
          <a:solidFill>
            <a:srgbClr val="C9CFD8"/>
          </a:solidFill>
          <a:ln/>
        </p:spPr>
      </p:sp>
      <p:sp>
        <p:nvSpPr>
          <p:cNvPr id="38" name="Text 36"/>
          <p:cNvSpPr/>
          <p:nvPr/>
        </p:nvSpPr>
        <p:spPr>
          <a:xfrm>
            <a:off x="1447800" y="6183610"/>
            <a:ext cx="2172081" cy="397073"/>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WHAT IS THE CURRENT STATE?</a:t>
            </a:r>
            <a:endParaRPr lang="en-US" sz="975" dirty="0"/>
          </a:p>
        </p:txBody>
      </p:sp>
      <p:sp>
        <p:nvSpPr>
          <p:cNvPr id="39" name="Shape 37"/>
          <p:cNvSpPr/>
          <p:nvPr/>
        </p:nvSpPr>
        <p:spPr>
          <a:xfrm>
            <a:off x="3771900" y="6714034"/>
            <a:ext cx="3065859" cy="9525"/>
          </a:xfrm>
          <a:prstGeom prst="rect">
            <a:avLst/>
          </a:prstGeom>
          <a:solidFill>
            <a:srgbClr val="C9CFD8"/>
          </a:solidFill>
          <a:ln/>
        </p:spPr>
      </p:sp>
      <p:sp>
        <p:nvSpPr>
          <p:cNvPr id="40" name="Text 38"/>
          <p:cNvSpPr/>
          <p:nvPr/>
        </p:nvSpPr>
        <p:spPr>
          <a:xfrm>
            <a:off x="4000500" y="6183610"/>
            <a:ext cx="2700635"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Single value</a:t>
            </a:r>
            <a:endParaRPr lang="en-US" sz="1275" dirty="0"/>
          </a:p>
        </p:txBody>
      </p:sp>
      <p:sp>
        <p:nvSpPr>
          <p:cNvPr id="41" name="Shape 39"/>
          <p:cNvSpPr/>
          <p:nvPr/>
        </p:nvSpPr>
        <p:spPr>
          <a:xfrm>
            <a:off x="6837759" y="6714034"/>
            <a:ext cx="7269659" cy="9525"/>
          </a:xfrm>
          <a:prstGeom prst="rect">
            <a:avLst/>
          </a:prstGeom>
          <a:solidFill>
            <a:srgbClr val="C9CFD8"/>
          </a:solidFill>
          <a:ln/>
        </p:spPr>
      </p:sp>
      <p:sp>
        <p:nvSpPr>
          <p:cNvPr id="42" name="Text 40"/>
          <p:cNvSpPr/>
          <p:nvPr/>
        </p:nvSpPr>
        <p:spPr>
          <a:xfrm>
            <a:off x="7066359" y="6183610"/>
            <a:ext cx="7030548"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Headline number with optional comparison vs prior period.</a:t>
            </a:r>
            <a:endParaRPr lang="en-US" sz="1275" dirty="0"/>
          </a:p>
        </p:txBody>
      </p:sp>
      <p:sp>
        <p:nvSpPr>
          <p:cNvPr id="43" name="Shape 41"/>
          <p:cNvSpPr/>
          <p:nvPr/>
        </p:nvSpPr>
        <p:spPr>
          <a:xfrm>
            <a:off x="14107418" y="6714034"/>
            <a:ext cx="2961382" cy="9525"/>
          </a:xfrm>
          <a:prstGeom prst="rect">
            <a:avLst/>
          </a:prstGeom>
          <a:solidFill>
            <a:srgbClr val="C9CFD8"/>
          </a:solidFill>
          <a:ln/>
        </p:spPr>
      </p:sp>
      <p:sp>
        <p:nvSpPr>
          <p:cNvPr id="44" name="Text 42"/>
          <p:cNvSpPr/>
          <p:nvPr/>
        </p:nvSpPr>
        <p:spPr>
          <a:xfrm>
            <a:off x="14336018" y="6183610"/>
            <a:ext cx="2593023"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Multi-axis line</a:t>
            </a:r>
            <a:endParaRPr lang="en-US" sz="1275" dirty="0"/>
          </a:p>
        </p:txBody>
      </p:sp>
      <p:sp>
        <p:nvSpPr>
          <p:cNvPr id="45" name="Shape 43"/>
          <p:cNvSpPr/>
          <p:nvPr/>
        </p:nvSpPr>
        <p:spPr>
          <a:xfrm>
            <a:off x="1219200" y="7422257"/>
            <a:ext cx="2552700" cy="9525"/>
          </a:xfrm>
          <a:prstGeom prst="rect">
            <a:avLst/>
          </a:prstGeom>
          <a:solidFill>
            <a:srgbClr val="C9CFD8"/>
          </a:solidFill>
          <a:ln/>
        </p:spPr>
      </p:sp>
      <p:sp>
        <p:nvSpPr>
          <p:cNvPr id="46" name="Text 44"/>
          <p:cNvSpPr/>
          <p:nvPr/>
        </p:nvSpPr>
        <p:spPr>
          <a:xfrm>
            <a:off x="1447800" y="6891834"/>
            <a:ext cx="2172081" cy="397073"/>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ARE TWO METRICS CORRELATED?</a:t>
            </a:r>
            <a:endParaRPr lang="en-US" sz="975" dirty="0"/>
          </a:p>
        </p:txBody>
      </p:sp>
      <p:sp>
        <p:nvSpPr>
          <p:cNvPr id="47" name="Shape 45"/>
          <p:cNvSpPr/>
          <p:nvPr/>
        </p:nvSpPr>
        <p:spPr>
          <a:xfrm>
            <a:off x="3771900" y="7422257"/>
            <a:ext cx="3065859" cy="9525"/>
          </a:xfrm>
          <a:prstGeom prst="rect">
            <a:avLst/>
          </a:prstGeom>
          <a:solidFill>
            <a:srgbClr val="C9CFD8"/>
          </a:solidFill>
          <a:ln/>
        </p:spPr>
      </p:sp>
      <p:sp>
        <p:nvSpPr>
          <p:cNvPr id="48" name="Text 46"/>
          <p:cNvSpPr/>
          <p:nvPr/>
        </p:nvSpPr>
        <p:spPr>
          <a:xfrm>
            <a:off x="4000500" y="6891834"/>
            <a:ext cx="2700635"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Scatter</a:t>
            </a:r>
            <a:endParaRPr lang="en-US" sz="1275" dirty="0"/>
          </a:p>
        </p:txBody>
      </p:sp>
      <p:sp>
        <p:nvSpPr>
          <p:cNvPr id="49" name="Shape 47"/>
          <p:cNvSpPr/>
          <p:nvPr/>
        </p:nvSpPr>
        <p:spPr>
          <a:xfrm>
            <a:off x="6837759" y="7422257"/>
            <a:ext cx="7269659" cy="9525"/>
          </a:xfrm>
          <a:prstGeom prst="rect">
            <a:avLst/>
          </a:prstGeom>
          <a:solidFill>
            <a:srgbClr val="C9CFD8"/>
          </a:solidFill>
          <a:ln/>
        </p:spPr>
      </p:sp>
      <p:sp>
        <p:nvSpPr>
          <p:cNvPr id="50" name="Text 48"/>
          <p:cNvSpPr/>
          <p:nvPr/>
        </p:nvSpPr>
        <p:spPr>
          <a:xfrm>
            <a:off x="7066359" y="6891834"/>
            <a:ext cx="7030548"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Each dot is an observation; pattern reveals correlation.</a:t>
            </a:r>
            <a:endParaRPr lang="en-US" sz="1275" dirty="0"/>
          </a:p>
        </p:txBody>
      </p:sp>
      <p:sp>
        <p:nvSpPr>
          <p:cNvPr id="51" name="Shape 49"/>
          <p:cNvSpPr/>
          <p:nvPr/>
        </p:nvSpPr>
        <p:spPr>
          <a:xfrm>
            <a:off x="14107418" y="7422257"/>
            <a:ext cx="2961382" cy="9525"/>
          </a:xfrm>
          <a:prstGeom prst="rect">
            <a:avLst/>
          </a:prstGeom>
          <a:solidFill>
            <a:srgbClr val="C9CFD8"/>
          </a:solidFill>
          <a:ln/>
        </p:spPr>
      </p:sp>
      <p:sp>
        <p:nvSpPr>
          <p:cNvPr id="52" name="Text 50"/>
          <p:cNvSpPr/>
          <p:nvPr/>
        </p:nvSpPr>
        <p:spPr>
          <a:xfrm>
            <a:off x="14336018" y="6891834"/>
            <a:ext cx="2593023"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Two separate lines</a:t>
            </a:r>
            <a:endParaRPr lang="en-US" sz="1275" dirty="0"/>
          </a:p>
        </p:txBody>
      </p:sp>
      <p:sp>
        <p:nvSpPr>
          <p:cNvPr id="53" name="Shape 51"/>
          <p:cNvSpPr/>
          <p:nvPr/>
        </p:nvSpPr>
        <p:spPr>
          <a:xfrm>
            <a:off x="1219200" y="8130481"/>
            <a:ext cx="2552700" cy="9525"/>
          </a:xfrm>
          <a:prstGeom prst="rect">
            <a:avLst/>
          </a:prstGeom>
          <a:solidFill>
            <a:srgbClr val="C9CFD8"/>
          </a:solidFill>
          <a:ln/>
        </p:spPr>
      </p:sp>
      <p:sp>
        <p:nvSpPr>
          <p:cNvPr id="54" name="Text 52"/>
          <p:cNvSpPr/>
          <p:nvPr/>
        </p:nvSpPr>
        <p:spPr>
          <a:xfrm>
            <a:off x="1447800" y="7600057"/>
            <a:ext cx="2172081" cy="397073"/>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HOW DOES THE FUNNEL NARROW?</a:t>
            </a:r>
            <a:endParaRPr lang="en-US" sz="975" dirty="0"/>
          </a:p>
        </p:txBody>
      </p:sp>
      <p:sp>
        <p:nvSpPr>
          <p:cNvPr id="55" name="Shape 53"/>
          <p:cNvSpPr/>
          <p:nvPr/>
        </p:nvSpPr>
        <p:spPr>
          <a:xfrm>
            <a:off x="3771900" y="8130481"/>
            <a:ext cx="3065859" cy="9525"/>
          </a:xfrm>
          <a:prstGeom prst="rect">
            <a:avLst/>
          </a:prstGeom>
          <a:solidFill>
            <a:srgbClr val="C9CFD8"/>
          </a:solidFill>
          <a:ln/>
        </p:spPr>
      </p:sp>
      <p:sp>
        <p:nvSpPr>
          <p:cNvPr id="56" name="Text 54"/>
          <p:cNvSpPr/>
          <p:nvPr/>
        </p:nvSpPr>
        <p:spPr>
          <a:xfrm>
            <a:off x="4000500" y="7600057"/>
            <a:ext cx="2700635"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Funnel</a:t>
            </a:r>
            <a:endParaRPr lang="en-US" sz="1275" dirty="0"/>
          </a:p>
        </p:txBody>
      </p:sp>
      <p:sp>
        <p:nvSpPr>
          <p:cNvPr id="57" name="Shape 55"/>
          <p:cNvSpPr/>
          <p:nvPr/>
        </p:nvSpPr>
        <p:spPr>
          <a:xfrm>
            <a:off x="6837759" y="8130481"/>
            <a:ext cx="7269659" cy="9525"/>
          </a:xfrm>
          <a:prstGeom prst="rect">
            <a:avLst/>
          </a:prstGeom>
          <a:solidFill>
            <a:srgbClr val="C9CFD8"/>
          </a:solidFill>
          <a:ln/>
        </p:spPr>
      </p:sp>
      <p:sp>
        <p:nvSpPr>
          <p:cNvPr id="58" name="Text 56"/>
          <p:cNvSpPr/>
          <p:nvPr/>
        </p:nvSpPr>
        <p:spPr>
          <a:xfrm>
            <a:off x="7066359" y="7600057"/>
            <a:ext cx="7030548"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Drop-off between stages is the metric.</a:t>
            </a:r>
            <a:endParaRPr lang="en-US" sz="1275" dirty="0"/>
          </a:p>
        </p:txBody>
      </p:sp>
      <p:sp>
        <p:nvSpPr>
          <p:cNvPr id="59" name="Shape 57"/>
          <p:cNvSpPr/>
          <p:nvPr/>
        </p:nvSpPr>
        <p:spPr>
          <a:xfrm>
            <a:off x="14107418" y="8130481"/>
            <a:ext cx="2961382" cy="9525"/>
          </a:xfrm>
          <a:prstGeom prst="rect">
            <a:avLst/>
          </a:prstGeom>
          <a:solidFill>
            <a:srgbClr val="C9CFD8"/>
          </a:solidFill>
          <a:ln/>
        </p:spPr>
      </p:sp>
      <p:sp>
        <p:nvSpPr>
          <p:cNvPr id="60" name="Text 58"/>
          <p:cNvSpPr/>
          <p:nvPr/>
        </p:nvSpPr>
        <p:spPr>
          <a:xfrm>
            <a:off x="14336018" y="7600057"/>
            <a:ext cx="2593023" cy="397073"/>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Bar chart per stage</a:t>
            </a:r>
            <a:endParaRPr lang="en-US" sz="1275" dirty="0"/>
          </a:p>
        </p:txBody>
      </p:sp>
      <p:sp>
        <p:nvSpPr>
          <p:cNvPr id="61" name="Shape 59"/>
          <p:cNvSpPr/>
          <p:nvPr/>
        </p:nvSpPr>
        <p:spPr>
          <a:xfrm>
            <a:off x="1219200" y="8714482"/>
            <a:ext cx="2552700" cy="9525"/>
          </a:xfrm>
          <a:prstGeom prst="rect">
            <a:avLst/>
          </a:prstGeom>
          <a:solidFill>
            <a:srgbClr val="C9CFD8"/>
          </a:solidFill>
          <a:ln/>
        </p:spPr>
      </p:sp>
      <p:sp>
        <p:nvSpPr>
          <p:cNvPr id="62" name="Text 60"/>
          <p:cNvSpPr/>
          <p:nvPr/>
        </p:nvSpPr>
        <p:spPr>
          <a:xfrm>
            <a:off x="1447800" y="8308281"/>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GEO DISTRIBUTION?</a:t>
            </a:r>
            <a:endParaRPr lang="en-US" sz="975" dirty="0"/>
          </a:p>
        </p:txBody>
      </p:sp>
      <p:sp>
        <p:nvSpPr>
          <p:cNvPr id="63" name="Shape 61"/>
          <p:cNvSpPr/>
          <p:nvPr/>
        </p:nvSpPr>
        <p:spPr>
          <a:xfrm>
            <a:off x="3771900" y="8714482"/>
            <a:ext cx="3065859" cy="9525"/>
          </a:xfrm>
          <a:prstGeom prst="rect">
            <a:avLst/>
          </a:prstGeom>
          <a:solidFill>
            <a:srgbClr val="C9CFD8"/>
          </a:solidFill>
          <a:ln/>
        </p:spPr>
      </p:sp>
      <p:sp>
        <p:nvSpPr>
          <p:cNvPr id="64" name="Text 62"/>
          <p:cNvSpPr/>
          <p:nvPr/>
        </p:nvSpPr>
        <p:spPr>
          <a:xfrm>
            <a:off x="4000500" y="8308281"/>
            <a:ext cx="270063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Map</a:t>
            </a:r>
            <a:endParaRPr lang="en-US" sz="1275" dirty="0"/>
          </a:p>
        </p:txBody>
      </p:sp>
      <p:sp>
        <p:nvSpPr>
          <p:cNvPr id="65" name="Shape 63"/>
          <p:cNvSpPr/>
          <p:nvPr/>
        </p:nvSpPr>
        <p:spPr>
          <a:xfrm>
            <a:off x="6837759" y="8714482"/>
            <a:ext cx="7269659" cy="9525"/>
          </a:xfrm>
          <a:prstGeom prst="rect">
            <a:avLst/>
          </a:prstGeom>
          <a:solidFill>
            <a:srgbClr val="C9CFD8"/>
          </a:solidFill>
          <a:ln/>
        </p:spPr>
      </p:sp>
      <p:sp>
        <p:nvSpPr>
          <p:cNvPr id="66" name="Text 64"/>
          <p:cNvSpPr/>
          <p:nvPr/>
        </p:nvSpPr>
        <p:spPr>
          <a:xfrm>
            <a:off x="7066359" y="8308281"/>
            <a:ext cx="7030548"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Spatial questions need a spatial answer.</a:t>
            </a:r>
            <a:endParaRPr lang="en-US" sz="1275" dirty="0"/>
          </a:p>
        </p:txBody>
      </p:sp>
      <p:sp>
        <p:nvSpPr>
          <p:cNvPr id="67" name="Shape 65"/>
          <p:cNvSpPr/>
          <p:nvPr/>
        </p:nvSpPr>
        <p:spPr>
          <a:xfrm>
            <a:off x="14107418" y="8714482"/>
            <a:ext cx="2961382" cy="9525"/>
          </a:xfrm>
          <a:prstGeom prst="rect">
            <a:avLst/>
          </a:prstGeom>
          <a:solidFill>
            <a:srgbClr val="C9CFD8"/>
          </a:solidFill>
          <a:ln/>
        </p:spPr>
      </p:sp>
      <p:sp>
        <p:nvSpPr>
          <p:cNvPr id="68" name="Text 66"/>
          <p:cNvSpPr/>
          <p:nvPr/>
        </p:nvSpPr>
        <p:spPr>
          <a:xfrm>
            <a:off x="14336018" y="8308281"/>
            <a:ext cx="25930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Table of regions</a:t>
            </a:r>
            <a:endParaRPr lang="en-US" sz="1275" dirty="0"/>
          </a:p>
        </p:txBody>
      </p:sp>
      <p:sp>
        <p:nvSpPr>
          <p:cNvPr id="69" name="Text 6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70" name="Text 6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27 / 60</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CREATE A DASHBOARD</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From an empty page to a shareable URL in five steps.</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exam will phrase this as "what is the correct order of steps to publish a dashboard?". Read this slide and the next two — they cover the full lifecycle.</a:t>
            </a:r>
            <a:endParaRPr lang="en-US" sz="1650" dirty="0"/>
          </a:p>
        </p:txBody>
      </p:sp>
      <p:sp>
        <p:nvSpPr>
          <p:cNvPr id="9" name="Shape 7"/>
          <p:cNvSpPr/>
          <p:nvPr/>
        </p:nvSpPr>
        <p:spPr>
          <a:xfrm>
            <a:off x="1219200" y="5044877"/>
            <a:ext cx="2773660" cy="1791891"/>
          </a:xfrm>
          <a:prstGeom prst="roundRect">
            <a:avLst>
              <a:gd name="adj" fmla="val 7442"/>
            </a:avLst>
          </a:prstGeom>
          <a:solidFill>
            <a:srgbClr val="F1F2F4"/>
          </a:solidFill>
          <a:ln/>
        </p:spPr>
      </p:sp>
      <p:sp>
        <p:nvSpPr>
          <p:cNvPr id="10" name="Shape 8"/>
          <p:cNvSpPr/>
          <p:nvPr/>
        </p:nvSpPr>
        <p:spPr>
          <a:xfrm>
            <a:off x="1219200" y="5044877"/>
            <a:ext cx="2773660" cy="38100"/>
          </a:xfrm>
          <a:prstGeom prst="rect">
            <a:avLst/>
          </a:prstGeom>
          <a:solidFill>
            <a:srgbClr val="FF671F"/>
          </a:solidFill>
          <a:ln/>
        </p:spPr>
      </p:sp>
      <p:sp>
        <p:nvSpPr>
          <p:cNvPr id="11" name="Text 9"/>
          <p:cNvSpPr/>
          <p:nvPr/>
        </p:nvSpPr>
        <p:spPr>
          <a:xfrm>
            <a:off x="1485900" y="5349677"/>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01</a:t>
            </a:r>
            <a:endParaRPr lang="en-US" sz="900" dirty="0"/>
          </a:p>
        </p:txBody>
      </p:sp>
      <p:sp>
        <p:nvSpPr>
          <p:cNvPr id="12" name="Text 10"/>
          <p:cNvSpPr/>
          <p:nvPr/>
        </p:nvSpPr>
        <p:spPr>
          <a:xfrm>
            <a:off x="1485900" y="5590977"/>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New dashboard</a:t>
            </a:r>
            <a:endParaRPr lang="en-US" sz="1650" dirty="0"/>
          </a:p>
        </p:txBody>
      </p:sp>
      <p:sp>
        <p:nvSpPr>
          <p:cNvPr id="13" name="Text 11"/>
          <p:cNvSpPr/>
          <p:nvPr/>
        </p:nvSpPr>
        <p:spPr>
          <a:xfrm>
            <a:off x="1485900" y="5927130"/>
            <a:ext cx="2316460" cy="681038"/>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From Browse → New → Dashboard. Pick a folder, give it a name.</a:t>
            </a:r>
            <a:endParaRPr lang="en-US" sz="1125" dirty="0"/>
          </a:p>
        </p:txBody>
      </p:sp>
      <p:sp>
        <p:nvSpPr>
          <p:cNvPr id="14" name="Text 12"/>
          <p:cNvSpPr/>
          <p:nvPr/>
        </p:nvSpPr>
        <p:spPr>
          <a:xfrm>
            <a:off x="4088110" y="5769372"/>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15" name="Shape 13"/>
          <p:cNvSpPr/>
          <p:nvPr/>
        </p:nvSpPr>
        <p:spPr>
          <a:xfrm>
            <a:off x="4488160" y="5044877"/>
            <a:ext cx="2773660" cy="1791891"/>
          </a:xfrm>
          <a:prstGeom prst="roundRect">
            <a:avLst>
              <a:gd name="adj" fmla="val 7442"/>
            </a:avLst>
          </a:prstGeom>
          <a:solidFill>
            <a:srgbClr val="F1F2F4"/>
          </a:solidFill>
          <a:ln/>
        </p:spPr>
      </p:sp>
      <p:sp>
        <p:nvSpPr>
          <p:cNvPr id="16" name="Shape 14"/>
          <p:cNvSpPr/>
          <p:nvPr/>
        </p:nvSpPr>
        <p:spPr>
          <a:xfrm>
            <a:off x="4488160" y="5044877"/>
            <a:ext cx="2773660" cy="38100"/>
          </a:xfrm>
          <a:prstGeom prst="rect">
            <a:avLst/>
          </a:prstGeom>
          <a:solidFill>
            <a:srgbClr val="FF671F"/>
          </a:solidFill>
          <a:ln/>
        </p:spPr>
      </p:sp>
      <p:sp>
        <p:nvSpPr>
          <p:cNvPr id="17" name="Text 15"/>
          <p:cNvSpPr/>
          <p:nvPr/>
        </p:nvSpPr>
        <p:spPr>
          <a:xfrm>
            <a:off x="4754860" y="5349677"/>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02</a:t>
            </a:r>
            <a:endParaRPr lang="en-US" sz="900" dirty="0"/>
          </a:p>
        </p:txBody>
      </p:sp>
      <p:sp>
        <p:nvSpPr>
          <p:cNvPr id="18" name="Text 16"/>
          <p:cNvSpPr/>
          <p:nvPr/>
        </p:nvSpPr>
        <p:spPr>
          <a:xfrm>
            <a:off x="4754860" y="5590977"/>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Add tiles</a:t>
            </a:r>
            <a:endParaRPr lang="en-US" sz="1650" dirty="0"/>
          </a:p>
        </p:txBody>
      </p:sp>
      <p:sp>
        <p:nvSpPr>
          <p:cNvPr id="19" name="Text 17"/>
          <p:cNvSpPr/>
          <p:nvPr/>
        </p:nvSpPr>
        <p:spPr>
          <a:xfrm>
            <a:off x="4754860" y="5927130"/>
            <a:ext cx="2316460" cy="681038"/>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From an Explore (Save → Dashboard) or by linking an existing Look.</a:t>
            </a:r>
            <a:endParaRPr lang="en-US" sz="1125" dirty="0"/>
          </a:p>
        </p:txBody>
      </p:sp>
      <p:sp>
        <p:nvSpPr>
          <p:cNvPr id="20" name="Text 18"/>
          <p:cNvSpPr/>
          <p:nvPr/>
        </p:nvSpPr>
        <p:spPr>
          <a:xfrm>
            <a:off x="7357071" y="5769372"/>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21" name="Shape 19"/>
          <p:cNvSpPr/>
          <p:nvPr/>
        </p:nvSpPr>
        <p:spPr>
          <a:xfrm>
            <a:off x="7757121" y="5044877"/>
            <a:ext cx="2773660" cy="1791891"/>
          </a:xfrm>
          <a:prstGeom prst="roundRect">
            <a:avLst>
              <a:gd name="adj" fmla="val 7442"/>
            </a:avLst>
          </a:prstGeom>
          <a:solidFill>
            <a:srgbClr val="F1F2F4"/>
          </a:solidFill>
          <a:ln/>
        </p:spPr>
      </p:sp>
      <p:sp>
        <p:nvSpPr>
          <p:cNvPr id="22" name="Shape 20"/>
          <p:cNvSpPr/>
          <p:nvPr/>
        </p:nvSpPr>
        <p:spPr>
          <a:xfrm>
            <a:off x="7757121" y="5044877"/>
            <a:ext cx="2773660" cy="38100"/>
          </a:xfrm>
          <a:prstGeom prst="rect">
            <a:avLst/>
          </a:prstGeom>
          <a:solidFill>
            <a:srgbClr val="FF671F"/>
          </a:solidFill>
          <a:ln/>
        </p:spPr>
      </p:sp>
      <p:sp>
        <p:nvSpPr>
          <p:cNvPr id="23" name="Text 21"/>
          <p:cNvSpPr/>
          <p:nvPr/>
        </p:nvSpPr>
        <p:spPr>
          <a:xfrm>
            <a:off x="8023821" y="5349677"/>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03</a:t>
            </a:r>
            <a:endParaRPr lang="en-US" sz="900" dirty="0"/>
          </a:p>
        </p:txBody>
      </p:sp>
      <p:sp>
        <p:nvSpPr>
          <p:cNvPr id="24" name="Text 22"/>
          <p:cNvSpPr/>
          <p:nvPr/>
        </p:nvSpPr>
        <p:spPr>
          <a:xfrm>
            <a:off x="8023821" y="5590977"/>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Add filters</a:t>
            </a:r>
            <a:endParaRPr lang="en-US" sz="1650" dirty="0"/>
          </a:p>
        </p:txBody>
      </p:sp>
      <p:sp>
        <p:nvSpPr>
          <p:cNvPr id="25" name="Text 23"/>
          <p:cNvSpPr/>
          <p:nvPr/>
        </p:nvSpPr>
        <p:spPr>
          <a:xfrm>
            <a:off x="8023821" y="5927130"/>
            <a:ext cx="231646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Define dashboard filters and map them to fields on each tile.</a:t>
            </a:r>
            <a:endParaRPr lang="en-US" sz="1125" dirty="0"/>
          </a:p>
        </p:txBody>
      </p:sp>
      <p:sp>
        <p:nvSpPr>
          <p:cNvPr id="26" name="Text 24"/>
          <p:cNvSpPr/>
          <p:nvPr/>
        </p:nvSpPr>
        <p:spPr>
          <a:xfrm>
            <a:off x="10626030" y="5769372"/>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27" name="Shape 25"/>
          <p:cNvSpPr/>
          <p:nvPr/>
        </p:nvSpPr>
        <p:spPr>
          <a:xfrm>
            <a:off x="11026080" y="5044877"/>
            <a:ext cx="2773660" cy="1791891"/>
          </a:xfrm>
          <a:prstGeom prst="roundRect">
            <a:avLst>
              <a:gd name="adj" fmla="val 7442"/>
            </a:avLst>
          </a:prstGeom>
          <a:solidFill>
            <a:srgbClr val="F1F2F4"/>
          </a:solidFill>
          <a:ln/>
        </p:spPr>
      </p:sp>
      <p:sp>
        <p:nvSpPr>
          <p:cNvPr id="28" name="Shape 26"/>
          <p:cNvSpPr/>
          <p:nvPr/>
        </p:nvSpPr>
        <p:spPr>
          <a:xfrm>
            <a:off x="11026080" y="5044877"/>
            <a:ext cx="2773660" cy="38100"/>
          </a:xfrm>
          <a:prstGeom prst="rect">
            <a:avLst/>
          </a:prstGeom>
          <a:solidFill>
            <a:srgbClr val="FF671F"/>
          </a:solidFill>
          <a:ln/>
        </p:spPr>
      </p:sp>
      <p:sp>
        <p:nvSpPr>
          <p:cNvPr id="29" name="Text 27"/>
          <p:cNvSpPr/>
          <p:nvPr/>
        </p:nvSpPr>
        <p:spPr>
          <a:xfrm>
            <a:off x="11292780" y="5349677"/>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04</a:t>
            </a:r>
            <a:endParaRPr lang="en-US" sz="900" dirty="0"/>
          </a:p>
        </p:txBody>
      </p:sp>
      <p:sp>
        <p:nvSpPr>
          <p:cNvPr id="30" name="Text 28"/>
          <p:cNvSpPr/>
          <p:nvPr/>
        </p:nvSpPr>
        <p:spPr>
          <a:xfrm>
            <a:off x="11292780" y="5590977"/>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Layout</a:t>
            </a:r>
            <a:endParaRPr lang="en-US" sz="1650" dirty="0"/>
          </a:p>
        </p:txBody>
      </p:sp>
      <p:sp>
        <p:nvSpPr>
          <p:cNvPr id="31" name="Text 29"/>
          <p:cNvSpPr/>
          <p:nvPr/>
        </p:nvSpPr>
        <p:spPr>
          <a:xfrm>
            <a:off x="11292780" y="5927130"/>
            <a:ext cx="231646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Drag tiles into rows. Add text tiles for section headers.</a:t>
            </a:r>
            <a:endParaRPr lang="en-US" sz="1125" dirty="0"/>
          </a:p>
        </p:txBody>
      </p:sp>
      <p:sp>
        <p:nvSpPr>
          <p:cNvPr id="32" name="Text 30"/>
          <p:cNvSpPr/>
          <p:nvPr/>
        </p:nvSpPr>
        <p:spPr>
          <a:xfrm>
            <a:off x="13894991" y="5769372"/>
            <a:ext cx="304800" cy="381000"/>
          </a:xfrm>
          <a:prstGeom prst="rect">
            <a:avLst/>
          </a:prstGeom>
          <a:noFill/>
          <a:ln/>
        </p:spPr>
        <p:txBody>
          <a:bodyPr wrap="square" lIns="25400" tIns="25400" rIns="25400" bIns="25400" rtlCol="0" anchor="t">
            <a:normAutofit/>
          </a:bodyPr>
          <a:lstStyle/>
          <a:p>
            <a:pPr algn="ctr" indent="0" marL="0">
              <a:lnSpc>
                <a:spcPct val="100000"/>
              </a:lnSpc>
              <a:buNone/>
            </a:pPr>
            <a:r>
              <a:rPr lang="en-US" sz="2700" dirty="0">
                <a:solidFill>
                  <a:srgbClr val="FF671F"/>
                </a:solidFill>
                <a:latin typeface="Manrope" pitchFamily="34" charset="0"/>
                <a:ea typeface="Manrope" pitchFamily="34" charset="-122"/>
                <a:cs typeface="Manrope" pitchFamily="34" charset="-120"/>
              </a:rPr>
              <a:t>→</a:t>
            </a:r>
            <a:endParaRPr lang="en-US" sz="2700" dirty="0"/>
          </a:p>
        </p:txBody>
      </p:sp>
      <p:sp>
        <p:nvSpPr>
          <p:cNvPr id="33" name="Shape 31"/>
          <p:cNvSpPr/>
          <p:nvPr/>
        </p:nvSpPr>
        <p:spPr>
          <a:xfrm>
            <a:off x="14295041" y="5044877"/>
            <a:ext cx="2773660" cy="1791891"/>
          </a:xfrm>
          <a:prstGeom prst="roundRect">
            <a:avLst>
              <a:gd name="adj" fmla="val 7442"/>
            </a:avLst>
          </a:prstGeom>
          <a:solidFill>
            <a:srgbClr val="F1F2F4"/>
          </a:solidFill>
          <a:ln/>
        </p:spPr>
      </p:sp>
      <p:sp>
        <p:nvSpPr>
          <p:cNvPr id="34" name="Shape 32"/>
          <p:cNvSpPr/>
          <p:nvPr/>
        </p:nvSpPr>
        <p:spPr>
          <a:xfrm>
            <a:off x="14295041" y="5044877"/>
            <a:ext cx="2773660" cy="38100"/>
          </a:xfrm>
          <a:prstGeom prst="rect">
            <a:avLst/>
          </a:prstGeom>
          <a:solidFill>
            <a:srgbClr val="FF671F"/>
          </a:solidFill>
          <a:ln/>
        </p:spPr>
      </p:sp>
      <p:sp>
        <p:nvSpPr>
          <p:cNvPr id="35" name="Text 33"/>
          <p:cNvSpPr/>
          <p:nvPr/>
        </p:nvSpPr>
        <p:spPr>
          <a:xfrm>
            <a:off x="14561741" y="5349677"/>
            <a:ext cx="2316460"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05</a:t>
            </a:r>
            <a:endParaRPr lang="en-US" sz="900" dirty="0"/>
          </a:p>
        </p:txBody>
      </p:sp>
      <p:sp>
        <p:nvSpPr>
          <p:cNvPr id="36" name="Text 34"/>
          <p:cNvSpPr/>
          <p:nvPr/>
        </p:nvSpPr>
        <p:spPr>
          <a:xfrm>
            <a:off x="14561741" y="5590977"/>
            <a:ext cx="2316460" cy="279003"/>
          </a:xfrm>
          <a:prstGeom prst="rect">
            <a:avLst/>
          </a:prstGeom>
          <a:noFill/>
          <a:ln/>
        </p:spPr>
        <p:txBody>
          <a:bodyPr wrap="square" lIns="25400" tIns="25400" rIns="25400" bIns="25400" rtlCol="0" anchor="t">
            <a:normAutofit/>
          </a:bodyPr>
          <a:lstStyle/>
          <a:p>
            <a:pPr algn="l" indent="0" marL="0">
              <a:lnSpc>
                <a:spcPct val="115000"/>
              </a:lnSpc>
              <a:buNone/>
            </a:pPr>
            <a:r>
              <a:rPr lang="en-US" sz="1650" b="1" spc="-8" kern="0" dirty="0">
                <a:solidFill>
                  <a:srgbClr val="1B1F2A"/>
                </a:solidFill>
                <a:latin typeface="Manrope" pitchFamily="34" charset="0"/>
                <a:ea typeface="Manrope" pitchFamily="34" charset="-122"/>
                <a:cs typeface="Manrope" pitchFamily="34" charset="-120"/>
              </a:rPr>
              <a:t>Share</a:t>
            </a:r>
            <a:endParaRPr lang="en-US" sz="1650" dirty="0"/>
          </a:p>
        </p:txBody>
      </p:sp>
      <p:sp>
        <p:nvSpPr>
          <p:cNvPr id="37" name="Text 35"/>
          <p:cNvSpPr/>
          <p:nvPr/>
        </p:nvSpPr>
        <p:spPr>
          <a:xfrm>
            <a:off x="14561741" y="5927130"/>
            <a:ext cx="2316460" cy="466725"/>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Save → set permissions → send link, schedule or embed.</a:t>
            </a:r>
            <a:endParaRPr lang="en-US" sz="1125" dirty="0"/>
          </a:p>
        </p:txBody>
      </p:sp>
      <p:sp>
        <p:nvSpPr>
          <p:cNvPr id="38" name="Shape 36"/>
          <p:cNvSpPr/>
          <p:nvPr/>
        </p:nvSpPr>
        <p:spPr>
          <a:xfrm>
            <a:off x="1219200" y="7141568"/>
            <a:ext cx="15849600" cy="825500"/>
          </a:xfrm>
          <a:prstGeom prst="roundRect">
            <a:avLst>
              <a:gd name="adj" fmla="val 16154"/>
            </a:avLst>
          </a:prstGeom>
          <a:solidFill>
            <a:srgbClr val="F1F2F4"/>
          </a:solidFill>
          <a:ln/>
        </p:spPr>
      </p:sp>
      <p:sp>
        <p:nvSpPr>
          <p:cNvPr id="39" name="Text 37"/>
          <p:cNvSpPr/>
          <p:nvPr/>
        </p:nvSpPr>
        <p:spPr>
          <a:xfrm>
            <a:off x="1485900" y="7332068"/>
            <a:ext cx="15791688" cy="482600"/>
          </a:xfrm>
          <a:prstGeom prst="rect">
            <a:avLst/>
          </a:prstGeom>
          <a:noFill/>
          <a:ln/>
        </p:spPr>
        <p:txBody>
          <a:bodyPr wrap="square" lIns="25400" tIns="25400" rIns="25400" bIns="25400" rtlCol="0" anchor="t">
            <a:normAutofit/>
          </a:bodyPr>
          <a:lstStyle/>
          <a:p>
            <a:pPr algn="l" indent="0" marL="0">
              <a:buNone/>
            </a:pPr>
            <a:r>
              <a:rPr lang="en-US" sz="1275" b="1" dirty="0">
                <a:solidFill>
                  <a:srgbClr val="1B1F2A"/>
                </a:solidFill>
                <a:latin typeface="Manrope" pitchFamily="34" charset="0"/>
                <a:ea typeface="Manrope" pitchFamily="34" charset="-122"/>
                <a:cs typeface="Manrope" pitchFamily="34" charset="-120"/>
              </a:rPr>
              <a:t>Two creation paths.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Modern </a:t>
            </a:r>
            <a:pPr algn="l" indent="0" marL="0">
              <a:buNone/>
            </a:pPr>
            <a:r>
              <a:rPr lang="en-US" sz="1275" b="1" dirty="0">
                <a:solidFill>
                  <a:srgbClr val="384358"/>
                </a:solidFill>
                <a:latin typeface="Manrope" pitchFamily="34" charset="0"/>
                <a:ea typeface="Manrope" pitchFamily="34" charset="-122"/>
                <a:cs typeface="Manrope" pitchFamily="34" charset="-120"/>
              </a:rPr>
              <a:t>user-defined dashboards (UDD)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are built in the UI and stored in the database. </a:t>
            </a:r>
            <a:pPr algn="l" indent="0" marL="0">
              <a:buNone/>
            </a:pPr>
            <a:r>
              <a:rPr lang="en-US" sz="1275" b="1" dirty="0">
                <a:solidFill>
                  <a:srgbClr val="384358"/>
                </a:solidFill>
                <a:latin typeface="Manrope" pitchFamily="34" charset="0"/>
                <a:ea typeface="Manrope" pitchFamily="34" charset="-122"/>
                <a:cs typeface="Manrope" pitchFamily="34" charset="-120"/>
              </a:rPr>
              <a:t>LookML dashboards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are version-controlled in Git and deployed alongside your model — best for templates and embedded apps.</a:t>
            </a:r>
            <a:endParaRPr lang="en-US" sz="1275" dirty="0"/>
          </a:p>
        </p:txBody>
      </p:sp>
      <p:sp>
        <p:nvSpPr>
          <p:cNvPr id="40" name="Text 3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1" name="Text 3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28 / 60</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ADDING TILES</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Three ways to add a tile.</a:t>
            </a:r>
            <a:endParaRPr lang="en-US" sz="4800" dirty="0"/>
          </a:p>
        </p:txBody>
      </p:sp>
      <p:sp>
        <p:nvSpPr>
          <p:cNvPr id="8" name="Text 6"/>
          <p:cNvSpPr/>
          <p:nvPr/>
        </p:nvSpPr>
        <p:spPr>
          <a:xfrm>
            <a:off x="1219200" y="2971205"/>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All three end up on the dashboard — pick based on whether you want the chart to live by itself, to be reused elsewhere, or to be a fresh ad-hoc query.</a:t>
            </a:r>
            <a:endParaRPr lang="en-US" sz="1650" dirty="0"/>
          </a:p>
        </p:txBody>
      </p:sp>
      <p:sp>
        <p:nvSpPr>
          <p:cNvPr id="9" name="Shape 7"/>
          <p:cNvSpPr/>
          <p:nvPr/>
        </p:nvSpPr>
        <p:spPr>
          <a:xfrm>
            <a:off x="1219200" y="3808413"/>
            <a:ext cx="5080000" cy="2772370"/>
          </a:xfrm>
          <a:prstGeom prst="roundRect">
            <a:avLst>
              <a:gd name="adj" fmla="val 4810"/>
            </a:avLst>
          </a:prstGeom>
          <a:solidFill>
            <a:srgbClr val="FFF7F1"/>
          </a:solidFill>
          <a:ln/>
        </p:spPr>
      </p:sp>
      <p:sp>
        <p:nvSpPr>
          <p:cNvPr id="10" name="Shape 8"/>
          <p:cNvSpPr/>
          <p:nvPr/>
        </p:nvSpPr>
        <p:spPr>
          <a:xfrm>
            <a:off x="1219200" y="3808413"/>
            <a:ext cx="5080000" cy="38100"/>
          </a:xfrm>
          <a:prstGeom prst="rect">
            <a:avLst/>
          </a:prstGeom>
          <a:solidFill>
            <a:srgbClr val="FF671F"/>
          </a:solidFill>
          <a:ln/>
        </p:spPr>
      </p:sp>
      <p:sp>
        <p:nvSpPr>
          <p:cNvPr id="11" name="Text 9"/>
          <p:cNvSpPr/>
          <p:nvPr/>
        </p:nvSpPr>
        <p:spPr>
          <a:xfrm>
            <a:off x="1524000" y="4151313"/>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PATH A · MOST COMMON</a:t>
            </a:r>
            <a:endParaRPr lang="en-US" sz="900" dirty="0"/>
          </a:p>
        </p:txBody>
      </p:sp>
      <p:sp>
        <p:nvSpPr>
          <p:cNvPr id="12" name="Text 10"/>
          <p:cNvSpPr/>
          <p:nvPr/>
        </p:nvSpPr>
        <p:spPr>
          <a:xfrm>
            <a:off x="1524000" y="4430713"/>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From an Explore.</a:t>
            </a:r>
            <a:endParaRPr lang="en-US" sz="1950" dirty="0"/>
          </a:p>
        </p:txBody>
      </p:sp>
      <p:sp>
        <p:nvSpPr>
          <p:cNvPr id="13" name="Text 11"/>
          <p:cNvSpPr/>
          <p:nvPr/>
        </p:nvSpPr>
        <p:spPr>
          <a:xfrm>
            <a:off x="1524000" y="484882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Build the chart in an Explore, click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Save → To dashboard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 Looker copies the query into the dashboard as a query tile.</a:t>
            </a:r>
            <a:endParaRPr lang="en-US" sz="1275" dirty="0"/>
          </a:p>
        </p:txBody>
      </p:sp>
      <p:sp>
        <p:nvSpPr>
          <p:cNvPr id="14" name="Shape 12"/>
          <p:cNvSpPr/>
          <p:nvPr/>
        </p:nvSpPr>
        <p:spPr>
          <a:xfrm>
            <a:off x="1524000" y="5601295"/>
            <a:ext cx="4470400" cy="431800"/>
          </a:xfrm>
          <a:prstGeom prst="roundRect">
            <a:avLst>
              <a:gd name="adj" fmla="val 17647"/>
            </a:avLst>
          </a:prstGeom>
          <a:solidFill>
            <a:srgbClr val="FFFFFF"/>
          </a:solidFill>
          <a:ln/>
        </p:spPr>
      </p:sp>
      <p:sp>
        <p:nvSpPr>
          <p:cNvPr id="15" name="Text 13"/>
          <p:cNvSpPr/>
          <p:nvPr/>
        </p:nvSpPr>
        <p:spPr>
          <a:xfrm>
            <a:off x="1657350" y="5734645"/>
            <a:ext cx="4337812" cy="20320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JetBrains Mono" pitchFamily="34" charset="0"/>
                <a:ea typeface="JetBrains Mono" pitchFamily="34" charset="-122"/>
                <a:cs typeface="JetBrains Mono" pitchFamily="34" charset="-120"/>
              </a:rPr>
              <a:t>Explore → Save → To dashboard → "Marketing — North Star"</a:t>
            </a:r>
            <a:endParaRPr lang="en-US" sz="975" dirty="0"/>
          </a:p>
        </p:txBody>
      </p:sp>
      <p:sp>
        <p:nvSpPr>
          <p:cNvPr id="16" name="Shape 14"/>
          <p:cNvSpPr/>
          <p:nvPr/>
        </p:nvSpPr>
        <p:spPr>
          <a:xfrm>
            <a:off x="6604000" y="3808413"/>
            <a:ext cx="5080000" cy="2772370"/>
          </a:xfrm>
          <a:prstGeom prst="roundRect">
            <a:avLst>
              <a:gd name="adj" fmla="val 4810"/>
            </a:avLst>
          </a:prstGeom>
          <a:solidFill>
            <a:srgbClr val="FFF7F1"/>
          </a:solidFill>
          <a:ln/>
        </p:spPr>
      </p:sp>
      <p:sp>
        <p:nvSpPr>
          <p:cNvPr id="17" name="Shape 15"/>
          <p:cNvSpPr/>
          <p:nvPr/>
        </p:nvSpPr>
        <p:spPr>
          <a:xfrm>
            <a:off x="6604000" y="3808413"/>
            <a:ext cx="5080000" cy="38100"/>
          </a:xfrm>
          <a:prstGeom prst="rect">
            <a:avLst/>
          </a:prstGeom>
          <a:solidFill>
            <a:srgbClr val="FF671F"/>
          </a:solidFill>
          <a:ln/>
        </p:spPr>
      </p:sp>
      <p:sp>
        <p:nvSpPr>
          <p:cNvPr id="18" name="Text 16"/>
          <p:cNvSpPr/>
          <p:nvPr/>
        </p:nvSpPr>
        <p:spPr>
          <a:xfrm>
            <a:off x="6908800" y="4151313"/>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PATH B · REUSABLE</a:t>
            </a:r>
            <a:endParaRPr lang="en-US" sz="900" dirty="0"/>
          </a:p>
        </p:txBody>
      </p:sp>
      <p:sp>
        <p:nvSpPr>
          <p:cNvPr id="19" name="Text 17"/>
          <p:cNvSpPr/>
          <p:nvPr/>
        </p:nvSpPr>
        <p:spPr>
          <a:xfrm>
            <a:off x="6908800" y="4430713"/>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From a saved Look.</a:t>
            </a:r>
            <a:endParaRPr lang="en-US" sz="1950" dirty="0"/>
          </a:p>
        </p:txBody>
      </p:sp>
      <p:sp>
        <p:nvSpPr>
          <p:cNvPr id="20" name="Text 18"/>
          <p:cNvSpPr/>
          <p:nvPr/>
        </p:nvSpPr>
        <p:spPr>
          <a:xfrm>
            <a:off x="6908800" y="4848820"/>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In edit mode, click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Add → Existing Look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 The tile is a live reference; updates to the Look propagate to every dashboard.</a:t>
            </a:r>
            <a:endParaRPr lang="en-US" sz="1275" dirty="0"/>
          </a:p>
        </p:txBody>
      </p:sp>
      <p:sp>
        <p:nvSpPr>
          <p:cNvPr id="21" name="Shape 19"/>
          <p:cNvSpPr/>
          <p:nvPr/>
        </p:nvSpPr>
        <p:spPr>
          <a:xfrm>
            <a:off x="6908800" y="5844183"/>
            <a:ext cx="4470400" cy="431800"/>
          </a:xfrm>
          <a:prstGeom prst="roundRect">
            <a:avLst>
              <a:gd name="adj" fmla="val 17647"/>
            </a:avLst>
          </a:prstGeom>
          <a:solidFill>
            <a:srgbClr val="FFFFFF"/>
          </a:solidFill>
          <a:ln/>
        </p:spPr>
      </p:sp>
      <p:sp>
        <p:nvSpPr>
          <p:cNvPr id="22" name="Text 20"/>
          <p:cNvSpPr/>
          <p:nvPr/>
        </p:nvSpPr>
        <p:spPr>
          <a:xfrm>
            <a:off x="7042150" y="5977533"/>
            <a:ext cx="4337812" cy="20320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JetBrains Mono" pitchFamily="34" charset="0"/>
                <a:ea typeface="JetBrains Mono" pitchFamily="34" charset="-122"/>
                <a:cs typeface="JetBrains Mono" pitchFamily="34" charset="-120"/>
              </a:rPr>
              <a:t>Dashboard edit → Add → Look → "DAU by Region"</a:t>
            </a:r>
            <a:endParaRPr lang="en-US" sz="975" dirty="0"/>
          </a:p>
        </p:txBody>
      </p:sp>
      <p:sp>
        <p:nvSpPr>
          <p:cNvPr id="23" name="Shape 21"/>
          <p:cNvSpPr/>
          <p:nvPr/>
        </p:nvSpPr>
        <p:spPr>
          <a:xfrm>
            <a:off x="11988801" y="3808413"/>
            <a:ext cx="5080000" cy="2772370"/>
          </a:xfrm>
          <a:prstGeom prst="roundRect">
            <a:avLst>
              <a:gd name="adj" fmla="val 4810"/>
            </a:avLst>
          </a:prstGeom>
          <a:solidFill>
            <a:srgbClr val="FFF7F1"/>
          </a:solidFill>
          <a:ln/>
        </p:spPr>
      </p:sp>
      <p:sp>
        <p:nvSpPr>
          <p:cNvPr id="24" name="Shape 22"/>
          <p:cNvSpPr/>
          <p:nvPr/>
        </p:nvSpPr>
        <p:spPr>
          <a:xfrm>
            <a:off x="11988801" y="3808413"/>
            <a:ext cx="5080000" cy="38100"/>
          </a:xfrm>
          <a:prstGeom prst="rect">
            <a:avLst/>
          </a:prstGeom>
          <a:solidFill>
            <a:srgbClr val="FF671F"/>
          </a:solidFill>
          <a:ln/>
        </p:spPr>
      </p:sp>
      <p:sp>
        <p:nvSpPr>
          <p:cNvPr id="25" name="Text 23"/>
          <p:cNvSpPr/>
          <p:nvPr/>
        </p:nvSpPr>
        <p:spPr>
          <a:xfrm>
            <a:off x="12293601" y="4151313"/>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PATH C · IN-PLACE</a:t>
            </a:r>
            <a:endParaRPr lang="en-US" sz="900" dirty="0"/>
          </a:p>
        </p:txBody>
      </p:sp>
      <p:sp>
        <p:nvSpPr>
          <p:cNvPr id="26" name="Text 24"/>
          <p:cNvSpPr/>
          <p:nvPr/>
        </p:nvSpPr>
        <p:spPr>
          <a:xfrm>
            <a:off x="12293601" y="4430713"/>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New tile from within the dashboard.</a:t>
            </a:r>
            <a:endParaRPr lang="en-US" sz="1950" dirty="0"/>
          </a:p>
        </p:txBody>
      </p:sp>
      <p:sp>
        <p:nvSpPr>
          <p:cNvPr id="27" name="Text 25"/>
          <p:cNvSpPr/>
          <p:nvPr/>
        </p:nvSpPr>
        <p:spPr>
          <a:xfrm>
            <a:off x="12293601" y="4848820"/>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Edit mode →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Add → Visualization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 Build the query without leaving the dashboard. The tile is owned by this dashboard only.</a:t>
            </a:r>
            <a:endParaRPr lang="en-US" sz="1275" dirty="0"/>
          </a:p>
        </p:txBody>
      </p:sp>
      <p:sp>
        <p:nvSpPr>
          <p:cNvPr id="28" name="Shape 26"/>
          <p:cNvSpPr/>
          <p:nvPr/>
        </p:nvSpPr>
        <p:spPr>
          <a:xfrm>
            <a:off x="12293601" y="5844183"/>
            <a:ext cx="4470400" cy="431800"/>
          </a:xfrm>
          <a:prstGeom prst="roundRect">
            <a:avLst>
              <a:gd name="adj" fmla="val 17647"/>
            </a:avLst>
          </a:prstGeom>
          <a:solidFill>
            <a:srgbClr val="FFFFFF"/>
          </a:solidFill>
          <a:ln/>
        </p:spPr>
      </p:sp>
      <p:sp>
        <p:nvSpPr>
          <p:cNvPr id="29" name="Text 27"/>
          <p:cNvSpPr/>
          <p:nvPr/>
        </p:nvSpPr>
        <p:spPr>
          <a:xfrm>
            <a:off x="12426951" y="5977533"/>
            <a:ext cx="4337812" cy="203200"/>
          </a:xfrm>
          <a:prstGeom prst="rect">
            <a:avLst/>
          </a:prstGeom>
          <a:noFill/>
          <a:ln/>
        </p:spPr>
        <p:txBody>
          <a:bodyPr wrap="square" lIns="25400" tIns="25400" rIns="25400" bIns="25400" rtlCol="0" anchor="t">
            <a:normAutofit/>
          </a:bodyPr>
          <a:lstStyle/>
          <a:p>
            <a:pPr algn="l" indent="0" marL="0">
              <a:buNone/>
            </a:pPr>
            <a:r>
              <a:rPr lang="en-US" sz="975" dirty="0">
                <a:solidFill>
                  <a:srgbClr val="384358"/>
                </a:solidFill>
                <a:latin typeface="JetBrains Mono" pitchFamily="34" charset="0"/>
                <a:ea typeface="JetBrains Mono" pitchFamily="34" charset="-122"/>
                <a:cs typeface="JetBrains Mono" pitchFamily="34" charset="-120"/>
              </a:rPr>
              <a:t>Dashboard edit → Add → New tile → pick Explore → build</a:t>
            </a:r>
            <a:endParaRPr lang="en-US" sz="975" dirty="0"/>
          </a:p>
        </p:txBody>
      </p:sp>
      <p:sp>
        <p:nvSpPr>
          <p:cNvPr id="30" name="Text 2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1" name="Text 2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29 / 60</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FILTER SCOPES</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Three filter levels — they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stack</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a:t>
            </a:r>
            <a:endParaRPr lang="en-US" sz="4800" dirty="0"/>
          </a:p>
        </p:txBody>
      </p:sp>
      <p:sp>
        <p:nvSpPr>
          <p:cNvPr id="8" name="Text 6"/>
          <p:cNvSpPr/>
          <p:nvPr/>
        </p:nvSpPr>
        <p:spPr>
          <a:xfrm>
            <a:off x="1219200" y="2971205"/>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single tile can have all three filters applied to it at once. The exam tests this — know which one wins.</a:t>
            </a:r>
            <a:endParaRPr lang="en-US" sz="1650" dirty="0"/>
          </a:p>
        </p:txBody>
      </p:sp>
      <p:sp>
        <p:nvSpPr>
          <p:cNvPr id="9" name="Shape 7"/>
          <p:cNvSpPr/>
          <p:nvPr/>
        </p:nvSpPr>
        <p:spPr>
          <a:xfrm>
            <a:off x="1219200" y="3503613"/>
            <a:ext cx="8395792" cy="1280120"/>
          </a:xfrm>
          <a:prstGeom prst="roundRect">
            <a:avLst>
              <a:gd name="adj" fmla="val 8929"/>
            </a:avLst>
          </a:prstGeom>
          <a:solidFill>
            <a:srgbClr val="FF671F"/>
          </a:solidFill>
          <a:ln/>
        </p:spPr>
      </p:sp>
      <p:sp>
        <p:nvSpPr>
          <p:cNvPr id="10" name="Shape 8"/>
          <p:cNvSpPr/>
          <p:nvPr/>
        </p:nvSpPr>
        <p:spPr>
          <a:xfrm>
            <a:off x="1492250" y="3838873"/>
            <a:ext cx="609600" cy="609600"/>
          </a:xfrm>
          <a:prstGeom prst="roundRect">
            <a:avLst>
              <a:gd name="adj" fmla="val 18750"/>
            </a:avLst>
          </a:prstGeom>
          <a:solidFill>
            <a:srgbClr val="FFFFFF">
              <a:alpha val="18000"/>
            </a:srgbClr>
          </a:solidFill>
          <a:ln/>
        </p:spPr>
      </p:sp>
      <p:sp>
        <p:nvSpPr>
          <p:cNvPr id="11" name="Text 9"/>
          <p:cNvSpPr/>
          <p:nvPr/>
        </p:nvSpPr>
        <p:spPr>
          <a:xfrm>
            <a:off x="1454150" y="3838873"/>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FFFF"/>
                </a:solidFill>
                <a:latin typeface="JetBrains Mono" pitchFamily="34" charset="0"/>
                <a:ea typeface="JetBrains Mono" pitchFamily="34" charset="-122"/>
                <a:cs typeface="JetBrains Mono" pitchFamily="34" charset="-120"/>
              </a:rPr>
              <a:t>1</a:t>
            </a:r>
            <a:endParaRPr lang="en-US" sz="1050" dirty="0"/>
          </a:p>
        </p:txBody>
      </p:sp>
      <p:sp>
        <p:nvSpPr>
          <p:cNvPr id="12" name="Text 10"/>
          <p:cNvSpPr/>
          <p:nvPr/>
        </p:nvSpPr>
        <p:spPr>
          <a:xfrm>
            <a:off x="2330450" y="3738563"/>
            <a:ext cx="7221837"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Dashboard filter</a:t>
            </a:r>
            <a:endParaRPr lang="en-US" sz="1800" dirty="0"/>
          </a:p>
        </p:txBody>
      </p:sp>
      <p:sp>
        <p:nvSpPr>
          <p:cNvPr id="13" name="Text 11"/>
          <p:cNvSpPr/>
          <p:nvPr/>
        </p:nvSpPr>
        <p:spPr>
          <a:xfrm>
            <a:off x="2330450" y="4106863"/>
            <a:ext cx="7221837" cy="48002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92000"/>
                  </a:srgbClr>
                </a:solidFill>
                <a:latin typeface="Manrope" pitchFamily="34" charset="0"/>
                <a:ea typeface="Manrope" pitchFamily="34" charset="-122"/>
                <a:cs typeface="Manrope" pitchFamily="34" charset="-120"/>
              </a:rPr>
              <a:t>Defined once in the title bar. Applies to every tile whose query exposes a matching field. Users can change it.</a:t>
            </a:r>
            <a:endParaRPr lang="en-US" sz="1200" dirty="0"/>
          </a:p>
        </p:txBody>
      </p:sp>
      <p:sp>
        <p:nvSpPr>
          <p:cNvPr id="14" name="Shape 12"/>
          <p:cNvSpPr/>
          <p:nvPr/>
        </p:nvSpPr>
        <p:spPr>
          <a:xfrm>
            <a:off x="1219200" y="4917083"/>
            <a:ext cx="8395792" cy="1079500"/>
          </a:xfrm>
          <a:prstGeom prst="roundRect">
            <a:avLst>
              <a:gd name="adj" fmla="val 10588"/>
            </a:avLst>
          </a:prstGeom>
          <a:solidFill>
            <a:srgbClr val="1B1F2A"/>
          </a:solidFill>
          <a:ln/>
        </p:spPr>
      </p:sp>
      <p:sp>
        <p:nvSpPr>
          <p:cNvPr id="15" name="Shape 13"/>
          <p:cNvSpPr/>
          <p:nvPr/>
        </p:nvSpPr>
        <p:spPr>
          <a:xfrm>
            <a:off x="1492250" y="5152033"/>
            <a:ext cx="609600" cy="609600"/>
          </a:xfrm>
          <a:prstGeom prst="roundRect">
            <a:avLst>
              <a:gd name="adj" fmla="val 18750"/>
            </a:avLst>
          </a:prstGeom>
          <a:solidFill>
            <a:srgbClr val="FF671F">
              <a:alpha val="20000"/>
            </a:srgbClr>
          </a:solidFill>
          <a:ln/>
        </p:spPr>
      </p:sp>
      <p:sp>
        <p:nvSpPr>
          <p:cNvPr id="16" name="Text 14"/>
          <p:cNvSpPr/>
          <p:nvPr/>
        </p:nvSpPr>
        <p:spPr>
          <a:xfrm>
            <a:off x="1454150" y="5152033"/>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2</a:t>
            </a:r>
            <a:endParaRPr lang="en-US" sz="1050" dirty="0"/>
          </a:p>
        </p:txBody>
      </p:sp>
      <p:sp>
        <p:nvSpPr>
          <p:cNvPr id="17" name="Text 15"/>
          <p:cNvSpPr/>
          <p:nvPr/>
        </p:nvSpPr>
        <p:spPr>
          <a:xfrm>
            <a:off x="2330450" y="5162154"/>
            <a:ext cx="7190053"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Tile filter</a:t>
            </a:r>
            <a:endParaRPr lang="en-US" sz="1800" dirty="0"/>
          </a:p>
        </p:txBody>
      </p:sp>
      <p:sp>
        <p:nvSpPr>
          <p:cNvPr id="18" name="Text 16"/>
          <p:cNvSpPr/>
          <p:nvPr/>
        </p:nvSpPr>
        <p:spPr>
          <a:xfrm>
            <a:off x="2330450" y="5530453"/>
            <a:ext cx="7190053"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78000"/>
                  </a:srgbClr>
                </a:solidFill>
                <a:latin typeface="Manrope" pitchFamily="34" charset="0"/>
                <a:ea typeface="Manrope" pitchFamily="34" charset="-122"/>
                <a:cs typeface="Manrope" pitchFamily="34" charset="-120"/>
              </a:rPr>
              <a:t>Set inside a single tile's query. Always applied, even if the dashboard filter is unset. Users can't see it.</a:t>
            </a:r>
            <a:endParaRPr lang="en-US" sz="1200" dirty="0"/>
          </a:p>
        </p:txBody>
      </p:sp>
      <p:sp>
        <p:nvSpPr>
          <p:cNvPr id="19" name="Shape 17"/>
          <p:cNvSpPr/>
          <p:nvPr/>
        </p:nvSpPr>
        <p:spPr>
          <a:xfrm>
            <a:off x="1219200" y="6129933"/>
            <a:ext cx="8395792" cy="1352947"/>
          </a:xfrm>
          <a:prstGeom prst="roundRect">
            <a:avLst>
              <a:gd name="adj" fmla="val 8448"/>
            </a:avLst>
          </a:prstGeom>
          <a:solidFill>
            <a:srgbClr val="FFFFFF"/>
          </a:solidFill>
          <a:ln w="6350">
            <a:solidFill>
              <a:srgbClr val="C9CFD8"/>
            </a:solidFill>
            <a:prstDash val="solid"/>
          </a:ln>
        </p:spPr>
      </p:sp>
      <p:sp>
        <p:nvSpPr>
          <p:cNvPr id="20" name="Shape 18"/>
          <p:cNvSpPr/>
          <p:nvPr/>
        </p:nvSpPr>
        <p:spPr>
          <a:xfrm>
            <a:off x="1492250" y="6501607"/>
            <a:ext cx="609600" cy="609600"/>
          </a:xfrm>
          <a:prstGeom prst="roundRect">
            <a:avLst>
              <a:gd name="adj" fmla="val 18750"/>
            </a:avLst>
          </a:prstGeom>
          <a:solidFill>
            <a:srgbClr val="F1F2F4"/>
          </a:solidFill>
          <a:ln/>
        </p:spPr>
      </p:sp>
      <p:sp>
        <p:nvSpPr>
          <p:cNvPr id="21" name="Text 19"/>
          <p:cNvSpPr/>
          <p:nvPr/>
        </p:nvSpPr>
        <p:spPr>
          <a:xfrm>
            <a:off x="1454150" y="6501607"/>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3</a:t>
            </a:r>
            <a:endParaRPr lang="en-US" sz="1050" dirty="0"/>
          </a:p>
        </p:txBody>
      </p:sp>
      <p:sp>
        <p:nvSpPr>
          <p:cNvPr id="22" name="Text 20"/>
          <p:cNvSpPr/>
          <p:nvPr/>
        </p:nvSpPr>
        <p:spPr>
          <a:xfrm>
            <a:off x="2330450" y="6364883"/>
            <a:ext cx="7221837"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Model filter (LookML)</a:t>
            </a:r>
            <a:endParaRPr lang="en-US" sz="1800" dirty="0"/>
          </a:p>
        </p:txBody>
      </p:sp>
      <p:sp>
        <p:nvSpPr>
          <p:cNvPr id="23" name="Text 21"/>
          <p:cNvSpPr/>
          <p:nvPr/>
        </p:nvSpPr>
        <p:spPr>
          <a:xfrm>
            <a:off x="2330450" y="6733183"/>
            <a:ext cx="7221837" cy="552847"/>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An </a:t>
            </a:r>
            <a:pPr algn="l" indent="0" marL="0">
              <a:lnSpc>
                <a:spcPct val="145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access_filter </a:t>
            </a:r>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in the model file — limits rows by user attribute. The strongest of the three; users can't override.</a:t>
            </a:r>
            <a:endParaRPr lang="en-US" sz="1200" dirty="0"/>
          </a:p>
        </p:txBody>
      </p:sp>
      <p:sp>
        <p:nvSpPr>
          <p:cNvPr id="24" name="Shape 22"/>
          <p:cNvSpPr/>
          <p:nvPr/>
        </p:nvSpPr>
        <p:spPr>
          <a:xfrm>
            <a:off x="10072192" y="3503613"/>
            <a:ext cx="6996510" cy="3420070"/>
          </a:xfrm>
          <a:prstGeom prst="roundRect">
            <a:avLst>
              <a:gd name="adj" fmla="val 3899"/>
            </a:avLst>
          </a:prstGeom>
          <a:solidFill>
            <a:srgbClr val="F1F2F4"/>
          </a:solidFill>
          <a:ln w="6350">
            <a:solidFill>
              <a:srgbClr val="C9CFD8"/>
            </a:solidFill>
            <a:prstDash val="solid"/>
          </a:ln>
        </p:spPr>
      </p:sp>
      <p:sp>
        <p:nvSpPr>
          <p:cNvPr id="25" name="Text 23"/>
          <p:cNvSpPr/>
          <p:nvPr/>
        </p:nvSpPr>
        <p:spPr>
          <a:xfrm>
            <a:off x="10383342" y="3814763"/>
            <a:ext cx="6565436"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WHEN THEY CONFLICT</a:t>
            </a:r>
            <a:endParaRPr lang="en-US" sz="900" dirty="0"/>
          </a:p>
        </p:txBody>
      </p:sp>
      <p:sp>
        <p:nvSpPr>
          <p:cNvPr id="26" name="Text 24"/>
          <p:cNvSpPr/>
          <p:nvPr/>
        </p:nvSpPr>
        <p:spPr>
          <a:xfrm>
            <a:off x="10383342" y="4094163"/>
            <a:ext cx="6565436"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Most restrictive wins.</a:t>
            </a:r>
            <a:endParaRPr lang="en-US" sz="1950" dirty="0"/>
          </a:p>
        </p:txBody>
      </p:sp>
      <p:sp>
        <p:nvSpPr>
          <p:cNvPr id="27" name="Text 25"/>
          <p:cNvSpPr/>
          <p:nvPr/>
        </p:nvSpPr>
        <p:spPr>
          <a:xfrm>
            <a:off x="10383342" y="4512271"/>
            <a:ext cx="6565436"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Looker AND's the three together. If your model says "region = user's region", your dashboard says "region = EMEA", and your tile says "region = APAC", the tile returns </a:t>
            </a:r>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zero rows</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t>
            </a:r>
            <a:endParaRPr lang="en-US" sz="1275" dirty="0"/>
          </a:p>
        </p:txBody>
      </p:sp>
      <p:sp>
        <p:nvSpPr>
          <p:cNvPr id="28" name="Shape 26"/>
          <p:cNvSpPr/>
          <p:nvPr/>
        </p:nvSpPr>
        <p:spPr>
          <a:xfrm>
            <a:off x="10383342" y="5545733"/>
            <a:ext cx="6374210" cy="1066800"/>
          </a:xfrm>
          <a:prstGeom prst="roundRect">
            <a:avLst>
              <a:gd name="adj" fmla="val 7143"/>
            </a:avLst>
          </a:prstGeom>
          <a:solidFill>
            <a:srgbClr val="1B1F2A"/>
          </a:solidFill>
          <a:ln/>
        </p:spPr>
      </p:sp>
      <p:sp>
        <p:nvSpPr>
          <p:cNvPr id="29" name="Text 27"/>
          <p:cNvSpPr/>
          <p:nvPr/>
        </p:nvSpPr>
        <p:spPr>
          <a:xfrm>
            <a:off x="10516692" y="5679083"/>
            <a:ext cx="6298736" cy="838200"/>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9DD0FF"/>
                </a:solidFill>
                <a:highlight>
                  <a:srgbClr val="1B1F2A"/>
                </a:highlight>
                <a:latin typeface="JetBrains Mono" pitchFamily="34" charset="0"/>
                <a:ea typeface="JetBrains Mono" pitchFamily="34" charset="-122"/>
                <a:cs typeface="JetBrains Mono" pitchFamily="34" charset="-120"/>
              </a:rPr>
              <a:t>WHERE region = 'user_region' AND region = 'EMEA' AND region = 'APAC' </a:t>
            </a:r>
            <a:pPr algn="l" indent="0" marL="0">
              <a:lnSpc>
                <a:spcPct val="150000"/>
              </a:lnSpc>
              <a:buNone/>
            </a:pPr>
            <a:r>
              <a:rPr lang="en-US" sz="1050" dirty="0">
                <a:solidFill>
                  <a:srgbClr val="FFFFFF">
                    <a:alpha val="40000"/>
                  </a:srgbClr>
                </a:solidFill>
                <a:latin typeface="JetBrains Mono" pitchFamily="34" charset="0"/>
                <a:ea typeface="JetBrains Mono" pitchFamily="34" charset="-122"/>
                <a:cs typeface="JetBrains Mono" pitchFamily="34" charset="-120"/>
              </a:rPr>
              <a:t>— always FALSE</a:t>
            </a:r>
            <a:endParaRPr lang="en-US" sz="1050" dirty="0"/>
          </a:p>
        </p:txBody>
      </p:sp>
      <p:sp>
        <p:nvSpPr>
          <p:cNvPr id="30" name="Text 2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1" name="Text 2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30 / 60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CROSS-FILTER &amp; DRILL</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Click a bar, filter the page.</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Two related but distinct interactions. Cross-filtering refines other tiles in place; drilling opens a new page with the source rows.</a:t>
            </a:r>
            <a:endParaRPr lang="en-US" sz="1650" dirty="0"/>
          </a:p>
        </p:txBody>
      </p:sp>
      <p:sp>
        <p:nvSpPr>
          <p:cNvPr id="9" name="Shape 7"/>
          <p:cNvSpPr/>
          <p:nvPr/>
        </p:nvSpPr>
        <p:spPr>
          <a:xfrm>
            <a:off x="1219200" y="3963888"/>
            <a:ext cx="7696200" cy="3564334"/>
          </a:xfrm>
          <a:prstGeom prst="roundRect">
            <a:avLst>
              <a:gd name="adj" fmla="val 3741"/>
            </a:avLst>
          </a:prstGeom>
          <a:solidFill>
            <a:srgbClr val="F1F2F4"/>
          </a:solidFill>
          <a:ln/>
        </p:spPr>
      </p:sp>
      <p:sp>
        <p:nvSpPr>
          <p:cNvPr id="10" name="Shape 8"/>
          <p:cNvSpPr/>
          <p:nvPr/>
        </p:nvSpPr>
        <p:spPr>
          <a:xfrm>
            <a:off x="1219200" y="3963888"/>
            <a:ext cx="7696200" cy="38100"/>
          </a:xfrm>
          <a:prstGeom prst="rect">
            <a:avLst/>
          </a:prstGeom>
          <a:solidFill>
            <a:srgbClr val="FF671F"/>
          </a:solidFill>
          <a:ln/>
        </p:spPr>
      </p:sp>
      <p:sp>
        <p:nvSpPr>
          <p:cNvPr id="11" name="Text 9"/>
          <p:cNvSpPr/>
          <p:nvPr/>
        </p:nvSpPr>
        <p:spPr>
          <a:xfrm>
            <a:off x="1524000" y="4306788"/>
            <a:ext cx="7299198"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INTERACTION 01</a:t>
            </a:r>
            <a:endParaRPr lang="en-US" sz="900" dirty="0"/>
          </a:p>
        </p:txBody>
      </p:sp>
      <p:sp>
        <p:nvSpPr>
          <p:cNvPr id="12" name="Text 10"/>
          <p:cNvSpPr/>
          <p:nvPr/>
        </p:nvSpPr>
        <p:spPr>
          <a:xfrm>
            <a:off x="1524000" y="4586188"/>
            <a:ext cx="7299198"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Cross-filter</a:t>
            </a:r>
            <a:endParaRPr lang="en-US" sz="1950" dirty="0"/>
          </a:p>
        </p:txBody>
      </p:sp>
      <p:sp>
        <p:nvSpPr>
          <p:cNvPr id="13" name="Text 11"/>
          <p:cNvSpPr/>
          <p:nvPr/>
        </p:nvSpPr>
        <p:spPr>
          <a:xfrm>
            <a:off x="1524000" y="5004296"/>
            <a:ext cx="7299198"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Click a bar / slice / dot → that value becomes a temporary filter on the whole dashboard. Click again to clear.</a:t>
            </a:r>
            <a:endParaRPr lang="en-US" sz="1275" dirty="0"/>
          </a:p>
        </p:txBody>
      </p:sp>
      <p:sp>
        <p:nvSpPr>
          <p:cNvPr id="14" name="Shape 12"/>
          <p:cNvSpPr/>
          <p:nvPr/>
        </p:nvSpPr>
        <p:spPr>
          <a:xfrm>
            <a:off x="1524000" y="5832971"/>
            <a:ext cx="76200" cy="76200"/>
          </a:xfrm>
          <a:prstGeom prst="ellipse">
            <a:avLst/>
          </a:prstGeom>
          <a:solidFill>
            <a:srgbClr val="FF671F"/>
          </a:solidFill>
          <a:ln/>
        </p:spPr>
      </p:sp>
      <p:sp>
        <p:nvSpPr>
          <p:cNvPr id="15" name="Text 13"/>
          <p:cNvSpPr/>
          <p:nvPr/>
        </p:nvSpPr>
        <p:spPr>
          <a:xfrm>
            <a:off x="1714500" y="5756771"/>
            <a:ext cx="2156420"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Enable per tile via tile options.</a:t>
            </a:r>
            <a:endParaRPr lang="en-US" sz="1200" dirty="0"/>
          </a:p>
        </p:txBody>
      </p:sp>
      <p:sp>
        <p:nvSpPr>
          <p:cNvPr id="16" name="Shape 14"/>
          <p:cNvSpPr/>
          <p:nvPr/>
        </p:nvSpPr>
        <p:spPr>
          <a:xfrm>
            <a:off x="1524000" y="6137771"/>
            <a:ext cx="76200" cy="76200"/>
          </a:xfrm>
          <a:prstGeom prst="ellipse">
            <a:avLst/>
          </a:prstGeom>
          <a:solidFill>
            <a:srgbClr val="FF671F"/>
          </a:solidFill>
          <a:ln/>
        </p:spPr>
      </p:sp>
      <p:sp>
        <p:nvSpPr>
          <p:cNvPr id="17" name="Text 15"/>
          <p:cNvSpPr/>
          <p:nvPr/>
        </p:nvSpPr>
        <p:spPr>
          <a:xfrm>
            <a:off x="1714500" y="6061571"/>
            <a:ext cx="2720439"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Doesn't change the saved dashboard.</a:t>
            </a:r>
            <a:endParaRPr lang="en-US" sz="1200" dirty="0"/>
          </a:p>
        </p:txBody>
      </p:sp>
      <p:sp>
        <p:nvSpPr>
          <p:cNvPr id="18" name="Shape 16"/>
          <p:cNvSpPr/>
          <p:nvPr/>
        </p:nvSpPr>
        <p:spPr>
          <a:xfrm>
            <a:off x="1524000" y="6442571"/>
            <a:ext cx="76200" cy="76200"/>
          </a:xfrm>
          <a:prstGeom prst="ellipse">
            <a:avLst/>
          </a:prstGeom>
          <a:solidFill>
            <a:srgbClr val="FF671F"/>
          </a:solidFill>
          <a:ln/>
        </p:spPr>
      </p:sp>
      <p:sp>
        <p:nvSpPr>
          <p:cNvPr id="19" name="Text 17"/>
          <p:cNvSpPr/>
          <p:nvPr/>
        </p:nvSpPr>
        <p:spPr>
          <a:xfrm>
            <a:off x="1714500" y="6366371"/>
            <a:ext cx="2721768" cy="247650"/>
          </a:xfrm>
          <a:prstGeom prst="rect">
            <a:avLst/>
          </a:prstGeom>
          <a:noFill/>
          <a:ln/>
        </p:spPr>
        <p:txBody>
          <a:bodyPr wrap="square" lIns="0" tIns="0" rIns="0" bIns="0" rtlCol="0" anchor="t">
            <a:normAutofit/>
          </a:bodyPr>
          <a:lstStyle/>
          <a:p>
            <a:pPr algn="l" indent="0" marL="0">
              <a:buNone/>
            </a:pPr>
            <a:r>
              <a:rPr lang="en-US" sz="1200" dirty="0">
                <a:solidFill>
                  <a:srgbClr val="384358"/>
                </a:solidFill>
                <a:latin typeface="Manrope" pitchFamily="34" charset="0"/>
                <a:ea typeface="Manrope" pitchFamily="34" charset="-122"/>
                <a:cs typeface="Manrope" pitchFamily="34" charset="-120"/>
              </a:rPr>
              <a:t>Survives page refresh via URL params.</a:t>
            </a:r>
            <a:endParaRPr lang="en-US" sz="1200" dirty="0"/>
          </a:p>
        </p:txBody>
      </p:sp>
      <p:sp>
        <p:nvSpPr>
          <p:cNvPr id="20" name="Shape 18"/>
          <p:cNvSpPr/>
          <p:nvPr/>
        </p:nvSpPr>
        <p:spPr>
          <a:xfrm>
            <a:off x="9372600" y="3963888"/>
            <a:ext cx="7696200" cy="3564334"/>
          </a:xfrm>
          <a:prstGeom prst="roundRect">
            <a:avLst>
              <a:gd name="adj" fmla="val 3741"/>
            </a:avLst>
          </a:prstGeom>
          <a:solidFill>
            <a:srgbClr val="F1F2F4"/>
          </a:solidFill>
          <a:ln/>
        </p:spPr>
      </p:sp>
      <p:sp>
        <p:nvSpPr>
          <p:cNvPr id="21" name="Shape 19"/>
          <p:cNvSpPr/>
          <p:nvPr/>
        </p:nvSpPr>
        <p:spPr>
          <a:xfrm>
            <a:off x="9372600" y="3963888"/>
            <a:ext cx="7696200" cy="38100"/>
          </a:xfrm>
          <a:prstGeom prst="rect">
            <a:avLst/>
          </a:prstGeom>
          <a:solidFill>
            <a:srgbClr val="FF671F"/>
          </a:solidFill>
          <a:ln/>
        </p:spPr>
      </p:sp>
      <p:sp>
        <p:nvSpPr>
          <p:cNvPr id="22" name="Text 20"/>
          <p:cNvSpPr/>
          <p:nvPr/>
        </p:nvSpPr>
        <p:spPr>
          <a:xfrm>
            <a:off x="9677400" y="4306788"/>
            <a:ext cx="7299198"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INTERACTION 02</a:t>
            </a:r>
            <a:endParaRPr lang="en-US" sz="900" dirty="0"/>
          </a:p>
        </p:txBody>
      </p:sp>
      <p:sp>
        <p:nvSpPr>
          <p:cNvPr id="23" name="Text 21"/>
          <p:cNvSpPr/>
          <p:nvPr/>
        </p:nvSpPr>
        <p:spPr>
          <a:xfrm>
            <a:off x="9677400" y="4586188"/>
            <a:ext cx="7299198"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Drill</a:t>
            </a:r>
            <a:endParaRPr lang="en-US" sz="1950" dirty="0"/>
          </a:p>
        </p:txBody>
      </p:sp>
      <p:sp>
        <p:nvSpPr>
          <p:cNvPr id="24" name="Text 22"/>
          <p:cNvSpPr/>
          <p:nvPr/>
        </p:nvSpPr>
        <p:spPr>
          <a:xfrm>
            <a:off x="9677400" y="5004296"/>
            <a:ext cx="7299198" cy="58102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Click a value → see the underlying rows in a pop-up Explore. Define drill paths in LookML with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drill_fields</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t>
            </a:r>
            <a:endParaRPr lang="en-US" sz="1275" dirty="0"/>
          </a:p>
        </p:txBody>
      </p:sp>
      <p:sp>
        <p:nvSpPr>
          <p:cNvPr id="25" name="Shape 23"/>
          <p:cNvSpPr/>
          <p:nvPr/>
        </p:nvSpPr>
        <p:spPr>
          <a:xfrm>
            <a:off x="9677400" y="5813921"/>
            <a:ext cx="7086600" cy="1409502"/>
          </a:xfrm>
          <a:prstGeom prst="roundRect">
            <a:avLst>
              <a:gd name="adj" fmla="val 9461"/>
            </a:avLst>
          </a:prstGeom>
          <a:solidFill>
            <a:srgbClr val="1B1F2A"/>
          </a:solidFill>
          <a:ln/>
        </p:spPr>
      </p:sp>
      <p:sp>
        <p:nvSpPr>
          <p:cNvPr id="26" name="Text 24"/>
          <p:cNvSpPr/>
          <p:nvPr/>
        </p:nvSpPr>
        <p:spPr>
          <a:xfrm>
            <a:off x="9886950" y="5985371"/>
            <a:ext cx="6867525"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total_revenue {</a:t>
            </a:r>
            <a:endParaRPr lang="en-US" sz="1050" dirty="0"/>
          </a:p>
        </p:txBody>
      </p:sp>
      <p:sp>
        <p:nvSpPr>
          <p:cNvPr id="27" name="Text 25"/>
          <p:cNvSpPr/>
          <p:nvPr/>
        </p:nvSpPr>
        <p:spPr>
          <a:xfrm>
            <a:off x="9886950" y="6198691"/>
            <a:ext cx="6867525"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dirty="0">
                <a:solidFill>
                  <a:srgbClr val="7BD0FF"/>
                </a:solidFill>
                <a:latin typeface="JetBrains Mono" pitchFamily="34" charset="0"/>
                <a:ea typeface="JetBrains Mono" pitchFamily="34" charset="-122"/>
                <a:cs typeface="JetBrains Mono" pitchFamily="34" charset="-120"/>
              </a:rPr>
              <a:t>sum</a:t>
            </a:r>
            <a:endParaRPr lang="en-US" sz="1050" dirty="0"/>
          </a:p>
        </p:txBody>
      </p:sp>
      <p:sp>
        <p:nvSpPr>
          <p:cNvPr id="28" name="Text 26"/>
          <p:cNvSpPr/>
          <p:nvPr/>
        </p:nvSpPr>
        <p:spPr>
          <a:xfrm>
            <a:off x="9886950" y="6412012"/>
            <a:ext cx="6867525"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0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 ;;</a:t>
            </a:r>
            <a:endParaRPr lang="en-US" sz="1050" dirty="0"/>
          </a:p>
        </p:txBody>
      </p:sp>
      <p:sp>
        <p:nvSpPr>
          <p:cNvPr id="29" name="Shape 27"/>
          <p:cNvSpPr/>
          <p:nvPr/>
        </p:nvSpPr>
        <p:spPr>
          <a:xfrm>
            <a:off x="9829800" y="6625332"/>
            <a:ext cx="6781800" cy="213320"/>
          </a:xfrm>
          <a:prstGeom prst="rect">
            <a:avLst/>
          </a:prstGeom>
          <a:solidFill>
            <a:srgbClr val="FF671F">
              <a:alpha val="15000"/>
            </a:srgbClr>
          </a:solidFill>
          <a:ln/>
        </p:spPr>
      </p:sp>
      <p:sp>
        <p:nvSpPr>
          <p:cNvPr id="30" name="Shape 28"/>
          <p:cNvSpPr/>
          <p:nvPr/>
        </p:nvSpPr>
        <p:spPr>
          <a:xfrm>
            <a:off x="9829800" y="6625332"/>
            <a:ext cx="25400" cy="213320"/>
          </a:xfrm>
          <a:prstGeom prst="rect">
            <a:avLst/>
          </a:prstGeom>
          <a:solidFill>
            <a:srgbClr val="FF671F"/>
          </a:solidFill>
          <a:ln/>
        </p:spPr>
      </p:sp>
      <p:sp>
        <p:nvSpPr>
          <p:cNvPr id="31" name="Text 29"/>
          <p:cNvSpPr/>
          <p:nvPr/>
        </p:nvSpPr>
        <p:spPr>
          <a:xfrm>
            <a:off x="9940925" y="6625332"/>
            <a:ext cx="6816979"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050" b="1" dirty="0">
                <a:solidFill>
                  <a:srgbClr val="FF9D6B"/>
                </a:solidFill>
                <a:latin typeface="JetBrains Mono" pitchFamily="34" charset="0"/>
                <a:ea typeface="JetBrains Mono" pitchFamily="34" charset="-122"/>
                <a:cs typeface="JetBrains Mono" pitchFamily="34" charset="-120"/>
              </a:rPr>
              <a:t>drill_fields:</a:t>
            </a:r>
            <a:pPr algn="l" indent="0" marL="0">
              <a:lnSpc>
                <a:spcPct val="160000"/>
              </a:lnSpc>
              <a:buNone/>
            </a:pPr>
            <a:r>
              <a:rPr lang="en-US" sz="1050" dirty="0">
                <a:solidFill>
                  <a:srgbClr val="E8ECF3"/>
                </a:solidFill>
                <a:highlight>
                  <a:srgbClr val="FF671F"/>
                </a:highlight>
                <a:latin typeface="JetBrains Mono" pitchFamily="34" charset="0"/>
                <a:ea typeface="JetBrains Mono" pitchFamily="34" charset="-122"/>
                <a:cs typeface="JetBrains Mono" pitchFamily="34" charset="-120"/>
              </a:rPr>
              <a:t> [order_id, user.email, status, amount]</a:t>
            </a:r>
            <a:endParaRPr lang="en-US" sz="1050" dirty="0"/>
          </a:p>
        </p:txBody>
      </p:sp>
      <p:sp>
        <p:nvSpPr>
          <p:cNvPr id="32" name="Text 30"/>
          <p:cNvSpPr/>
          <p:nvPr/>
        </p:nvSpPr>
        <p:spPr>
          <a:xfrm>
            <a:off x="9886950" y="6838652"/>
            <a:ext cx="6867525" cy="251420"/>
          </a:xfrm>
          <a:prstGeom prst="rect">
            <a:avLst/>
          </a:prstGeom>
          <a:noFill/>
          <a:ln/>
        </p:spPr>
        <p:txBody>
          <a:bodyPr wrap="square" lIns="25400" tIns="25400" rIns="25400" bIns="25400" rtlCol="0" anchor="t">
            <a:normAutofit/>
          </a:bodyPr>
          <a:lstStyle/>
          <a:p>
            <a:pPr algn="l" indent="0" marL="0">
              <a:lnSpc>
                <a:spcPct val="160000"/>
              </a:lnSpc>
              <a:buNone/>
            </a:pPr>
            <a:r>
              <a:rPr lang="en-US" sz="1050" dirty="0">
                <a:solidFill>
                  <a:srgbClr val="E8ECF3"/>
                </a:solidFill>
                <a:latin typeface="JetBrains Mono" pitchFamily="34" charset="0"/>
                <a:ea typeface="JetBrains Mono" pitchFamily="34" charset="-122"/>
                <a:cs typeface="JetBrains Mono" pitchFamily="34" charset="-120"/>
              </a:rPr>
              <a:t>}</a:t>
            </a:r>
            <a:endParaRPr lang="en-US" sz="1050" dirty="0"/>
          </a:p>
        </p:txBody>
      </p:sp>
      <p:sp>
        <p:nvSpPr>
          <p:cNvPr id="33" name="Text 31"/>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4" name="Text 32"/>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31 / 60</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EDIT MODE</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Inside the editor — what each control does.</a:t>
            </a:r>
            <a:endParaRPr lang="en-US" sz="4800" dirty="0"/>
          </a:p>
        </p:txBody>
      </p:sp>
      <p:sp>
        <p:nvSpPr>
          <p:cNvPr id="8" name="Shape 6"/>
          <p:cNvSpPr/>
          <p:nvPr/>
        </p:nvSpPr>
        <p:spPr>
          <a:xfrm>
            <a:off x="1219200" y="3504605"/>
            <a:ext cx="7696200" cy="4584700"/>
          </a:xfrm>
          <a:prstGeom prst="roundRect">
            <a:avLst>
              <a:gd name="adj" fmla="val 3324"/>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9" name="Shape 7"/>
          <p:cNvSpPr/>
          <p:nvPr/>
        </p:nvSpPr>
        <p:spPr>
          <a:xfrm>
            <a:off x="1225550" y="3510955"/>
            <a:ext cx="7683500" cy="520700"/>
          </a:xfrm>
          <a:prstGeom prst="rect">
            <a:avLst/>
          </a:prstGeom>
          <a:solidFill>
            <a:srgbClr val="1A2233"/>
          </a:solidFill>
          <a:ln/>
        </p:spPr>
      </p:sp>
      <p:sp>
        <p:nvSpPr>
          <p:cNvPr id="10" name="Shape 8"/>
          <p:cNvSpPr/>
          <p:nvPr/>
        </p:nvSpPr>
        <p:spPr>
          <a:xfrm>
            <a:off x="1225550" y="4025305"/>
            <a:ext cx="7683500" cy="9525"/>
          </a:xfrm>
          <a:prstGeom prst="rect">
            <a:avLst/>
          </a:prstGeom>
          <a:solidFill>
            <a:srgbClr val="C9CFD8"/>
          </a:solidFill>
          <a:ln/>
        </p:spPr>
      </p:sp>
      <p:sp>
        <p:nvSpPr>
          <p:cNvPr id="11" name="Text 9"/>
          <p:cNvSpPr/>
          <p:nvPr/>
        </p:nvSpPr>
        <p:spPr>
          <a:xfrm>
            <a:off x="1397000" y="3682405"/>
            <a:ext cx="724098"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latin typeface="Manrope" pitchFamily="34" charset="0"/>
                <a:ea typeface="Manrope" pitchFamily="34" charset="-122"/>
                <a:cs typeface="Manrope" pitchFamily="34" charset="-120"/>
              </a:rPr>
              <a:t>EDIT MODE</a:t>
            </a:r>
            <a:endParaRPr lang="en-US" sz="975" dirty="0"/>
          </a:p>
        </p:txBody>
      </p:sp>
      <p:sp>
        <p:nvSpPr>
          <p:cNvPr id="12" name="Shape 10"/>
          <p:cNvSpPr/>
          <p:nvPr/>
        </p:nvSpPr>
        <p:spPr>
          <a:xfrm>
            <a:off x="2178248" y="3625255"/>
            <a:ext cx="754559" cy="285750"/>
          </a:xfrm>
          <a:prstGeom prst="roundRect">
            <a:avLst>
              <a:gd name="adj" fmla="val 20000"/>
            </a:avLst>
          </a:prstGeom>
          <a:solidFill>
            <a:srgbClr val="FFFFFF">
              <a:alpha val="10000"/>
            </a:srgbClr>
          </a:solidFill>
          <a:ln/>
        </p:spPr>
      </p:sp>
      <p:sp>
        <p:nvSpPr>
          <p:cNvPr id="13" name="Text 11"/>
          <p:cNvSpPr/>
          <p:nvPr/>
        </p:nvSpPr>
        <p:spPr>
          <a:xfrm>
            <a:off x="2292548" y="3682405"/>
            <a:ext cx="602159"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Manrope" pitchFamily="34" charset="0"/>
                <a:ea typeface="Manrope" pitchFamily="34" charset="-122"/>
                <a:cs typeface="Manrope" pitchFamily="34" charset="-120"/>
              </a:rPr>
              <a:t>+ Add tile</a:t>
            </a:r>
            <a:endParaRPr lang="en-US" sz="975" dirty="0"/>
          </a:p>
        </p:txBody>
      </p:sp>
      <p:sp>
        <p:nvSpPr>
          <p:cNvPr id="14" name="Shape 12"/>
          <p:cNvSpPr/>
          <p:nvPr/>
        </p:nvSpPr>
        <p:spPr>
          <a:xfrm>
            <a:off x="3066157" y="3625255"/>
            <a:ext cx="737989" cy="285750"/>
          </a:xfrm>
          <a:prstGeom prst="roundRect">
            <a:avLst>
              <a:gd name="adj" fmla="val 20000"/>
            </a:avLst>
          </a:prstGeom>
          <a:solidFill>
            <a:srgbClr val="FFFFFF">
              <a:alpha val="10000"/>
            </a:srgbClr>
          </a:solidFill>
          <a:ln/>
        </p:spPr>
      </p:sp>
      <p:sp>
        <p:nvSpPr>
          <p:cNvPr id="15" name="Text 13"/>
          <p:cNvSpPr/>
          <p:nvPr/>
        </p:nvSpPr>
        <p:spPr>
          <a:xfrm>
            <a:off x="3180457" y="3682405"/>
            <a:ext cx="585589"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Manrope" pitchFamily="34" charset="0"/>
                <a:ea typeface="Manrope" pitchFamily="34" charset="-122"/>
                <a:cs typeface="Manrope" pitchFamily="34" charset="-120"/>
              </a:rPr>
              <a:t>⊞ Layout</a:t>
            </a:r>
            <a:endParaRPr lang="en-US" sz="975" dirty="0"/>
          </a:p>
        </p:txBody>
      </p:sp>
      <p:sp>
        <p:nvSpPr>
          <p:cNvPr id="16" name="Shape 14"/>
          <p:cNvSpPr/>
          <p:nvPr/>
        </p:nvSpPr>
        <p:spPr>
          <a:xfrm>
            <a:off x="3937496" y="3625255"/>
            <a:ext cx="657920" cy="285750"/>
          </a:xfrm>
          <a:prstGeom prst="roundRect">
            <a:avLst>
              <a:gd name="adj" fmla="val 20000"/>
            </a:avLst>
          </a:prstGeom>
          <a:solidFill>
            <a:srgbClr val="FFFFFF">
              <a:alpha val="10000"/>
            </a:srgbClr>
          </a:solidFill>
          <a:ln/>
        </p:spPr>
      </p:sp>
      <p:sp>
        <p:nvSpPr>
          <p:cNvPr id="17" name="Text 15"/>
          <p:cNvSpPr/>
          <p:nvPr/>
        </p:nvSpPr>
        <p:spPr>
          <a:xfrm>
            <a:off x="4051796" y="3682405"/>
            <a:ext cx="505520"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Manrope" pitchFamily="34" charset="0"/>
                <a:ea typeface="Manrope" pitchFamily="34" charset="-122"/>
                <a:cs typeface="Manrope" pitchFamily="34" charset="-120"/>
              </a:rPr>
              <a:t>▾ Filters</a:t>
            </a:r>
            <a:endParaRPr lang="en-US" sz="975" dirty="0"/>
          </a:p>
        </p:txBody>
      </p:sp>
      <p:sp>
        <p:nvSpPr>
          <p:cNvPr id="18" name="Shape 16"/>
          <p:cNvSpPr/>
          <p:nvPr/>
        </p:nvSpPr>
        <p:spPr>
          <a:xfrm>
            <a:off x="8185150" y="3625255"/>
            <a:ext cx="552450" cy="285750"/>
          </a:xfrm>
          <a:prstGeom prst="roundRect">
            <a:avLst>
              <a:gd name="adj" fmla="val 20000"/>
            </a:avLst>
          </a:prstGeom>
          <a:solidFill>
            <a:srgbClr val="FF671F"/>
          </a:solidFill>
          <a:ln/>
        </p:spPr>
      </p:sp>
      <p:sp>
        <p:nvSpPr>
          <p:cNvPr id="19" name="Text 17"/>
          <p:cNvSpPr/>
          <p:nvPr/>
        </p:nvSpPr>
        <p:spPr>
          <a:xfrm>
            <a:off x="8318500" y="3682405"/>
            <a:ext cx="361950" cy="209550"/>
          </a:xfrm>
          <a:prstGeom prst="rect">
            <a:avLst/>
          </a:prstGeom>
          <a:noFill/>
          <a:ln/>
        </p:spPr>
        <p:txBody>
          <a:bodyPr wrap="square" lIns="25400" tIns="25400" rIns="25400" bIns="25400" rtlCol="0" anchor="t">
            <a:normAutofit/>
          </a:bodyPr>
          <a:lstStyle/>
          <a:p>
            <a:pPr algn="l" indent="0" marL="0">
              <a:buNone/>
            </a:pPr>
            <a:r>
              <a:rPr lang="en-US" sz="975" b="1" dirty="0">
                <a:solidFill>
                  <a:srgbClr val="FFFFFF"/>
                </a:solidFill>
                <a:latin typeface="Manrope" pitchFamily="34" charset="0"/>
                <a:ea typeface="Manrope" pitchFamily="34" charset="-122"/>
                <a:cs typeface="Manrope" pitchFamily="34" charset="-120"/>
              </a:rPr>
              <a:t>Save</a:t>
            </a:r>
            <a:endParaRPr lang="en-US" sz="975" dirty="0"/>
          </a:p>
        </p:txBody>
      </p:sp>
      <p:sp>
        <p:nvSpPr>
          <p:cNvPr id="20" name="Shape 18"/>
          <p:cNvSpPr/>
          <p:nvPr/>
        </p:nvSpPr>
        <p:spPr>
          <a:xfrm>
            <a:off x="1225550" y="4031655"/>
            <a:ext cx="7683500" cy="4051300"/>
          </a:xfrm>
          <a:prstGeom prst="rect">
            <a:avLst/>
          </a:prstGeom>
          <a:solidFill>
            <a:srgbClr val="F4F6F9"/>
          </a:solidFill>
          <a:ln/>
        </p:spPr>
      </p:sp>
      <p:sp>
        <p:nvSpPr>
          <p:cNvPr id="21" name="Shape 19"/>
          <p:cNvSpPr/>
          <p:nvPr/>
        </p:nvSpPr>
        <p:spPr>
          <a:xfrm>
            <a:off x="1358900" y="4165005"/>
            <a:ext cx="7416800" cy="342900"/>
          </a:xfrm>
          <a:prstGeom prst="roundRect">
            <a:avLst>
              <a:gd name="adj" fmla="val 16667"/>
            </a:avLst>
          </a:prstGeom>
          <a:solidFill>
            <a:srgbClr val="FFFFFF"/>
          </a:solidFill>
          <a:ln w="6350">
            <a:solidFill>
              <a:srgbClr val="FF671F"/>
            </a:solidFill>
            <a:prstDash val="dash"/>
          </a:ln>
        </p:spPr>
      </p:sp>
      <p:sp>
        <p:nvSpPr>
          <p:cNvPr id="22" name="Text 20"/>
          <p:cNvSpPr/>
          <p:nvPr/>
        </p:nvSpPr>
        <p:spPr>
          <a:xfrm>
            <a:off x="1498600" y="4171355"/>
            <a:ext cx="7359904" cy="368300"/>
          </a:xfrm>
          <a:prstGeom prst="rect">
            <a:avLst/>
          </a:prstGeom>
          <a:noFill/>
          <a:ln/>
        </p:spPr>
        <p:txBody>
          <a:bodyPr wrap="square" lIns="25400" tIns="25400" rIns="25400" bIns="25400" rtlCol="0" anchor="ctr">
            <a:normAutofit/>
          </a:bodyPr>
          <a:lstStyle/>
          <a:p>
            <a:pPr algn="l" indent="0" marL="0">
              <a:buNone/>
            </a:pPr>
            <a:r>
              <a:rPr lang="en-US" sz="900" b="1" dirty="0">
                <a:solidFill>
                  <a:srgbClr val="FF671F"/>
                </a:solidFill>
                <a:latin typeface="Manrope" pitchFamily="34" charset="0"/>
                <a:ea typeface="Manrope" pitchFamily="34" charset="-122"/>
                <a:cs typeface="Manrope" pitchFamily="34" charset="-120"/>
              </a:rPr>
              <a:t>▤ Text tile · "## Q4 results"</a:t>
            </a:r>
            <a:endParaRPr lang="en-US" sz="900" dirty="0"/>
          </a:p>
        </p:txBody>
      </p:sp>
      <p:sp>
        <p:nvSpPr>
          <p:cNvPr id="23" name="Shape 21"/>
          <p:cNvSpPr/>
          <p:nvPr/>
        </p:nvSpPr>
        <p:spPr>
          <a:xfrm>
            <a:off x="1358900" y="4584105"/>
            <a:ext cx="1797050" cy="762000"/>
          </a:xfrm>
          <a:prstGeom prst="roundRect">
            <a:avLst>
              <a:gd name="adj" fmla="val 7500"/>
            </a:avLst>
          </a:prstGeom>
          <a:solidFill>
            <a:srgbClr val="FFFFFF"/>
          </a:solidFill>
          <a:ln w="6350">
            <a:solidFill>
              <a:srgbClr val="FF671F"/>
            </a:solidFill>
            <a:prstDash val="solid"/>
          </a:ln>
        </p:spPr>
      </p:sp>
      <p:sp>
        <p:nvSpPr>
          <p:cNvPr id="24" name="Text 22"/>
          <p:cNvSpPr/>
          <p:nvPr/>
        </p:nvSpPr>
        <p:spPr>
          <a:xfrm>
            <a:off x="1460500" y="4761905"/>
            <a:ext cx="1670050" cy="18415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Manrope" pitchFamily="34" charset="0"/>
                <a:ea typeface="Manrope" pitchFamily="34" charset="-122"/>
                <a:cs typeface="Manrope" pitchFamily="34" charset="-120"/>
              </a:rPr>
              <a:t>KPI</a:t>
            </a:r>
            <a:endParaRPr lang="en-US" sz="825" dirty="0"/>
          </a:p>
        </p:txBody>
      </p:sp>
      <p:sp>
        <p:nvSpPr>
          <p:cNvPr id="25" name="Text 23"/>
          <p:cNvSpPr/>
          <p:nvPr/>
        </p:nvSpPr>
        <p:spPr>
          <a:xfrm>
            <a:off x="1460500" y="4907955"/>
            <a:ext cx="1670050" cy="298450"/>
          </a:xfrm>
          <a:prstGeom prst="rect">
            <a:avLst/>
          </a:prstGeom>
          <a:noFill/>
          <a:ln/>
        </p:spPr>
        <p:txBody>
          <a:bodyPr wrap="square" lIns="25400" tIns="25400" rIns="25400" bIns="25400" rtlCol="0" anchor="t">
            <a:normAutofit/>
          </a:bodyPr>
          <a:lstStyle/>
          <a:p>
            <a:pPr algn="l" indent="0" marL="0">
              <a:buNone/>
            </a:pPr>
            <a:r>
              <a:rPr lang="en-US" sz="1500" b="1" dirty="0">
                <a:solidFill>
                  <a:srgbClr val="1B1F2A"/>
                </a:solidFill>
                <a:latin typeface="Manrope" pitchFamily="34" charset="0"/>
                <a:ea typeface="Manrope" pitchFamily="34" charset="-122"/>
                <a:cs typeface="Manrope" pitchFamily="34" charset="-120"/>
              </a:rPr>
              <a:t>$148K</a:t>
            </a:r>
            <a:endParaRPr lang="en-US" sz="1500" dirty="0"/>
          </a:p>
        </p:txBody>
      </p:sp>
      <p:sp>
        <p:nvSpPr>
          <p:cNvPr id="26" name="Shape 24"/>
          <p:cNvSpPr/>
          <p:nvPr/>
        </p:nvSpPr>
        <p:spPr>
          <a:xfrm>
            <a:off x="3232150" y="4584105"/>
            <a:ext cx="1797050" cy="762000"/>
          </a:xfrm>
          <a:prstGeom prst="roundRect">
            <a:avLst>
              <a:gd name="adj" fmla="val 7500"/>
            </a:avLst>
          </a:prstGeom>
          <a:solidFill>
            <a:srgbClr val="FFFFFF"/>
          </a:solidFill>
          <a:ln w="6350">
            <a:solidFill>
              <a:srgbClr val="C9CFD8"/>
            </a:solidFill>
            <a:prstDash val="solid"/>
          </a:ln>
        </p:spPr>
      </p:sp>
      <p:sp>
        <p:nvSpPr>
          <p:cNvPr id="27" name="Text 25"/>
          <p:cNvSpPr/>
          <p:nvPr/>
        </p:nvSpPr>
        <p:spPr>
          <a:xfrm>
            <a:off x="3333750" y="4685705"/>
            <a:ext cx="1670050" cy="18415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Manrope" pitchFamily="34" charset="0"/>
                <a:ea typeface="Manrope" pitchFamily="34" charset="-122"/>
                <a:cs typeface="Manrope" pitchFamily="34" charset="-120"/>
              </a:rPr>
              <a:t>KPI</a:t>
            </a:r>
            <a:endParaRPr lang="en-US" sz="825" dirty="0"/>
          </a:p>
        </p:txBody>
      </p:sp>
      <p:sp>
        <p:nvSpPr>
          <p:cNvPr id="28" name="Text 26"/>
          <p:cNvSpPr/>
          <p:nvPr/>
        </p:nvSpPr>
        <p:spPr>
          <a:xfrm>
            <a:off x="3333750" y="4831755"/>
            <a:ext cx="1670050" cy="298450"/>
          </a:xfrm>
          <a:prstGeom prst="rect">
            <a:avLst/>
          </a:prstGeom>
          <a:noFill/>
          <a:ln/>
        </p:spPr>
        <p:txBody>
          <a:bodyPr wrap="square" lIns="25400" tIns="25400" rIns="25400" bIns="25400" rtlCol="0" anchor="t">
            <a:normAutofit/>
          </a:bodyPr>
          <a:lstStyle/>
          <a:p>
            <a:pPr algn="l" indent="0" marL="0">
              <a:buNone/>
            </a:pPr>
            <a:r>
              <a:rPr lang="en-US" sz="1500" b="1" dirty="0">
                <a:solidFill>
                  <a:srgbClr val="1B1F2A"/>
                </a:solidFill>
                <a:latin typeface="Manrope" pitchFamily="34" charset="0"/>
                <a:ea typeface="Manrope" pitchFamily="34" charset="-122"/>
                <a:cs typeface="Manrope" pitchFamily="34" charset="-120"/>
              </a:rPr>
              <a:t>$74</a:t>
            </a:r>
            <a:endParaRPr lang="en-US" sz="1500" dirty="0"/>
          </a:p>
        </p:txBody>
      </p:sp>
      <p:sp>
        <p:nvSpPr>
          <p:cNvPr id="29" name="Shape 27"/>
          <p:cNvSpPr/>
          <p:nvPr/>
        </p:nvSpPr>
        <p:spPr>
          <a:xfrm>
            <a:off x="5105400" y="4584105"/>
            <a:ext cx="1797050" cy="762000"/>
          </a:xfrm>
          <a:prstGeom prst="roundRect">
            <a:avLst>
              <a:gd name="adj" fmla="val 7500"/>
            </a:avLst>
          </a:prstGeom>
          <a:solidFill>
            <a:srgbClr val="FFFFFF"/>
          </a:solidFill>
          <a:ln w="6350">
            <a:solidFill>
              <a:srgbClr val="C9CFD8"/>
            </a:solidFill>
            <a:prstDash val="solid"/>
          </a:ln>
        </p:spPr>
      </p:sp>
      <p:sp>
        <p:nvSpPr>
          <p:cNvPr id="30" name="Text 28"/>
          <p:cNvSpPr/>
          <p:nvPr/>
        </p:nvSpPr>
        <p:spPr>
          <a:xfrm>
            <a:off x="5207000" y="4685705"/>
            <a:ext cx="1670050" cy="18415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Manrope" pitchFamily="34" charset="0"/>
                <a:ea typeface="Manrope" pitchFamily="34" charset="-122"/>
                <a:cs typeface="Manrope" pitchFamily="34" charset="-120"/>
              </a:rPr>
              <a:t>KPI</a:t>
            </a:r>
            <a:endParaRPr lang="en-US" sz="825" dirty="0"/>
          </a:p>
        </p:txBody>
      </p:sp>
      <p:sp>
        <p:nvSpPr>
          <p:cNvPr id="31" name="Text 29"/>
          <p:cNvSpPr/>
          <p:nvPr/>
        </p:nvSpPr>
        <p:spPr>
          <a:xfrm>
            <a:off x="5207000" y="4831755"/>
            <a:ext cx="1670050" cy="298450"/>
          </a:xfrm>
          <a:prstGeom prst="rect">
            <a:avLst/>
          </a:prstGeom>
          <a:noFill/>
          <a:ln/>
        </p:spPr>
        <p:txBody>
          <a:bodyPr wrap="square" lIns="25400" tIns="25400" rIns="25400" bIns="25400" rtlCol="0" anchor="t">
            <a:normAutofit/>
          </a:bodyPr>
          <a:lstStyle/>
          <a:p>
            <a:pPr algn="l" indent="0" marL="0">
              <a:buNone/>
            </a:pPr>
            <a:r>
              <a:rPr lang="en-US" sz="1500" b="1" dirty="0">
                <a:solidFill>
                  <a:srgbClr val="1B1F2A"/>
                </a:solidFill>
                <a:latin typeface="Manrope" pitchFamily="34" charset="0"/>
                <a:ea typeface="Manrope" pitchFamily="34" charset="-122"/>
                <a:cs typeface="Manrope" pitchFamily="34" charset="-120"/>
              </a:rPr>
              <a:t>4.2%</a:t>
            </a:r>
            <a:endParaRPr lang="en-US" sz="1500" dirty="0"/>
          </a:p>
        </p:txBody>
      </p:sp>
      <p:sp>
        <p:nvSpPr>
          <p:cNvPr id="32" name="Shape 30"/>
          <p:cNvSpPr/>
          <p:nvPr/>
        </p:nvSpPr>
        <p:spPr>
          <a:xfrm>
            <a:off x="6978650" y="4584105"/>
            <a:ext cx="1797050" cy="762000"/>
          </a:xfrm>
          <a:prstGeom prst="roundRect">
            <a:avLst>
              <a:gd name="adj" fmla="val 7500"/>
            </a:avLst>
          </a:prstGeom>
          <a:solidFill>
            <a:srgbClr val="FFFFFF"/>
          </a:solidFill>
          <a:ln w="6350">
            <a:solidFill>
              <a:srgbClr val="C9CFD8"/>
            </a:solidFill>
            <a:prstDash val="solid"/>
          </a:ln>
        </p:spPr>
      </p:sp>
      <p:sp>
        <p:nvSpPr>
          <p:cNvPr id="33" name="Text 31"/>
          <p:cNvSpPr/>
          <p:nvPr/>
        </p:nvSpPr>
        <p:spPr>
          <a:xfrm>
            <a:off x="7080250" y="4685705"/>
            <a:ext cx="1670050" cy="18415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Manrope" pitchFamily="34" charset="0"/>
                <a:ea typeface="Manrope" pitchFamily="34" charset="-122"/>
                <a:cs typeface="Manrope" pitchFamily="34" charset="-120"/>
              </a:rPr>
              <a:t>KPI</a:t>
            </a:r>
            <a:endParaRPr lang="en-US" sz="825" dirty="0"/>
          </a:p>
        </p:txBody>
      </p:sp>
      <p:sp>
        <p:nvSpPr>
          <p:cNvPr id="34" name="Text 32"/>
          <p:cNvSpPr/>
          <p:nvPr/>
        </p:nvSpPr>
        <p:spPr>
          <a:xfrm>
            <a:off x="7080250" y="4831755"/>
            <a:ext cx="1670050" cy="298450"/>
          </a:xfrm>
          <a:prstGeom prst="rect">
            <a:avLst/>
          </a:prstGeom>
          <a:noFill/>
          <a:ln/>
        </p:spPr>
        <p:txBody>
          <a:bodyPr wrap="square" lIns="25400" tIns="25400" rIns="25400" bIns="25400" rtlCol="0" anchor="t">
            <a:normAutofit/>
          </a:bodyPr>
          <a:lstStyle/>
          <a:p>
            <a:pPr algn="l" indent="0" marL="0">
              <a:buNone/>
            </a:pPr>
            <a:r>
              <a:rPr lang="en-US" sz="1500" b="1" dirty="0">
                <a:solidFill>
                  <a:srgbClr val="1B1F2A"/>
                </a:solidFill>
                <a:latin typeface="Manrope" pitchFamily="34" charset="0"/>
                <a:ea typeface="Manrope" pitchFamily="34" charset="-122"/>
                <a:cs typeface="Manrope" pitchFamily="34" charset="-120"/>
              </a:rPr>
              <a:t>28.4K</a:t>
            </a:r>
            <a:endParaRPr lang="en-US" sz="1500" dirty="0"/>
          </a:p>
        </p:txBody>
      </p:sp>
      <p:sp>
        <p:nvSpPr>
          <p:cNvPr id="35" name="Shape 33"/>
          <p:cNvSpPr/>
          <p:nvPr/>
        </p:nvSpPr>
        <p:spPr>
          <a:xfrm>
            <a:off x="1358900" y="5422305"/>
            <a:ext cx="4919067" cy="1600200"/>
          </a:xfrm>
          <a:prstGeom prst="roundRect">
            <a:avLst>
              <a:gd name="adj" fmla="val 3571"/>
            </a:avLst>
          </a:prstGeom>
          <a:solidFill>
            <a:srgbClr val="FFFFFF"/>
          </a:solidFill>
          <a:ln w="6350">
            <a:solidFill>
              <a:srgbClr val="C9CFD8"/>
            </a:solidFill>
            <a:prstDash val="solid"/>
          </a:ln>
        </p:spPr>
      </p:sp>
      <p:sp>
        <p:nvSpPr>
          <p:cNvPr id="36" name="Text 34"/>
          <p:cNvSpPr/>
          <p:nvPr/>
        </p:nvSpPr>
        <p:spPr>
          <a:xfrm>
            <a:off x="1460500" y="5523905"/>
            <a:ext cx="4857343" cy="18415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Manrope" pitchFamily="34" charset="0"/>
                <a:ea typeface="Manrope" pitchFamily="34" charset="-122"/>
                <a:cs typeface="Manrope" pitchFamily="34" charset="-120"/>
              </a:rPr>
              <a:t>Line — revenue by month</a:t>
            </a:r>
            <a:endParaRPr lang="en-US" sz="825" dirty="0"/>
          </a:p>
        </p:txBody>
      </p:sp>
      <p:sp>
        <p:nvSpPr>
          <p:cNvPr id="37" name="Shape 35"/>
          <p:cNvSpPr/>
          <p:nvPr/>
        </p:nvSpPr>
        <p:spPr>
          <a:xfrm>
            <a:off x="1460500" y="6550125"/>
            <a:ext cx="762099" cy="377130"/>
          </a:xfrm>
          <a:prstGeom prst="rect">
            <a:avLst/>
          </a:prstGeom>
          <a:solidFill>
            <a:srgbClr val="FF671F"/>
          </a:solidFill>
          <a:ln/>
        </p:spPr>
      </p:sp>
      <p:sp>
        <p:nvSpPr>
          <p:cNvPr id="38" name="Shape 36"/>
          <p:cNvSpPr/>
          <p:nvPr/>
        </p:nvSpPr>
        <p:spPr>
          <a:xfrm>
            <a:off x="2251174" y="6399213"/>
            <a:ext cx="762198" cy="528042"/>
          </a:xfrm>
          <a:prstGeom prst="rect">
            <a:avLst/>
          </a:prstGeom>
          <a:solidFill>
            <a:srgbClr val="FF671F"/>
          </a:solidFill>
          <a:ln/>
        </p:spPr>
      </p:sp>
      <p:sp>
        <p:nvSpPr>
          <p:cNvPr id="39" name="Shape 37"/>
          <p:cNvSpPr/>
          <p:nvPr/>
        </p:nvSpPr>
        <p:spPr>
          <a:xfrm>
            <a:off x="3041948" y="6235800"/>
            <a:ext cx="762099" cy="691455"/>
          </a:xfrm>
          <a:prstGeom prst="rect">
            <a:avLst/>
          </a:prstGeom>
          <a:solidFill>
            <a:srgbClr val="FF671F"/>
          </a:solidFill>
          <a:ln/>
        </p:spPr>
      </p:sp>
      <p:sp>
        <p:nvSpPr>
          <p:cNvPr id="40" name="Shape 38"/>
          <p:cNvSpPr/>
          <p:nvPr/>
        </p:nvSpPr>
        <p:spPr>
          <a:xfrm>
            <a:off x="3832622" y="6072386"/>
            <a:ext cx="762198" cy="854869"/>
          </a:xfrm>
          <a:prstGeom prst="rect">
            <a:avLst/>
          </a:prstGeom>
          <a:solidFill>
            <a:srgbClr val="FF671F"/>
          </a:solidFill>
          <a:ln/>
        </p:spPr>
      </p:sp>
      <p:sp>
        <p:nvSpPr>
          <p:cNvPr id="41" name="Shape 39"/>
          <p:cNvSpPr/>
          <p:nvPr/>
        </p:nvSpPr>
        <p:spPr>
          <a:xfrm>
            <a:off x="4623395" y="5946577"/>
            <a:ext cx="762198" cy="980678"/>
          </a:xfrm>
          <a:prstGeom prst="rect">
            <a:avLst/>
          </a:prstGeom>
          <a:solidFill>
            <a:srgbClr val="FF671F"/>
          </a:solidFill>
          <a:ln/>
        </p:spPr>
      </p:sp>
      <p:sp>
        <p:nvSpPr>
          <p:cNvPr id="42" name="Shape 40"/>
          <p:cNvSpPr/>
          <p:nvPr/>
        </p:nvSpPr>
        <p:spPr>
          <a:xfrm>
            <a:off x="5414169" y="5820867"/>
            <a:ext cx="762198" cy="1106388"/>
          </a:xfrm>
          <a:prstGeom prst="rect">
            <a:avLst/>
          </a:prstGeom>
          <a:solidFill>
            <a:srgbClr val="FF671F"/>
          </a:solidFill>
          <a:ln/>
        </p:spPr>
      </p:sp>
      <p:sp>
        <p:nvSpPr>
          <p:cNvPr id="43" name="Shape 41"/>
          <p:cNvSpPr/>
          <p:nvPr/>
        </p:nvSpPr>
        <p:spPr>
          <a:xfrm>
            <a:off x="6354167" y="5422305"/>
            <a:ext cx="2421533" cy="1600200"/>
          </a:xfrm>
          <a:prstGeom prst="roundRect">
            <a:avLst>
              <a:gd name="adj" fmla="val 3571"/>
            </a:avLst>
          </a:prstGeom>
          <a:solidFill>
            <a:srgbClr val="FFFFFF"/>
          </a:solidFill>
          <a:ln w="6350">
            <a:solidFill>
              <a:srgbClr val="C9CFD8"/>
            </a:solidFill>
            <a:prstDash val="solid"/>
          </a:ln>
        </p:spPr>
      </p:sp>
      <p:sp>
        <p:nvSpPr>
          <p:cNvPr id="44" name="Text 42"/>
          <p:cNvSpPr/>
          <p:nvPr/>
        </p:nvSpPr>
        <p:spPr>
          <a:xfrm>
            <a:off x="6455768" y="5523905"/>
            <a:ext cx="2294533" cy="18415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Manrope" pitchFamily="34" charset="0"/>
                <a:ea typeface="Manrope" pitchFamily="34" charset="-122"/>
                <a:cs typeface="Manrope" pitchFamily="34" charset="-120"/>
              </a:rPr>
              <a:t>Pie — channel</a:t>
            </a:r>
            <a:endParaRPr lang="en-US" sz="825" dirty="0"/>
          </a:p>
        </p:txBody>
      </p:sp>
      <p:sp>
        <p:nvSpPr>
          <p:cNvPr id="45" name="Shape 43"/>
          <p:cNvSpPr/>
          <p:nvPr/>
        </p:nvSpPr>
        <p:spPr>
          <a:xfrm>
            <a:off x="7183934" y="5803305"/>
            <a:ext cx="762000" cy="762000"/>
          </a:xfrm>
          <a:prstGeom prst="ellipse">
            <a:avLst/>
          </a:prstGeom>
          <a:solidFill>
            <a:srgbClr val="FF671F"/>
          </a:solidFill>
          <a:ln/>
        </p:spPr>
      </p:sp>
      <p:sp>
        <p:nvSpPr>
          <p:cNvPr id="46" name="Shape 44"/>
          <p:cNvSpPr/>
          <p:nvPr/>
        </p:nvSpPr>
        <p:spPr>
          <a:xfrm>
            <a:off x="9372600" y="3504605"/>
            <a:ext cx="7696200" cy="1619845"/>
          </a:xfrm>
          <a:prstGeom prst="roundRect">
            <a:avLst>
              <a:gd name="adj" fmla="val 8232"/>
            </a:avLst>
          </a:prstGeom>
          <a:solidFill>
            <a:srgbClr val="F1F2F4"/>
          </a:solidFill>
          <a:ln w="6350">
            <a:solidFill>
              <a:srgbClr val="C9CFD8"/>
            </a:solidFill>
            <a:prstDash val="solid"/>
          </a:ln>
        </p:spPr>
      </p:sp>
      <p:sp>
        <p:nvSpPr>
          <p:cNvPr id="47" name="Text 45"/>
          <p:cNvSpPr/>
          <p:nvPr/>
        </p:nvSpPr>
        <p:spPr>
          <a:xfrm>
            <a:off x="9683750" y="3815755"/>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TILE RESIZE</a:t>
            </a:r>
            <a:endParaRPr lang="en-US" sz="900" dirty="0"/>
          </a:p>
        </p:txBody>
      </p:sp>
      <p:sp>
        <p:nvSpPr>
          <p:cNvPr id="48" name="Text 46"/>
          <p:cNvSpPr/>
          <p:nvPr/>
        </p:nvSpPr>
        <p:spPr>
          <a:xfrm>
            <a:off x="9683750" y="4095155"/>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Drag the bottom-right corner.</a:t>
            </a:r>
            <a:endParaRPr lang="en-US" sz="1950" dirty="0"/>
          </a:p>
        </p:txBody>
      </p:sp>
      <p:sp>
        <p:nvSpPr>
          <p:cNvPr id="49" name="Text 47"/>
          <p:cNvSpPr/>
          <p:nvPr/>
        </p:nvSpPr>
        <p:spPr>
          <a:xfrm>
            <a:off x="9683750" y="4513263"/>
            <a:ext cx="7286117" cy="33813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The dashboard snaps to a 12-column grid. Hold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Shift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to free-scale.</a:t>
            </a:r>
            <a:endParaRPr lang="en-US" sz="1275" dirty="0"/>
          </a:p>
        </p:txBody>
      </p:sp>
      <p:sp>
        <p:nvSpPr>
          <p:cNvPr id="50" name="Shape 48"/>
          <p:cNvSpPr/>
          <p:nvPr/>
        </p:nvSpPr>
        <p:spPr>
          <a:xfrm>
            <a:off x="9372600" y="5295900"/>
            <a:ext cx="7696200" cy="1562695"/>
          </a:xfrm>
          <a:prstGeom prst="roundRect">
            <a:avLst>
              <a:gd name="adj" fmla="val 8533"/>
            </a:avLst>
          </a:prstGeom>
          <a:solidFill>
            <a:srgbClr val="F1F2F4"/>
          </a:solidFill>
          <a:ln w="6350">
            <a:solidFill>
              <a:srgbClr val="C9CFD8"/>
            </a:solidFill>
            <a:prstDash val="solid"/>
          </a:ln>
        </p:spPr>
      </p:sp>
      <p:sp>
        <p:nvSpPr>
          <p:cNvPr id="51" name="Text 49"/>
          <p:cNvSpPr/>
          <p:nvPr/>
        </p:nvSpPr>
        <p:spPr>
          <a:xfrm>
            <a:off x="9683750" y="5607050"/>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TILE REORDER</a:t>
            </a:r>
            <a:endParaRPr lang="en-US" sz="900" dirty="0"/>
          </a:p>
        </p:txBody>
      </p:sp>
      <p:sp>
        <p:nvSpPr>
          <p:cNvPr id="52" name="Text 50"/>
          <p:cNvSpPr/>
          <p:nvPr/>
        </p:nvSpPr>
        <p:spPr>
          <a:xfrm>
            <a:off x="9683750" y="5886450"/>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Drag the title bar.</a:t>
            </a:r>
            <a:endParaRPr lang="en-US" sz="1950" dirty="0"/>
          </a:p>
        </p:txBody>
      </p:sp>
      <p:sp>
        <p:nvSpPr>
          <p:cNvPr id="53" name="Text 51"/>
          <p:cNvSpPr/>
          <p:nvPr/>
        </p:nvSpPr>
        <p:spPr>
          <a:xfrm>
            <a:off x="9683750" y="6304558"/>
            <a:ext cx="7286117"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Drop on another tile to swap, or onto an empty grid cell to move.</a:t>
            </a:r>
            <a:endParaRPr lang="en-US" sz="1275" dirty="0"/>
          </a:p>
        </p:txBody>
      </p:sp>
      <p:sp>
        <p:nvSpPr>
          <p:cNvPr id="54" name="Shape 52"/>
          <p:cNvSpPr/>
          <p:nvPr/>
        </p:nvSpPr>
        <p:spPr>
          <a:xfrm>
            <a:off x="9372600" y="7030045"/>
            <a:ext cx="7696200" cy="1805583"/>
          </a:xfrm>
          <a:prstGeom prst="roundRect">
            <a:avLst>
              <a:gd name="adj" fmla="val 7385"/>
            </a:avLst>
          </a:prstGeom>
          <a:solidFill>
            <a:srgbClr val="F1F2F4"/>
          </a:solidFill>
          <a:ln w="6350">
            <a:solidFill>
              <a:srgbClr val="C9CFD8"/>
            </a:solidFill>
            <a:prstDash val="solid"/>
          </a:ln>
        </p:spPr>
      </p:sp>
      <p:sp>
        <p:nvSpPr>
          <p:cNvPr id="55" name="Text 53"/>
          <p:cNvSpPr/>
          <p:nvPr/>
        </p:nvSpPr>
        <p:spPr>
          <a:xfrm>
            <a:off x="9683750" y="734119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SECTION GROUPING</a:t>
            </a:r>
            <a:endParaRPr lang="en-US" sz="900" dirty="0"/>
          </a:p>
        </p:txBody>
      </p:sp>
      <p:sp>
        <p:nvSpPr>
          <p:cNvPr id="56" name="Text 54"/>
          <p:cNvSpPr/>
          <p:nvPr/>
        </p:nvSpPr>
        <p:spPr>
          <a:xfrm>
            <a:off x="9683750" y="7620595"/>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Markdown text tiles + collapse.</a:t>
            </a:r>
            <a:endParaRPr lang="en-US" sz="1950" dirty="0"/>
          </a:p>
        </p:txBody>
      </p:sp>
      <p:sp>
        <p:nvSpPr>
          <p:cNvPr id="57" name="Text 55"/>
          <p:cNvSpPr/>
          <p:nvPr/>
        </p:nvSpPr>
        <p:spPr>
          <a:xfrm>
            <a:off x="9683750" y="8038704"/>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Long dashboards become sections. Each section header can be a text tile (Markdown) and tiles below can be hidden by default.</a:t>
            </a:r>
            <a:endParaRPr lang="en-US" sz="1275" dirty="0"/>
          </a:p>
        </p:txBody>
      </p:sp>
      <p:sp>
        <p:nvSpPr>
          <p:cNvPr id="58" name="Shape 56"/>
          <p:cNvSpPr/>
          <p:nvPr/>
        </p:nvSpPr>
        <p:spPr>
          <a:xfrm>
            <a:off x="9372600" y="9007078"/>
            <a:ext cx="7696200" cy="1805583"/>
          </a:xfrm>
          <a:prstGeom prst="roundRect">
            <a:avLst>
              <a:gd name="adj" fmla="val 7385"/>
            </a:avLst>
          </a:prstGeom>
          <a:solidFill>
            <a:srgbClr val="F1F2F4"/>
          </a:solidFill>
          <a:ln w="6350">
            <a:solidFill>
              <a:srgbClr val="C9CFD8"/>
            </a:solidFill>
            <a:prstDash val="solid"/>
          </a:ln>
        </p:spPr>
      </p:sp>
      <p:sp>
        <p:nvSpPr>
          <p:cNvPr id="59" name="Text 57"/>
          <p:cNvSpPr/>
          <p:nvPr/>
        </p:nvSpPr>
        <p:spPr>
          <a:xfrm>
            <a:off x="9683750" y="9318228"/>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THEME &amp; TILE OPTIONS</a:t>
            </a:r>
            <a:endParaRPr lang="en-US" sz="900" dirty="0"/>
          </a:p>
        </p:txBody>
      </p:sp>
      <p:sp>
        <p:nvSpPr>
          <p:cNvPr id="60" name="Text 58"/>
          <p:cNvSpPr/>
          <p:nvPr/>
        </p:nvSpPr>
        <p:spPr>
          <a:xfrm>
            <a:off x="9683750" y="9597628"/>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Edit tile → vis options.</a:t>
            </a:r>
            <a:endParaRPr lang="en-US" sz="1950" dirty="0"/>
          </a:p>
        </p:txBody>
      </p:sp>
      <p:sp>
        <p:nvSpPr>
          <p:cNvPr id="61" name="Text 59"/>
          <p:cNvSpPr/>
          <p:nvPr/>
        </p:nvSpPr>
        <p:spPr>
          <a:xfrm>
            <a:off x="9683750" y="10015736"/>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Tile colors, axis labels, conditional formatting, totals row, value formatting (currency, percent, custom).</a:t>
            </a:r>
            <a:endParaRPr lang="en-US" sz="1275" dirty="0"/>
          </a:p>
        </p:txBody>
      </p:sp>
      <p:sp>
        <p:nvSpPr>
          <p:cNvPr id="62" name="Text 60"/>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3" name="Text 61"/>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32 / 60</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MODIFYING AN EXISTING DASHBOARD</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Six common edits, in the order you'll do them.</a:t>
            </a:r>
            <a:endParaRPr lang="en-US" sz="6000" dirty="0"/>
          </a:p>
        </p:txBody>
      </p:sp>
      <p:sp>
        <p:nvSpPr>
          <p:cNvPr id="8" name="Text 6"/>
          <p:cNvSpPr/>
          <p:nvPr/>
        </p:nvSpPr>
        <p:spPr>
          <a:xfrm>
            <a:off x="1219200" y="390386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When a stakeholder asks "can you tweak this dashboard?" — these are the six things they almost always mean.</a:t>
            </a:r>
            <a:endParaRPr lang="en-US" sz="1650" dirty="0"/>
          </a:p>
        </p:txBody>
      </p:sp>
      <p:sp>
        <p:nvSpPr>
          <p:cNvPr id="9" name="Shape 7"/>
          <p:cNvSpPr/>
          <p:nvPr/>
        </p:nvSpPr>
        <p:spPr>
          <a:xfrm>
            <a:off x="1219200" y="4741069"/>
            <a:ext cx="5080000" cy="1830983"/>
          </a:xfrm>
          <a:prstGeom prst="roundRect">
            <a:avLst>
              <a:gd name="adj" fmla="val 7283"/>
            </a:avLst>
          </a:prstGeom>
          <a:solidFill>
            <a:srgbClr val="F1F2F4"/>
          </a:solidFill>
          <a:ln/>
        </p:spPr>
      </p:sp>
      <p:sp>
        <p:nvSpPr>
          <p:cNvPr id="10" name="Shape 8"/>
          <p:cNvSpPr/>
          <p:nvPr/>
        </p:nvSpPr>
        <p:spPr>
          <a:xfrm>
            <a:off x="1219200" y="4741069"/>
            <a:ext cx="5080000" cy="38100"/>
          </a:xfrm>
          <a:prstGeom prst="rect">
            <a:avLst/>
          </a:prstGeom>
          <a:solidFill>
            <a:srgbClr val="FF671F"/>
          </a:solidFill>
          <a:ln/>
        </p:spPr>
      </p:sp>
      <p:sp>
        <p:nvSpPr>
          <p:cNvPr id="11" name="Text 9"/>
          <p:cNvSpPr/>
          <p:nvPr/>
        </p:nvSpPr>
        <p:spPr>
          <a:xfrm>
            <a:off x="1524000" y="508396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01 · FILTER</a:t>
            </a:r>
            <a:endParaRPr lang="en-US" sz="900" dirty="0"/>
          </a:p>
        </p:txBody>
      </p:sp>
      <p:sp>
        <p:nvSpPr>
          <p:cNvPr id="12" name="Text 10"/>
          <p:cNvSpPr/>
          <p:nvPr/>
        </p:nvSpPr>
        <p:spPr>
          <a:xfrm>
            <a:off x="1524000" y="536336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Add or change a dashboard filter.</a:t>
            </a:r>
            <a:endParaRPr lang="en-US" sz="1950" dirty="0"/>
          </a:p>
        </p:txBody>
      </p:sp>
      <p:sp>
        <p:nvSpPr>
          <p:cNvPr id="13" name="Text 11"/>
          <p:cNvSpPr/>
          <p:nvPr/>
        </p:nvSpPr>
        <p:spPr>
          <a:xfrm>
            <a:off x="1524000" y="578147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Edit → Filters → Add. Pick the field, default value, allowed values. Map it to each tile that should respond.</a:t>
            </a:r>
            <a:endParaRPr lang="en-US" sz="1275" dirty="0"/>
          </a:p>
        </p:txBody>
      </p:sp>
      <p:sp>
        <p:nvSpPr>
          <p:cNvPr id="14" name="Shape 12"/>
          <p:cNvSpPr/>
          <p:nvPr/>
        </p:nvSpPr>
        <p:spPr>
          <a:xfrm>
            <a:off x="6604000" y="4741069"/>
            <a:ext cx="5080000" cy="1830983"/>
          </a:xfrm>
          <a:prstGeom prst="roundRect">
            <a:avLst>
              <a:gd name="adj" fmla="val 7283"/>
            </a:avLst>
          </a:prstGeom>
          <a:solidFill>
            <a:srgbClr val="F1F2F4"/>
          </a:solidFill>
          <a:ln/>
        </p:spPr>
      </p:sp>
      <p:sp>
        <p:nvSpPr>
          <p:cNvPr id="15" name="Shape 13"/>
          <p:cNvSpPr/>
          <p:nvPr/>
        </p:nvSpPr>
        <p:spPr>
          <a:xfrm>
            <a:off x="6604000" y="4741069"/>
            <a:ext cx="5080000" cy="38100"/>
          </a:xfrm>
          <a:prstGeom prst="rect">
            <a:avLst/>
          </a:prstGeom>
          <a:solidFill>
            <a:srgbClr val="FF671F"/>
          </a:solidFill>
          <a:ln/>
        </p:spPr>
      </p:sp>
      <p:sp>
        <p:nvSpPr>
          <p:cNvPr id="16" name="Text 14"/>
          <p:cNvSpPr/>
          <p:nvPr/>
        </p:nvSpPr>
        <p:spPr>
          <a:xfrm>
            <a:off x="6908800" y="508396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02 · TILE</a:t>
            </a:r>
            <a:endParaRPr lang="en-US" sz="900" dirty="0"/>
          </a:p>
        </p:txBody>
      </p:sp>
      <p:sp>
        <p:nvSpPr>
          <p:cNvPr id="17" name="Text 15"/>
          <p:cNvSpPr/>
          <p:nvPr/>
        </p:nvSpPr>
        <p:spPr>
          <a:xfrm>
            <a:off x="6908800" y="536336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Add or remove a tile.</a:t>
            </a:r>
            <a:endParaRPr lang="en-US" sz="1950" dirty="0"/>
          </a:p>
        </p:txBody>
      </p:sp>
      <p:sp>
        <p:nvSpPr>
          <p:cNvPr id="18" name="Text 16"/>
          <p:cNvSpPr/>
          <p:nvPr/>
        </p:nvSpPr>
        <p:spPr>
          <a:xfrm>
            <a:off x="6908800" y="578147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Add via Explore → Save → To dashboard; remove via tile menu → Delete.</a:t>
            </a:r>
            <a:endParaRPr lang="en-US" sz="1275" dirty="0"/>
          </a:p>
        </p:txBody>
      </p:sp>
      <p:sp>
        <p:nvSpPr>
          <p:cNvPr id="19" name="Shape 17"/>
          <p:cNvSpPr/>
          <p:nvPr/>
        </p:nvSpPr>
        <p:spPr>
          <a:xfrm>
            <a:off x="11988801" y="4741069"/>
            <a:ext cx="5080000" cy="1830983"/>
          </a:xfrm>
          <a:prstGeom prst="roundRect">
            <a:avLst>
              <a:gd name="adj" fmla="val 7283"/>
            </a:avLst>
          </a:prstGeom>
          <a:solidFill>
            <a:srgbClr val="F1F2F4"/>
          </a:solidFill>
          <a:ln/>
        </p:spPr>
      </p:sp>
      <p:sp>
        <p:nvSpPr>
          <p:cNvPr id="20" name="Shape 18"/>
          <p:cNvSpPr/>
          <p:nvPr/>
        </p:nvSpPr>
        <p:spPr>
          <a:xfrm>
            <a:off x="11988801" y="4741069"/>
            <a:ext cx="5080000" cy="38100"/>
          </a:xfrm>
          <a:prstGeom prst="rect">
            <a:avLst/>
          </a:prstGeom>
          <a:solidFill>
            <a:srgbClr val="FF671F"/>
          </a:solidFill>
          <a:ln/>
        </p:spPr>
      </p:sp>
      <p:sp>
        <p:nvSpPr>
          <p:cNvPr id="21" name="Text 19"/>
          <p:cNvSpPr/>
          <p:nvPr/>
        </p:nvSpPr>
        <p:spPr>
          <a:xfrm>
            <a:off x="12293601" y="508396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03 · VIS</a:t>
            </a:r>
            <a:endParaRPr lang="en-US" sz="900" dirty="0"/>
          </a:p>
        </p:txBody>
      </p:sp>
      <p:sp>
        <p:nvSpPr>
          <p:cNvPr id="22" name="Text 20"/>
          <p:cNvSpPr/>
          <p:nvPr/>
        </p:nvSpPr>
        <p:spPr>
          <a:xfrm>
            <a:off x="12293601" y="536336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Change a chart type.</a:t>
            </a:r>
            <a:endParaRPr lang="en-US" sz="1950" dirty="0"/>
          </a:p>
        </p:txBody>
      </p:sp>
      <p:sp>
        <p:nvSpPr>
          <p:cNvPr id="23" name="Text 21"/>
          <p:cNvSpPr/>
          <p:nvPr/>
        </p:nvSpPr>
        <p:spPr>
          <a:xfrm>
            <a:off x="12293601" y="578147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Edit tile → Visualization → pick new type. The query doesn't change; only the rendering does.</a:t>
            </a:r>
            <a:endParaRPr lang="en-US" sz="1275" dirty="0"/>
          </a:p>
        </p:txBody>
      </p:sp>
      <p:sp>
        <p:nvSpPr>
          <p:cNvPr id="24" name="Shape 22"/>
          <p:cNvSpPr/>
          <p:nvPr/>
        </p:nvSpPr>
        <p:spPr>
          <a:xfrm>
            <a:off x="1219200" y="6876852"/>
            <a:ext cx="5080000" cy="1830983"/>
          </a:xfrm>
          <a:prstGeom prst="roundRect">
            <a:avLst>
              <a:gd name="adj" fmla="val 7283"/>
            </a:avLst>
          </a:prstGeom>
          <a:solidFill>
            <a:srgbClr val="F1F2F4"/>
          </a:solidFill>
          <a:ln/>
        </p:spPr>
      </p:sp>
      <p:sp>
        <p:nvSpPr>
          <p:cNvPr id="25" name="Shape 23"/>
          <p:cNvSpPr/>
          <p:nvPr/>
        </p:nvSpPr>
        <p:spPr>
          <a:xfrm>
            <a:off x="1219200" y="6876852"/>
            <a:ext cx="5080000" cy="38100"/>
          </a:xfrm>
          <a:prstGeom prst="rect">
            <a:avLst/>
          </a:prstGeom>
          <a:solidFill>
            <a:srgbClr val="FF671F"/>
          </a:solidFill>
          <a:ln/>
        </p:spPr>
      </p:sp>
      <p:sp>
        <p:nvSpPr>
          <p:cNvPr id="26" name="Text 24"/>
          <p:cNvSpPr/>
          <p:nvPr/>
        </p:nvSpPr>
        <p:spPr>
          <a:xfrm>
            <a:off x="1524000" y="7219752"/>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04 · TITLE</a:t>
            </a:r>
            <a:endParaRPr lang="en-US" sz="900" dirty="0"/>
          </a:p>
        </p:txBody>
      </p:sp>
      <p:sp>
        <p:nvSpPr>
          <p:cNvPr id="27" name="Text 25"/>
          <p:cNvSpPr/>
          <p:nvPr/>
        </p:nvSpPr>
        <p:spPr>
          <a:xfrm>
            <a:off x="1524000" y="7499152"/>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Edit copy &amp; headings.</a:t>
            </a:r>
            <a:endParaRPr lang="en-US" sz="1950" dirty="0"/>
          </a:p>
        </p:txBody>
      </p:sp>
      <p:sp>
        <p:nvSpPr>
          <p:cNvPr id="28" name="Text 26"/>
          <p:cNvSpPr/>
          <p:nvPr/>
        </p:nvSpPr>
        <p:spPr>
          <a:xfrm>
            <a:off x="1524000" y="791726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Click a title to rename. Edit Markdown tiles inline. Update the dashboard description for searchability.</a:t>
            </a:r>
            <a:endParaRPr lang="en-US" sz="1275" dirty="0"/>
          </a:p>
        </p:txBody>
      </p:sp>
      <p:sp>
        <p:nvSpPr>
          <p:cNvPr id="29" name="Shape 27"/>
          <p:cNvSpPr/>
          <p:nvPr/>
        </p:nvSpPr>
        <p:spPr>
          <a:xfrm>
            <a:off x="6604000" y="6876852"/>
            <a:ext cx="5080000" cy="1830983"/>
          </a:xfrm>
          <a:prstGeom prst="roundRect">
            <a:avLst>
              <a:gd name="adj" fmla="val 7283"/>
            </a:avLst>
          </a:prstGeom>
          <a:solidFill>
            <a:srgbClr val="F1F2F4"/>
          </a:solidFill>
          <a:ln/>
        </p:spPr>
      </p:sp>
      <p:sp>
        <p:nvSpPr>
          <p:cNvPr id="30" name="Shape 28"/>
          <p:cNvSpPr/>
          <p:nvPr/>
        </p:nvSpPr>
        <p:spPr>
          <a:xfrm>
            <a:off x="6604000" y="6876852"/>
            <a:ext cx="5080000" cy="38100"/>
          </a:xfrm>
          <a:prstGeom prst="rect">
            <a:avLst/>
          </a:prstGeom>
          <a:solidFill>
            <a:srgbClr val="FF671F"/>
          </a:solidFill>
          <a:ln/>
        </p:spPr>
      </p:sp>
      <p:sp>
        <p:nvSpPr>
          <p:cNvPr id="31" name="Text 29"/>
          <p:cNvSpPr/>
          <p:nvPr/>
        </p:nvSpPr>
        <p:spPr>
          <a:xfrm>
            <a:off x="6908800" y="7219752"/>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05 · LAYOUT</a:t>
            </a:r>
            <a:endParaRPr lang="en-US" sz="900" dirty="0"/>
          </a:p>
        </p:txBody>
      </p:sp>
      <p:sp>
        <p:nvSpPr>
          <p:cNvPr id="32" name="Text 30"/>
          <p:cNvSpPr/>
          <p:nvPr/>
        </p:nvSpPr>
        <p:spPr>
          <a:xfrm>
            <a:off x="6908800" y="7499152"/>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Resize and rearrange.</a:t>
            </a:r>
            <a:endParaRPr lang="en-US" sz="1950" dirty="0"/>
          </a:p>
        </p:txBody>
      </p:sp>
      <p:sp>
        <p:nvSpPr>
          <p:cNvPr id="33" name="Text 31"/>
          <p:cNvSpPr/>
          <p:nvPr/>
        </p:nvSpPr>
        <p:spPr>
          <a:xfrm>
            <a:off x="6908800" y="7917260"/>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Drag tiles into rows. Group KPIs at top, charts in the middle, tables at the bottom. Tighten spacing.</a:t>
            </a:r>
            <a:endParaRPr lang="en-US" sz="1275" dirty="0"/>
          </a:p>
        </p:txBody>
      </p:sp>
      <p:sp>
        <p:nvSpPr>
          <p:cNvPr id="34" name="Shape 32"/>
          <p:cNvSpPr/>
          <p:nvPr/>
        </p:nvSpPr>
        <p:spPr>
          <a:xfrm>
            <a:off x="11988801" y="6876852"/>
            <a:ext cx="5080000" cy="1830983"/>
          </a:xfrm>
          <a:prstGeom prst="roundRect">
            <a:avLst>
              <a:gd name="adj" fmla="val 7283"/>
            </a:avLst>
          </a:prstGeom>
          <a:solidFill>
            <a:srgbClr val="F1F2F4"/>
          </a:solidFill>
          <a:ln/>
        </p:spPr>
      </p:sp>
      <p:sp>
        <p:nvSpPr>
          <p:cNvPr id="35" name="Shape 33"/>
          <p:cNvSpPr/>
          <p:nvPr/>
        </p:nvSpPr>
        <p:spPr>
          <a:xfrm>
            <a:off x="11988801" y="6876852"/>
            <a:ext cx="5080000" cy="38100"/>
          </a:xfrm>
          <a:prstGeom prst="rect">
            <a:avLst/>
          </a:prstGeom>
          <a:solidFill>
            <a:srgbClr val="FF671F"/>
          </a:solidFill>
          <a:ln/>
        </p:spPr>
      </p:sp>
      <p:sp>
        <p:nvSpPr>
          <p:cNvPr id="36" name="Text 34"/>
          <p:cNvSpPr/>
          <p:nvPr/>
        </p:nvSpPr>
        <p:spPr>
          <a:xfrm>
            <a:off x="12293601" y="7219752"/>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06 · PERMISSIONS</a:t>
            </a:r>
            <a:endParaRPr lang="en-US" sz="900" dirty="0"/>
          </a:p>
        </p:txBody>
      </p:sp>
      <p:sp>
        <p:nvSpPr>
          <p:cNvPr id="37" name="Text 35"/>
          <p:cNvSpPr/>
          <p:nvPr/>
        </p:nvSpPr>
        <p:spPr>
          <a:xfrm>
            <a:off x="12293601" y="7499152"/>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Move folder, change access.</a:t>
            </a:r>
            <a:endParaRPr lang="en-US" sz="1950" dirty="0"/>
          </a:p>
        </p:txBody>
      </p:sp>
      <p:sp>
        <p:nvSpPr>
          <p:cNvPr id="38" name="Text 36"/>
          <p:cNvSpPr/>
          <p:nvPr/>
        </p:nvSpPr>
        <p:spPr>
          <a:xfrm>
            <a:off x="12293601" y="7917260"/>
            <a:ext cx="4604512"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Edit info → Move → pick folder. Folder permissions follow.</a:t>
            </a:r>
            <a:endParaRPr lang="en-US" sz="1275" dirty="0"/>
          </a:p>
        </p:txBody>
      </p:sp>
      <p:sp>
        <p:nvSpPr>
          <p:cNvPr id="39" name="Text 3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0" name="Text 3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33 / 60</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SHARING</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Five ways to get a dashboard in front of someone.</a:t>
            </a:r>
            <a:endParaRPr lang="en-US" sz="6000" dirty="0"/>
          </a:p>
        </p:txBody>
      </p:sp>
      <p:sp>
        <p:nvSpPr>
          <p:cNvPr id="8" name="Text 6"/>
          <p:cNvSpPr/>
          <p:nvPr/>
        </p:nvSpPr>
        <p:spPr>
          <a:xfrm>
            <a:off x="1219200" y="390386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"Share" in Looker means more than "send a link". Pick the mechanism that matches how the audience actually wants to consume the data.</a:t>
            </a:r>
            <a:endParaRPr lang="en-US" sz="1650" dirty="0"/>
          </a:p>
        </p:txBody>
      </p:sp>
      <p:sp>
        <p:nvSpPr>
          <p:cNvPr id="9" name="Shape 7"/>
          <p:cNvSpPr/>
          <p:nvPr/>
        </p:nvSpPr>
        <p:spPr>
          <a:xfrm>
            <a:off x="1219200" y="4741069"/>
            <a:ext cx="5080000" cy="2073870"/>
          </a:xfrm>
          <a:prstGeom prst="roundRect">
            <a:avLst>
              <a:gd name="adj" fmla="val 6430"/>
            </a:avLst>
          </a:prstGeom>
          <a:solidFill>
            <a:srgbClr val="F1F2F4"/>
          </a:solidFill>
          <a:ln/>
        </p:spPr>
      </p:sp>
      <p:sp>
        <p:nvSpPr>
          <p:cNvPr id="10" name="Shape 8"/>
          <p:cNvSpPr/>
          <p:nvPr/>
        </p:nvSpPr>
        <p:spPr>
          <a:xfrm>
            <a:off x="1219200" y="4741069"/>
            <a:ext cx="5080000" cy="38100"/>
          </a:xfrm>
          <a:prstGeom prst="rect">
            <a:avLst/>
          </a:prstGeom>
          <a:solidFill>
            <a:srgbClr val="FF671F"/>
          </a:solidFill>
          <a:ln/>
        </p:spPr>
      </p:sp>
      <p:sp>
        <p:nvSpPr>
          <p:cNvPr id="11" name="Text 9"/>
          <p:cNvSpPr/>
          <p:nvPr/>
        </p:nvSpPr>
        <p:spPr>
          <a:xfrm>
            <a:off x="1524000" y="508396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OPTION 01 · MOST COMMON</a:t>
            </a:r>
            <a:endParaRPr lang="en-US" sz="900" dirty="0"/>
          </a:p>
        </p:txBody>
      </p:sp>
      <p:sp>
        <p:nvSpPr>
          <p:cNvPr id="12" name="Text 10"/>
          <p:cNvSpPr/>
          <p:nvPr/>
        </p:nvSpPr>
        <p:spPr>
          <a:xfrm>
            <a:off x="1524000" y="536336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Direct link.</a:t>
            </a:r>
            <a:endParaRPr lang="en-US" sz="1950" dirty="0"/>
          </a:p>
        </p:txBody>
      </p:sp>
      <p:sp>
        <p:nvSpPr>
          <p:cNvPr id="13" name="Text 11"/>
          <p:cNvSpPr/>
          <p:nvPr/>
        </p:nvSpPr>
        <p:spPr>
          <a:xfrm>
            <a:off x="1524000" y="5781477"/>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Anyone with permission to the folder can open the URL. Filter values are encoded in the URL — copy after applying filters to share a specific view.</a:t>
            </a:r>
            <a:endParaRPr lang="en-US" sz="1275" dirty="0"/>
          </a:p>
        </p:txBody>
      </p:sp>
      <p:sp>
        <p:nvSpPr>
          <p:cNvPr id="14" name="Shape 12"/>
          <p:cNvSpPr/>
          <p:nvPr/>
        </p:nvSpPr>
        <p:spPr>
          <a:xfrm>
            <a:off x="6604000" y="4741069"/>
            <a:ext cx="5080000" cy="2073870"/>
          </a:xfrm>
          <a:prstGeom prst="roundRect">
            <a:avLst>
              <a:gd name="adj" fmla="val 6430"/>
            </a:avLst>
          </a:prstGeom>
          <a:solidFill>
            <a:srgbClr val="F1F2F4"/>
          </a:solidFill>
          <a:ln/>
        </p:spPr>
      </p:sp>
      <p:sp>
        <p:nvSpPr>
          <p:cNvPr id="15" name="Shape 13"/>
          <p:cNvSpPr/>
          <p:nvPr/>
        </p:nvSpPr>
        <p:spPr>
          <a:xfrm>
            <a:off x="6604000" y="4741069"/>
            <a:ext cx="5080000" cy="38100"/>
          </a:xfrm>
          <a:prstGeom prst="rect">
            <a:avLst/>
          </a:prstGeom>
          <a:solidFill>
            <a:srgbClr val="FF671F"/>
          </a:solidFill>
          <a:ln/>
        </p:spPr>
      </p:sp>
      <p:sp>
        <p:nvSpPr>
          <p:cNvPr id="16" name="Text 14"/>
          <p:cNvSpPr/>
          <p:nvPr/>
        </p:nvSpPr>
        <p:spPr>
          <a:xfrm>
            <a:off x="6908800" y="508396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OPTION 02 · RECURRING</a:t>
            </a:r>
            <a:endParaRPr lang="en-US" sz="900" dirty="0"/>
          </a:p>
        </p:txBody>
      </p:sp>
      <p:sp>
        <p:nvSpPr>
          <p:cNvPr id="17" name="Text 15"/>
          <p:cNvSpPr/>
          <p:nvPr/>
        </p:nvSpPr>
        <p:spPr>
          <a:xfrm>
            <a:off x="6908800" y="536336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Schedule delivery.</a:t>
            </a:r>
            <a:endParaRPr lang="en-US" sz="1950" dirty="0"/>
          </a:p>
        </p:txBody>
      </p:sp>
      <p:sp>
        <p:nvSpPr>
          <p:cNvPr id="18" name="Text 16"/>
          <p:cNvSpPr/>
          <p:nvPr/>
        </p:nvSpPr>
        <p:spPr>
          <a:xfrm>
            <a:off x="6908800" y="578147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Email, Slack, webhook, Cloud Storage. PDF, CSV, PNG, inline visualization. Daily, weekly, monthly, or on a custom cron.</a:t>
            </a:r>
            <a:endParaRPr lang="en-US" sz="1275" dirty="0"/>
          </a:p>
        </p:txBody>
      </p:sp>
      <p:sp>
        <p:nvSpPr>
          <p:cNvPr id="19" name="Shape 17"/>
          <p:cNvSpPr/>
          <p:nvPr/>
        </p:nvSpPr>
        <p:spPr>
          <a:xfrm>
            <a:off x="11988801" y="4741069"/>
            <a:ext cx="5080000" cy="2073870"/>
          </a:xfrm>
          <a:prstGeom prst="roundRect">
            <a:avLst>
              <a:gd name="adj" fmla="val 6430"/>
            </a:avLst>
          </a:prstGeom>
          <a:solidFill>
            <a:srgbClr val="F1F2F4"/>
          </a:solidFill>
          <a:ln/>
        </p:spPr>
      </p:sp>
      <p:sp>
        <p:nvSpPr>
          <p:cNvPr id="20" name="Shape 18"/>
          <p:cNvSpPr/>
          <p:nvPr/>
        </p:nvSpPr>
        <p:spPr>
          <a:xfrm>
            <a:off x="11988801" y="4741069"/>
            <a:ext cx="5080000" cy="38100"/>
          </a:xfrm>
          <a:prstGeom prst="rect">
            <a:avLst/>
          </a:prstGeom>
          <a:solidFill>
            <a:srgbClr val="FF671F"/>
          </a:solidFill>
          <a:ln/>
        </p:spPr>
      </p:sp>
      <p:sp>
        <p:nvSpPr>
          <p:cNvPr id="21" name="Text 19"/>
          <p:cNvSpPr/>
          <p:nvPr/>
        </p:nvSpPr>
        <p:spPr>
          <a:xfrm>
            <a:off x="12293601" y="508396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OPTION 03 · ALERT</a:t>
            </a:r>
            <a:endParaRPr lang="en-US" sz="900" dirty="0"/>
          </a:p>
        </p:txBody>
      </p:sp>
      <p:sp>
        <p:nvSpPr>
          <p:cNvPr id="22" name="Text 20"/>
          <p:cNvSpPr/>
          <p:nvPr/>
        </p:nvSpPr>
        <p:spPr>
          <a:xfrm>
            <a:off x="12293601" y="536336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Threshold alert.</a:t>
            </a:r>
            <a:endParaRPr lang="en-US" sz="1950" dirty="0"/>
          </a:p>
        </p:txBody>
      </p:sp>
      <p:sp>
        <p:nvSpPr>
          <p:cNvPr id="23" name="Text 21"/>
          <p:cNvSpPr/>
          <p:nvPr/>
        </p:nvSpPr>
        <p:spPr>
          <a:xfrm>
            <a:off x="12293601" y="578147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Notify when a KPI tile crosses a threshold. e.g. "Email me when MRR drops below $140K."</a:t>
            </a:r>
            <a:endParaRPr lang="en-US" sz="1275" dirty="0"/>
          </a:p>
        </p:txBody>
      </p:sp>
      <p:sp>
        <p:nvSpPr>
          <p:cNvPr id="24" name="Shape 22"/>
          <p:cNvSpPr/>
          <p:nvPr/>
        </p:nvSpPr>
        <p:spPr>
          <a:xfrm>
            <a:off x="1219200" y="7119739"/>
            <a:ext cx="5080000" cy="2073870"/>
          </a:xfrm>
          <a:prstGeom prst="roundRect">
            <a:avLst>
              <a:gd name="adj" fmla="val 6430"/>
            </a:avLst>
          </a:prstGeom>
          <a:solidFill>
            <a:srgbClr val="F1F2F4"/>
          </a:solidFill>
          <a:ln/>
        </p:spPr>
      </p:sp>
      <p:sp>
        <p:nvSpPr>
          <p:cNvPr id="25" name="Shape 23"/>
          <p:cNvSpPr/>
          <p:nvPr/>
        </p:nvSpPr>
        <p:spPr>
          <a:xfrm>
            <a:off x="1219200" y="7119739"/>
            <a:ext cx="5080000" cy="38100"/>
          </a:xfrm>
          <a:prstGeom prst="rect">
            <a:avLst/>
          </a:prstGeom>
          <a:solidFill>
            <a:srgbClr val="FF671F"/>
          </a:solidFill>
          <a:ln/>
        </p:spPr>
      </p:sp>
      <p:sp>
        <p:nvSpPr>
          <p:cNvPr id="26" name="Text 24"/>
          <p:cNvSpPr/>
          <p:nvPr/>
        </p:nvSpPr>
        <p:spPr>
          <a:xfrm>
            <a:off x="1524000" y="746263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OPTION 04 · APP</a:t>
            </a:r>
            <a:endParaRPr lang="en-US" sz="900" dirty="0"/>
          </a:p>
        </p:txBody>
      </p:sp>
      <p:sp>
        <p:nvSpPr>
          <p:cNvPr id="27" name="Text 25"/>
          <p:cNvSpPr/>
          <p:nvPr/>
        </p:nvSpPr>
        <p:spPr>
          <a:xfrm>
            <a:off x="1524000" y="774203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Embed.</a:t>
            </a:r>
            <a:endParaRPr lang="en-US" sz="1950" dirty="0"/>
          </a:p>
        </p:txBody>
      </p:sp>
      <p:sp>
        <p:nvSpPr>
          <p:cNvPr id="28" name="Text 26"/>
          <p:cNvSpPr/>
          <p:nvPr/>
        </p:nvSpPr>
        <p:spPr>
          <a:xfrm>
            <a:off x="1524000" y="8160147"/>
            <a:ext cx="4604512"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Drop a dashboard inside your own app. Single-sign-on (private embed) or signed URL (public embed) for external customers.</a:t>
            </a:r>
            <a:endParaRPr lang="en-US" sz="1275" dirty="0"/>
          </a:p>
        </p:txBody>
      </p:sp>
      <p:sp>
        <p:nvSpPr>
          <p:cNvPr id="29" name="Shape 27"/>
          <p:cNvSpPr/>
          <p:nvPr/>
        </p:nvSpPr>
        <p:spPr>
          <a:xfrm>
            <a:off x="6604000" y="7119739"/>
            <a:ext cx="5080000" cy="2073870"/>
          </a:xfrm>
          <a:prstGeom prst="roundRect">
            <a:avLst>
              <a:gd name="adj" fmla="val 6430"/>
            </a:avLst>
          </a:prstGeom>
          <a:solidFill>
            <a:srgbClr val="F1F2F4"/>
          </a:solidFill>
          <a:ln/>
        </p:spPr>
      </p:sp>
      <p:sp>
        <p:nvSpPr>
          <p:cNvPr id="30" name="Shape 28"/>
          <p:cNvSpPr/>
          <p:nvPr/>
        </p:nvSpPr>
        <p:spPr>
          <a:xfrm>
            <a:off x="6604000" y="7119739"/>
            <a:ext cx="5080000" cy="38100"/>
          </a:xfrm>
          <a:prstGeom prst="rect">
            <a:avLst/>
          </a:prstGeom>
          <a:solidFill>
            <a:srgbClr val="FF671F"/>
          </a:solidFill>
          <a:ln/>
        </p:spPr>
      </p:sp>
      <p:sp>
        <p:nvSpPr>
          <p:cNvPr id="31" name="Text 29"/>
          <p:cNvSpPr/>
          <p:nvPr/>
        </p:nvSpPr>
        <p:spPr>
          <a:xfrm>
            <a:off x="6908800" y="746263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OPTION 05 · EXPORT</a:t>
            </a:r>
            <a:endParaRPr lang="en-US" sz="900" dirty="0"/>
          </a:p>
        </p:txBody>
      </p:sp>
      <p:sp>
        <p:nvSpPr>
          <p:cNvPr id="32" name="Text 30"/>
          <p:cNvSpPr/>
          <p:nvPr/>
        </p:nvSpPr>
        <p:spPr>
          <a:xfrm>
            <a:off x="6908800" y="774203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Download.</a:t>
            </a:r>
            <a:endParaRPr lang="en-US" sz="1950" dirty="0"/>
          </a:p>
        </p:txBody>
      </p:sp>
      <p:sp>
        <p:nvSpPr>
          <p:cNvPr id="33" name="Text 31"/>
          <p:cNvSpPr/>
          <p:nvPr/>
        </p:nvSpPr>
        <p:spPr>
          <a:xfrm>
            <a:off x="6908800" y="816014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One-off PDF, PNG or CSV for a slide deck or attachment. The user-visible "Download" button.</a:t>
            </a:r>
            <a:endParaRPr lang="en-US" sz="1275" dirty="0"/>
          </a:p>
        </p:txBody>
      </p:sp>
      <p:sp>
        <p:nvSpPr>
          <p:cNvPr id="34" name="Shape 32"/>
          <p:cNvSpPr/>
          <p:nvPr/>
        </p:nvSpPr>
        <p:spPr>
          <a:xfrm>
            <a:off x="11988801" y="7119739"/>
            <a:ext cx="5080000" cy="2073870"/>
          </a:xfrm>
          <a:prstGeom prst="roundRect">
            <a:avLst>
              <a:gd name="adj" fmla="val 6430"/>
            </a:avLst>
          </a:prstGeom>
          <a:solidFill>
            <a:srgbClr val="F1F2F4"/>
          </a:solidFill>
          <a:ln/>
        </p:spPr>
      </p:sp>
      <p:sp>
        <p:nvSpPr>
          <p:cNvPr id="35" name="Shape 33"/>
          <p:cNvSpPr/>
          <p:nvPr/>
        </p:nvSpPr>
        <p:spPr>
          <a:xfrm>
            <a:off x="11988801" y="7119739"/>
            <a:ext cx="5080000" cy="38100"/>
          </a:xfrm>
          <a:prstGeom prst="rect">
            <a:avLst/>
          </a:prstGeom>
          <a:solidFill>
            <a:srgbClr val="FF671F"/>
          </a:solidFill>
          <a:ln/>
        </p:spPr>
      </p:sp>
      <p:sp>
        <p:nvSpPr>
          <p:cNvPr id="36" name="Text 34"/>
          <p:cNvSpPr/>
          <p:nvPr/>
        </p:nvSpPr>
        <p:spPr>
          <a:xfrm>
            <a:off x="12293601" y="7462639"/>
            <a:ext cx="4604512"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OPTION 06 · PROGRAMMATIC</a:t>
            </a:r>
            <a:endParaRPr lang="en-US" sz="900" dirty="0"/>
          </a:p>
        </p:txBody>
      </p:sp>
      <p:sp>
        <p:nvSpPr>
          <p:cNvPr id="37" name="Text 35"/>
          <p:cNvSpPr/>
          <p:nvPr/>
        </p:nvSpPr>
        <p:spPr>
          <a:xfrm>
            <a:off x="12293601" y="7742039"/>
            <a:ext cx="4604512"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Looker API.</a:t>
            </a:r>
            <a:endParaRPr lang="en-US" sz="1950" dirty="0"/>
          </a:p>
        </p:txBody>
      </p:sp>
      <p:sp>
        <p:nvSpPr>
          <p:cNvPr id="38" name="Text 36"/>
          <p:cNvSpPr/>
          <p:nvPr/>
        </p:nvSpPr>
        <p:spPr>
          <a:xfrm>
            <a:off x="12293601" y="8160147"/>
            <a:ext cx="4604512"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Fetch dashboard data, render thumbnails, or sync content via the Looker SDK in Python / TypeScript / Go.</a:t>
            </a:r>
            <a:endParaRPr lang="en-US" sz="1275" dirty="0"/>
          </a:p>
        </p:txBody>
      </p:sp>
      <p:sp>
        <p:nvSpPr>
          <p:cNvPr id="39" name="Text 3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0" name="Text 3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34 / 60</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SCHEDULE DELIVERIES</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Inside the schedule dialog.</a:t>
            </a:r>
            <a:endParaRPr lang="en-US" sz="4800" dirty="0"/>
          </a:p>
        </p:txBody>
      </p:sp>
      <p:sp>
        <p:nvSpPr>
          <p:cNvPr id="8" name="Text 6"/>
          <p:cNvSpPr/>
          <p:nvPr/>
        </p:nvSpPr>
        <p:spPr>
          <a:xfrm>
            <a:off x="1219200" y="2971205"/>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Schedules are the most common way Looker dashboards reach non-Looker users. Every business has them; the certification expects you to know the parameters.</a:t>
            </a:r>
            <a:endParaRPr lang="en-US" sz="1650" dirty="0"/>
          </a:p>
        </p:txBody>
      </p:sp>
      <p:sp>
        <p:nvSpPr>
          <p:cNvPr id="9" name="Shape 7"/>
          <p:cNvSpPr/>
          <p:nvPr/>
        </p:nvSpPr>
        <p:spPr>
          <a:xfrm>
            <a:off x="1219200" y="4417021"/>
            <a:ext cx="7696200" cy="4965700"/>
          </a:xfrm>
          <a:prstGeom prst="roundRect">
            <a:avLst>
              <a:gd name="adj" fmla="val 3069"/>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10" name="Shape 8"/>
          <p:cNvSpPr/>
          <p:nvPr/>
        </p:nvSpPr>
        <p:spPr>
          <a:xfrm>
            <a:off x="1225550" y="4423370"/>
            <a:ext cx="7683500" cy="584200"/>
          </a:xfrm>
          <a:prstGeom prst="rect">
            <a:avLst/>
          </a:prstGeom>
          <a:solidFill>
            <a:srgbClr val="FAFBFC"/>
          </a:solidFill>
          <a:ln/>
        </p:spPr>
      </p:sp>
      <p:sp>
        <p:nvSpPr>
          <p:cNvPr id="11" name="Shape 9"/>
          <p:cNvSpPr/>
          <p:nvPr/>
        </p:nvSpPr>
        <p:spPr>
          <a:xfrm>
            <a:off x="1225550" y="5001220"/>
            <a:ext cx="7683500" cy="9525"/>
          </a:xfrm>
          <a:prstGeom prst="rect">
            <a:avLst/>
          </a:prstGeom>
          <a:solidFill>
            <a:srgbClr val="C9CFD8"/>
          </a:solidFill>
          <a:ln/>
        </p:spPr>
      </p:sp>
      <p:sp>
        <p:nvSpPr>
          <p:cNvPr id="12" name="Text 10"/>
          <p:cNvSpPr/>
          <p:nvPr/>
        </p:nvSpPr>
        <p:spPr>
          <a:xfrm>
            <a:off x="1435100" y="4594820"/>
            <a:ext cx="7494905" cy="273050"/>
          </a:xfrm>
          <a:prstGeom prst="rect">
            <a:avLst/>
          </a:prstGeom>
          <a:noFill/>
          <a:ln/>
        </p:spPr>
        <p:txBody>
          <a:bodyPr wrap="square" lIns="25400" tIns="25400" rIns="25400" bIns="25400" rtlCol="0" anchor="t">
            <a:normAutofit/>
          </a:bodyPr>
          <a:lstStyle/>
          <a:p>
            <a:pPr algn="l" indent="0" marL="0">
              <a:buNone/>
            </a:pPr>
            <a:r>
              <a:rPr lang="en-US" sz="1350" b="1" dirty="0">
                <a:solidFill>
                  <a:srgbClr val="1B1F2A"/>
                </a:solidFill>
                <a:latin typeface="Manrope" pitchFamily="34" charset="0"/>
                <a:ea typeface="Manrope" pitchFamily="34" charset="-122"/>
                <a:cs typeface="Manrope" pitchFamily="34" charset="-120"/>
              </a:rPr>
              <a:t>Schedule delivery</a:t>
            </a:r>
            <a:endParaRPr lang="en-US" sz="1350" dirty="0"/>
          </a:p>
        </p:txBody>
      </p:sp>
      <p:sp>
        <p:nvSpPr>
          <p:cNvPr id="13" name="Text 11"/>
          <p:cNvSpPr/>
          <p:nvPr/>
        </p:nvSpPr>
        <p:spPr>
          <a:xfrm>
            <a:off x="1473200" y="5217121"/>
            <a:ext cx="7403846"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B95A6"/>
                </a:solidFill>
                <a:latin typeface="JetBrains Mono" pitchFamily="34" charset="0"/>
                <a:ea typeface="JetBrains Mono" pitchFamily="34" charset="-122"/>
                <a:cs typeface="JetBrains Mono" pitchFamily="34" charset="-120"/>
              </a:rPr>
              <a:t>NAME</a:t>
            </a:r>
            <a:endParaRPr lang="en-US" sz="825" dirty="0"/>
          </a:p>
        </p:txBody>
      </p:sp>
      <p:sp>
        <p:nvSpPr>
          <p:cNvPr id="14" name="Shape 12"/>
          <p:cNvSpPr/>
          <p:nvPr/>
        </p:nvSpPr>
        <p:spPr>
          <a:xfrm>
            <a:off x="1473200" y="5413971"/>
            <a:ext cx="7188200" cy="381000"/>
          </a:xfrm>
          <a:prstGeom prst="roundRect">
            <a:avLst>
              <a:gd name="adj" fmla="val 15000"/>
            </a:avLst>
          </a:prstGeom>
          <a:solidFill>
            <a:srgbClr val="FFFFFF"/>
          </a:solidFill>
          <a:ln w="6350">
            <a:solidFill>
              <a:srgbClr val="C9CFD8"/>
            </a:solidFill>
            <a:prstDash val="solid"/>
          </a:ln>
        </p:spPr>
      </p:sp>
      <p:sp>
        <p:nvSpPr>
          <p:cNvPr id="15" name="Text 13"/>
          <p:cNvSpPr/>
          <p:nvPr/>
        </p:nvSpPr>
        <p:spPr>
          <a:xfrm>
            <a:off x="1593850" y="5515571"/>
            <a:ext cx="716254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1B1F2A"/>
                </a:solidFill>
                <a:latin typeface="Manrope" pitchFamily="34" charset="0"/>
                <a:ea typeface="Manrope" pitchFamily="34" charset="-122"/>
                <a:cs typeface="Manrope" pitchFamily="34" charset="-120"/>
              </a:rPr>
              <a:t>North Star — weekly to Exec list</a:t>
            </a:r>
            <a:endParaRPr lang="en-US" sz="1050" dirty="0"/>
          </a:p>
        </p:txBody>
      </p:sp>
      <p:sp>
        <p:nvSpPr>
          <p:cNvPr id="16" name="Text 14"/>
          <p:cNvSpPr/>
          <p:nvPr/>
        </p:nvSpPr>
        <p:spPr>
          <a:xfrm>
            <a:off x="1473200" y="5966421"/>
            <a:ext cx="7403846"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B95A6"/>
                </a:solidFill>
                <a:latin typeface="JetBrains Mono" pitchFamily="34" charset="0"/>
                <a:ea typeface="JetBrains Mono" pitchFamily="34" charset="-122"/>
                <a:cs typeface="JetBrains Mono" pitchFamily="34" charset="-120"/>
              </a:rPr>
              <a:t>DESTINATION</a:t>
            </a:r>
            <a:endParaRPr lang="en-US" sz="825" dirty="0"/>
          </a:p>
        </p:txBody>
      </p:sp>
      <p:sp>
        <p:nvSpPr>
          <p:cNvPr id="17" name="Shape 15"/>
          <p:cNvSpPr/>
          <p:nvPr/>
        </p:nvSpPr>
        <p:spPr>
          <a:xfrm>
            <a:off x="1473200" y="6163270"/>
            <a:ext cx="608211" cy="342900"/>
          </a:xfrm>
          <a:prstGeom prst="roundRect">
            <a:avLst>
              <a:gd name="adj" fmla="val 16667"/>
            </a:avLst>
          </a:prstGeom>
          <a:solidFill>
            <a:srgbClr val="FFE3D2"/>
          </a:solidFill>
          <a:ln/>
        </p:spPr>
      </p:sp>
      <p:sp>
        <p:nvSpPr>
          <p:cNvPr id="18" name="Text 16"/>
          <p:cNvSpPr/>
          <p:nvPr/>
        </p:nvSpPr>
        <p:spPr>
          <a:xfrm>
            <a:off x="1606550" y="6239470"/>
            <a:ext cx="417711" cy="228600"/>
          </a:xfrm>
          <a:prstGeom prst="rect">
            <a:avLst/>
          </a:prstGeom>
          <a:noFill/>
          <a:ln/>
        </p:spPr>
        <p:txBody>
          <a:bodyPr wrap="square" lIns="25400" tIns="25400" rIns="25400" bIns="25400" rtlCol="0" anchor="t">
            <a:normAutofit/>
          </a:bodyPr>
          <a:lstStyle/>
          <a:p>
            <a:pPr algn="l" indent="0" marL="0">
              <a:buNone/>
            </a:pPr>
            <a:r>
              <a:rPr lang="en-US" sz="1050" b="1" dirty="0">
                <a:solidFill>
                  <a:srgbClr val="FF671F"/>
                </a:solidFill>
                <a:latin typeface="Manrope" pitchFamily="34" charset="0"/>
                <a:ea typeface="Manrope" pitchFamily="34" charset="-122"/>
                <a:cs typeface="Manrope" pitchFamily="34" charset="-120"/>
              </a:rPr>
              <a:t>Email</a:t>
            </a:r>
            <a:endParaRPr lang="en-US" sz="1050" dirty="0"/>
          </a:p>
        </p:txBody>
      </p:sp>
      <p:sp>
        <p:nvSpPr>
          <p:cNvPr id="19" name="Shape 17"/>
          <p:cNvSpPr/>
          <p:nvPr/>
        </p:nvSpPr>
        <p:spPr>
          <a:xfrm>
            <a:off x="2157611" y="6163270"/>
            <a:ext cx="606822" cy="342900"/>
          </a:xfrm>
          <a:prstGeom prst="roundRect">
            <a:avLst>
              <a:gd name="adj" fmla="val 16667"/>
            </a:avLst>
          </a:prstGeom>
          <a:solidFill>
            <a:srgbClr val="FFFFFF"/>
          </a:solidFill>
          <a:ln w="6350">
            <a:solidFill>
              <a:srgbClr val="C9CFD8"/>
            </a:solidFill>
            <a:prstDash val="solid"/>
          </a:ln>
        </p:spPr>
      </p:sp>
      <p:sp>
        <p:nvSpPr>
          <p:cNvPr id="20" name="Text 18"/>
          <p:cNvSpPr/>
          <p:nvPr/>
        </p:nvSpPr>
        <p:spPr>
          <a:xfrm>
            <a:off x="2297311" y="6245820"/>
            <a:ext cx="403622"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Slack</a:t>
            </a:r>
            <a:endParaRPr lang="en-US" sz="1050" dirty="0"/>
          </a:p>
        </p:txBody>
      </p:sp>
      <p:sp>
        <p:nvSpPr>
          <p:cNvPr id="21" name="Shape 19"/>
          <p:cNvSpPr/>
          <p:nvPr/>
        </p:nvSpPr>
        <p:spPr>
          <a:xfrm>
            <a:off x="2840633" y="6163270"/>
            <a:ext cx="856258" cy="342900"/>
          </a:xfrm>
          <a:prstGeom prst="roundRect">
            <a:avLst>
              <a:gd name="adj" fmla="val 16667"/>
            </a:avLst>
          </a:prstGeom>
          <a:solidFill>
            <a:srgbClr val="FFFFFF"/>
          </a:solidFill>
          <a:ln w="6350">
            <a:solidFill>
              <a:srgbClr val="C9CFD8"/>
            </a:solidFill>
            <a:prstDash val="solid"/>
          </a:ln>
        </p:spPr>
      </p:sp>
      <p:sp>
        <p:nvSpPr>
          <p:cNvPr id="22" name="Text 20"/>
          <p:cNvSpPr/>
          <p:nvPr/>
        </p:nvSpPr>
        <p:spPr>
          <a:xfrm>
            <a:off x="2980333" y="6245820"/>
            <a:ext cx="653058"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Webhook</a:t>
            </a:r>
            <a:endParaRPr lang="en-US" sz="1050" dirty="0"/>
          </a:p>
        </p:txBody>
      </p:sp>
      <p:sp>
        <p:nvSpPr>
          <p:cNvPr id="23" name="Shape 21"/>
          <p:cNvSpPr/>
          <p:nvPr/>
        </p:nvSpPr>
        <p:spPr>
          <a:xfrm>
            <a:off x="3773091" y="6163270"/>
            <a:ext cx="555030" cy="342900"/>
          </a:xfrm>
          <a:prstGeom prst="roundRect">
            <a:avLst>
              <a:gd name="adj" fmla="val 16667"/>
            </a:avLst>
          </a:prstGeom>
          <a:solidFill>
            <a:srgbClr val="FFFFFF"/>
          </a:solidFill>
          <a:ln w="6350">
            <a:solidFill>
              <a:srgbClr val="C9CFD8"/>
            </a:solidFill>
            <a:prstDash val="solid"/>
          </a:ln>
        </p:spPr>
      </p:sp>
      <p:sp>
        <p:nvSpPr>
          <p:cNvPr id="24" name="Text 22"/>
          <p:cNvSpPr/>
          <p:nvPr/>
        </p:nvSpPr>
        <p:spPr>
          <a:xfrm>
            <a:off x="3912791" y="6245820"/>
            <a:ext cx="351830"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GCS</a:t>
            </a:r>
            <a:endParaRPr lang="en-US" sz="1050" dirty="0"/>
          </a:p>
        </p:txBody>
      </p:sp>
      <p:sp>
        <p:nvSpPr>
          <p:cNvPr id="25" name="Text 23"/>
          <p:cNvSpPr/>
          <p:nvPr/>
        </p:nvSpPr>
        <p:spPr>
          <a:xfrm>
            <a:off x="1473200" y="6677620"/>
            <a:ext cx="7403846"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B95A6"/>
                </a:solidFill>
                <a:latin typeface="JetBrains Mono" pitchFamily="34" charset="0"/>
                <a:ea typeface="JetBrains Mono" pitchFamily="34" charset="-122"/>
                <a:cs typeface="JetBrains Mono" pitchFamily="34" charset="-120"/>
              </a:rPr>
              <a:t>RECIPIENTS</a:t>
            </a:r>
            <a:endParaRPr lang="en-US" sz="825" dirty="0"/>
          </a:p>
        </p:txBody>
      </p:sp>
      <p:sp>
        <p:nvSpPr>
          <p:cNvPr id="26" name="Shape 24"/>
          <p:cNvSpPr/>
          <p:nvPr/>
        </p:nvSpPr>
        <p:spPr>
          <a:xfrm>
            <a:off x="1473200" y="6874471"/>
            <a:ext cx="7188200" cy="381000"/>
          </a:xfrm>
          <a:prstGeom prst="roundRect">
            <a:avLst>
              <a:gd name="adj" fmla="val 15000"/>
            </a:avLst>
          </a:prstGeom>
          <a:solidFill>
            <a:srgbClr val="FFFFFF"/>
          </a:solidFill>
          <a:ln w="6350">
            <a:solidFill>
              <a:srgbClr val="C9CFD8"/>
            </a:solidFill>
            <a:prstDash val="solid"/>
          </a:ln>
        </p:spPr>
      </p:sp>
      <p:sp>
        <p:nvSpPr>
          <p:cNvPr id="27" name="Text 25"/>
          <p:cNvSpPr/>
          <p:nvPr/>
        </p:nvSpPr>
        <p:spPr>
          <a:xfrm>
            <a:off x="1593850" y="6976071"/>
            <a:ext cx="716254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1B1F2A"/>
                </a:solidFill>
                <a:latin typeface="Manrope" pitchFamily="34" charset="0"/>
                <a:ea typeface="Manrope" pitchFamily="34" charset="-122"/>
                <a:cs typeface="Manrope" pitchFamily="34" charset="-120"/>
              </a:rPr>
              <a:t>exec-leads@acme.com , ceo@acme.com</a:t>
            </a:r>
            <a:endParaRPr lang="en-US" sz="1050" dirty="0"/>
          </a:p>
        </p:txBody>
      </p:sp>
      <p:sp>
        <p:nvSpPr>
          <p:cNvPr id="28" name="Text 26"/>
          <p:cNvSpPr/>
          <p:nvPr/>
        </p:nvSpPr>
        <p:spPr>
          <a:xfrm>
            <a:off x="1473200" y="7426921"/>
            <a:ext cx="7403846"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B95A6"/>
                </a:solidFill>
                <a:latin typeface="JetBrains Mono" pitchFamily="34" charset="0"/>
                <a:ea typeface="JetBrains Mono" pitchFamily="34" charset="-122"/>
                <a:cs typeface="JetBrains Mono" pitchFamily="34" charset="-120"/>
              </a:rPr>
              <a:t>FORMAT</a:t>
            </a:r>
            <a:endParaRPr lang="en-US" sz="825" dirty="0"/>
          </a:p>
        </p:txBody>
      </p:sp>
      <p:sp>
        <p:nvSpPr>
          <p:cNvPr id="29" name="Shape 27"/>
          <p:cNvSpPr/>
          <p:nvPr/>
        </p:nvSpPr>
        <p:spPr>
          <a:xfrm>
            <a:off x="1473200" y="7623771"/>
            <a:ext cx="511373" cy="342900"/>
          </a:xfrm>
          <a:prstGeom prst="roundRect">
            <a:avLst>
              <a:gd name="adj" fmla="val 16667"/>
            </a:avLst>
          </a:prstGeom>
          <a:solidFill>
            <a:srgbClr val="FFE3D2"/>
          </a:solidFill>
          <a:ln/>
        </p:spPr>
      </p:sp>
      <p:sp>
        <p:nvSpPr>
          <p:cNvPr id="30" name="Text 28"/>
          <p:cNvSpPr/>
          <p:nvPr/>
        </p:nvSpPr>
        <p:spPr>
          <a:xfrm>
            <a:off x="1606550" y="7699971"/>
            <a:ext cx="320873" cy="228600"/>
          </a:xfrm>
          <a:prstGeom prst="rect">
            <a:avLst/>
          </a:prstGeom>
          <a:noFill/>
          <a:ln/>
        </p:spPr>
        <p:txBody>
          <a:bodyPr wrap="square" lIns="25400" tIns="25400" rIns="25400" bIns="25400" rtlCol="0" anchor="t">
            <a:normAutofit/>
          </a:bodyPr>
          <a:lstStyle/>
          <a:p>
            <a:pPr algn="l" indent="0" marL="0">
              <a:buNone/>
            </a:pPr>
            <a:r>
              <a:rPr lang="en-US" sz="1050" b="1" dirty="0">
                <a:solidFill>
                  <a:srgbClr val="FF671F"/>
                </a:solidFill>
                <a:latin typeface="Manrope" pitchFamily="34" charset="0"/>
                <a:ea typeface="Manrope" pitchFamily="34" charset="-122"/>
                <a:cs typeface="Manrope" pitchFamily="34" charset="-120"/>
              </a:rPr>
              <a:t>PDF</a:t>
            </a:r>
            <a:endParaRPr lang="en-US" sz="1050" dirty="0"/>
          </a:p>
        </p:txBody>
      </p:sp>
      <p:sp>
        <p:nvSpPr>
          <p:cNvPr id="31" name="Shape 29"/>
          <p:cNvSpPr/>
          <p:nvPr/>
        </p:nvSpPr>
        <p:spPr>
          <a:xfrm>
            <a:off x="2060773" y="7623771"/>
            <a:ext cx="545306" cy="342900"/>
          </a:xfrm>
          <a:prstGeom prst="roundRect">
            <a:avLst>
              <a:gd name="adj" fmla="val 16667"/>
            </a:avLst>
          </a:prstGeom>
          <a:solidFill>
            <a:srgbClr val="FFFFFF"/>
          </a:solidFill>
          <a:ln w="6350">
            <a:solidFill>
              <a:srgbClr val="C9CFD8"/>
            </a:solidFill>
            <a:prstDash val="solid"/>
          </a:ln>
        </p:spPr>
      </p:sp>
      <p:sp>
        <p:nvSpPr>
          <p:cNvPr id="32" name="Text 30"/>
          <p:cNvSpPr/>
          <p:nvPr/>
        </p:nvSpPr>
        <p:spPr>
          <a:xfrm>
            <a:off x="2200473" y="7706321"/>
            <a:ext cx="34210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PNG</a:t>
            </a:r>
            <a:endParaRPr lang="en-US" sz="1050" dirty="0"/>
          </a:p>
        </p:txBody>
      </p:sp>
      <p:sp>
        <p:nvSpPr>
          <p:cNvPr id="33" name="Shape 31"/>
          <p:cNvSpPr/>
          <p:nvPr/>
        </p:nvSpPr>
        <p:spPr>
          <a:xfrm>
            <a:off x="2682280" y="7623771"/>
            <a:ext cx="538857" cy="342900"/>
          </a:xfrm>
          <a:prstGeom prst="roundRect">
            <a:avLst>
              <a:gd name="adj" fmla="val 16667"/>
            </a:avLst>
          </a:prstGeom>
          <a:solidFill>
            <a:srgbClr val="FFFFFF"/>
          </a:solidFill>
          <a:ln w="6350">
            <a:solidFill>
              <a:srgbClr val="C9CFD8"/>
            </a:solidFill>
            <a:prstDash val="solid"/>
          </a:ln>
        </p:spPr>
      </p:sp>
      <p:sp>
        <p:nvSpPr>
          <p:cNvPr id="34" name="Text 32"/>
          <p:cNvSpPr/>
          <p:nvPr/>
        </p:nvSpPr>
        <p:spPr>
          <a:xfrm>
            <a:off x="2821980" y="7706321"/>
            <a:ext cx="335657"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CSV</a:t>
            </a:r>
            <a:endParaRPr lang="en-US" sz="1050" dirty="0"/>
          </a:p>
        </p:txBody>
      </p:sp>
      <p:sp>
        <p:nvSpPr>
          <p:cNvPr id="35" name="Shape 33"/>
          <p:cNvSpPr/>
          <p:nvPr/>
        </p:nvSpPr>
        <p:spPr>
          <a:xfrm>
            <a:off x="3297337" y="7623771"/>
            <a:ext cx="1403152" cy="342900"/>
          </a:xfrm>
          <a:prstGeom prst="roundRect">
            <a:avLst>
              <a:gd name="adj" fmla="val 16667"/>
            </a:avLst>
          </a:prstGeom>
          <a:solidFill>
            <a:srgbClr val="FFFFFF"/>
          </a:solidFill>
          <a:ln w="6350">
            <a:solidFill>
              <a:srgbClr val="C9CFD8"/>
            </a:solidFill>
            <a:prstDash val="solid"/>
          </a:ln>
        </p:spPr>
      </p:sp>
      <p:sp>
        <p:nvSpPr>
          <p:cNvPr id="36" name="Text 34"/>
          <p:cNvSpPr/>
          <p:nvPr/>
        </p:nvSpPr>
        <p:spPr>
          <a:xfrm>
            <a:off x="3437037" y="7706321"/>
            <a:ext cx="1199952"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Inline visualization</a:t>
            </a:r>
            <a:endParaRPr lang="en-US" sz="1050" dirty="0"/>
          </a:p>
        </p:txBody>
      </p:sp>
      <p:sp>
        <p:nvSpPr>
          <p:cNvPr id="37" name="Text 35"/>
          <p:cNvSpPr/>
          <p:nvPr/>
        </p:nvSpPr>
        <p:spPr>
          <a:xfrm>
            <a:off x="1473200" y="8138121"/>
            <a:ext cx="7403846"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B95A6"/>
                </a:solidFill>
                <a:latin typeface="JetBrains Mono" pitchFamily="34" charset="0"/>
                <a:ea typeface="JetBrains Mono" pitchFamily="34" charset="-122"/>
                <a:cs typeface="JetBrains Mono" pitchFamily="34" charset="-120"/>
              </a:rPr>
              <a:t>FREQUENCY</a:t>
            </a:r>
            <a:endParaRPr lang="en-US" sz="825" dirty="0"/>
          </a:p>
        </p:txBody>
      </p:sp>
      <p:sp>
        <p:nvSpPr>
          <p:cNvPr id="38" name="Shape 36"/>
          <p:cNvSpPr/>
          <p:nvPr/>
        </p:nvSpPr>
        <p:spPr>
          <a:xfrm>
            <a:off x="1473200" y="8334970"/>
            <a:ext cx="7188200" cy="381000"/>
          </a:xfrm>
          <a:prstGeom prst="roundRect">
            <a:avLst>
              <a:gd name="adj" fmla="val 15000"/>
            </a:avLst>
          </a:prstGeom>
          <a:solidFill>
            <a:srgbClr val="FFFFFF"/>
          </a:solidFill>
          <a:ln w="6350">
            <a:solidFill>
              <a:srgbClr val="C9CFD8"/>
            </a:solidFill>
            <a:prstDash val="solid"/>
          </a:ln>
        </p:spPr>
      </p:sp>
      <p:sp>
        <p:nvSpPr>
          <p:cNvPr id="39" name="Text 37"/>
          <p:cNvSpPr/>
          <p:nvPr/>
        </p:nvSpPr>
        <p:spPr>
          <a:xfrm>
            <a:off x="1593850" y="8436570"/>
            <a:ext cx="716254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1B1F2A"/>
                </a:solidFill>
                <a:latin typeface="Manrope" pitchFamily="34" charset="0"/>
                <a:ea typeface="Manrope" pitchFamily="34" charset="-122"/>
                <a:cs typeface="Manrope" pitchFamily="34" charset="-120"/>
              </a:rPr>
              <a:t>Weekly · Monday · 07:00 · America/Los_Angeles</a:t>
            </a:r>
            <a:endParaRPr lang="en-US" sz="1050" dirty="0"/>
          </a:p>
        </p:txBody>
      </p:sp>
      <p:sp>
        <p:nvSpPr>
          <p:cNvPr id="40" name="Text 38"/>
          <p:cNvSpPr/>
          <p:nvPr/>
        </p:nvSpPr>
        <p:spPr>
          <a:xfrm>
            <a:off x="1473200" y="8887420"/>
            <a:ext cx="7403846"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8B95A6"/>
                </a:solidFill>
                <a:latin typeface="JetBrains Mono" pitchFamily="34" charset="0"/>
                <a:ea typeface="JetBrains Mono" pitchFamily="34" charset="-122"/>
                <a:cs typeface="JetBrains Mono" pitchFamily="34" charset="-120"/>
              </a:rPr>
              <a:t>FILTERS AT SEND TIME</a:t>
            </a:r>
            <a:endParaRPr lang="en-US" sz="825" dirty="0"/>
          </a:p>
        </p:txBody>
      </p:sp>
      <p:sp>
        <p:nvSpPr>
          <p:cNvPr id="41" name="Shape 39"/>
          <p:cNvSpPr/>
          <p:nvPr/>
        </p:nvSpPr>
        <p:spPr>
          <a:xfrm>
            <a:off x="1473200" y="9084271"/>
            <a:ext cx="7188200" cy="381000"/>
          </a:xfrm>
          <a:prstGeom prst="roundRect">
            <a:avLst>
              <a:gd name="adj" fmla="val 15000"/>
            </a:avLst>
          </a:prstGeom>
          <a:solidFill>
            <a:srgbClr val="FFFFFF"/>
          </a:solidFill>
          <a:ln w="6350">
            <a:solidFill>
              <a:srgbClr val="C9CFD8"/>
            </a:solidFill>
            <a:prstDash val="solid"/>
          </a:ln>
        </p:spPr>
      </p:sp>
      <p:sp>
        <p:nvSpPr>
          <p:cNvPr id="42" name="Text 40"/>
          <p:cNvSpPr/>
          <p:nvPr/>
        </p:nvSpPr>
        <p:spPr>
          <a:xfrm>
            <a:off x="1593850" y="9185871"/>
            <a:ext cx="716254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1B1F2A"/>
                </a:solidFill>
                <a:latin typeface="Manrope" pitchFamily="34" charset="0"/>
                <a:ea typeface="Manrope" pitchFamily="34" charset="-122"/>
                <a:cs typeface="Manrope" pitchFamily="34" charset="-120"/>
              </a:rPr>
              <a:t>Date range · Last 7 days · Region · All</a:t>
            </a:r>
            <a:endParaRPr lang="en-US" sz="1050" dirty="0"/>
          </a:p>
        </p:txBody>
      </p:sp>
      <p:sp>
        <p:nvSpPr>
          <p:cNvPr id="43" name="Shape 41"/>
          <p:cNvSpPr/>
          <p:nvPr/>
        </p:nvSpPr>
        <p:spPr>
          <a:xfrm>
            <a:off x="9372600" y="4417021"/>
            <a:ext cx="7696200" cy="1805583"/>
          </a:xfrm>
          <a:prstGeom prst="roundRect">
            <a:avLst>
              <a:gd name="adj" fmla="val 7385"/>
            </a:avLst>
          </a:prstGeom>
          <a:solidFill>
            <a:srgbClr val="F1F2F4"/>
          </a:solidFill>
          <a:ln w="6350">
            <a:solidFill>
              <a:srgbClr val="C9CFD8"/>
            </a:solidFill>
            <a:prstDash val="solid"/>
          </a:ln>
        </p:spPr>
      </p:sp>
      <p:sp>
        <p:nvSpPr>
          <p:cNvPr id="44" name="Text 42"/>
          <p:cNvSpPr/>
          <p:nvPr/>
        </p:nvSpPr>
        <p:spPr>
          <a:xfrm>
            <a:off x="9683750" y="4728170"/>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SENDER</a:t>
            </a:r>
            <a:endParaRPr lang="en-US" sz="900" dirty="0"/>
          </a:p>
        </p:txBody>
      </p:sp>
      <p:sp>
        <p:nvSpPr>
          <p:cNvPr id="45" name="Text 43"/>
          <p:cNvSpPr/>
          <p:nvPr/>
        </p:nvSpPr>
        <p:spPr>
          <a:xfrm>
            <a:off x="9683750" y="5007571"/>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The schedule runs as </a:t>
            </a:r>
            <a:pPr algn="l" indent="0" marL="0">
              <a:lnSpc>
                <a:spcPct val="115000"/>
              </a:lnSpc>
              <a:buNone/>
            </a:pPr>
            <a:r>
              <a:rPr lang="en-US" sz="1950" b="1" spc="-10" kern="0" dirty="0">
                <a:solidFill>
                  <a:srgbClr val="FF671F"/>
                </a:solidFill>
                <a:latin typeface="Manrope" pitchFamily="34" charset="0"/>
                <a:ea typeface="Manrope" pitchFamily="34" charset="-122"/>
                <a:cs typeface="Manrope" pitchFamily="34" charset="-120"/>
              </a:rPr>
              <a:t>you</a:t>
            </a:r>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t>
            </a:r>
            <a:endParaRPr lang="en-US" sz="1950" dirty="0"/>
          </a:p>
        </p:txBody>
      </p:sp>
      <p:sp>
        <p:nvSpPr>
          <p:cNvPr id="46" name="Text 44"/>
          <p:cNvSpPr/>
          <p:nvPr/>
        </p:nvSpPr>
        <p:spPr>
          <a:xfrm>
            <a:off x="9683750" y="5425678"/>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Looker queries the warehouse with your row-level permissions. If you leave the company, the schedule breaks — re-assign it to a service account or shared inbox.</a:t>
            </a:r>
            <a:endParaRPr lang="en-US" sz="1275" dirty="0"/>
          </a:p>
        </p:txBody>
      </p:sp>
      <p:sp>
        <p:nvSpPr>
          <p:cNvPr id="47" name="Shape 45"/>
          <p:cNvSpPr/>
          <p:nvPr/>
        </p:nvSpPr>
        <p:spPr>
          <a:xfrm>
            <a:off x="9372600" y="6394053"/>
            <a:ext cx="7696200" cy="1805583"/>
          </a:xfrm>
          <a:prstGeom prst="roundRect">
            <a:avLst>
              <a:gd name="adj" fmla="val 7385"/>
            </a:avLst>
          </a:prstGeom>
          <a:solidFill>
            <a:srgbClr val="F1F2F4"/>
          </a:solidFill>
          <a:ln w="6350">
            <a:solidFill>
              <a:srgbClr val="C9CFD8"/>
            </a:solidFill>
            <a:prstDash val="solid"/>
          </a:ln>
        </p:spPr>
      </p:sp>
      <p:sp>
        <p:nvSpPr>
          <p:cNvPr id="48" name="Text 46"/>
          <p:cNvSpPr/>
          <p:nvPr/>
        </p:nvSpPr>
        <p:spPr>
          <a:xfrm>
            <a:off x="9683750" y="6705204"/>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FILTER OVERRIDE</a:t>
            </a:r>
            <a:endParaRPr lang="en-US" sz="900" dirty="0"/>
          </a:p>
        </p:txBody>
      </p:sp>
      <p:sp>
        <p:nvSpPr>
          <p:cNvPr id="49" name="Text 47"/>
          <p:cNvSpPr/>
          <p:nvPr/>
        </p:nvSpPr>
        <p:spPr>
          <a:xfrm>
            <a:off x="9683750" y="6984603"/>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Schedules can change filter values.</a:t>
            </a:r>
            <a:endParaRPr lang="en-US" sz="1950" dirty="0"/>
          </a:p>
        </p:txBody>
      </p:sp>
      <p:sp>
        <p:nvSpPr>
          <p:cNvPr id="50" name="Text 48"/>
          <p:cNvSpPr/>
          <p:nvPr/>
        </p:nvSpPr>
        <p:spPr>
          <a:xfrm>
            <a:off x="9683750" y="7402711"/>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Send a "last 7 days" view of the dashboard every Monday — even if you've left the dashboard saved on "all time".</a:t>
            </a:r>
            <a:endParaRPr lang="en-US" sz="1275" dirty="0"/>
          </a:p>
        </p:txBody>
      </p:sp>
      <p:sp>
        <p:nvSpPr>
          <p:cNvPr id="51" name="Shape 49"/>
          <p:cNvSpPr/>
          <p:nvPr/>
        </p:nvSpPr>
        <p:spPr>
          <a:xfrm>
            <a:off x="9372600" y="8371086"/>
            <a:ext cx="7696200" cy="1805583"/>
          </a:xfrm>
          <a:prstGeom prst="roundRect">
            <a:avLst>
              <a:gd name="adj" fmla="val 7385"/>
            </a:avLst>
          </a:prstGeom>
          <a:solidFill>
            <a:srgbClr val="F1F2F4"/>
          </a:solidFill>
          <a:ln w="6350">
            <a:solidFill>
              <a:srgbClr val="C9CFD8"/>
            </a:solidFill>
            <a:prstDash val="solid"/>
          </a:ln>
        </p:spPr>
      </p:sp>
      <p:sp>
        <p:nvSpPr>
          <p:cNvPr id="52" name="Text 50"/>
          <p:cNvSpPr/>
          <p:nvPr/>
        </p:nvSpPr>
        <p:spPr>
          <a:xfrm>
            <a:off x="9683750" y="868223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LIMITS</a:t>
            </a:r>
            <a:endParaRPr lang="en-US" sz="900" dirty="0"/>
          </a:p>
        </p:txBody>
      </p:sp>
      <p:sp>
        <p:nvSpPr>
          <p:cNvPr id="53" name="Text 51"/>
          <p:cNvSpPr/>
          <p:nvPr/>
        </p:nvSpPr>
        <p:spPr>
          <a:xfrm>
            <a:off x="9683750" y="8961636"/>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Result row caps apply.</a:t>
            </a:r>
            <a:endParaRPr lang="en-US" sz="1950" dirty="0"/>
          </a:p>
        </p:txBody>
      </p:sp>
      <p:sp>
        <p:nvSpPr>
          <p:cNvPr id="54" name="Text 52"/>
          <p:cNvSpPr/>
          <p:nvPr/>
        </p:nvSpPr>
        <p:spPr>
          <a:xfrm>
            <a:off x="9683750" y="9379744"/>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CSV/Excel deliveries have row limits set by your admin (often 5,000–100,000). PDF renders only what fits the canvas.</a:t>
            </a:r>
            <a:endParaRPr lang="en-US" sz="1275" dirty="0"/>
          </a:p>
        </p:txBody>
      </p:sp>
      <p:sp>
        <p:nvSpPr>
          <p:cNvPr id="55" name="Shape 53"/>
          <p:cNvSpPr/>
          <p:nvPr/>
        </p:nvSpPr>
        <p:spPr>
          <a:xfrm>
            <a:off x="9372600" y="10348120"/>
            <a:ext cx="7696200" cy="1562695"/>
          </a:xfrm>
          <a:prstGeom prst="roundRect">
            <a:avLst>
              <a:gd name="adj" fmla="val 8533"/>
            </a:avLst>
          </a:prstGeom>
          <a:solidFill>
            <a:srgbClr val="F1F2F4"/>
          </a:solidFill>
          <a:ln w="6350">
            <a:solidFill>
              <a:srgbClr val="C9CFD8"/>
            </a:solidFill>
            <a:prstDash val="solid"/>
          </a:ln>
        </p:spPr>
      </p:sp>
      <p:sp>
        <p:nvSpPr>
          <p:cNvPr id="56" name="Text 54"/>
          <p:cNvSpPr/>
          <p:nvPr/>
        </p:nvSpPr>
        <p:spPr>
          <a:xfrm>
            <a:off x="9683750" y="10659269"/>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AUDIT</a:t>
            </a:r>
            <a:endParaRPr lang="en-US" sz="900" dirty="0"/>
          </a:p>
        </p:txBody>
      </p:sp>
      <p:sp>
        <p:nvSpPr>
          <p:cNvPr id="57" name="Text 55"/>
          <p:cNvSpPr/>
          <p:nvPr/>
        </p:nvSpPr>
        <p:spPr>
          <a:xfrm>
            <a:off x="9683750" y="10938670"/>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Admin → Schedules.</a:t>
            </a:r>
            <a:endParaRPr lang="en-US" sz="1950" dirty="0"/>
          </a:p>
        </p:txBody>
      </p:sp>
      <p:sp>
        <p:nvSpPr>
          <p:cNvPr id="58" name="Text 56"/>
          <p:cNvSpPr/>
          <p:nvPr/>
        </p:nvSpPr>
        <p:spPr>
          <a:xfrm>
            <a:off x="9683750" y="11356777"/>
            <a:ext cx="7286117"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Every scheduled delivery is logged. Failures send a notification to the owner.</a:t>
            </a:r>
            <a:endParaRPr lang="en-US" sz="1275" dirty="0"/>
          </a:p>
        </p:txBody>
      </p:sp>
      <p:sp>
        <p:nvSpPr>
          <p:cNvPr id="59" name="Text 5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0" name="Text 5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35 / 60</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694323" y="755650"/>
            <a:ext cx="1450677"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03 · DASHBOARDS</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FOLDERS &amp; PERMISSIONS</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Permissions live on the folder, not the dashboard.</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Every Look and Dashboard inherits its access from the folder it's in. Move a dashboard, change its visibility. This is the single most common cause of "why can't Sara see this?" tickets.</a:t>
            </a:r>
            <a:endParaRPr lang="en-US" sz="1650" dirty="0"/>
          </a:p>
        </p:txBody>
      </p:sp>
      <p:sp>
        <p:nvSpPr>
          <p:cNvPr id="9" name="Shape 7"/>
          <p:cNvSpPr/>
          <p:nvPr/>
        </p:nvSpPr>
        <p:spPr>
          <a:xfrm>
            <a:off x="1219200" y="5044877"/>
            <a:ext cx="7696200" cy="4727377"/>
          </a:xfrm>
          <a:prstGeom prst="roundRect">
            <a:avLst>
              <a:gd name="adj" fmla="val 2821"/>
            </a:avLst>
          </a:prstGeom>
          <a:solidFill>
            <a:srgbClr val="1B1F2A"/>
          </a:solidFill>
          <a:ln/>
        </p:spPr>
      </p:sp>
      <p:sp>
        <p:nvSpPr>
          <p:cNvPr id="10" name="Text 8"/>
          <p:cNvSpPr/>
          <p:nvPr/>
        </p:nvSpPr>
        <p:spPr>
          <a:xfrm>
            <a:off x="1562100" y="5349677"/>
            <a:ext cx="72207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Shared/</a:t>
            </a:r>
            <a:endParaRPr lang="en-US" sz="1350" dirty="0"/>
          </a:p>
        </p:txBody>
      </p:sp>
      <p:sp>
        <p:nvSpPr>
          <p:cNvPr id="11" name="Text 9"/>
          <p:cNvSpPr/>
          <p:nvPr/>
        </p:nvSpPr>
        <p:spPr>
          <a:xfrm>
            <a:off x="1790700" y="5641082"/>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Marketing/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Group: marketing-team (View)</a:t>
            </a:r>
            <a:endParaRPr lang="en-US" sz="1350" dirty="0"/>
          </a:p>
        </p:txBody>
      </p:sp>
      <p:sp>
        <p:nvSpPr>
          <p:cNvPr id="12" name="Text 10"/>
          <p:cNvSpPr/>
          <p:nvPr/>
        </p:nvSpPr>
        <p:spPr>
          <a:xfrm>
            <a:off x="2019300" y="5932488"/>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North Star</a:t>
            </a:r>
            <a:endParaRPr lang="en-US" sz="1350" dirty="0"/>
          </a:p>
        </p:txBody>
      </p:sp>
      <p:sp>
        <p:nvSpPr>
          <p:cNvPr id="13" name="Text 11"/>
          <p:cNvSpPr/>
          <p:nvPr/>
        </p:nvSpPr>
        <p:spPr>
          <a:xfrm>
            <a:off x="2019300" y="6223893"/>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Q4 Pipeline</a:t>
            </a:r>
            <a:endParaRPr lang="en-US" sz="1350" dirty="0"/>
          </a:p>
        </p:txBody>
      </p:sp>
      <p:sp>
        <p:nvSpPr>
          <p:cNvPr id="14" name="Text 12"/>
          <p:cNvSpPr/>
          <p:nvPr/>
        </p:nvSpPr>
        <p:spPr>
          <a:xfrm>
            <a:off x="2019300" y="6515299"/>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Acquisition/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Group: paid-team (View)</a:t>
            </a:r>
            <a:endParaRPr lang="en-US" sz="1350" dirty="0"/>
          </a:p>
        </p:txBody>
      </p:sp>
      <p:sp>
        <p:nvSpPr>
          <p:cNvPr id="15" name="Text 13"/>
          <p:cNvSpPr/>
          <p:nvPr/>
        </p:nvSpPr>
        <p:spPr>
          <a:xfrm>
            <a:off x="2247900" y="6806704"/>
            <a:ext cx="65349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Email perf</a:t>
            </a:r>
            <a:endParaRPr lang="en-US" sz="1350" dirty="0"/>
          </a:p>
        </p:txBody>
      </p:sp>
      <p:sp>
        <p:nvSpPr>
          <p:cNvPr id="16" name="Text 14"/>
          <p:cNvSpPr/>
          <p:nvPr/>
        </p:nvSpPr>
        <p:spPr>
          <a:xfrm>
            <a:off x="2247900" y="7098110"/>
            <a:ext cx="65349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Attribution</a:t>
            </a:r>
            <a:endParaRPr lang="en-US" sz="1350" dirty="0"/>
          </a:p>
        </p:txBody>
      </p:sp>
      <p:sp>
        <p:nvSpPr>
          <p:cNvPr id="17" name="Text 15"/>
          <p:cNvSpPr/>
          <p:nvPr/>
        </p:nvSpPr>
        <p:spPr>
          <a:xfrm>
            <a:off x="1790700" y="7389515"/>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Finance/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Group: finance-team (Manage)</a:t>
            </a:r>
            <a:endParaRPr lang="en-US" sz="1350" dirty="0"/>
          </a:p>
        </p:txBody>
      </p:sp>
      <p:sp>
        <p:nvSpPr>
          <p:cNvPr id="18" name="Shape 16"/>
          <p:cNvSpPr/>
          <p:nvPr/>
        </p:nvSpPr>
        <p:spPr>
          <a:xfrm>
            <a:off x="1943100" y="7680921"/>
            <a:ext cx="2715320" cy="329505"/>
          </a:xfrm>
          <a:prstGeom prst="rect">
            <a:avLst/>
          </a:prstGeom>
          <a:solidFill>
            <a:srgbClr val="FF671F">
              <a:alpha val="18000"/>
            </a:srgbClr>
          </a:solidFill>
          <a:ln/>
        </p:spPr>
      </p:sp>
      <p:sp>
        <p:nvSpPr>
          <p:cNvPr id="19" name="Shape 17"/>
          <p:cNvSpPr/>
          <p:nvPr/>
        </p:nvSpPr>
        <p:spPr>
          <a:xfrm>
            <a:off x="1943100" y="7680921"/>
            <a:ext cx="25400" cy="329505"/>
          </a:xfrm>
          <a:prstGeom prst="rect">
            <a:avLst/>
          </a:prstGeom>
          <a:solidFill>
            <a:srgbClr val="FF671F"/>
          </a:solidFill>
          <a:ln/>
        </p:spPr>
      </p:sp>
      <p:sp>
        <p:nvSpPr>
          <p:cNvPr id="20" name="Text 18"/>
          <p:cNvSpPr/>
          <p:nvPr/>
        </p:nvSpPr>
        <p:spPr>
          <a:xfrm>
            <a:off x="2044700" y="7699971"/>
            <a:ext cx="2618979"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FFFFFF"/>
                </a:solidFill>
                <a:latin typeface="JetBrains Mono" pitchFamily="34" charset="0"/>
                <a:ea typeface="JetBrains Mono" pitchFamily="34" charset="-122"/>
                <a:cs typeface="JetBrains Mono" pitchFamily="34" charset="-120"/>
              </a:rPr>
              <a:t>📊 Revenue · CONFIDENTIAL</a:t>
            </a:r>
            <a:endParaRPr lang="en-US" sz="1350" dirty="0"/>
          </a:p>
        </p:txBody>
      </p:sp>
      <p:sp>
        <p:nvSpPr>
          <p:cNvPr id="21" name="Text 19"/>
          <p:cNvSpPr/>
          <p:nvPr/>
        </p:nvSpPr>
        <p:spPr>
          <a:xfrm>
            <a:off x="1790700" y="8010426"/>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Sales/</a:t>
            </a:r>
            <a:endParaRPr lang="en-US" sz="1350" dirty="0"/>
          </a:p>
        </p:txBody>
      </p:sp>
      <p:sp>
        <p:nvSpPr>
          <p:cNvPr id="22" name="Text 20"/>
          <p:cNvSpPr/>
          <p:nvPr/>
        </p:nvSpPr>
        <p:spPr>
          <a:xfrm>
            <a:off x="2019300" y="8301832"/>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Pipeline</a:t>
            </a:r>
            <a:endParaRPr lang="en-US" sz="1350" dirty="0"/>
          </a:p>
        </p:txBody>
      </p:sp>
      <p:sp>
        <p:nvSpPr>
          <p:cNvPr id="23" name="Text 21"/>
          <p:cNvSpPr/>
          <p:nvPr/>
        </p:nvSpPr>
        <p:spPr>
          <a:xfrm>
            <a:off x="1562100" y="8593237"/>
            <a:ext cx="72207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Personal/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Only owner</a:t>
            </a:r>
            <a:endParaRPr lang="en-US" sz="1350" dirty="0"/>
          </a:p>
        </p:txBody>
      </p:sp>
      <p:sp>
        <p:nvSpPr>
          <p:cNvPr id="24" name="Text 22"/>
          <p:cNvSpPr/>
          <p:nvPr/>
        </p:nvSpPr>
        <p:spPr>
          <a:xfrm>
            <a:off x="1790700" y="8884643"/>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priya.a/</a:t>
            </a:r>
            <a:endParaRPr lang="en-US" sz="1350" dirty="0"/>
          </a:p>
        </p:txBody>
      </p:sp>
      <p:sp>
        <p:nvSpPr>
          <p:cNvPr id="25" name="Text 23"/>
          <p:cNvSpPr/>
          <p:nvPr/>
        </p:nvSpPr>
        <p:spPr>
          <a:xfrm>
            <a:off x="1790700" y="9176048"/>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daniel.r/</a:t>
            </a:r>
            <a:endParaRPr lang="en-US" sz="1350" dirty="0"/>
          </a:p>
        </p:txBody>
      </p:sp>
      <p:sp>
        <p:nvSpPr>
          <p:cNvPr id="26" name="Shape 24"/>
          <p:cNvSpPr/>
          <p:nvPr/>
        </p:nvSpPr>
        <p:spPr>
          <a:xfrm>
            <a:off x="9372600" y="5044877"/>
            <a:ext cx="7696200" cy="3144937"/>
          </a:xfrm>
          <a:prstGeom prst="roundRect">
            <a:avLst>
              <a:gd name="adj" fmla="val 4240"/>
            </a:avLst>
          </a:prstGeom>
          <a:solidFill>
            <a:srgbClr val="F1F2F4"/>
          </a:solidFill>
          <a:ln w="6350">
            <a:solidFill>
              <a:srgbClr val="C9CFD8"/>
            </a:solidFill>
            <a:prstDash val="solid"/>
          </a:ln>
        </p:spPr>
      </p:sp>
      <p:sp>
        <p:nvSpPr>
          <p:cNvPr id="27" name="Text 25"/>
          <p:cNvSpPr/>
          <p:nvPr/>
        </p:nvSpPr>
        <p:spPr>
          <a:xfrm>
            <a:off x="9683750" y="5356027"/>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THREE ACCESS LEVELS</a:t>
            </a:r>
            <a:endParaRPr lang="en-US" sz="900" dirty="0"/>
          </a:p>
        </p:txBody>
      </p:sp>
      <p:sp>
        <p:nvSpPr>
          <p:cNvPr id="28" name="Text 26"/>
          <p:cNvSpPr/>
          <p:nvPr/>
        </p:nvSpPr>
        <p:spPr>
          <a:xfrm>
            <a:off x="9683750" y="5635427"/>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View · Manage Access &amp; Edit · Owner.</a:t>
            </a:r>
            <a:endParaRPr lang="en-US" sz="1950" dirty="0"/>
          </a:p>
        </p:txBody>
      </p:sp>
      <p:sp>
        <p:nvSpPr>
          <p:cNvPr id="29" name="Shape 27"/>
          <p:cNvSpPr/>
          <p:nvPr/>
        </p:nvSpPr>
        <p:spPr>
          <a:xfrm>
            <a:off x="9683750" y="6568778"/>
            <a:ext cx="7073900" cy="9525"/>
          </a:xfrm>
          <a:prstGeom prst="rect">
            <a:avLst/>
          </a:prstGeom>
          <a:solidFill>
            <a:srgbClr val="C9CFD8"/>
          </a:solidFill>
          <a:ln/>
        </p:spPr>
      </p:sp>
      <p:sp>
        <p:nvSpPr>
          <p:cNvPr id="30" name="Text 28"/>
          <p:cNvSpPr/>
          <p:nvPr/>
        </p:nvSpPr>
        <p:spPr>
          <a:xfrm>
            <a:off x="9683750" y="6250385"/>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VIEW</a:t>
            </a:r>
            <a:endParaRPr lang="en-US" sz="975" dirty="0"/>
          </a:p>
        </p:txBody>
      </p:sp>
      <p:sp>
        <p:nvSpPr>
          <p:cNvPr id="31" name="Text 29"/>
          <p:cNvSpPr/>
          <p:nvPr/>
        </p:nvSpPr>
        <p:spPr>
          <a:xfrm>
            <a:off x="11722101" y="6186885"/>
            <a:ext cx="264890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See content; can't edit or delete.</a:t>
            </a:r>
            <a:endParaRPr lang="en-US" sz="1350" dirty="0"/>
          </a:p>
        </p:txBody>
      </p:sp>
      <p:sp>
        <p:nvSpPr>
          <p:cNvPr id="32" name="Shape 30"/>
          <p:cNvSpPr/>
          <p:nvPr/>
        </p:nvSpPr>
        <p:spPr>
          <a:xfrm>
            <a:off x="9683750" y="7223721"/>
            <a:ext cx="7073900" cy="9525"/>
          </a:xfrm>
          <a:prstGeom prst="rect">
            <a:avLst/>
          </a:prstGeom>
          <a:solidFill>
            <a:srgbClr val="C9CFD8"/>
          </a:solidFill>
          <a:ln/>
        </p:spPr>
      </p:sp>
      <p:sp>
        <p:nvSpPr>
          <p:cNvPr id="33" name="Text 31"/>
          <p:cNvSpPr/>
          <p:nvPr/>
        </p:nvSpPr>
        <p:spPr>
          <a:xfrm>
            <a:off x="9683750" y="690532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MANAGE</a:t>
            </a:r>
            <a:endParaRPr lang="en-US" sz="975" dirty="0"/>
          </a:p>
        </p:txBody>
      </p:sp>
      <p:sp>
        <p:nvSpPr>
          <p:cNvPr id="34" name="Text 32"/>
          <p:cNvSpPr/>
          <p:nvPr/>
        </p:nvSpPr>
        <p:spPr>
          <a:xfrm>
            <a:off x="11722101" y="6841828"/>
            <a:ext cx="225256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View + edit + share + delete.</a:t>
            </a:r>
            <a:endParaRPr lang="en-US" sz="1350" dirty="0"/>
          </a:p>
        </p:txBody>
      </p:sp>
      <p:sp>
        <p:nvSpPr>
          <p:cNvPr id="35" name="Text 33"/>
          <p:cNvSpPr/>
          <p:nvPr/>
        </p:nvSpPr>
        <p:spPr>
          <a:xfrm>
            <a:off x="9683750" y="7560271"/>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OWNER</a:t>
            </a:r>
            <a:endParaRPr lang="en-US" sz="975" dirty="0"/>
          </a:p>
        </p:txBody>
      </p:sp>
      <p:sp>
        <p:nvSpPr>
          <p:cNvPr id="36" name="Text 34"/>
          <p:cNvSpPr/>
          <p:nvPr/>
        </p:nvSpPr>
        <p:spPr>
          <a:xfrm>
            <a:off x="11722101" y="7496770"/>
            <a:ext cx="241280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Manage + transfer ownership.</a:t>
            </a:r>
            <a:endParaRPr lang="en-US" sz="1350" dirty="0"/>
          </a:p>
        </p:txBody>
      </p:sp>
      <p:sp>
        <p:nvSpPr>
          <p:cNvPr id="37" name="Shape 35"/>
          <p:cNvSpPr/>
          <p:nvPr/>
        </p:nvSpPr>
        <p:spPr>
          <a:xfrm>
            <a:off x="9372600" y="8361263"/>
            <a:ext cx="7696200" cy="1805583"/>
          </a:xfrm>
          <a:prstGeom prst="roundRect">
            <a:avLst>
              <a:gd name="adj" fmla="val 7385"/>
            </a:avLst>
          </a:prstGeom>
          <a:solidFill>
            <a:srgbClr val="F1F2F4"/>
          </a:solidFill>
          <a:ln w="6350">
            <a:solidFill>
              <a:srgbClr val="C9CFD8"/>
            </a:solidFill>
            <a:prstDash val="solid"/>
          </a:ln>
        </p:spPr>
      </p:sp>
      <p:sp>
        <p:nvSpPr>
          <p:cNvPr id="38" name="Text 36"/>
          <p:cNvSpPr/>
          <p:nvPr/>
        </p:nvSpPr>
        <p:spPr>
          <a:xfrm>
            <a:off x="9683750" y="8672414"/>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GROUPS, NOT USERS</a:t>
            </a:r>
            <a:endParaRPr lang="en-US" sz="900" dirty="0"/>
          </a:p>
        </p:txBody>
      </p:sp>
      <p:sp>
        <p:nvSpPr>
          <p:cNvPr id="39" name="Text 37"/>
          <p:cNvSpPr/>
          <p:nvPr/>
        </p:nvSpPr>
        <p:spPr>
          <a:xfrm>
            <a:off x="9683750" y="8951813"/>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Assign permissions to Groups.</a:t>
            </a:r>
            <a:endParaRPr lang="en-US" sz="1950" dirty="0"/>
          </a:p>
        </p:txBody>
      </p:sp>
      <p:sp>
        <p:nvSpPr>
          <p:cNvPr id="40" name="Text 38"/>
          <p:cNvSpPr/>
          <p:nvPr/>
        </p:nvSpPr>
        <p:spPr>
          <a:xfrm>
            <a:off x="9683750" y="9369921"/>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"finance-team" → Manage on /Finance. When Sara joins finance-team, she gets access automatically. Per-user grants don't scale.</a:t>
            </a:r>
            <a:endParaRPr lang="en-US" sz="1275" dirty="0"/>
          </a:p>
        </p:txBody>
      </p:sp>
      <p:sp>
        <p:nvSpPr>
          <p:cNvPr id="41" name="Shape 39"/>
          <p:cNvSpPr/>
          <p:nvPr/>
        </p:nvSpPr>
        <p:spPr>
          <a:xfrm>
            <a:off x="9372600" y="10338297"/>
            <a:ext cx="7696200" cy="1862733"/>
          </a:xfrm>
          <a:prstGeom prst="roundRect">
            <a:avLst>
              <a:gd name="adj" fmla="val 7159"/>
            </a:avLst>
          </a:prstGeom>
          <a:solidFill>
            <a:srgbClr val="F1F2F4"/>
          </a:solidFill>
          <a:ln w="6350">
            <a:solidFill>
              <a:srgbClr val="C9CFD8"/>
            </a:solidFill>
            <a:prstDash val="solid"/>
          </a:ln>
        </p:spPr>
      </p:sp>
      <p:sp>
        <p:nvSpPr>
          <p:cNvPr id="42" name="Text 40"/>
          <p:cNvSpPr/>
          <p:nvPr/>
        </p:nvSpPr>
        <p:spPr>
          <a:xfrm>
            <a:off x="9683750" y="1064944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ROW-LEVEL SECURITY</a:t>
            </a:r>
            <a:endParaRPr lang="en-US" sz="900" dirty="0"/>
          </a:p>
        </p:txBody>
      </p:sp>
      <p:sp>
        <p:nvSpPr>
          <p:cNvPr id="43" name="Text 41"/>
          <p:cNvSpPr/>
          <p:nvPr/>
        </p:nvSpPr>
        <p:spPr>
          <a:xfrm>
            <a:off x="9683750" y="10928847"/>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Set in LookML.</a:t>
            </a:r>
            <a:endParaRPr lang="en-US" sz="1950" dirty="0"/>
          </a:p>
        </p:txBody>
      </p:sp>
      <p:sp>
        <p:nvSpPr>
          <p:cNvPr id="44" name="Text 42"/>
          <p:cNvSpPr/>
          <p:nvPr/>
        </p:nvSpPr>
        <p:spPr>
          <a:xfrm>
            <a:off x="9683750" y="11346954"/>
            <a:ext cx="7286117" cy="58102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Folder permissions answer "who can open this dashboard?".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access_filter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in the model answers "which rows can they see?".</a:t>
            </a:r>
            <a:endParaRPr lang="en-US" sz="1275" dirty="0"/>
          </a:p>
        </p:txBody>
      </p:sp>
      <p:sp>
        <p:nvSpPr>
          <p:cNvPr id="45" name="Text 43"/>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6" name="Text 44"/>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36 / 60</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10627619"/>
          </a:xfrm>
          <a:prstGeom prst="rect">
            <a:avLst/>
          </a:prstGeom>
        </p:spPr>
      </p:pic>
      <p:sp>
        <p:nvSpPr>
          <p:cNvPr id="3" name="Shape 0"/>
          <p:cNvSpPr/>
          <p:nvPr/>
        </p:nvSpPr>
        <p:spPr>
          <a:xfrm>
            <a:off x="14785380" y="866775"/>
            <a:ext cx="361950" cy="361950"/>
          </a:xfrm>
          <a:prstGeom prst="rect">
            <a:avLst/>
          </a:prstGeom>
          <a:solidFill>
            <a:srgbClr val="000000"/>
          </a:solidFill>
          <a:ln/>
        </p:spPr>
      </p:sp>
      <p:sp>
        <p:nvSpPr>
          <p:cNvPr id="4" name="Text 1"/>
          <p:cNvSpPr/>
          <p:nvPr/>
        </p:nvSpPr>
        <p:spPr>
          <a:xfrm>
            <a:off x="15280680" y="609600"/>
            <a:ext cx="2473920"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5" name="Shape 2"/>
          <p:cNvSpPr/>
          <p:nvPr/>
        </p:nvSpPr>
        <p:spPr>
          <a:xfrm>
            <a:off x="15280680" y="895350"/>
            <a:ext cx="2397720" cy="323850"/>
          </a:xfrm>
          <a:prstGeom prst="roundRect">
            <a:avLst>
              <a:gd name="adj" fmla="val 50000"/>
            </a:avLst>
          </a:prstGeom>
          <a:solidFill>
            <a:srgbClr val="FFE3D2"/>
          </a:solidFill>
          <a:ln/>
        </p:spPr>
      </p:sp>
      <p:sp>
        <p:nvSpPr>
          <p:cNvPr id="6" name="Text 3"/>
          <p:cNvSpPr/>
          <p:nvPr/>
        </p:nvSpPr>
        <p:spPr>
          <a:xfrm>
            <a:off x="15433080" y="971550"/>
            <a:ext cx="2169120" cy="20955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671F"/>
                </a:solidFill>
                <a:latin typeface="Manrope" pitchFamily="34" charset="0"/>
                <a:ea typeface="Manrope" pitchFamily="34" charset="-122"/>
                <a:cs typeface="Manrope" pitchFamily="34" charset="-120"/>
              </a:rPr>
              <a:t>A HITACHI GROUP COMPANY</a:t>
            </a:r>
            <a:endParaRPr lang="en-US" sz="975" dirty="0"/>
          </a:p>
        </p:txBody>
      </p:sp>
      <p:sp>
        <p:nvSpPr>
          <p:cNvPr id="7" name="Shape 4"/>
          <p:cNvSpPr/>
          <p:nvPr/>
        </p:nvSpPr>
        <p:spPr>
          <a:xfrm>
            <a:off x="10058400" y="1905000"/>
            <a:ext cx="2654399" cy="323850"/>
          </a:xfrm>
          <a:prstGeom prst="roundRect">
            <a:avLst>
              <a:gd name="adj" fmla="val 50000"/>
            </a:avLst>
          </a:prstGeom>
          <a:solidFill>
            <a:srgbClr val="FFE3D2"/>
          </a:solidFill>
          <a:ln/>
        </p:spPr>
      </p:sp>
      <p:sp>
        <p:nvSpPr>
          <p:cNvPr id="8" name="Text 5"/>
          <p:cNvSpPr/>
          <p:nvPr/>
        </p:nvSpPr>
        <p:spPr>
          <a:xfrm>
            <a:off x="10210800" y="1981200"/>
            <a:ext cx="2429231" cy="209550"/>
          </a:xfrm>
          <a:prstGeom prst="rect">
            <a:avLst/>
          </a:prstGeom>
          <a:noFill/>
          <a:ln/>
        </p:spPr>
        <p:txBody>
          <a:bodyPr wrap="square" lIns="25400" tIns="25400" rIns="25400" bIns="25400" rtlCol="0" anchor="t">
            <a:normAutofit/>
          </a:bodyPr>
          <a:lstStyle/>
          <a:p>
            <a:pPr algn="l" indent="0" marL="0">
              <a:buNone/>
            </a:pPr>
            <a:r>
              <a:rPr lang="en-US" sz="975" b="1" spc="137" kern="0" dirty="0">
                <a:solidFill>
                  <a:srgbClr val="FF671F"/>
                </a:solidFill>
                <a:latin typeface="Manrope" pitchFamily="34" charset="0"/>
                <a:ea typeface="Manrope" pitchFamily="34" charset="-122"/>
                <a:cs typeface="Manrope" pitchFamily="34" charset="-120"/>
              </a:rPr>
              <a:t>CASE · MARKETING DASHBOARD</a:t>
            </a:r>
            <a:endParaRPr lang="en-US" sz="975" dirty="0"/>
          </a:p>
        </p:txBody>
      </p:sp>
      <p:sp>
        <p:nvSpPr>
          <p:cNvPr id="9" name="Text 6"/>
          <p:cNvSpPr/>
          <p:nvPr/>
        </p:nvSpPr>
        <p:spPr>
          <a:xfrm>
            <a:off x="10058400" y="2495550"/>
            <a:ext cx="7534656"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IN PRACTICE</a:t>
            </a:r>
            <a:endParaRPr lang="en-US" sz="1350" dirty="0"/>
          </a:p>
        </p:txBody>
      </p:sp>
      <p:sp>
        <p:nvSpPr>
          <p:cNvPr id="10" name="Text 7"/>
          <p:cNvSpPr/>
          <p:nvPr/>
        </p:nvSpPr>
        <p:spPr>
          <a:xfrm>
            <a:off x="10058400" y="2959100"/>
            <a:ext cx="7534656" cy="1958280"/>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1B1F2A"/>
                </a:solidFill>
                <a:latin typeface="Manrope" pitchFamily="34" charset="0"/>
                <a:ea typeface="Manrope" pitchFamily="34" charset="-122"/>
                <a:cs typeface="Manrope" pitchFamily="34" charset="-120"/>
              </a:rPr>
              <a:t>One dashboard the CMO opens every Monday.</a:t>
            </a:r>
            <a:endParaRPr lang="en-US" sz="4800" dirty="0"/>
          </a:p>
        </p:txBody>
      </p:sp>
      <p:sp>
        <p:nvSpPr>
          <p:cNvPr id="11" name="Text 8"/>
          <p:cNvSpPr/>
          <p:nvPr/>
        </p:nvSpPr>
        <p:spPr>
          <a:xfrm>
            <a:off x="10058400" y="5107881"/>
            <a:ext cx="6671310" cy="338138"/>
          </a:xfrm>
          <a:prstGeom prst="rect">
            <a:avLst/>
          </a:prstGeom>
          <a:noFill/>
          <a:ln/>
        </p:spPr>
        <p:txBody>
          <a:bodyPr wrap="square" lIns="25400" tIns="25400" rIns="25400" bIns="25400" rtlCol="0" anchor="t">
            <a:normAutofit/>
          </a:bodyPr>
          <a:lstStyle/>
          <a:p>
            <a:pPr algn="l" indent="0" marL="0">
              <a:lnSpc>
                <a:spcPct val="150000"/>
              </a:lnSpc>
              <a:buNone/>
            </a:pPr>
            <a:r>
              <a:rPr lang="en-US" sz="1575" b="1" dirty="0">
                <a:solidFill>
                  <a:srgbClr val="384358"/>
                </a:solidFill>
                <a:latin typeface="Manrope" pitchFamily="34" charset="0"/>
                <a:ea typeface="Manrope" pitchFamily="34" charset="-122"/>
                <a:cs typeface="Manrope" pitchFamily="34" charset="-120"/>
              </a:rPr>
              <a:t>Audience. </a:t>
            </a:r>
            <a:pPr algn="l" indent="0" marL="0">
              <a:lnSpc>
                <a:spcPct val="150000"/>
              </a:lnSpc>
              <a:buNone/>
            </a:pPr>
            <a:r>
              <a:rPr lang="en-US" sz="1575" dirty="0">
                <a:solidFill>
                  <a:srgbClr val="384358"/>
                </a:solidFill>
                <a:latin typeface="Manrope" pitchFamily="34" charset="0"/>
                <a:ea typeface="Manrope" pitchFamily="34" charset="-122"/>
                <a:cs typeface="Manrope" pitchFamily="34" charset="-120"/>
              </a:rPr>
              <a:t>The CMO and four directs.</a:t>
            </a:r>
            <a:endParaRPr lang="en-US" sz="1575" dirty="0"/>
          </a:p>
        </p:txBody>
      </p:sp>
      <p:sp>
        <p:nvSpPr>
          <p:cNvPr id="12" name="Text 9"/>
          <p:cNvSpPr/>
          <p:nvPr/>
        </p:nvSpPr>
        <p:spPr>
          <a:xfrm>
            <a:off x="10058400" y="5560318"/>
            <a:ext cx="6671310" cy="638175"/>
          </a:xfrm>
          <a:prstGeom prst="rect">
            <a:avLst/>
          </a:prstGeom>
          <a:noFill/>
          <a:ln/>
        </p:spPr>
        <p:txBody>
          <a:bodyPr wrap="square" lIns="25400" tIns="25400" rIns="25400" bIns="25400" rtlCol="0" anchor="t">
            <a:normAutofit/>
          </a:bodyPr>
          <a:lstStyle/>
          <a:p>
            <a:pPr algn="l" indent="0" marL="0">
              <a:lnSpc>
                <a:spcPct val="150000"/>
              </a:lnSpc>
              <a:buNone/>
            </a:pPr>
            <a:r>
              <a:rPr lang="en-US" sz="1575" b="1" dirty="0">
                <a:solidFill>
                  <a:srgbClr val="384358"/>
                </a:solidFill>
                <a:latin typeface="Manrope" pitchFamily="34" charset="0"/>
                <a:ea typeface="Manrope" pitchFamily="34" charset="-122"/>
                <a:cs typeface="Manrope" pitchFamily="34" charset="-120"/>
              </a:rPr>
              <a:t>Top row. </a:t>
            </a:r>
            <a:pPr algn="l" indent="0" marL="0">
              <a:lnSpc>
                <a:spcPct val="150000"/>
              </a:lnSpc>
              <a:buNone/>
            </a:pPr>
            <a:r>
              <a:rPr lang="en-US" sz="1575" dirty="0">
                <a:solidFill>
                  <a:srgbClr val="384358"/>
                </a:solidFill>
                <a:latin typeface="Manrope" pitchFamily="34" charset="0"/>
                <a:ea typeface="Manrope" pitchFamily="34" charset="-122"/>
                <a:cs typeface="Manrope" pitchFamily="34" charset="-120"/>
              </a:rPr>
              <a:t>Four KPI tiles — MRR, CAC, conversion, active users. Single-value visualizations with prior-period comparison.</a:t>
            </a:r>
            <a:endParaRPr lang="en-US" sz="1575" dirty="0"/>
          </a:p>
        </p:txBody>
      </p:sp>
      <p:sp>
        <p:nvSpPr>
          <p:cNvPr id="13" name="Text 10"/>
          <p:cNvSpPr/>
          <p:nvPr/>
        </p:nvSpPr>
        <p:spPr>
          <a:xfrm>
            <a:off x="10058400" y="6312793"/>
            <a:ext cx="6671310" cy="638175"/>
          </a:xfrm>
          <a:prstGeom prst="rect">
            <a:avLst/>
          </a:prstGeom>
          <a:noFill/>
          <a:ln/>
        </p:spPr>
        <p:txBody>
          <a:bodyPr wrap="square" lIns="25400" tIns="25400" rIns="25400" bIns="25400" rtlCol="0" anchor="t">
            <a:normAutofit/>
          </a:bodyPr>
          <a:lstStyle/>
          <a:p>
            <a:pPr algn="l" indent="0" marL="0">
              <a:lnSpc>
                <a:spcPct val="150000"/>
              </a:lnSpc>
              <a:buNone/>
            </a:pPr>
            <a:r>
              <a:rPr lang="en-US" sz="1575" b="1" dirty="0">
                <a:solidFill>
                  <a:srgbClr val="384358"/>
                </a:solidFill>
                <a:latin typeface="Manrope" pitchFamily="34" charset="0"/>
                <a:ea typeface="Manrope" pitchFamily="34" charset="-122"/>
                <a:cs typeface="Manrope" pitchFamily="34" charset="-120"/>
              </a:rPr>
              <a:t>Middle. </a:t>
            </a:r>
            <a:pPr algn="l" indent="0" marL="0">
              <a:lnSpc>
                <a:spcPct val="150000"/>
              </a:lnSpc>
              <a:buNone/>
            </a:pPr>
            <a:r>
              <a:rPr lang="en-US" sz="1575" dirty="0">
                <a:solidFill>
                  <a:srgbClr val="384358"/>
                </a:solidFill>
                <a:latin typeface="Manrope" pitchFamily="34" charset="0"/>
                <a:ea typeface="Manrope" pitchFamily="34" charset="-122"/>
                <a:cs typeface="Manrope" pitchFamily="34" charset="-120"/>
              </a:rPr>
              <a:t>A line chart of revenue by month and a pie of channel mix, side by side.</a:t>
            </a:r>
            <a:endParaRPr lang="en-US" sz="1575" dirty="0"/>
          </a:p>
        </p:txBody>
      </p:sp>
      <p:sp>
        <p:nvSpPr>
          <p:cNvPr id="14" name="Text 11"/>
          <p:cNvSpPr/>
          <p:nvPr/>
        </p:nvSpPr>
        <p:spPr>
          <a:xfrm>
            <a:off x="10058400" y="7065268"/>
            <a:ext cx="6671310" cy="638175"/>
          </a:xfrm>
          <a:prstGeom prst="rect">
            <a:avLst/>
          </a:prstGeom>
          <a:noFill/>
          <a:ln/>
        </p:spPr>
        <p:txBody>
          <a:bodyPr wrap="square" lIns="25400" tIns="25400" rIns="25400" bIns="25400" rtlCol="0" anchor="t">
            <a:normAutofit/>
          </a:bodyPr>
          <a:lstStyle/>
          <a:p>
            <a:pPr algn="l" indent="0" marL="0">
              <a:lnSpc>
                <a:spcPct val="150000"/>
              </a:lnSpc>
              <a:buNone/>
            </a:pPr>
            <a:r>
              <a:rPr lang="en-US" sz="1575" b="1" dirty="0">
                <a:solidFill>
                  <a:srgbClr val="384358"/>
                </a:solidFill>
                <a:latin typeface="Manrope" pitchFamily="34" charset="0"/>
                <a:ea typeface="Manrope" pitchFamily="34" charset="-122"/>
                <a:cs typeface="Manrope" pitchFamily="34" charset="-120"/>
              </a:rPr>
              <a:t>Bottom. </a:t>
            </a:r>
            <a:pPr algn="l" indent="0" marL="0">
              <a:lnSpc>
                <a:spcPct val="150000"/>
              </a:lnSpc>
              <a:buNone/>
            </a:pPr>
            <a:r>
              <a:rPr lang="en-US" sz="1575" dirty="0">
                <a:solidFill>
                  <a:srgbClr val="384358"/>
                </a:solidFill>
                <a:latin typeface="Manrope" pitchFamily="34" charset="0"/>
                <a:ea typeface="Manrope" pitchFamily="34" charset="-122"/>
                <a:cs typeface="Manrope" pitchFamily="34" charset="-120"/>
              </a:rPr>
              <a:t>A daily-active-users bar chart and a top-regions table — the "what drove last week's number" detail.</a:t>
            </a:r>
            <a:endParaRPr lang="en-US" sz="1575" dirty="0"/>
          </a:p>
        </p:txBody>
      </p:sp>
      <p:sp>
        <p:nvSpPr>
          <p:cNvPr id="15" name="Text 12"/>
          <p:cNvSpPr/>
          <p:nvPr/>
        </p:nvSpPr>
        <p:spPr>
          <a:xfrm>
            <a:off x="10058400" y="7817743"/>
            <a:ext cx="6671310" cy="638175"/>
          </a:xfrm>
          <a:prstGeom prst="rect">
            <a:avLst/>
          </a:prstGeom>
          <a:noFill/>
          <a:ln/>
        </p:spPr>
        <p:txBody>
          <a:bodyPr wrap="square" lIns="25400" tIns="25400" rIns="25400" bIns="25400" rtlCol="0" anchor="t">
            <a:normAutofit/>
          </a:bodyPr>
          <a:lstStyle/>
          <a:p>
            <a:pPr algn="l" indent="0" marL="0">
              <a:lnSpc>
                <a:spcPct val="150000"/>
              </a:lnSpc>
              <a:buNone/>
            </a:pPr>
            <a:r>
              <a:rPr lang="en-US" sz="1575" b="1" dirty="0">
                <a:solidFill>
                  <a:srgbClr val="384358"/>
                </a:solidFill>
                <a:latin typeface="Manrope" pitchFamily="34" charset="0"/>
                <a:ea typeface="Manrope" pitchFamily="34" charset="-122"/>
                <a:cs typeface="Manrope" pitchFamily="34" charset="-120"/>
              </a:rPr>
              <a:t>Delivery. </a:t>
            </a:r>
            <a:pPr algn="l" indent="0" marL="0">
              <a:lnSpc>
                <a:spcPct val="150000"/>
              </a:lnSpc>
              <a:buNone/>
            </a:pPr>
            <a:r>
              <a:rPr lang="en-US" sz="1575" dirty="0">
                <a:solidFill>
                  <a:srgbClr val="384358"/>
                </a:solidFill>
                <a:latin typeface="Manrope" pitchFamily="34" charset="0"/>
                <a:ea typeface="Manrope" pitchFamily="34" charset="-122"/>
                <a:cs typeface="Manrope" pitchFamily="34" charset="-120"/>
              </a:rPr>
              <a:t>Scheduled email PDF every Monday at 07:00 with the prior week's filter pre-applied; alert if MRR drops below $140K.</a:t>
            </a:r>
            <a:endParaRPr lang="en-US" sz="1575" dirty="0"/>
          </a:p>
        </p:txBody>
      </p:sp>
      <p:sp>
        <p:nvSpPr>
          <p:cNvPr id="16" name="Text 13"/>
          <p:cNvSpPr/>
          <p:nvPr/>
        </p:nvSpPr>
        <p:spPr>
          <a:xfrm>
            <a:off x="10058400" y="8741668"/>
            <a:ext cx="6671310" cy="552450"/>
          </a:xfrm>
          <a:prstGeom prst="rect">
            <a:avLst/>
          </a:prstGeom>
          <a:noFill/>
          <a:ln/>
        </p:spPr>
        <p:txBody>
          <a:bodyPr wrap="square" lIns="25400" tIns="25400" rIns="25400" bIns="25400" rtlCol="0" anchor="t">
            <a:normAutofit/>
          </a:bodyPr>
          <a:lstStyle/>
          <a:p>
            <a:pPr algn="l" indent="0" marL="0">
              <a:lnSpc>
                <a:spcPct val="150000"/>
              </a:lnSpc>
              <a:buNone/>
            </a:pPr>
            <a:r>
              <a:rPr lang="en-US" sz="1350" i="1" dirty="0">
                <a:solidFill>
                  <a:srgbClr val="8B95A6"/>
                </a:solidFill>
                <a:latin typeface="Manrope" pitchFamily="34" charset="0"/>
                <a:ea typeface="Manrope" pitchFamily="34" charset="-122"/>
                <a:cs typeface="Manrope" pitchFamily="34" charset="-120"/>
              </a:rPr>
              <a:t>This is the dashboard whose anatomy you saw on slide 25 — and the kind the exam describes.</a:t>
            </a:r>
            <a:endParaRPr lang="en-US" sz="1350" dirty="0"/>
          </a:p>
        </p:txBody>
      </p:sp>
      <p:sp>
        <p:nvSpPr>
          <p:cNvPr id="17" name="Text 14"/>
          <p:cNvSpPr/>
          <p:nvPr/>
        </p:nvSpPr>
        <p:spPr>
          <a:xfrm>
            <a:off x="17080905" y="98107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37 / 60</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8435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rcRect l="0" r="0" t="0" b="0"/>
          <a:stretch/>
        </p:blipFill>
        <p:spPr>
          <a:xfrm>
            <a:off x="11811000" y="3810000"/>
            <a:ext cx="6477000" cy="6477000"/>
          </a:xfrm>
          <a:prstGeom prst="rect">
            <a:avLst/>
          </a:prstGeom>
        </p:spPr>
      </p:pic>
      <p:sp>
        <p:nvSpPr>
          <p:cNvPr id="3" name="Shape 0"/>
          <p:cNvSpPr/>
          <p:nvPr/>
        </p:nvSpPr>
        <p:spPr>
          <a:xfrm>
            <a:off x="1219200" y="657225"/>
            <a:ext cx="361950" cy="361950"/>
          </a:xfrm>
          <a:prstGeom prst="rect">
            <a:avLst/>
          </a:prstGeom>
          <a:solidFill>
            <a:srgbClr val="FFFFFF"/>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6152416" y="755650"/>
            <a:ext cx="99258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CHAPTER 04</a:t>
            </a:r>
            <a:endParaRPr lang="en-US" sz="975" dirty="0"/>
          </a:p>
        </p:txBody>
      </p:sp>
      <p:sp>
        <p:nvSpPr>
          <p:cNvPr id="7" name="Text 4"/>
          <p:cNvSpPr/>
          <p:nvPr/>
        </p:nvSpPr>
        <p:spPr>
          <a:xfrm>
            <a:off x="1219200" y="2667000"/>
            <a:ext cx="12753975" cy="292100"/>
          </a:xfrm>
          <a:prstGeom prst="rect">
            <a:avLst/>
          </a:prstGeom>
          <a:noFill/>
          <a:ln/>
        </p:spPr>
        <p:txBody>
          <a:bodyPr wrap="square" lIns="25400" tIns="25400" rIns="25400" bIns="25400" rtlCol="0" anchor="t">
            <a:normAutofit/>
          </a:bodyPr>
          <a:lstStyle/>
          <a:p>
            <a:pPr algn="l" indent="0" marL="0">
              <a:buNone/>
            </a:pPr>
            <a:r>
              <a:rPr lang="en-US" sz="1500" spc="300" kern="0" dirty="0">
                <a:solidFill>
                  <a:srgbClr val="FF671F"/>
                </a:solidFill>
                <a:latin typeface="JetBrains Mono" pitchFamily="34" charset="0"/>
                <a:ea typeface="JetBrains Mono" pitchFamily="34" charset="-122"/>
                <a:cs typeface="JetBrains Mono" pitchFamily="34" charset="-120"/>
              </a:rPr>
              <a:t>CHAPTER 04 · SLIDES 38–50</a:t>
            </a:r>
            <a:endParaRPr lang="en-US" sz="1500" dirty="0"/>
          </a:p>
        </p:txBody>
      </p:sp>
      <p:sp>
        <p:nvSpPr>
          <p:cNvPr id="8" name="Text 5"/>
          <p:cNvSpPr/>
          <p:nvPr/>
        </p:nvSpPr>
        <p:spPr>
          <a:xfrm>
            <a:off x="1219200" y="3225800"/>
            <a:ext cx="12753975" cy="2716411"/>
          </a:xfrm>
          <a:prstGeom prst="rect">
            <a:avLst/>
          </a:prstGeom>
          <a:noFill/>
          <a:ln/>
        </p:spPr>
        <p:txBody>
          <a:bodyPr wrap="square" lIns="25400" tIns="25400" rIns="25400" bIns="25400" rtlCol="0" anchor="t">
            <a:normAutofit/>
          </a:bodyPr>
          <a:lstStyle/>
          <a:p>
            <a:pPr algn="l" indent="0" marL="0">
              <a:lnSpc>
                <a:spcPct val="95000"/>
              </a:lnSpc>
              <a:buNone/>
            </a:pPr>
            <a:r>
              <a:rPr lang="en-US" sz="11100" b="1" spc="-278" kern="0" dirty="0">
                <a:solidFill>
                  <a:srgbClr val="FF671F"/>
                </a:solidFill>
                <a:latin typeface="Manrope" pitchFamily="34" charset="0"/>
                <a:ea typeface="Manrope" pitchFamily="34" charset="-122"/>
                <a:cs typeface="Manrope" pitchFamily="34" charset="-120"/>
              </a:rPr>
              <a:t>LookML </a:t>
            </a:r>
            <a:pPr algn="l" indent="0" marL="0">
              <a:lnSpc>
                <a:spcPct val="95000"/>
              </a:lnSpc>
              <a:buNone/>
            </a:pPr>
            <a:r>
              <a:rPr lang="en-US" sz="11100" b="1" spc="-278" kern="0" dirty="0">
                <a:solidFill>
                  <a:srgbClr val="FFFFFF"/>
                </a:solidFill>
                <a:latin typeface="Manrope" pitchFamily="34" charset="0"/>
                <a:ea typeface="Manrope" pitchFamily="34" charset="-122"/>
                <a:cs typeface="Manrope" pitchFamily="34" charset="-120"/>
              </a:rPr>
              <a:t>&amp; parameters.</a:t>
            </a:r>
            <a:endParaRPr lang="en-US" sz="11100" dirty="0"/>
          </a:p>
        </p:txBody>
      </p:sp>
      <p:sp>
        <p:nvSpPr>
          <p:cNvPr id="9" name="Text 6"/>
          <p:cNvSpPr/>
          <p:nvPr/>
        </p:nvSpPr>
        <p:spPr>
          <a:xfrm>
            <a:off x="1219200" y="6170811"/>
            <a:ext cx="9810750" cy="758031"/>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alpha val="70000"/>
                  </a:srgbClr>
                </a:solidFill>
                <a:latin typeface="Manrope" pitchFamily="34" charset="0"/>
                <a:ea typeface="Manrope" pitchFamily="34" charset="-122"/>
                <a:cs typeface="Manrope" pitchFamily="34" charset="-120"/>
              </a:rPr>
              <a:t>The semantic model that sits underneath every Look and Dashboard. Read a model file fluently and edit the most common parameters by hand.</a:t>
            </a:r>
            <a:endParaRPr lang="en-US" sz="2100" dirty="0"/>
          </a:p>
        </p:txBody>
      </p:sp>
      <p:sp>
        <p:nvSpPr>
          <p:cNvPr id="10" name="Text 7"/>
          <p:cNvSpPr/>
          <p:nvPr/>
        </p:nvSpPr>
        <p:spPr>
          <a:xfrm>
            <a:off x="12496800" y="2667000"/>
            <a:ext cx="4709160" cy="20320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FFFFFF">
                    <a:alpha val="50000"/>
                  </a:srgbClr>
                </a:solidFill>
                <a:latin typeface="JetBrains Mono" pitchFamily="34" charset="0"/>
                <a:ea typeface="JetBrains Mono" pitchFamily="34" charset="-122"/>
                <a:cs typeface="JetBrains Mono" pitchFamily="34" charset="-120"/>
              </a:rPr>
              <a:t>IN THIS CHAPTER</a:t>
            </a:r>
            <a:endParaRPr lang="en-US" sz="975" dirty="0"/>
          </a:p>
        </p:txBody>
      </p:sp>
      <p:sp>
        <p:nvSpPr>
          <p:cNvPr id="11" name="Shape 8"/>
          <p:cNvSpPr/>
          <p:nvPr/>
        </p:nvSpPr>
        <p:spPr>
          <a:xfrm>
            <a:off x="12496800" y="3429000"/>
            <a:ext cx="4572000" cy="9525"/>
          </a:xfrm>
          <a:prstGeom prst="rect">
            <a:avLst/>
          </a:prstGeom>
          <a:solidFill>
            <a:srgbClr val="FFFFFF">
              <a:alpha val="12000"/>
            </a:srgbClr>
          </a:solidFill>
          <a:ln/>
        </p:spPr>
      </p:sp>
      <p:sp>
        <p:nvSpPr>
          <p:cNvPr id="12" name="Text 9"/>
          <p:cNvSpPr/>
          <p:nvPr/>
        </p:nvSpPr>
        <p:spPr>
          <a:xfrm>
            <a:off x="12496800" y="3060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Meet Looker</a:t>
            </a:r>
            <a:endParaRPr lang="en-US" sz="1350" dirty="0"/>
          </a:p>
        </p:txBody>
      </p:sp>
      <p:sp>
        <p:nvSpPr>
          <p:cNvPr id="13" name="Shape 10"/>
          <p:cNvSpPr/>
          <p:nvPr/>
        </p:nvSpPr>
        <p:spPr>
          <a:xfrm>
            <a:off x="12496800" y="3937000"/>
            <a:ext cx="4572000" cy="9525"/>
          </a:xfrm>
          <a:prstGeom prst="rect">
            <a:avLst/>
          </a:prstGeom>
          <a:solidFill>
            <a:srgbClr val="FFFFFF">
              <a:alpha val="12000"/>
            </a:srgbClr>
          </a:solidFill>
          <a:ln/>
        </p:spPr>
      </p:sp>
      <p:sp>
        <p:nvSpPr>
          <p:cNvPr id="14" name="Text 11"/>
          <p:cNvSpPr/>
          <p:nvPr/>
        </p:nvSpPr>
        <p:spPr>
          <a:xfrm>
            <a:off x="12496800" y="3568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Tour the UI</a:t>
            </a:r>
            <a:endParaRPr lang="en-US" sz="1350" dirty="0"/>
          </a:p>
        </p:txBody>
      </p:sp>
      <p:sp>
        <p:nvSpPr>
          <p:cNvPr id="15" name="Shape 12"/>
          <p:cNvSpPr/>
          <p:nvPr/>
        </p:nvSpPr>
        <p:spPr>
          <a:xfrm>
            <a:off x="12496800" y="4445000"/>
            <a:ext cx="4572000" cy="9525"/>
          </a:xfrm>
          <a:prstGeom prst="rect">
            <a:avLst/>
          </a:prstGeom>
          <a:solidFill>
            <a:srgbClr val="FFFFFF">
              <a:alpha val="12000"/>
            </a:srgbClr>
          </a:solidFill>
          <a:ln/>
        </p:spPr>
      </p:sp>
      <p:sp>
        <p:nvSpPr>
          <p:cNvPr id="16" name="Text 13"/>
          <p:cNvSpPr/>
          <p:nvPr/>
        </p:nvSpPr>
        <p:spPr>
          <a:xfrm>
            <a:off x="12496800" y="4076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Dashboards</a:t>
            </a:r>
            <a:endParaRPr lang="en-US" sz="1350" dirty="0"/>
          </a:p>
        </p:txBody>
      </p:sp>
      <p:sp>
        <p:nvSpPr>
          <p:cNvPr id="17" name="Shape 14"/>
          <p:cNvSpPr/>
          <p:nvPr/>
        </p:nvSpPr>
        <p:spPr>
          <a:xfrm>
            <a:off x="12496800" y="4953000"/>
            <a:ext cx="4572000" cy="9525"/>
          </a:xfrm>
          <a:prstGeom prst="rect">
            <a:avLst/>
          </a:prstGeom>
          <a:solidFill>
            <a:srgbClr val="FFFFFF">
              <a:alpha val="12000"/>
            </a:srgbClr>
          </a:solidFill>
          <a:ln/>
        </p:spPr>
      </p:sp>
      <p:sp>
        <p:nvSpPr>
          <p:cNvPr id="18" name="Text 15"/>
          <p:cNvSpPr/>
          <p:nvPr/>
        </p:nvSpPr>
        <p:spPr>
          <a:xfrm>
            <a:off x="12496800" y="4584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solidFill>
                <a:latin typeface="Manrope" pitchFamily="34" charset="0"/>
                <a:ea typeface="Manrope" pitchFamily="34" charset="-122"/>
                <a:cs typeface="Manrope" pitchFamily="34" charset="-120"/>
              </a:rPr>
              <a:t>LookML &amp; parameters</a:t>
            </a:r>
            <a:endParaRPr lang="en-US" sz="1350" dirty="0"/>
          </a:p>
        </p:txBody>
      </p:sp>
      <p:sp>
        <p:nvSpPr>
          <p:cNvPr id="19" name="Shape 16"/>
          <p:cNvSpPr/>
          <p:nvPr/>
        </p:nvSpPr>
        <p:spPr>
          <a:xfrm>
            <a:off x="12496800" y="5461000"/>
            <a:ext cx="4572000" cy="9525"/>
          </a:xfrm>
          <a:prstGeom prst="rect">
            <a:avLst/>
          </a:prstGeom>
          <a:solidFill>
            <a:srgbClr val="FFFFFF">
              <a:alpha val="12000"/>
            </a:srgbClr>
          </a:solidFill>
          <a:ln/>
        </p:spPr>
      </p:sp>
      <p:sp>
        <p:nvSpPr>
          <p:cNvPr id="20" name="Text 17"/>
          <p:cNvSpPr/>
          <p:nvPr/>
        </p:nvSpPr>
        <p:spPr>
          <a:xfrm>
            <a:off x="12496800" y="5092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Looker vs Looker Studio</a:t>
            </a:r>
            <a:endParaRPr lang="en-US" sz="1350" dirty="0"/>
          </a:p>
        </p:txBody>
      </p:sp>
      <p:sp>
        <p:nvSpPr>
          <p:cNvPr id="21" name="Text 1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globallogic.com</a:t>
            </a:r>
            <a:endParaRPr lang="en-US" sz="1050" dirty="0"/>
          </a:p>
        </p:txBody>
      </p:sp>
      <p:sp>
        <p:nvSpPr>
          <p:cNvPr id="22" name="Text 1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38 / 60</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DEFINITION</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LookML is a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YAML-like </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language that describes your data — not your charts.</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LookML defines what a table contains, how tables join, and what each metric means. It is then compiled to SQL on demand when a user opens an Explore or a dashboard. You write the model once; Looker writes the SQL forever.</a:t>
            </a:r>
            <a:endParaRPr lang="en-US" sz="1650" dirty="0"/>
          </a:p>
        </p:txBody>
      </p:sp>
      <p:sp>
        <p:nvSpPr>
          <p:cNvPr id="9" name="Shape 7"/>
          <p:cNvSpPr/>
          <p:nvPr/>
        </p:nvSpPr>
        <p:spPr>
          <a:xfrm>
            <a:off x="1219200" y="5349677"/>
            <a:ext cx="7696200" cy="5564981"/>
          </a:xfrm>
          <a:prstGeom prst="roundRect">
            <a:avLst>
              <a:gd name="adj" fmla="val 2396"/>
            </a:avLst>
          </a:prstGeom>
          <a:solidFill>
            <a:srgbClr val="F1F2F4"/>
          </a:solidFill>
          <a:ln w="6350">
            <a:solidFill>
              <a:srgbClr val="C9CFD8"/>
            </a:solidFill>
            <a:prstDash val="solid"/>
          </a:ln>
        </p:spPr>
      </p:sp>
      <p:sp>
        <p:nvSpPr>
          <p:cNvPr id="10" name="Text 8"/>
          <p:cNvSpPr/>
          <p:nvPr/>
        </p:nvSpPr>
        <p:spPr>
          <a:xfrm>
            <a:off x="1530350" y="5660827"/>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IN ONE LINE</a:t>
            </a:r>
            <a:endParaRPr lang="en-US" sz="900" dirty="0"/>
          </a:p>
        </p:txBody>
      </p:sp>
      <p:sp>
        <p:nvSpPr>
          <p:cNvPr id="11" name="Text 9"/>
          <p:cNvSpPr/>
          <p:nvPr/>
        </p:nvSpPr>
        <p:spPr>
          <a:xfrm>
            <a:off x="1530350" y="5940227"/>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"Tables and joins, plus business meaning."</a:t>
            </a:r>
            <a:endParaRPr lang="en-US" sz="1950" dirty="0"/>
          </a:p>
        </p:txBody>
      </p:sp>
      <p:sp>
        <p:nvSpPr>
          <p:cNvPr id="12" name="Text 10"/>
          <p:cNvSpPr/>
          <p:nvPr/>
        </p:nvSpPr>
        <p:spPr>
          <a:xfrm>
            <a:off x="1530350" y="6358335"/>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 LookML view describes one table. A LookML model wires views together with joins. Together they form an Explore — a query surface for analysts.</a:t>
            </a:r>
            <a:endParaRPr lang="en-US" sz="1275" dirty="0"/>
          </a:p>
        </p:txBody>
      </p:sp>
      <p:sp>
        <p:nvSpPr>
          <p:cNvPr id="13" name="Text 11"/>
          <p:cNvSpPr/>
          <p:nvPr/>
        </p:nvSpPr>
        <p:spPr>
          <a:xfrm>
            <a:off x="1530350" y="7110810"/>
            <a:ext cx="7286117"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b="1" dirty="0">
                <a:solidFill>
                  <a:srgbClr val="384358"/>
                </a:solidFill>
                <a:latin typeface="Manrope" pitchFamily="34" charset="0"/>
                <a:ea typeface="Manrope" pitchFamily="34" charset="-122"/>
                <a:cs typeface="Manrope" pitchFamily="34" charset="-120"/>
              </a:rPr>
              <a:t>It is not: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 templating language for dashboards, a query optimizer, or a database itself.</a:t>
            </a:r>
            <a:endParaRPr lang="en-US" sz="1275" dirty="0"/>
          </a:p>
        </p:txBody>
      </p:sp>
      <p:sp>
        <p:nvSpPr>
          <p:cNvPr id="14" name="Shape 12"/>
          <p:cNvSpPr/>
          <p:nvPr/>
        </p:nvSpPr>
        <p:spPr>
          <a:xfrm>
            <a:off x="9372600" y="5349677"/>
            <a:ext cx="7696200" cy="5564981"/>
          </a:xfrm>
          <a:prstGeom prst="roundRect">
            <a:avLst>
              <a:gd name="adj" fmla="val 2396"/>
            </a:avLst>
          </a:prstGeom>
          <a:solidFill>
            <a:srgbClr val="1B1F2A"/>
          </a:solidFill>
          <a:ln/>
        </p:spPr>
      </p:sp>
      <p:sp>
        <p:nvSpPr>
          <p:cNvPr id="15" name="Shape 13"/>
          <p:cNvSpPr/>
          <p:nvPr/>
        </p:nvSpPr>
        <p:spPr>
          <a:xfrm>
            <a:off x="9372600" y="5349677"/>
            <a:ext cx="7696200" cy="464741"/>
          </a:xfrm>
          <a:prstGeom prst="roundRect">
            <a:avLst>
              <a:gd name="adj" fmla="val 28693"/>
            </a:avLst>
          </a:prstGeom>
          <a:solidFill>
            <a:srgbClr val="0E1118"/>
          </a:solidFill>
          <a:ln/>
        </p:spPr>
      </p:sp>
      <p:sp>
        <p:nvSpPr>
          <p:cNvPr id="16" name="Text 14"/>
          <p:cNvSpPr/>
          <p:nvPr/>
        </p:nvSpPr>
        <p:spPr>
          <a:xfrm>
            <a:off x="9601200" y="5483027"/>
            <a:ext cx="1542356"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ORDERS.VIEW.LKML</a:t>
            </a:r>
            <a:endParaRPr lang="en-US" sz="975" dirty="0"/>
          </a:p>
        </p:txBody>
      </p:sp>
      <p:sp>
        <p:nvSpPr>
          <p:cNvPr id="17" name="Text 15"/>
          <p:cNvSpPr/>
          <p:nvPr/>
        </p:nvSpPr>
        <p:spPr>
          <a:xfrm>
            <a:off x="16290330" y="5483027"/>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LOOKML</a:t>
            </a:r>
            <a:endParaRPr lang="en-US" sz="975" dirty="0"/>
          </a:p>
        </p:txBody>
      </p:sp>
      <p:sp>
        <p:nvSpPr>
          <p:cNvPr id="18" name="Text 16"/>
          <p:cNvSpPr/>
          <p:nvPr/>
        </p:nvSpPr>
        <p:spPr>
          <a:xfrm>
            <a:off x="9677400" y="598586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view:</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orders {</a:t>
            </a:r>
            <a:endParaRPr lang="en-US" sz="1350" dirty="0"/>
          </a:p>
        </p:txBody>
      </p:sp>
      <p:sp>
        <p:nvSpPr>
          <p:cNvPr id="19" name="Text 17"/>
          <p:cNvSpPr/>
          <p:nvPr/>
        </p:nvSpPr>
        <p:spPr>
          <a:xfrm>
            <a:off x="9677400" y="626010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sql_table_name: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ecommerce.orders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0" name="Text 18"/>
          <p:cNvSpPr/>
          <p:nvPr/>
        </p:nvSpPr>
        <p:spPr>
          <a:xfrm>
            <a:off x="9677400" y="653434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id {</a:t>
            </a:r>
            <a:endParaRPr lang="en-US" sz="1350" dirty="0"/>
          </a:p>
        </p:txBody>
      </p:sp>
      <p:sp>
        <p:nvSpPr>
          <p:cNvPr id="21" name="Text 19"/>
          <p:cNvSpPr/>
          <p:nvPr/>
        </p:nvSpPr>
        <p:spPr>
          <a:xfrm>
            <a:off x="9677400" y="680858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primary_key:</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yes</a:t>
            </a:r>
            <a:endParaRPr lang="en-US" sz="1350" dirty="0"/>
          </a:p>
        </p:txBody>
      </p:sp>
      <p:sp>
        <p:nvSpPr>
          <p:cNvPr id="22" name="Text 20"/>
          <p:cNvSpPr/>
          <p:nvPr/>
        </p:nvSpPr>
        <p:spPr>
          <a:xfrm>
            <a:off x="9677400" y="708283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23" name="Text 21"/>
          <p:cNvSpPr/>
          <p:nvPr/>
        </p:nvSpPr>
        <p:spPr>
          <a:xfrm>
            <a:off x="9677400" y="735707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4" name="Text 22"/>
          <p:cNvSpPr/>
          <p:nvPr/>
        </p:nvSpPr>
        <p:spPr>
          <a:xfrm>
            <a:off x="9677400" y="763131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5" name="Text 23"/>
          <p:cNvSpPr/>
          <p:nvPr/>
        </p:nvSpPr>
        <p:spPr>
          <a:xfrm>
            <a:off x="9677400" y="790555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status {</a:t>
            </a:r>
            <a:endParaRPr lang="en-US" sz="1350" dirty="0"/>
          </a:p>
        </p:txBody>
      </p:sp>
      <p:sp>
        <p:nvSpPr>
          <p:cNvPr id="26" name="Text 24"/>
          <p:cNvSpPr/>
          <p:nvPr/>
        </p:nvSpPr>
        <p:spPr>
          <a:xfrm>
            <a:off x="9677400" y="817979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string</a:t>
            </a:r>
            <a:endParaRPr lang="en-US" sz="1350" dirty="0"/>
          </a:p>
        </p:txBody>
      </p:sp>
      <p:sp>
        <p:nvSpPr>
          <p:cNvPr id="27" name="Text 25"/>
          <p:cNvSpPr/>
          <p:nvPr/>
        </p:nvSpPr>
        <p:spPr>
          <a:xfrm>
            <a:off x="9677400" y="845403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${TABLE}.status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8" name="Text 26"/>
          <p:cNvSpPr/>
          <p:nvPr/>
        </p:nvSpPr>
        <p:spPr>
          <a:xfrm>
            <a:off x="9677400" y="872827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9" name="Text 27"/>
          <p:cNvSpPr/>
          <p:nvPr/>
        </p:nvSpPr>
        <p:spPr>
          <a:xfrm>
            <a:off x="9677400" y="900251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total_revenue {</a:t>
            </a:r>
            <a:endParaRPr lang="en-US" sz="1350" dirty="0"/>
          </a:p>
        </p:txBody>
      </p:sp>
      <p:sp>
        <p:nvSpPr>
          <p:cNvPr id="30" name="Text 28"/>
          <p:cNvSpPr/>
          <p:nvPr/>
        </p:nvSpPr>
        <p:spPr>
          <a:xfrm>
            <a:off x="9677400" y="927675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sum</a:t>
            </a:r>
            <a:endParaRPr lang="en-US" sz="1350" dirty="0"/>
          </a:p>
        </p:txBody>
      </p:sp>
      <p:sp>
        <p:nvSpPr>
          <p:cNvPr id="31" name="Text 29"/>
          <p:cNvSpPr/>
          <p:nvPr/>
        </p:nvSpPr>
        <p:spPr>
          <a:xfrm>
            <a:off x="9677400" y="955099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32" name="Text 30"/>
          <p:cNvSpPr/>
          <p:nvPr/>
        </p:nvSpPr>
        <p:spPr>
          <a:xfrm>
            <a:off x="9677400" y="982523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value_format: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"$#,##0"</a:t>
            </a:r>
            <a:endParaRPr lang="en-US" sz="1350" dirty="0"/>
          </a:p>
        </p:txBody>
      </p:sp>
      <p:sp>
        <p:nvSpPr>
          <p:cNvPr id="33" name="Text 31"/>
          <p:cNvSpPr/>
          <p:nvPr/>
        </p:nvSpPr>
        <p:spPr>
          <a:xfrm>
            <a:off x="9677400" y="1009947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34" name="Text 32"/>
          <p:cNvSpPr/>
          <p:nvPr/>
        </p:nvSpPr>
        <p:spPr>
          <a:xfrm>
            <a:off x="9677400" y="1037371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35" name="Text 33"/>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6" name="Text 34"/>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39 / 60</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LOOKML VS SQL</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LookML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declares</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 SQL </a:t>
            </a:r>
            <a:pPr algn="l" indent="0" marL="0">
              <a:lnSpc>
                <a:spcPct val="102000"/>
              </a:lnSpc>
              <a:buNone/>
            </a:pPr>
            <a:r>
              <a:rPr lang="en-US" sz="4800" b="1" spc="-96" kern="0" dirty="0">
                <a:solidFill>
                  <a:srgbClr val="FF671F"/>
                </a:solidFill>
                <a:latin typeface="Manrope" pitchFamily="34" charset="0"/>
                <a:ea typeface="Manrope" pitchFamily="34" charset="-122"/>
                <a:cs typeface="Manrope" pitchFamily="34" charset="-120"/>
              </a:rPr>
              <a:t>runs</a:t>
            </a:r>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a:t>
            </a:r>
            <a:endParaRPr lang="en-US" sz="4800" dirty="0"/>
          </a:p>
        </p:txBody>
      </p:sp>
      <p:sp>
        <p:nvSpPr>
          <p:cNvPr id="8" name="Text 6"/>
          <p:cNvSpPr/>
          <p:nvPr/>
        </p:nvSpPr>
        <p:spPr>
          <a:xfrm>
            <a:off x="1219200" y="2971205"/>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LookML doesn't replace SQL — it generates it. When a user picks a dimension and a measure in an Explore, Looker assembles a fresh SQL query, sends it to the warehouse, and returns rows. The same LookML expression can produce different SQL on Postgres, BigQuery, or Snowflake.</a:t>
            </a:r>
            <a:endParaRPr lang="en-US" sz="1650" dirty="0"/>
          </a:p>
        </p:txBody>
      </p:sp>
      <p:sp>
        <p:nvSpPr>
          <p:cNvPr id="9" name="Shape 7"/>
          <p:cNvSpPr/>
          <p:nvPr/>
        </p:nvSpPr>
        <p:spPr>
          <a:xfrm>
            <a:off x="1219200" y="4112221"/>
            <a:ext cx="7696200" cy="4742259"/>
          </a:xfrm>
          <a:prstGeom prst="roundRect">
            <a:avLst>
              <a:gd name="adj" fmla="val 2812"/>
            </a:avLst>
          </a:prstGeom>
          <a:solidFill>
            <a:srgbClr val="1B1F2A"/>
          </a:solidFill>
          <a:ln/>
        </p:spPr>
      </p:sp>
      <p:sp>
        <p:nvSpPr>
          <p:cNvPr id="10" name="Shape 8"/>
          <p:cNvSpPr/>
          <p:nvPr/>
        </p:nvSpPr>
        <p:spPr>
          <a:xfrm>
            <a:off x="1219200" y="4112221"/>
            <a:ext cx="7696200" cy="464741"/>
          </a:xfrm>
          <a:prstGeom prst="roundRect">
            <a:avLst>
              <a:gd name="adj" fmla="val 28693"/>
            </a:avLst>
          </a:prstGeom>
          <a:solidFill>
            <a:srgbClr val="0E1118"/>
          </a:solidFill>
          <a:ln/>
        </p:spPr>
      </p:sp>
      <p:sp>
        <p:nvSpPr>
          <p:cNvPr id="11" name="Text 9"/>
          <p:cNvSpPr/>
          <p:nvPr/>
        </p:nvSpPr>
        <p:spPr>
          <a:xfrm>
            <a:off x="1447800" y="4245571"/>
            <a:ext cx="2925852"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USER PICKS FIELDS IN AN EXPLORE</a:t>
            </a:r>
            <a:endParaRPr lang="en-US" sz="975" dirty="0"/>
          </a:p>
        </p:txBody>
      </p:sp>
      <p:sp>
        <p:nvSpPr>
          <p:cNvPr id="12" name="Text 10"/>
          <p:cNvSpPr/>
          <p:nvPr/>
        </p:nvSpPr>
        <p:spPr>
          <a:xfrm>
            <a:off x="8136930" y="4245571"/>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LOOKML</a:t>
            </a:r>
            <a:endParaRPr lang="en-US" sz="975" dirty="0"/>
          </a:p>
        </p:txBody>
      </p:sp>
      <p:sp>
        <p:nvSpPr>
          <p:cNvPr id="13" name="Text 11"/>
          <p:cNvSpPr/>
          <p:nvPr/>
        </p:nvSpPr>
        <p:spPr>
          <a:xfrm>
            <a:off x="1524000" y="474841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User picks:</a:t>
            </a:r>
            <a:endParaRPr lang="en-US" sz="1350" dirty="0"/>
          </a:p>
        </p:txBody>
      </p:sp>
      <p:sp>
        <p:nvSpPr>
          <p:cNvPr id="14" name="Text 12"/>
          <p:cNvSpPr/>
          <p:nvPr/>
        </p:nvSpPr>
        <p:spPr>
          <a:xfrm>
            <a:off x="1524000" y="502265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 orders.created_month  (dim)</a:t>
            </a:r>
            <a:endParaRPr lang="en-US" sz="1350" dirty="0"/>
          </a:p>
        </p:txBody>
      </p:sp>
      <p:sp>
        <p:nvSpPr>
          <p:cNvPr id="15" name="Text 13"/>
          <p:cNvSpPr/>
          <p:nvPr/>
        </p:nvSpPr>
        <p:spPr>
          <a:xfrm>
            <a:off x="1524000" y="529689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 orders.total_revenue  (measure)</a:t>
            </a:r>
            <a:endParaRPr lang="en-US" sz="1350" dirty="0"/>
          </a:p>
        </p:txBody>
      </p:sp>
      <p:sp>
        <p:nvSpPr>
          <p:cNvPr id="16" name="Text 14"/>
          <p:cNvSpPr/>
          <p:nvPr/>
        </p:nvSpPr>
        <p:spPr>
          <a:xfrm>
            <a:off x="1524000" y="557113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 Filter status = 'complete'</a:t>
            </a:r>
            <a:endParaRPr lang="en-US" sz="1350" dirty="0"/>
          </a:p>
        </p:txBody>
      </p:sp>
      <p:sp>
        <p:nvSpPr>
          <p:cNvPr id="17" name="Text 15"/>
          <p:cNvSpPr/>
          <p:nvPr/>
        </p:nvSpPr>
        <p:spPr>
          <a:xfrm>
            <a:off x="1524000" y="584537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The model already says:</a:t>
            </a:r>
            <a:endParaRPr lang="en-US" sz="1350" dirty="0"/>
          </a:p>
        </p:txBody>
      </p:sp>
      <p:sp>
        <p:nvSpPr>
          <p:cNvPr id="18" name="Text 16"/>
          <p:cNvSpPr/>
          <p:nvPr/>
        </p:nvSpPr>
        <p:spPr>
          <a:xfrm>
            <a:off x="1524000" y="611961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dimension_group: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created {</a:t>
            </a:r>
            <a:endParaRPr lang="en-US" sz="1350" dirty="0"/>
          </a:p>
        </p:txBody>
      </p:sp>
      <p:sp>
        <p:nvSpPr>
          <p:cNvPr id="19" name="Text 17"/>
          <p:cNvSpPr/>
          <p:nvPr/>
        </p:nvSpPr>
        <p:spPr>
          <a:xfrm>
            <a:off x="1524000" y="639385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time</a:t>
            </a:r>
            <a:endParaRPr lang="en-US" sz="1350" dirty="0"/>
          </a:p>
        </p:txBody>
      </p:sp>
      <p:sp>
        <p:nvSpPr>
          <p:cNvPr id="20" name="Text 18"/>
          <p:cNvSpPr/>
          <p:nvPr/>
        </p:nvSpPr>
        <p:spPr>
          <a:xfrm>
            <a:off x="1524000" y="666809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timeframes: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date,month,year</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21" name="Text 19"/>
          <p:cNvSpPr/>
          <p:nvPr/>
        </p:nvSpPr>
        <p:spPr>
          <a:xfrm>
            <a:off x="1524000" y="694233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${TABLE}.created_at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2" name="Text 20"/>
          <p:cNvSpPr/>
          <p:nvPr/>
        </p:nvSpPr>
        <p:spPr>
          <a:xfrm>
            <a:off x="1524000" y="721657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23" name="Text 21"/>
          <p:cNvSpPr/>
          <p:nvPr/>
        </p:nvSpPr>
        <p:spPr>
          <a:xfrm>
            <a:off x="1524000" y="749081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total_revenue {</a:t>
            </a:r>
            <a:endParaRPr lang="en-US" sz="1350" dirty="0"/>
          </a:p>
        </p:txBody>
      </p:sp>
      <p:sp>
        <p:nvSpPr>
          <p:cNvPr id="24" name="Text 22"/>
          <p:cNvSpPr/>
          <p:nvPr/>
        </p:nvSpPr>
        <p:spPr>
          <a:xfrm>
            <a:off x="1524000" y="776505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sum</a:t>
            </a:r>
            <a:endParaRPr lang="en-US" sz="1350" dirty="0"/>
          </a:p>
        </p:txBody>
      </p:sp>
      <p:sp>
        <p:nvSpPr>
          <p:cNvPr id="25" name="Text 23"/>
          <p:cNvSpPr/>
          <p:nvPr/>
        </p:nvSpPr>
        <p:spPr>
          <a:xfrm>
            <a:off x="1524000" y="803929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6" name="Text 24"/>
          <p:cNvSpPr/>
          <p:nvPr/>
        </p:nvSpPr>
        <p:spPr>
          <a:xfrm>
            <a:off x="1524000" y="831353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27" name="Shape 25"/>
          <p:cNvSpPr/>
          <p:nvPr/>
        </p:nvSpPr>
        <p:spPr>
          <a:xfrm>
            <a:off x="9372600" y="4112221"/>
            <a:ext cx="7696200" cy="4742259"/>
          </a:xfrm>
          <a:prstGeom prst="roundRect">
            <a:avLst>
              <a:gd name="adj" fmla="val 2812"/>
            </a:avLst>
          </a:prstGeom>
          <a:solidFill>
            <a:srgbClr val="1B1F2A"/>
          </a:solidFill>
          <a:ln/>
        </p:spPr>
      </p:sp>
      <p:sp>
        <p:nvSpPr>
          <p:cNvPr id="28" name="Shape 26"/>
          <p:cNvSpPr/>
          <p:nvPr/>
        </p:nvSpPr>
        <p:spPr>
          <a:xfrm>
            <a:off x="9372600" y="4112221"/>
            <a:ext cx="7696200" cy="464741"/>
          </a:xfrm>
          <a:prstGeom prst="roundRect">
            <a:avLst>
              <a:gd name="adj" fmla="val 28693"/>
            </a:avLst>
          </a:prstGeom>
          <a:solidFill>
            <a:srgbClr val="0E1118"/>
          </a:solidFill>
          <a:ln/>
        </p:spPr>
      </p:sp>
      <p:sp>
        <p:nvSpPr>
          <p:cNvPr id="29" name="Text 27"/>
          <p:cNvSpPr/>
          <p:nvPr/>
        </p:nvSpPr>
        <p:spPr>
          <a:xfrm>
            <a:off x="9601200" y="4245571"/>
            <a:ext cx="2366963"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LOOKER GENERATES THIS SQL</a:t>
            </a:r>
            <a:endParaRPr lang="en-US" sz="975" dirty="0"/>
          </a:p>
        </p:txBody>
      </p:sp>
      <p:sp>
        <p:nvSpPr>
          <p:cNvPr id="30" name="Text 28"/>
          <p:cNvSpPr/>
          <p:nvPr/>
        </p:nvSpPr>
        <p:spPr>
          <a:xfrm>
            <a:off x="16565266" y="4245571"/>
            <a:ext cx="351135"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SQL</a:t>
            </a:r>
            <a:endParaRPr lang="en-US" sz="975" dirty="0"/>
          </a:p>
        </p:txBody>
      </p:sp>
      <p:sp>
        <p:nvSpPr>
          <p:cNvPr id="31" name="Text 29"/>
          <p:cNvSpPr/>
          <p:nvPr/>
        </p:nvSpPr>
        <p:spPr>
          <a:xfrm>
            <a:off x="9677400" y="474841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SELECT</a:t>
            </a:r>
            <a:endParaRPr lang="en-US" sz="1350" dirty="0"/>
          </a:p>
        </p:txBody>
      </p:sp>
      <p:sp>
        <p:nvSpPr>
          <p:cNvPr id="32" name="Text 30"/>
          <p:cNvSpPr/>
          <p:nvPr/>
        </p:nvSpPr>
        <p:spPr>
          <a:xfrm>
            <a:off x="9677400" y="502265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E0AAFF"/>
                </a:solidFill>
                <a:latin typeface="JetBrains Mono" pitchFamily="34" charset="0"/>
                <a:ea typeface="JetBrains Mono" pitchFamily="34" charset="-122"/>
                <a:cs typeface="JetBrains Mono" pitchFamily="34" charset="-120"/>
              </a:rPr>
              <a:t>DATE_TRUNC</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(orders.created_at,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MONTH</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33" name="Text 31"/>
          <p:cNvSpPr/>
          <p:nvPr/>
        </p:nvSpPr>
        <p:spPr>
          <a:xfrm>
            <a:off x="9677400" y="529689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AS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created_month,</a:t>
            </a:r>
            <a:endParaRPr lang="en-US" sz="1350" dirty="0"/>
          </a:p>
        </p:txBody>
      </p:sp>
      <p:sp>
        <p:nvSpPr>
          <p:cNvPr id="34" name="Text 32"/>
          <p:cNvSpPr/>
          <p:nvPr/>
        </p:nvSpPr>
        <p:spPr>
          <a:xfrm>
            <a:off x="9677400" y="557113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E0AAFF"/>
                </a:solidFill>
                <a:latin typeface="JetBrains Mono" pitchFamily="34" charset="0"/>
                <a:ea typeface="JetBrains Mono" pitchFamily="34" charset="-122"/>
                <a:cs typeface="JetBrains Mono" pitchFamily="34" charset="-120"/>
              </a:rPr>
              <a:t>SUM</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(orders.amount)</a:t>
            </a:r>
            <a:endParaRPr lang="en-US" sz="1350" dirty="0"/>
          </a:p>
        </p:txBody>
      </p:sp>
      <p:sp>
        <p:nvSpPr>
          <p:cNvPr id="35" name="Text 33"/>
          <p:cNvSpPr/>
          <p:nvPr/>
        </p:nvSpPr>
        <p:spPr>
          <a:xfrm>
            <a:off x="9677400" y="584537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AS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total_revenue</a:t>
            </a:r>
            <a:endParaRPr lang="en-US" sz="1350" dirty="0"/>
          </a:p>
        </p:txBody>
      </p:sp>
      <p:sp>
        <p:nvSpPr>
          <p:cNvPr id="36" name="Text 34"/>
          <p:cNvSpPr/>
          <p:nvPr/>
        </p:nvSpPr>
        <p:spPr>
          <a:xfrm>
            <a:off x="9677400" y="611961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FROM</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ecommerce.orders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AS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orders</a:t>
            </a:r>
            <a:endParaRPr lang="en-US" sz="1350" dirty="0"/>
          </a:p>
        </p:txBody>
      </p:sp>
      <p:sp>
        <p:nvSpPr>
          <p:cNvPr id="37" name="Text 35"/>
          <p:cNvSpPr/>
          <p:nvPr/>
        </p:nvSpPr>
        <p:spPr>
          <a:xfrm>
            <a:off x="9677400" y="639385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WHERE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orders.status =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'complete'</a:t>
            </a:r>
            <a:endParaRPr lang="en-US" sz="1350" dirty="0"/>
          </a:p>
        </p:txBody>
      </p:sp>
      <p:sp>
        <p:nvSpPr>
          <p:cNvPr id="38" name="Text 36"/>
          <p:cNvSpPr/>
          <p:nvPr/>
        </p:nvSpPr>
        <p:spPr>
          <a:xfrm>
            <a:off x="9677400" y="666809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GROUP BY</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FFD493"/>
                </a:solidFill>
                <a:latin typeface="JetBrains Mono" pitchFamily="34" charset="0"/>
                <a:ea typeface="JetBrains Mono" pitchFamily="34" charset="-122"/>
                <a:cs typeface="JetBrains Mono" pitchFamily="34" charset="-120"/>
              </a:rPr>
              <a:t>1</a:t>
            </a:r>
            <a:endParaRPr lang="en-US" sz="1350" dirty="0"/>
          </a:p>
        </p:txBody>
      </p:sp>
      <p:sp>
        <p:nvSpPr>
          <p:cNvPr id="39" name="Text 37"/>
          <p:cNvSpPr/>
          <p:nvPr/>
        </p:nvSpPr>
        <p:spPr>
          <a:xfrm>
            <a:off x="9677400" y="694233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ORDER BY</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FFD493"/>
                </a:solidFill>
                <a:latin typeface="JetBrains Mono" pitchFamily="34" charset="0"/>
                <a:ea typeface="JetBrains Mono" pitchFamily="34" charset="-122"/>
                <a:cs typeface="JetBrains Mono" pitchFamily="34" charset="-120"/>
              </a:rPr>
              <a:t>1</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ASC</a:t>
            </a:r>
            <a:endParaRPr lang="en-US" sz="1350" dirty="0"/>
          </a:p>
        </p:txBody>
      </p:sp>
      <p:sp>
        <p:nvSpPr>
          <p:cNvPr id="40" name="Text 38"/>
          <p:cNvSpPr/>
          <p:nvPr/>
        </p:nvSpPr>
        <p:spPr>
          <a:xfrm>
            <a:off x="9677400" y="721657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LIMIT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FFD493"/>
                </a:solidFill>
                <a:latin typeface="JetBrains Mono" pitchFamily="34" charset="0"/>
                <a:ea typeface="JetBrains Mono" pitchFamily="34" charset="-122"/>
                <a:cs typeface="JetBrains Mono" pitchFamily="34" charset="-120"/>
              </a:rPr>
              <a:t>500</a:t>
            </a:r>
            <a:endParaRPr lang="en-US" sz="1350" dirty="0"/>
          </a:p>
        </p:txBody>
      </p:sp>
      <p:sp>
        <p:nvSpPr>
          <p:cNvPr id="41" name="Text 39"/>
          <p:cNvSpPr/>
          <p:nvPr/>
        </p:nvSpPr>
        <p:spPr>
          <a:xfrm>
            <a:off x="9677400" y="749081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Sent live to BigQuery</a:t>
            </a:r>
            <a:endParaRPr lang="en-US" sz="1350" dirty="0"/>
          </a:p>
        </p:txBody>
      </p:sp>
      <p:sp>
        <p:nvSpPr>
          <p:cNvPr id="42" name="Text 40"/>
          <p:cNvSpPr/>
          <p:nvPr/>
        </p:nvSpPr>
        <p:spPr>
          <a:xfrm>
            <a:off x="9677400" y="776505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Cache key: hash(query+user attrs)</a:t>
            </a:r>
            <a:endParaRPr lang="en-US" sz="1350" dirty="0"/>
          </a:p>
        </p:txBody>
      </p:sp>
      <p:sp>
        <p:nvSpPr>
          <p:cNvPr id="43" name="Shape 41"/>
          <p:cNvSpPr/>
          <p:nvPr/>
        </p:nvSpPr>
        <p:spPr>
          <a:xfrm>
            <a:off x="1219200" y="9083080"/>
            <a:ext cx="15849600" cy="882650"/>
          </a:xfrm>
          <a:prstGeom prst="roundRect">
            <a:avLst>
              <a:gd name="adj" fmla="val 15108"/>
            </a:avLst>
          </a:prstGeom>
          <a:solidFill>
            <a:srgbClr val="FFF7F1"/>
          </a:solidFill>
          <a:ln/>
        </p:spPr>
      </p:sp>
      <p:sp>
        <p:nvSpPr>
          <p:cNvPr id="44" name="Shape 42"/>
          <p:cNvSpPr/>
          <p:nvPr/>
        </p:nvSpPr>
        <p:spPr>
          <a:xfrm>
            <a:off x="1219200" y="9083080"/>
            <a:ext cx="38100" cy="882650"/>
          </a:xfrm>
          <a:prstGeom prst="rect">
            <a:avLst/>
          </a:prstGeom>
          <a:solidFill>
            <a:srgbClr val="FF671F"/>
          </a:solidFill>
          <a:ln/>
        </p:spPr>
      </p:sp>
      <p:sp>
        <p:nvSpPr>
          <p:cNvPr id="45" name="Text 43"/>
          <p:cNvSpPr/>
          <p:nvPr/>
        </p:nvSpPr>
        <p:spPr>
          <a:xfrm>
            <a:off x="1524000" y="9273580"/>
            <a:ext cx="15753588" cy="5397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TIP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When debugging unexpected numbers, click </a:t>
            </a:r>
            <a:pPr algn="l" indent="0" marL="0">
              <a:buNone/>
            </a:pPr>
            <a:r>
              <a:rPr lang="en-US" sz="1275" b="1" dirty="0">
                <a:solidFill>
                  <a:srgbClr val="384358"/>
                </a:solidFill>
                <a:latin typeface="Manrope" pitchFamily="34" charset="0"/>
                <a:ea typeface="Manrope" pitchFamily="34" charset="-122"/>
                <a:cs typeface="Manrope" pitchFamily="34" charset="-120"/>
              </a:rPr>
              <a:t>SQL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in the Explore's right rail. The generated SQL tells you whether the model joined the way you expected, and whether your filter was applied as WHERE or HAVING.</a:t>
            </a:r>
            <a:endParaRPr lang="en-US" sz="1275" dirty="0"/>
          </a:p>
        </p:txBody>
      </p:sp>
      <p:sp>
        <p:nvSpPr>
          <p:cNvPr id="46" name="Text 44"/>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7" name="Text 45"/>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40 / 60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PROJECT STRUCTURE</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Inside a LookML project — what every file is for.</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LookML "project" is a Git repo. Three file types matter on the exam: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.view.lkml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for tables,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.model.lkml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for joins and Explores, and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.dashboard.lkml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for version-controlled dashboards.</a:t>
            </a:r>
            <a:endParaRPr lang="en-US" sz="1650" dirty="0"/>
          </a:p>
        </p:txBody>
      </p:sp>
      <p:sp>
        <p:nvSpPr>
          <p:cNvPr id="9" name="Shape 7"/>
          <p:cNvSpPr/>
          <p:nvPr/>
        </p:nvSpPr>
        <p:spPr>
          <a:xfrm>
            <a:off x="1219200" y="5044877"/>
            <a:ext cx="7696200" cy="3853160"/>
          </a:xfrm>
          <a:prstGeom prst="roundRect">
            <a:avLst>
              <a:gd name="adj" fmla="val 3461"/>
            </a:avLst>
          </a:prstGeom>
          <a:solidFill>
            <a:srgbClr val="1B1F2A"/>
          </a:solidFill>
          <a:ln/>
        </p:spPr>
      </p:sp>
      <p:sp>
        <p:nvSpPr>
          <p:cNvPr id="10" name="Text 8"/>
          <p:cNvSpPr/>
          <p:nvPr/>
        </p:nvSpPr>
        <p:spPr>
          <a:xfrm>
            <a:off x="1562100" y="5349677"/>
            <a:ext cx="72207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ecommerce/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the project</a:t>
            </a:r>
            <a:endParaRPr lang="en-US" sz="1350" dirty="0"/>
          </a:p>
        </p:txBody>
      </p:sp>
      <p:sp>
        <p:nvSpPr>
          <p:cNvPr id="11" name="Text 9"/>
          <p:cNvSpPr/>
          <p:nvPr/>
        </p:nvSpPr>
        <p:spPr>
          <a:xfrm>
            <a:off x="1790700" y="5641082"/>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views/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one file per table</a:t>
            </a:r>
            <a:endParaRPr lang="en-US" sz="1350" dirty="0"/>
          </a:p>
        </p:txBody>
      </p:sp>
      <p:sp>
        <p:nvSpPr>
          <p:cNvPr id="12" name="Shape 10"/>
          <p:cNvSpPr/>
          <p:nvPr/>
        </p:nvSpPr>
        <p:spPr>
          <a:xfrm>
            <a:off x="1943100" y="5932488"/>
            <a:ext cx="2098080" cy="329505"/>
          </a:xfrm>
          <a:prstGeom prst="rect">
            <a:avLst/>
          </a:prstGeom>
          <a:solidFill>
            <a:srgbClr val="FF671F">
              <a:alpha val="18000"/>
            </a:srgbClr>
          </a:solidFill>
          <a:ln/>
        </p:spPr>
      </p:sp>
      <p:sp>
        <p:nvSpPr>
          <p:cNvPr id="13" name="Shape 11"/>
          <p:cNvSpPr/>
          <p:nvPr/>
        </p:nvSpPr>
        <p:spPr>
          <a:xfrm>
            <a:off x="1943100" y="5932488"/>
            <a:ext cx="25400" cy="329505"/>
          </a:xfrm>
          <a:prstGeom prst="rect">
            <a:avLst/>
          </a:prstGeom>
          <a:solidFill>
            <a:srgbClr val="FF671F"/>
          </a:solidFill>
          <a:ln/>
        </p:spPr>
      </p:sp>
      <p:sp>
        <p:nvSpPr>
          <p:cNvPr id="14" name="Text 12"/>
          <p:cNvSpPr/>
          <p:nvPr/>
        </p:nvSpPr>
        <p:spPr>
          <a:xfrm>
            <a:off x="2044700" y="5951538"/>
            <a:ext cx="1996480"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FFFFFF"/>
                </a:solidFill>
                <a:latin typeface="JetBrains Mono" pitchFamily="34" charset="0"/>
                <a:ea typeface="JetBrains Mono" pitchFamily="34" charset="-122"/>
                <a:cs typeface="JetBrains Mono" pitchFamily="34" charset="-120"/>
              </a:rPr>
              <a:t>📄 orders.view.lkml</a:t>
            </a:r>
            <a:endParaRPr lang="en-US" sz="1350" dirty="0"/>
          </a:p>
        </p:txBody>
      </p:sp>
      <p:sp>
        <p:nvSpPr>
          <p:cNvPr id="15" name="Text 13"/>
          <p:cNvSpPr/>
          <p:nvPr/>
        </p:nvSpPr>
        <p:spPr>
          <a:xfrm>
            <a:off x="2019300" y="6261993"/>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users.view.lkml</a:t>
            </a:r>
            <a:endParaRPr lang="en-US" sz="1350" dirty="0"/>
          </a:p>
        </p:txBody>
      </p:sp>
      <p:sp>
        <p:nvSpPr>
          <p:cNvPr id="16" name="Text 14"/>
          <p:cNvSpPr/>
          <p:nvPr/>
        </p:nvSpPr>
        <p:spPr>
          <a:xfrm>
            <a:off x="2019300" y="6553399"/>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products.view.lkml</a:t>
            </a:r>
            <a:endParaRPr lang="en-US" sz="1350" dirty="0"/>
          </a:p>
        </p:txBody>
      </p:sp>
      <p:sp>
        <p:nvSpPr>
          <p:cNvPr id="17" name="Text 15"/>
          <p:cNvSpPr/>
          <p:nvPr/>
        </p:nvSpPr>
        <p:spPr>
          <a:xfrm>
            <a:off x="1790700" y="6844804"/>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models/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one per Explore set</a:t>
            </a:r>
            <a:endParaRPr lang="en-US" sz="1350" dirty="0"/>
          </a:p>
        </p:txBody>
      </p:sp>
      <p:sp>
        <p:nvSpPr>
          <p:cNvPr id="18" name="Text 16"/>
          <p:cNvSpPr/>
          <p:nvPr/>
        </p:nvSpPr>
        <p:spPr>
          <a:xfrm>
            <a:off x="2019300" y="7136210"/>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ecommerce.model.lkml</a:t>
            </a:r>
            <a:endParaRPr lang="en-US" sz="1350" dirty="0"/>
          </a:p>
        </p:txBody>
      </p:sp>
      <p:sp>
        <p:nvSpPr>
          <p:cNvPr id="19" name="Text 17"/>
          <p:cNvSpPr/>
          <p:nvPr/>
        </p:nvSpPr>
        <p:spPr>
          <a:xfrm>
            <a:off x="1790700" y="7427615"/>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b="1" dirty="0">
                <a:solidFill>
                  <a:srgbClr val="FF671F"/>
                </a:solidFill>
                <a:latin typeface="JetBrains Mono" pitchFamily="34" charset="0"/>
                <a:ea typeface="JetBrains Mono" pitchFamily="34" charset="-122"/>
                <a:cs typeface="JetBrains Mono" pitchFamily="34" charset="-120"/>
              </a:rPr>
              <a:t>📁 dashboards/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version-controlled UDDs</a:t>
            </a:r>
            <a:endParaRPr lang="en-US" sz="1350" dirty="0"/>
          </a:p>
        </p:txBody>
      </p:sp>
      <p:sp>
        <p:nvSpPr>
          <p:cNvPr id="20" name="Text 18"/>
          <p:cNvSpPr/>
          <p:nvPr/>
        </p:nvSpPr>
        <p:spPr>
          <a:xfrm>
            <a:off x="2019300" y="7719021"/>
            <a:ext cx="67635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marketing.dashboard.lkml</a:t>
            </a:r>
            <a:endParaRPr lang="en-US" sz="1350" dirty="0"/>
          </a:p>
        </p:txBody>
      </p:sp>
      <p:sp>
        <p:nvSpPr>
          <p:cNvPr id="21" name="Text 19"/>
          <p:cNvSpPr/>
          <p:nvPr/>
        </p:nvSpPr>
        <p:spPr>
          <a:xfrm>
            <a:off x="1790700" y="8010426"/>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manifest.lkml </a:t>
            </a:r>
            <a:pPr algn="l" indent="0" marL="0">
              <a:lnSpc>
                <a:spcPct val="17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project config</a:t>
            </a:r>
            <a:endParaRPr lang="en-US" sz="1350" dirty="0"/>
          </a:p>
        </p:txBody>
      </p:sp>
      <p:sp>
        <p:nvSpPr>
          <p:cNvPr id="22" name="Text 20"/>
          <p:cNvSpPr/>
          <p:nvPr/>
        </p:nvSpPr>
        <p:spPr>
          <a:xfrm>
            <a:off x="1790700" y="8301832"/>
            <a:ext cx="6992112" cy="329505"/>
          </a:xfrm>
          <a:prstGeom prst="rect">
            <a:avLst/>
          </a:prstGeom>
          <a:noFill/>
          <a:ln/>
        </p:spPr>
        <p:txBody>
          <a:bodyPr wrap="square" lIns="25400" tIns="25400" rIns="25400" bIns="25400" rtlCol="0" anchor="t">
            <a:normAutofit/>
          </a:bodyPr>
          <a:lstStyle/>
          <a:p>
            <a:pPr algn="l" indent="0" marL="0">
              <a:lnSpc>
                <a:spcPct val="170000"/>
              </a:lnSpc>
              <a:buNone/>
            </a:pPr>
            <a:r>
              <a:rPr lang="en-US" sz="1350" dirty="0">
                <a:solidFill>
                  <a:srgbClr val="E8ECF3"/>
                </a:solidFill>
                <a:latin typeface="JetBrains Mono" pitchFamily="34" charset="0"/>
                <a:ea typeface="JetBrains Mono" pitchFamily="34" charset="-122"/>
                <a:cs typeface="JetBrains Mono" pitchFamily="34" charset="-120"/>
              </a:rPr>
              <a:t>📄 README.md</a:t>
            </a:r>
            <a:endParaRPr lang="en-US" sz="1350" dirty="0"/>
          </a:p>
        </p:txBody>
      </p:sp>
      <p:sp>
        <p:nvSpPr>
          <p:cNvPr id="23" name="Shape 21"/>
          <p:cNvSpPr/>
          <p:nvPr/>
        </p:nvSpPr>
        <p:spPr>
          <a:xfrm>
            <a:off x="9372600" y="5044877"/>
            <a:ext cx="7696200" cy="1862733"/>
          </a:xfrm>
          <a:prstGeom prst="roundRect">
            <a:avLst>
              <a:gd name="adj" fmla="val 7159"/>
            </a:avLst>
          </a:prstGeom>
          <a:solidFill>
            <a:srgbClr val="F1F2F4"/>
          </a:solidFill>
          <a:ln w="6350">
            <a:solidFill>
              <a:srgbClr val="C9CFD8"/>
            </a:solidFill>
            <a:prstDash val="solid"/>
          </a:ln>
        </p:spPr>
      </p:sp>
      <p:sp>
        <p:nvSpPr>
          <p:cNvPr id="24" name="Text 22"/>
          <p:cNvSpPr/>
          <p:nvPr/>
        </p:nvSpPr>
        <p:spPr>
          <a:xfrm>
            <a:off x="9683750" y="5356027"/>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VIEW FILE (.VIEW.LKML)</a:t>
            </a:r>
            <a:endParaRPr lang="en-US" sz="900" dirty="0"/>
          </a:p>
        </p:txBody>
      </p:sp>
      <p:sp>
        <p:nvSpPr>
          <p:cNvPr id="25" name="Text 23"/>
          <p:cNvSpPr/>
          <p:nvPr/>
        </p:nvSpPr>
        <p:spPr>
          <a:xfrm>
            <a:off x="9683750" y="5635427"/>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One per database table.</a:t>
            </a:r>
            <a:endParaRPr lang="en-US" sz="1950" dirty="0"/>
          </a:p>
        </p:txBody>
      </p:sp>
      <p:sp>
        <p:nvSpPr>
          <p:cNvPr id="26" name="Text 24"/>
          <p:cNvSpPr/>
          <p:nvPr/>
        </p:nvSpPr>
        <p:spPr>
          <a:xfrm>
            <a:off x="9683750" y="6053535"/>
            <a:ext cx="7286117" cy="58102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Declares dimensions, measures, and the underlying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sql_table_name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 Reusable across multiple Explores.</a:t>
            </a:r>
            <a:endParaRPr lang="en-US" sz="1275" dirty="0"/>
          </a:p>
        </p:txBody>
      </p:sp>
      <p:sp>
        <p:nvSpPr>
          <p:cNvPr id="27" name="Shape 25"/>
          <p:cNvSpPr/>
          <p:nvPr/>
        </p:nvSpPr>
        <p:spPr>
          <a:xfrm>
            <a:off x="9372600" y="7079060"/>
            <a:ext cx="7696200" cy="1862733"/>
          </a:xfrm>
          <a:prstGeom prst="roundRect">
            <a:avLst>
              <a:gd name="adj" fmla="val 7159"/>
            </a:avLst>
          </a:prstGeom>
          <a:solidFill>
            <a:srgbClr val="F1F2F4"/>
          </a:solidFill>
          <a:ln w="6350">
            <a:solidFill>
              <a:srgbClr val="C9CFD8"/>
            </a:solidFill>
            <a:prstDash val="solid"/>
          </a:ln>
        </p:spPr>
      </p:sp>
      <p:sp>
        <p:nvSpPr>
          <p:cNvPr id="28" name="Text 26"/>
          <p:cNvSpPr/>
          <p:nvPr/>
        </p:nvSpPr>
        <p:spPr>
          <a:xfrm>
            <a:off x="9683750" y="7390209"/>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MODEL FILE (.MODEL.LKML)</a:t>
            </a:r>
            <a:endParaRPr lang="en-US" sz="900" dirty="0"/>
          </a:p>
        </p:txBody>
      </p:sp>
      <p:sp>
        <p:nvSpPr>
          <p:cNvPr id="29" name="Text 27"/>
          <p:cNvSpPr/>
          <p:nvPr/>
        </p:nvSpPr>
        <p:spPr>
          <a:xfrm>
            <a:off x="9683750" y="7669610"/>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The Explore catalog.</a:t>
            </a:r>
            <a:endParaRPr lang="en-US" sz="1950" dirty="0"/>
          </a:p>
        </p:txBody>
      </p:sp>
      <p:sp>
        <p:nvSpPr>
          <p:cNvPr id="30" name="Text 28"/>
          <p:cNvSpPr/>
          <p:nvPr/>
        </p:nvSpPr>
        <p:spPr>
          <a:xfrm>
            <a:off x="9683750" y="8087717"/>
            <a:ext cx="7286117" cy="58102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Connects views via joins; each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explore: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block becomes a query surface in the Explore menu.</a:t>
            </a:r>
            <a:endParaRPr lang="en-US" sz="1275" dirty="0"/>
          </a:p>
        </p:txBody>
      </p:sp>
      <p:sp>
        <p:nvSpPr>
          <p:cNvPr id="31" name="Shape 29"/>
          <p:cNvSpPr/>
          <p:nvPr/>
        </p:nvSpPr>
        <p:spPr>
          <a:xfrm>
            <a:off x="9372600" y="9113243"/>
            <a:ext cx="7696200" cy="1805583"/>
          </a:xfrm>
          <a:prstGeom prst="roundRect">
            <a:avLst>
              <a:gd name="adj" fmla="val 7385"/>
            </a:avLst>
          </a:prstGeom>
          <a:solidFill>
            <a:srgbClr val="F1F2F4"/>
          </a:solidFill>
          <a:ln w="6350">
            <a:solidFill>
              <a:srgbClr val="C9CFD8"/>
            </a:solidFill>
            <a:prstDash val="solid"/>
          </a:ln>
        </p:spPr>
      </p:sp>
      <p:sp>
        <p:nvSpPr>
          <p:cNvPr id="32" name="Text 30"/>
          <p:cNvSpPr/>
          <p:nvPr/>
        </p:nvSpPr>
        <p:spPr>
          <a:xfrm>
            <a:off x="9683750" y="9424392"/>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DASHBOARD FILE (.DASHBOARD.LKML)</a:t>
            </a:r>
            <a:endParaRPr lang="en-US" sz="900" dirty="0"/>
          </a:p>
        </p:txBody>
      </p:sp>
      <p:sp>
        <p:nvSpPr>
          <p:cNvPr id="33" name="Text 31"/>
          <p:cNvSpPr/>
          <p:nvPr/>
        </p:nvSpPr>
        <p:spPr>
          <a:xfrm>
            <a:off x="9683750" y="9703793"/>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Optional, but powerful.</a:t>
            </a:r>
            <a:endParaRPr lang="en-US" sz="1950" dirty="0"/>
          </a:p>
        </p:txBody>
      </p:sp>
      <p:sp>
        <p:nvSpPr>
          <p:cNvPr id="34" name="Text 32"/>
          <p:cNvSpPr/>
          <p:nvPr/>
        </p:nvSpPr>
        <p:spPr>
          <a:xfrm>
            <a:off x="9683750" y="10121901"/>
            <a:ext cx="7286117"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Version-controls dashboards alongside the model. Best for embedded apps and templated dashboards.</a:t>
            </a:r>
            <a:endParaRPr lang="en-US" sz="1275" dirty="0"/>
          </a:p>
        </p:txBody>
      </p:sp>
      <p:sp>
        <p:nvSpPr>
          <p:cNvPr id="35" name="Shape 33"/>
          <p:cNvSpPr/>
          <p:nvPr/>
        </p:nvSpPr>
        <p:spPr>
          <a:xfrm>
            <a:off x="9372600" y="11090275"/>
            <a:ext cx="7696200" cy="1562695"/>
          </a:xfrm>
          <a:prstGeom prst="roundRect">
            <a:avLst>
              <a:gd name="adj" fmla="val 8533"/>
            </a:avLst>
          </a:prstGeom>
          <a:solidFill>
            <a:srgbClr val="F1F2F4"/>
          </a:solidFill>
          <a:ln w="6350">
            <a:solidFill>
              <a:srgbClr val="C9CFD8"/>
            </a:solidFill>
            <a:prstDash val="solid"/>
          </a:ln>
        </p:spPr>
      </p:sp>
      <p:sp>
        <p:nvSpPr>
          <p:cNvPr id="36" name="Text 34"/>
          <p:cNvSpPr/>
          <p:nvPr/>
        </p:nvSpPr>
        <p:spPr>
          <a:xfrm>
            <a:off x="9683750" y="11401425"/>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MANIFEST.LKML</a:t>
            </a:r>
            <a:endParaRPr lang="en-US" sz="900" dirty="0"/>
          </a:p>
        </p:txBody>
      </p:sp>
      <p:sp>
        <p:nvSpPr>
          <p:cNvPr id="37" name="Text 35"/>
          <p:cNvSpPr/>
          <p:nvPr/>
        </p:nvSpPr>
        <p:spPr>
          <a:xfrm>
            <a:off x="9683750" y="11680825"/>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Project-level config.</a:t>
            </a:r>
            <a:endParaRPr lang="en-US" sz="1950" dirty="0"/>
          </a:p>
        </p:txBody>
      </p:sp>
      <p:sp>
        <p:nvSpPr>
          <p:cNvPr id="38" name="Text 36"/>
          <p:cNvSpPr/>
          <p:nvPr/>
        </p:nvSpPr>
        <p:spPr>
          <a:xfrm>
            <a:off x="9683750" y="12098934"/>
            <a:ext cx="7286117" cy="280988"/>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Project name, included projects, localization, and user attributes for row-level security.</a:t>
            </a:r>
            <a:endParaRPr lang="en-US" sz="1275" dirty="0"/>
          </a:p>
        </p:txBody>
      </p:sp>
      <p:sp>
        <p:nvSpPr>
          <p:cNvPr id="39" name="Text 3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0" name="Text 3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41 / 60</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MODEL + VIEW FILE</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Two files, one Explore.</a:t>
            </a:r>
            <a:endParaRPr lang="en-US" sz="4800" dirty="0"/>
          </a:p>
        </p:txBody>
      </p:sp>
      <p:sp>
        <p:nvSpPr>
          <p:cNvPr id="8" name="Text 6"/>
          <p:cNvSpPr/>
          <p:nvPr/>
        </p:nvSpPr>
        <p:spPr>
          <a:xfrm>
            <a:off x="1219200" y="2971205"/>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Read these top-to-bottom. The view describes a table; the model describes how tables connect.</a:t>
            </a:r>
            <a:endParaRPr lang="en-US" sz="1650" dirty="0"/>
          </a:p>
        </p:txBody>
      </p:sp>
      <p:sp>
        <p:nvSpPr>
          <p:cNvPr id="9" name="Shape 7"/>
          <p:cNvSpPr/>
          <p:nvPr/>
        </p:nvSpPr>
        <p:spPr>
          <a:xfrm>
            <a:off x="1219200" y="3808413"/>
            <a:ext cx="7696200" cy="6661944"/>
          </a:xfrm>
          <a:prstGeom prst="roundRect">
            <a:avLst>
              <a:gd name="adj" fmla="val 2002"/>
            </a:avLst>
          </a:prstGeom>
          <a:solidFill>
            <a:srgbClr val="1B1F2A"/>
          </a:solidFill>
          <a:ln/>
        </p:spPr>
      </p:sp>
      <p:sp>
        <p:nvSpPr>
          <p:cNvPr id="10" name="Shape 8"/>
          <p:cNvSpPr/>
          <p:nvPr/>
        </p:nvSpPr>
        <p:spPr>
          <a:xfrm>
            <a:off x="1219200" y="3808413"/>
            <a:ext cx="7696200" cy="464741"/>
          </a:xfrm>
          <a:prstGeom prst="roundRect">
            <a:avLst>
              <a:gd name="adj" fmla="val 28693"/>
            </a:avLst>
          </a:prstGeom>
          <a:solidFill>
            <a:srgbClr val="0E1118"/>
          </a:solidFill>
          <a:ln/>
        </p:spPr>
      </p:sp>
      <p:sp>
        <p:nvSpPr>
          <p:cNvPr id="11" name="Text 9"/>
          <p:cNvSpPr/>
          <p:nvPr/>
        </p:nvSpPr>
        <p:spPr>
          <a:xfrm>
            <a:off x="1447800" y="3941763"/>
            <a:ext cx="2092127"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VIEWS/ORDERS.VIEW.LKML</a:t>
            </a:r>
            <a:endParaRPr lang="en-US" sz="975" dirty="0"/>
          </a:p>
        </p:txBody>
      </p:sp>
      <p:sp>
        <p:nvSpPr>
          <p:cNvPr id="12" name="Text 10"/>
          <p:cNvSpPr/>
          <p:nvPr/>
        </p:nvSpPr>
        <p:spPr>
          <a:xfrm>
            <a:off x="8320187" y="3941763"/>
            <a:ext cx="442813"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VIEW</a:t>
            </a:r>
            <a:endParaRPr lang="en-US" sz="975" dirty="0"/>
          </a:p>
        </p:txBody>
      </p:sp>
      <p:sp>
        <p:nvSpPr>
          <p:cNvPr id="13" name="Text 11"/>
          <p:cNvSpPr/>
          <p:nvPr/>
        </p:nvSpPr>
        <p:spPr>
          <a:xfrm>
            <a:off x="1524000" y="444460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view:</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orders {</a:t>
            </a:r>
            <a:endParaRPr lang="en-US" sz="1350" dirty="0"/>
          </a:p>
        </p:txBody>
      </p:sp>
      <p:sp>
        <p:nvSpPr>
          <p:cNvPr id="14" name="Text 12"/>
          <p:cNvSpPr/>
          <p:nvPr/>
        </p:nvSpPr>
        <p:spPr>
          <a:xfrm>
            <a:off x="1524000" y="471884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sql_table_name: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ecommerce.orders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5" name="Text 13"/>
          <p:cNvSpPr/>
          <p:nvPr/>
        </p:nvSpPr>
        <p:spPr>
          <a:xfrm>
            <a:off x="1524000" y="499308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id {</a:t>
            </a:r>
            <a:endParaRPr lang="en-US" sz="1350" dirty="0"/>
          </a:p>
        </p:txBody>
      </p:sp>
      <p:sp>
        <p:nvSpPr>
          <p:cNvPr id="16" name="Text 14"/>
          <p:cNvSpPr/>
          <p:nvPr/>
        </p:nvSpPr>
        <p:spPr>
          <a:xfrm>
            <a:off x="1524000" y="526732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primary_key:</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yes</a:t>
            </a:r>
            <a:endParaRPr lang="en-US" sz="1350" dirty="0"/>
          </a:p>
        </p:txBody>
      </p:sp>
      <p:sp>
        <p:nvSpPr>
          <p:cNvPr id="17" name="Text 15"/>
          <p:cNvSpPr/>
          <p:nvPr/>
        </p:nvSpPr>
        <p:spPr>
          <a:xfrm>
            <a:off x="1524000" y="554156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18" name="Text 16"/>
          <p:cNvSpPr/>
          <p:nvPr/>
        </p:nvSpPr>
        <p:spPr>
          <a:xfrm>
            <a:off x="1524000" y="581580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9" name="Text 17"/>
          <p:cNvSpPr/>
          <p:nvPr/>
        </p:nvSpPr>
        <p:spPr>
          <a:xfrm>
            <a:off x="1524000" y="609004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0" name="Text 18"/>
          <p:cNvSpPr/>
          <p:nvPr/>
        </p:nvSpPr>
        <p:spPr>
          <a:xfrm>
            <a:off x="1524000" y="636428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user_id {</a:t>
            </a:r>
            <a:endParaRPr lang="en-US" sz="1350" dirty="0"/>
          </a:p>
        </p:txBody>
      </p:sp>
      <p:sp>
        <p:nvSpPr>
          <p:cNvPr id="21" name="Text 19"/>
          <p:cNvSpPr/>
          <p:nvPr/>
        </p:nvSpPr>
        <p:spPr>
          <a:xfrm>
            <a:off x="1524000" y="663852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22" name="Text 20"/>
          <p:cNvSpPr/>
          <p:nvPr/>
        </p:nvSpPr>
        <p:spPr>
          <a:xfrm>
            <a:off x="1524000" y="691276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${TABLE}.user_id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3" name="Text 21"/>
          <p:cNvSpPr/>
          <p:nvPr/>
        </p:nvSpPr>
        <p:spPr>
          <a:xfrm>
            <a:off x="1524000" y="718701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4" name="Text 22"/>
          <p:cNvSpPr/>
          <p:nvPr/>
        </p:nvSpPr>
        <p:spPr>
          <a:xfrm>
            <a:off x="1524000" y="746125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status {</a:t>
            </a:r>
            <a:endParaRPr lang="en-US" sz="1350" dirty="0"/>
          </a:p>
        </p:txBody>
      </p:sp>
      <p:sp>
        <p:nvSpPr>
          <p:cNvPr id="25" name="Text 23"/>
          <p:cNvSpPr/>
          <p:nvPr/>
        </p:nvSpPr>
        <p:spPr>
          <a:xfrm>
            <a:off x="1524000" y="773549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string</a:t>
            </a:r>
            <a:endParaRPr lang="en-US" sz="1350" dirty="0"/>
          </a:p>
        </p:txBody>
      </p:sp>
      <p:sp>
        <p:nvSpPr>
          <p:cNvPr id="26" name="Text 24"/>
          <p:cNvSpPr/>
          <p:nvPr/>
        </p:nvSpPr>
        <p:spPr>
          <a:xfrm>
            <a:off x="1524000" y="800973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${TABLE}.status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7" name="Text 25"/>
          <p:cNvSpPr/>
          <p:nvPr/>
        </p:nvSpPr>
        <p:spPr>
          <a:xfrm>
            <a:off x="1524000" y="828397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8" name="Text 26"/>
          <p:cNvSpPr/>
          <p:nvPr/>
        </p:nvSpPr>
        <p:spPr>
          <a:xfrm>
            <a:off x="1524000" y="855821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count {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count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9" name="Text 27"/>
          <p:cNvSpPr/>
          <p:nvPr/>
        </p:nvSpPr>
        <p:spPr>
          <a:xfrm>
            <a:off x="1524000" y="883245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total_revenue {</a:t>
            </a:r>
            <a:endParaRPr lang="en-US" sz="1350" dirty="0"/>
          </a:p>
        </p:txBody>
      </p:sp>
      <p:sp>
        <p:nvSpPr>
          <p:cNvPr id="30" name="Text 28"/>
          <p:cNvSpPr/>
          <p:nvPr/>
        </p:nvSpPr>
        <p:spPr>
          <a:xfrm>
            <a:off x="1524000" y="910669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sum</a:t>
            </a:r>
            <a:endParaRPr lang="en-US" sz="1350" dirty="0"/>
          </a:p>
        </p:txBody>
      </p:sp>
      <p:sp>
        <p:nvSpPr>
          <p:cNvPr id="31" name="Text 29"/>
          <p:cNvSpPr/>
          <p:nvPr/>
        </p:nvSpPr>
        <p:spPr>
          <a:xfrm>
            <a:off x="1524000" y="938093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32" name="Text 30"/>
          <p:cNvSpPr/>
          <p:nvPr/>
        </p:nvSpPr>
        <p:spPr>
          <a:xfrm>
            <a:off x="1524000" y="965517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33" name="Text 31"/>
          <p:cNvSpPr/>
          <p:nvPr/>
        </p:nvSpPr>
        <p:spPr>
          <a:xfrm>
            <a:off x="1524000" y="992941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34" name="Shape 32"/>
          <p:cNvSpPr/>
          <p:nvPr/>
        </p:nvSpPr>
        <p:spPr>
          <a:xfrm>
            <a:off x="9372600" y="3808413"/>
            <a:ext cx="7696200" cy="6661944"/>
          </a:xfrm>
          <a:prstGeom prst="roundRect">
            <a:avLst>
              <a:gd name="adj" fmla="val 2002"/>
            </a:avLst>
          </a:prstGeom>
          <a:solidFill>
            <a:srgbClr val="1B1F2A"/>
          </a:solidFill>
          <a:ln/>
        </p:spPr>
      </p:sp>
      <p:sp>
        <p:nvSpPr>
          <p:cNvPr id="35" name="Shape 33"/>
          <p:cNvSpPr/>
          <p:nvPr/>
        </p:nvSpPr>
        <p:spPr>
          <a:xfrm>
            <a:off x="9372600" y="3808413"/>
            <a:ext cx="7696200" cy="464741"/>
          </a:xfrm>
          <a:prstGeom prst="roundRect">
            <a:avLst>
              <a:gd name="adj" fmla="val 28693"/>
            </a:avLst>
          </a:prstGeom>
          <a:solidFill>
            <a:srgbClr val="0E1118"/>
          </a:solidFill>
          <a:ln/>
        </p:spPr>
      </p:sp>
      <p:sp>
        <p:nvSpPr>
          <p:cNvPr id="36" name="Text 34"/>
          <p:cNvSpPr/>
          <p:nvPr/>
        </p:nvSpPr>
        <p:spPr>
          <a:xfrm>
            <a:off x="9601200" y="3941763"/>
            <a:ext cx="2550319"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MODELS/ECOMMERCE.MODEL.LKML</a:t>
            </a:r>
            <a:endParaRPr lang="en-US" sz="975" dirty="0"/>
          </a:p>
        </p:txBody>
      </p:sp>
      <p:sp>
        <p:nvSpPr>
          <p:cNvPr id="37" name="Text 35"/>
          <p:cNvSpPr/>
          <p:nvPr/>
        </p:nvSpPr>
        <p:spPr>
          <a:xfrm>
            <a:off x="16382008" y="3941763"/>
            <a:ext cx="534392"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MODEL</a:t>
            </a:r>
            <a:endParaRPr lang="en-US" sz="975" dirty="0"/>
          </a:p>
        </p:txBody>
      </p:sp>
      <p:sp>
        <p:nvSpPr>
          <p:cNvPr id="38" name="Text 36"/>
          <p:cNvSpPr/>
          <p:nvPr/>
        </p:nvSpPr>
        <p:spPr>
          <a:xfrm>
            <a:off x="9677400" y="444460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connection: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"bq_prod"</a:t>
            </a:r>
            <a:endParaRPr lang="en-US" sz="1350" dirty="0"/>
          </a:p>
        </p:txBody>
      </p:sp>
      <p:sp>
        <p:nvSpPr>
          <p:cNvPr id="39" name="Text 37"/>
          <p:cNvSpPr/>
          <p:nvPr/>
        </p:nvSpPr>
        <p:spPr>
          <a:xfrm>
            <a:off x="9677400" y="471884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include: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"/views/*.view.lkml"</a:t>
            </a:r>
            <a:endParaRPr lang="en-US" sz="1350" dirty="0"/>
          </a:p>
        </p:txBody>
      </p:sp>
      <p:sp>
        <p:nvSpPr>
          <p:cNvPr id="40" name="Text 38"/>
          <p:cNvSpPr/>
          <p:nvPr/>
        </p:nvSpPr>
        <p:spPr>
          <a:xfrm>
            <a:off x="9677400" y="499308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explore: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orders {</a:t>
            </a:r>
            <a:endParaRPr lang="en-US" sz="1350" dirty="0"/>
          </a:p>
        </p:txBody>
      </p:sp>
      <p:sp>
        <p:nvSpPr>
          <p:cNvPr id="41" name="Text 39"/>
          <p:cNvSpPr/>
          <p:nvPr/>
        </p:nvSpPr>
        <p:spPr>
          <a:xfrm>
            <a:off x="9677400" y="526732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label: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"Order Analytics"</a:t>
            </a:r>
            <a:endParaRPr lang="en-US" sz="1350" dirty="0"/>
          </a:p>
        </p:txBody>
      </p:sp>
      <p:sp>
        <p:nvSpPr>
          <p:cNvPr id="42" name="Text 40"/>
          <p:cNvSpPr/>
          <p:nvPr/>
        </p:nvSpPr>
        <p:spPr>
          <a:xfrm>
            <a:off x="9677400" y="554156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description: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"Revenue, AOV, orders by …"</a:t>
            </a:r>
            <a:endParaRPr lang="en-US" sz="1350" dirty="0"/>
          </a:p>
        </p:txBody>
      </p:sp>
      <p:sp>
        <p:nvSpPr>
          <p:cNvPr id="43" name="Text 41"/>
          <p:cNvSpPr/>
          <p:nvPr/>
        </p:nvSpPr>
        <p:spPr>
          <a:xfrm>
            <a:off x="9677400" y="581580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join: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users {</a:t>
            </a:r>
            <a:endParaRPr lang="en-US" sz="1350" dirty="0"/>
          </a:p>
        </p:txBody>
      </p:sp>
      <p:sp>
        <p:nvSpPr>
          <p:cNvPr id="44" name="Text 42"/>
          <p:cNvSpPr/>
          <p:nvPr/>
        </p:nvSpPr>
        <p:spPr>
          <a:xfrm>
            <a:off x="9677400" y="609004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left_outer</a:t>
            </a:r>
            <a:endParaRPr lang="en-US" sz="1350" dirty="0"/>
          </a:p>
        </p:txBody>
      </p:sp>
      <p:sp>
        <p:nvSpPr>
          <p:cNvPr id="45" name="Text 43"/>
          <p:cNvSpPr/>
          <p:nvPr/>
        </p:nvSpPr>
        <p:spPr>
          <a:xfrm>
            <a:off x="9677400" y="636428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relationship: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many_to_one</a:t>
            </a:r>
            <a:endParaRPr lang="en-US" sz="1350" dirty="0"/>
          </a:p>
        </p:txBody>
      </p:sp>
      <p:sp>
        <p:nvSpPr>
          <p:cNvPr id="46" name="Text 44"/>
          <p:cNvSpPr/>
          <p:nvPr/>
        </p:nvSpPr>
        <p:spPr>
          <a:xfrm>
            <a:off x="9677400" y="663852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${orders.user_id} = ${users.id}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47" name="Text 45"/>
          <p:cNvSpPr/>
          <p:nvPr/>
        </p:nvSpPr>
        <p:spPr>
          <a:xfrm>
            <a:off x="9677400" y="691276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48" name="Text 46"/>
          <p:cNvSpPr/>
          <p:nvPr/>
        </p:nvSpPr>
        <p:spPr>
          <a:xfrm>
            <a:off x="9677400" y="718701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join: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order_items {</a:t>
            </a:r>
            <a:endParaRPr lang="en-US" sz="1350" dirty="0"/>
          </a:p>
        </p:txBody>
      </p:sp>
      <p:sp>
        <p:nvSpPr>
          <p:cNvPr id="49" name="Text 47"/>
          <p:cNvSpPr/>
          <p:nvPr/>
        </p:nvSpPr>
        <p:spPr>
          <a:xfrm>
            <a:off x="9677400" y="746125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left_outer</a:t>
            </a:r>
            <a:endParaRPr lang="en-US" sz="1350" dirty="0"/>
          </a:p>
        </p:txBody>
      </p:sp>
      <p:sp>
        <p:nvSpPr>
          <p:cNvPr id="50" name="Text 48"/>
          <p:cNvSpPr/>
          <p:nvPr/>
        </p:nvSpPr>
        <p:spPr>
          <a:xfrm>
            <a:off x="9677400" y="773549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relationship: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one_to_many</a:t>
            </a:r>
            <a:endParaRPr lang="en-US" sz="1350" dirty="0"/>
          </a:p>
        </p:txBody>
      </p:sp>
      <p:sp>
        <p:nvSpPr>
          <p:cNvPr id="51" name="Text 49"/>
          <p:cNvSpPr/>
          <p:nvPr/>
        </p:nvSpPr>
        <p:spPr>
          <a:xfrm>
            <a:off x="9677400" y="800973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${orders.id} = ${order_items.order_id}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52" name="Text 50"/>
          <p:cNvSpPr/>
          <p:nvPr/>
        </p:nvSpPr>
        <p:spPr>
          <a:xfrm>
            <a:off x="9677400" y="828397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53" name="Text 51"/>
          <p:cNvSpPr/>
          <p:nvPr/>
        </p:nvSpPr>
        <p:spPr>
          <a:xfrm>
            <a:off x="9677400" y="855821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54" name="Text 52"/>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55" name="Text 5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42 / 60</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DIMENSIONS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Dimensions describe a single row.</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dimension is an attribute of a record — a customer's country, an order's status, a product's price. Dimensions appear in GROUP BY when used in queries.</a:t>
            </a:r>
            <a:endParaRPr lang="en-US" sz="1650" dirty="0"/>
          </a:p>
        </p:txBody>
      </p:sp>
      <p:sp>
        <p:nvSpPr>
          <p:cNvPr id="9" name="Shape 7"/>
          <p:cNvSpPr/>
          <p:nvPr/>
        </p:nvSpPr>
        <p:spPr>
          <a:xfrm>
            <a:off x="1219200" y="4267696"/>
            <a:ext cx="7696200" cy="6387703"/>
          </a:xfrm>
          <a:prstGeom prst="roundRect">
            <a:avLst>
              <a:gd name="adj" fmla="val 2088"/>
            </a:avLst>
          </a:prstGeom>
          <a:solidFill>
            <a:srgbClr val="1B1F2A"/>
          </a:solidFill>
          <a:ln/>
        </p:spPr>
      </p:sp>
      <p:sp>
        <p:nvSpPr>
          <p:cNvPr id="10" name="Shape 8"/>
          <p:cNvSpPr/>
          <p:nvPr/>
        </p:nvSpPr>
        <p:spPr>
          <a:xfrm>
            <a:off x="1219200" y="4267696"/>
            <a:ext cx="7696200" cy="464741"/>
          </a:xfrm>
          <a:prstGeom prst="roundRect">
            <a:avLst>
              <a:gd name="adj" fmla="val 28693"/>
            </a:avLst>
          </a:prstGeom>
          <a:solidFill>
            <a:srgbClr val="0E1118"/>
          </a:solidFill>
          <a:ln/>
        </p:spPr>
      </p:sp>
      <p:sp>
        <p:nvSpPr>
          <p:cNvPr id="11" name="Text 9"/>
          <p:cNvSpPr/>
          <p:nvPr/>
        </p:nvSpPr>
        <p:spPr>
          <a:xfrm>
            <a:off x="1447800" y="4401046"/>
            <a:ext cx="2925852"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THREE COMMON DIMENSION PATTERNS</a:t>
            </a:r>
            <a:endParaRPr lang="en-US" sz="975" dirty="0"/>
          </a:p>
        </p:txBody>
      </p:sp>
      <p:sp>
        <p:nvSpPr>
          <p:cNvPr id="12" name="Text 10"/>
          <p:cNvSpPr/>
          <p:nvPr/>
        </p:nvSpPr>
        <p:spPr>
          <a:xfrm>
            <a:off x="8136930" y="4401046"/>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LOOKML</a:t>
            </a:r>
            <a:endParaRPr lang="en-US" sz="975" dirty="0"/>
          </a:p>
        </p:txBody>
      </p:sp>
      <p:sp>
        <p:nvSpPr>
          <p:cNvPr id="13" name="Text 11"/>
          <p:cNvSpPr/>
          <p:nvPr/>
        </p:nvSpPr>
        <p:spPr>
          <a:xfrm>
            <a:off x="1524000" y="490388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1. Plain column passthrough</a:t>
            </a:r>
            <a:endParaRPr lang="en-US" sz="1350" dirty="0"/>
          </a:p>
        </p:txBody>
      </p:sp>
      <p:sp>
        <p:nvSpPr>
          <p:cNvPr id="14" name="Text 12"/>
          <p:cNvSpPr/>
          <p:nvPr/>
        </p:nvSpPr>
        <p:spPr>
          <a:xfrm>
            <a:off x="1524000" y="517812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country {</a:t>
            </a:r>
            <a:endParaRPr lang="en-US" sz="1350" dirty="0"/>
          </a:p>
        </p:txBody>
      </p:sp>
      <p:sp>
        <p:nvSpPr>
          <p:cNvPr id="15" name="Text 13"/>
          <p:cNvSpPr/>
          <p:nvPr/>
        </p:nvSpPr>
        <p:spPr>
          <a:xfrm>
            <a:off x="1524000" y="545236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string</a:t>
            </a:r>
            <a:endParaRPr lang="en-US" sz="1350" dirty="0"/>
          </a:p>
        </p:txBody>
      </p:sp>
      <p:sp>
        <p:nvSpPr>
          <p:cNvPr id="16" name="Text 14"/>
          <p:cNvSpPr/>
          <p:nvPr/>
        </p:nvSpPr>
        <p:spPr>
          <a:xfrm>
            <a:off x="1524000" y="572660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${TABLE}.country</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7" name="Text 15"/>
          <p:cNvSpPr/>
          <p:nvPr/>
        </p:nvSpPr>
        <p:spPr>
          <a:xfrm>
            <a:off x="1524000" y="600084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18" name="Text 16"/>
          <p:cNvSpPr/>
          <p:nvPr/>
        </p:nvSpPr>
        <p:spPr>
          <a:xfrm>
            <a:off x="1524000" y="627509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2. Computed dimension (CASE)</a:t>
            </a:r>
            <a:endParaRPr lang="en-US" sz="1350" dirty="0"/>
          </a:p>
        </p:txBody>
      </p:sp>
      <p:sp>
        <p:nvSpPr>
          <p:cNvPr id="19" name="Shape 17"/>
          <p:cNvSpPr/>
          <p:nvPr/>
        </p:nvSpPr>
        <p:spPr>
          <a:xfrm>
            <a:off x="1466850" y="6549330"/>
            <a:ext cx="7200900" cy="274241"/>
          </a:xfrm>
          <a:prstGeom prst="rect">
            <a:avLst/>
          </a:prstGeom>
          <a:solidFill>
            <a:srgbClr val="FF671F">
              <a:alpha val="15000"/>
            </a:srgbClr>
          </a:solidFill>
          <a:ln/>
        </p:spPr>
      </p:sp>
      <p:sp>
        <p:nvSpPr>
          <p:cNvPr id="20" name="Shape 18"/>
          <p:cNvSpPr/>
          <p:nvPr/>
        </p:nvSpPr>
        <p:spPr>
          <a:xfrm>
            <a:off x="1466850" y="6549330"/>
            <a:ext cx="25400" cy="274241"/>
          </a:xfrm>
          <a:prstGeom prst="rect">
            <a:avLst/>
          </a:prstGeom>
          <a:solidFill>
            <a:srgbClr val="FF671F"/>
          </a:solidFill>
          <a:ln/>
        </p:spPr>
      </p:sp>
      <p:sp>
        <p:nvSpPr>
          <p:cNvPr id="21" name="Text 19"/>
          <p:cNvSpPr/>
          <p:nvPr/>
        </p:nvSpPr>
        <p:spPr>
          <a:xfrm>
            <a:off x="1577975" y="6549330"/>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price_band {</a:t>
            </a:r>
            <a:endParaRPr lang="en-US" sz="1350" dirty="0"/>
          </a:p>
        </p:txBody>
      </p:sp>
      <p:sp>
        <p:nvSpPr>
          <p:cNvPr id="22" name="Shape 20"/>
          <p:cNvSpPr/>
          <p:nvPr/>
        </p:nvSpPr>
        <p:spPr>
          <a:xfrm>
            <a:off x="1466850" y="6823571"/>
            <a:ext cx="7200900" cy="274241"/>
          </a:xfrm>
          <a:prstGeom prst="rect">
            <a:avLst/>
          </a:prstGeom>
          <a:solidFill>
            <a:srgbClr val="FF671F">
              <a:alpha val="15000"/>
            </a:srgbClr>
          </a:solidFill>
          <a:ln/>
        </p:spPr>
      </p:sp>
      <p:sp>
        <p:nvSpPr>
          <p:cNvPr id="23" name="Shape 21"/>
          <p:cNvSpPr/>
          <p:nvPr/>
        </p:nvSpPr>
        <p:spPr>
          <a:xfrm>
            <a:off x="1466850" y="6823571"/>
            <a:ext cx="25400" cy="274241"/>
          </a:xfrm>
          <a:prstGeom prst="rect">
            <a:avLst/>
          </a:prstGeom>
          <a:solidFill>
            <a:srgbClr val="FF671F"/>
          </a:solidFill>
          <a:ln/>
        </p:spPr>
      </p:sp>
      <p:sp>
        <p:nvSpPr>
          <p:cNvPr id="24" name="Text 22"/>
          <p:cNvSpPr/>
          <p:nvPr/>
        </p:nvSpPr>
        <p:spPr>
          <a:xfrm>
            <a:off x="1577975" y="6823571"/>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string</a:t>
            </a:r>
            <a:endParaRPr lang="en-US" sz="1350" dirty="0"/>
          </a:p>
        </p:txBody>
      </p:sp>
      <p:sp>
        <p:nvSpPr>
          <p:cNvPr id="25" name="Shape 23"/>
          <p:cNvSpPr/>
          <p:nvPr/>
        </p:nvSpPr>
        <p:spPr>
          <a:xfrm>
            <a:off x="1466850" y="7097812"/>
            <a:ext cx="7200900" cy="274241"/>
          </a:xfrm>
          <a:prstGeom prst="rect">
            <a:avLst/>
          </a:prstGeom>
          <a:solidFill>
            <a:srgbClr val="FF671F">
              <a:alpha val="15000"/>
            </a:srgbClr>
          </a:solidFill>
          <a:ln/>
        </p:spPr>
      </p:sp>
      <p:sp>
        <p:nvSpPr>
          <p:cNvPr id="26" name="Shape 24"/>
          <p:cNvSpPr/>
          <p:nvPr/>
        </p:nvSpPr>
        <p:spPr>
          <a:xfrm>
            <a:off x="1466850" y="7097812"/>
            <a:ext cx="25400" cy="274241"/>
          </a:xfrm>
          <a:prstGeom prst="rect">
            <a:avLst/>
          </a:prstGeom>
          <a:solidFill>
            <a:srgbClr val="FF671F"/>
          </a:solidFill>
          <a:ln/>
        </p:spPr>
      </p:sp>
      <p:sp>
        <p:nvSpPr>
          <p:cNvPr id="27" name="Text 25"/>
          <p:cNvSpPr/>
          <p:nvPr/>
        </p:nvSpPr>
        <p:spPr>
          <a:xfrm>
            <a:off x="1577975" y="7097812"/>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CASE</a:t>
            </a:r>
            <a:endParaRPr lang="en-US" sz="1350" dirty="0"/>
          </a:p>
        </p:txBody>
      </p:sp>
      <p:sp>
        <p:nvSpPr>
          <p:cNvPr id="28" name="Shape 26"/>
          <p:cNvSpPr/>
          <p:nvPr/>
        </p:nvSpPr>
        <p:spPr>
          <a:xfrm>
            <a:off x="1466850" y="7372052"/>
            <a:ext cx="7200900" cy="274241"/>
          </a:xfrm>
          <a:prstGeom prst="rect">
            <a:avLst/>
          </a:prstGeom>
          <a:solidFill>
            <a:srgbClr val="FF671F">
              <a:alpha val="15000"/>
            </a:srgbClr>
          </a:solidFill>
          <a:ln/>
        </p:spPr>
      </p:sp>
      <p:sp>
        <p:nvSpPr>
          <p:cNvPr id="29" name="Shape 27"/>
          <p:cNvSpPr/>
          <p:nvPr/>
        </p:nvSpPr>
        <p:spPr>
          <a:xfrm>
            <a:off x="1466850" y="7372052"/>
            <a:ext cx="25400" cy="274241"/>
          </a:xfrm>
          <a:prstGeom prst="rect">
            <a:avLst/>
          </a:prstGeom>
          <a:solidFill>
            <a:srgbClr val="FF671F"/>
          </a:solidFill>
          <a:ln/>
        </p:spPr>
      </p:sp>
      <p:sp>
        <p:nvSpPr>
          <p:cNvPr id="30" name="Text 28"/>
          <p:cNvSpPr/>
          <p:nvPr/>
        </p:nvSpPr>
        <p:spPr>
          <a:xfrm>
            <a:off x="1577975" y="7372052"/>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WHEN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${TABLE}.price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&lt;</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FFD493"/>
                </a:solidFill>
                <a:latin typeface="JetBrains Mono" pitchFamily="34" charset="0"/>
                <a:ea typeface="JetBrains Mono" pitchFamily="34" charset="-122"/>
                <a:cs typeface="JetBrains Mono" pitchFamily="34" charset="-120"/>
              </a:rPr>
              <a:t>20</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THEN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'Budget'</a:t>
            </a:r>
            <a:endParaRPr lang="en-US" sz="1350" dirty="0"/>
          </a:p>
        </p:txBody>
      </p:sp>
      <p:sp>
        <p:nvSpPr>
          <p:cNvPr id="31" name="Shape 29"/>
          <p:cNvSpPr/>
          <p:nvPr/>
        </p:nvSpPr>
        <p:spPr>
          <a:xfrm>
            <a:off x="1466850" y="7646293"/>
            <a:ext cx="7200900" cy="274241"/>
          </a:xfrm>
          <a:prstGeom prst="rect">
            <a:avLst/>
          </a:prstGeom>
          <a:solidFill>
            <a:srgbClr val="FF671F">
              <a:alpha val="15000"/>
            </a:srgbClr>
          </a:solidFill>
          <a:ln/>
        </p:spPr>
      </p:sp>
      <p:sp>
        <p:nvSpPr>
          <p:cNvPr id="32" name="Shape 30"/>
          <p:cNvSpPr/>
          <p:nvPr/>
        </p:nvSpPr>
        <p:spPr>
          <a:xfrm>
            <a:off x="1466850" y="7646293"/>
            <a:ext cx="25400" cy="274241"/>
          </a:xfrm>
          <a:prstGeom prst="rect">
            <a:avLst/>
          </a:prstGeom>
          <a:solidFill>
            <a:srgbClr val="FF671F"/>
          </a:solidFill>
          <a:ln/>
        </p:spPr>
      </p:sp>
      <p:sp>
        <p:nvSpPr>
          <p:cNvPr id="33" name="Text 31"/>
          <p:cNvSpPr/>
          <p:nvPr/>
        </p:nvSpPr>
        <p:spPr>
          <a:xfrm>
            <a:off x="1577975" y="7646293"/>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WHEN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${TABLE}.price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&lt;</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FFD493"/>
                </a:solidFill>
                <a:latin typeface="JetBrains Mono" pitchFamily="34" charset="0"/>
                <a:ea typeface="JetBrains Mono" pitchFamily="34" charset="-122"/>
                <a:cs typeface="JetBrains Mono" pitchFamily="34" charset="-120"/>
              </a:rPr>
              <a:t>80</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THEN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'Mid'</a:t>
            </a:r>
            <a:endParaRPr lang="en-US" sz="1350" dirty="0"/>
          </a:p>
        </p:txBody>
      </p:sp>
      <p:sp>
        <p:nvSpPr>
          <p:cNvPr id="34" name="Shape 32"/>
          <p:cNvSpPr/>
          <p:nvPr/>
        </p:nvSpPr>
        <p:spPr>
          <a:xfrm>
            <a:off x="1466850" y="7920534"/>
            <a:ext cx="7200900" cy="274241"/>
          </a:xfrm>
          <a:prstGeom prst="rect">
            <a:avLst/>
          </a:prstGeom>
          <a:solidFill>
            <a:srgbClr val="FF671F">
              <a:alpha val="15000"/>
            </a:srgbClr>
          </a:solidFill>
          <a:ln/>
        </p:spPr>
      </p:sp>
      <p:sp>
        <p:nvSpPr>
          <p:cNvPr id="35" name="Shape 33"/>
          <p:cNvSpPr/>
          <p:nvPr/>
        </p:nvSpPr>
        <p:spPr>
          <a:xfrm>
            <a:off x="1466850" y="7920534"/>
            <a:ext cx="25400" cy="274241"/>
          </a:xfrm>
          <a:prstGeom prst="rect">
            <a:avLst/>
          </a:prstGeom>
          <a:solidFill>
            <a:srgbClr val="FF671F"/>
          </a:solidFill>
          <a:ln/>
        </p:spPr>
      </p:sp>
      <p:sp>
        <p:nvSpPr>
          <p:cNvPr id="36" name="Text 34"/>
          <p:cNvSpPr/>
          <p:nvPr/>
        </p:nvSpPr>
        <p:spPr>
          <a:xfrm>
            <a:off x="1577975" y="792053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ELSE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'Premium'</a:t>
            </a:r>
            <a:endParaRPr lang="en-US" sz="1350" dirty="0"/>
          </a:p>
        </p:txBody>
      </p:sp>
      <p:sp>
        <p:nvSpPr>
          <p:cNvPr id="37" name="Shape 35"/>
          <p:cNvSpPr/>
          <p:nvPr/>
        </p:nvSpPr>
        <p:spPr>
          <a:xfrm>
            <a:off x="1466850" y="8194774"/>
            <a:ext cx="7200900" cy="274241"/>
          </a:xfrm>
          <a:prstGeom prst="rect">
            <a:avLst/>
          </a:prstGeom>
          <a:solidFill>
            <a:srgbClr val="FF671F">
              <a:alpha val="15000"/>
            </a:srgbClr>
          </a:solidFill>
          <a:ln/>
        </p:spPr>
      </p:sp>
      <p:sp>
        <p:nvSpPr>
          <p:cNvPr id="38" name="Shape 36"/>
          <p:cNvSpPr/>
          <p:nvPr/>
        </p:nvSpPr>
        <p:spPr>
          <a:xfrm>
            <a:off x="1466850" y="8194774"/>
            <a:ext cx="25400" cy="274241"/>
          </a:xfrm>
          <a:prstGeom prst="rect">
            <a:avLst/>
          </a:prstGeom>
          <a:solidFill>
            <a:srgbClr val="FF671F"/>
          </a:solidFill>
          <a:ln/>
        </p:spPr>
      </p:sp>
      <p:sp>
        <p:nvSpPr>
          <p:cNvPr id="39" name="Text 37"/>
          <p:cNvSpPr/>
          <p:nvPr/>
        </p:nvSpPr>
        <p:spPr>
          <a:xfrm>
            <a:off x="1577975" y="819477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END</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endParaRPr lang="en-US" sz="1350" dirty="0"/>
          </a:p>
        </p:txBody>
      </p:sp>
      <p:sp>
        <p:nvSpPr>
          <p:cNvPr id="40" name="Shape 38"/>
          <p:cNvSpPr/>
          <p:nvPr/>
        </p:nvSpPr>
        <p:spPr>
          <a:xfrm>
            <a:off x="1466850" y="8469015"/>
            <a:ext cx="7200900" cy="274241"/>
          </a:xfrm>
          <a:prstGeom prst="rect">
            <a:avLst/>
          </a:prstGeom>
          <a:solidFill>
            <a:srgbClr val="FF671F">
              <a:alpha val="15000"/>
            </a:srgbClr>
          </a:solidFill>
          <a:ln/>
        </p:spPr>
      </p:sp>
      <p:sp>
        <p:nvSpPr>
          <p:cNvPr id="41" name="Shape 39"/>
          <p:cNvSpPr/>
          <p:nvPr/>
        </p:nvSpPr>
        <p:spPr>
          <a:xfrm>
            <a:off x="1466850" y="8469015"/>
            <a:ext cx="25400" cy="274241"/>
          </a:xfrm>
          <a:prstGeom prst="rect">
            <a:avLst/>
          </a:prstGeom>
          <a:solidFill>
            <a:srgbClr val="FF671F"/>
          </a:solidFill>
          <a:ln/>
        </p:spPr>
      </p:sp>
      <p:sp>
        <p:nvSpPr>
          <p:cNvPr id="42" name="Text 40"/>
          <p:cNvSpPr/>
          <p:nvPr/>
        </p:nvSpPr>
        <p:spPr>
          <a:xfrm>
            <a:off x="1577975" y="8469015"/>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3" name="Text 41"/>
          <p:cNvSpPr/>
          <p:nvPr/>
        </p:nvSpPr>
        <p:spPr>
          <a:xfrm>
            <a:off x="1524000" y="874325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3. Time dimension group</a:t>
            </a:r>
            <a:endParaRPr lang="en-US" sz="1350" dirty="0"/>
          </a:p>
        </p:txBody>
      </p:sp>
      <p:sp>
        <p:nvSpPr>
          <p:cNvPr id="44" name="Text 42"/>
          <p:cNvSpPr/>
          <p:nvPr/>
        </p:nvSpPr>
        <p:spPr>
          <a:xfrm>
            <a:off x="1524000" y="901749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dimension_group: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created {</a:t>
            </a:r>
            <a:endParaRPr lang="en-US" sz="1350" dirty="0"/>
          </a:p>
        </p:txBody>
      </p:sp>
      <p:sp>
        <p:nvSpPr>
          <p:cNvPr id="45" name="Text 43"/>
          <p:cNvSpPr/>
          <p:nvPr/>
        </p:nvSpPr>
        <p:spPr>
          <a:xfrm>
            <a:off x="1524000" y="929173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time</a:t>
            </a:r>
            <a:endParaRPr lang="en-US" sz="1350" dirty="0"/>
          </a:p>
        </p:txBody>
      </p:sp>
      <p:sp>
        <p:nvSpPr>
          <p:cNvPr id="46" name="Text 44"/>
          <p:cNvSpPr/>
          <p:nvPr/>
        </p:nvSpPr>
        <p:spPr>
          <a:xfrm>
            <a:off x="1524000" y="956597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timeframes: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date,week,month,year</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7" name="Text 45"/>
          <p:cNvSpPr/>
          <p:nvPr/>
        </p:nvSpPr>
        <p:spPr>
          <a:xfrm>
            <a:off x="1524000" y="984021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${TABLE}.created_at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48" name="Text 46"/>
          <p:cNvSpPr/>
          <p:nvPr/>
        </p:nvSpPr>
        <p:spPr>
          <a:xfrm>
            <a:off x="1524000" y="1011445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9" name="Shape 47"/>
          <p:cNvSpPr/>
          <p:nvPr/>
        </p:nvSpPr>
        <p:spPr>
          <a:xfrm>
            <a:off x="9372600" y="4267696"/>
            <a:ext cx="7696200" cy="6013252"/>
          </a:xfrm>
          <a:prstGeom prst="roundRect">
            <a:avLst>
              <a:gd name="adj" fmla="val 2218"/>
            </a:avLst>
          </a:prstGeom>
          <a:solidFill>
            <a:srgbClr val="F1F2F4"/>
          </a:solidFill>
          <a:ln w="6350">
            <a:solidFill>
              <a:srgbClr val="C9CFD8"/>
            </a:solidFill>
            <a:prstDash val="solid"/>
          </a:ln>
        </p:spPr>
      </p:sp>
      <p:sp>
        <p:nvSpPr>
          <p:cNvPr id="50" name="Text 48"/>
          <p:cNvSpPr/>
          <p:nvPr/>
        </p:nvSpPr>
        <p:spPr>
          <a:xfrm>
            <a:off x="9683750" y="457884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PARAMETER CHEAT SHEET</a:t>
            </a:r>
            <a:endParaRPr lang="en-US" sz="900" dirty="0"/>
          </a:p>
        </p:txBody>
      </p:sp>
      <p:sp>
        <p:nvSpPr>
          <p:cNvPr id="51" name="Text 49"/>
          <p:cNvSpPr/>
          <p:nvPr/>
        </p:nvSpPr>
        <p:spPr>
          <a:xfrm>
            <a:off x="9683750" y="4858246"/>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What you'll see in every dimension.</a:t>
            </a:r>
            <a:endParaRPr lang="en-US" sz="1950" dirty="0"/>
          </a:p>
        </p:txBody>
      </p:sp>
      <p:sp>
        <p:nvSpPr>
          <p:cNvPr id="52" name="Shape 50"/>
          <p:cNvSpPr/>
          <p:nvPr/>
        </p:nvSpPr>
        <p:spPr>
          <a:xfrm>
            <a:off x="9683750" y="5791597"/>
            <a:ext cx="7073900" cy="9525"/>
          </a:xfrm>
          <a:prstGeom prst="rect">
            <a:avLst/>
          </a:prstGeom>
          <a:solidFill>
            <a:srgbClr val="C9CFD8"/>
          </a:solidFill>
          <a:ln/>
        </p:spPr>
      </p:sp>
      <p:sp>
        <p:nvSpPr>
          <p:cNvPr id="53" name="Text 51"/>
          <p:cNvSpPr/>
          <p:nvPr/>
        </p:nvSpPr>
        <p:spPr>
          <a:xfrm>
            <a:off x="9683750" y="547320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TYPE</a:t>
            </a:r>
            <a:endParaRPr lang="en-US" sz="975" dirty="0"/>
          </a:p>
        </p:txBody>
      </p:sp>
      <p:sp>
        <p:nvSpPr>
          <p:cNvPr id="54" name="Text 52"/>
          <p:cNvSpPr/>
          <p:nvPr/>
        </p:nvSpPr>
        <p:spPr>
          <a:xfrm>
            <a:off x="11722101" y="5409704"/>
            <a:ext cx="4450708"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string · number · date · yesno · tier · zipcode · location · …</a:t>
            </a:r>
            <a:endParaRPr lang="en-US" sz="1350" dirty="0"/>
          </a:p>
        </p:txBody>
      </p:sp>
      <p:sp>
        <p:nvSpPr>
          <p:cNvPr id="55" name="Shape 53"/>
          <p:cNvSpPr/>
          <p:nvPr/>
        </p:nvSpPr>
        <p:spPr>
          <a:xfrm>
            <a:off x="9683750" y="6695083"/>
            <a:ext cx="7073900" cy="9525"/>
          </a:xfrm>
          <a:prstGeom prst="rect">
            <a:avLst/>
          </a:prstGeom>
          <a:solidFill>
            <a:srgbClr val="C9CFD8"/>
          </a:solidFill>
          <a:ln/>
        </p:spPr>
      </p:sp>
      <p:sp>
        <p:nvSpPr>
          <p:cNvPr id="56" name="Text 54"/>
          <p:cNvSpPr/>
          <p:nvPr/>
        </p:nvSpPr>
        <p:spPr>
          <a:xfrm>
            <a:off x="9683750" y="612814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SQL</a:t>
            </a:r>
            <a:endParaRPr lang="en-US" sz="975" dirty="0"/>
          </a:p>
        </p:txBody>
      </p:sp>
      <p:sp>
        <p:nvSpPr>
          <p:cNvPr id="57" name="Text 55"/>
          <p:cNvSpPr/>
          <p:nvPr/>
        </p:nvSpPr>
        <p:spPr>
          <a:xfrm>
            <a:off x="11722101" y="6064647"/>
            <a:ext cx="5186617" cy="535186"/>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The SQL expression Looker uses for this dimension. Ends with double semicolons.</a:t>
            </a:r>
            <a:endParaRPr lang="en-US" sz="1350" dirty="0"/>
          </a:p>
        </p:txBody>
      </p:sp>
      <p:sp>
        <p:nvSpPr>
          <p:cNvPr id="58" name="Shape 56"/>
          <p:cNvSpPr/>
          <p:nvPr/>
        </p:nvSpPr>
        <p:spPr>
          <a:xfrm>
            <a:off x="9683750" y="7350026"/>
            <a:ext cx="7073900" cy="9525"/>
          </a:xfrm>
          <a:prstGeom prst="rect">
            <a:avLst/>
          </a:prstGeom>
          <a:solidFill>
            <a:srgbClr val="C9CFD8"/>
          </a:solidFill>
          <a:ln/>
        </p:spPr>
      </p:sp>
      <p:sp>
        <p:nvSpPr>
          <p:cNvPr id="59" name="Text 57"/>
          <p:cNvSpPr/>
          <p:nvPr/>
        </p:nvSpPr>
        <p:spPr>
          <a:xfrm>
            <a:off x="9683750" y="7031633"/>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LABEL</a:t>
            </a:r>
            <a:endParaRPr lang="en-US" sz="975" dirty="0"/>
          </a:p>
        </p:txBody>
      </p:sp>
      <p:sp>
        <p:nvSpPr>
          <p:cNvPr id="60" name="Text 58"/>
          <p:cNvSpPr/>
          <p:nvPr/>
        </p:nvSpPr>
        <p:spPr>
          <a:xfrm>
            <a:off x="11722101" y="6968133"/>
            <a:ext cx="309794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Display name shown in the field picker.</a:t>
            </a:r>
            <a:endParaRPr lang="en-US" sz="1350" dirty="0"/>
          </a:p>
        </p:txBody>
      </p:sp>
      <p:sp>
        <p:nvSpPr>
          <p:cNvPr id="61" name="Shape 59"/>
          <p:cNvSpPr/>
          <p:nvPr/>
        </p:nvSpPr>
        <p:spPr>
          <a:xfrm>
            <a:off x="9683750" y="8004969"/>
            <a:ext cx="7073900" cy="9525"/>
          </a:xfrm>
          <a:prstGeom prst="rect">
            <a:avLst/>
          </a:prstGeom>
          <a:solidFill>
            <a:srgbClr val="C9CFD8"/>
          </a:solidFill>
          <a:ln/>
        </p:spPr>
      </p:sp>
      <p:sp>
        <p:nvSpPr>
          <p:cNvPr id="62" name="Text 60"/>
          <p:cNvSpPr/>
          <p:nvPr/>
        </p:nvSpPr>
        <p:spPr>
          <a:xfrm>
            <a:off x="9683750" y="7686576"/>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DESCRIPTION</a:t>
            </a:r>
            <a:endParaRPr lang="en-US" sz="975" dirty="0"/>
          </a:p>
        </p:txBody>
      </p:sp>
      <p:sp>
        <p:nvSpPr>
          <p:cNvPr id="63" name="Text 61"/>
          <p:cNvSpPr/>
          <p:nvPr/>
        </p:nvSpPr>
        <p:spPr>
          <a:xfrm>
            <a:off x="11722101" y="7623076"/>
            <a:ext cx="3552514"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Hover text for analysts. Use this generously.</a:t>
            </a:r>
            <a:endParaRPr lang="en-US" sz="1350" dirty="0"/>
          </a:p>
        </p:txBody>
      </p:sp>
      <p:sp>
        <p:nvSpPr>
          <p:cNvPr id="64" name="Shape 62"/>
          <p:cNvSpPr/>
          <p:nvPr/>
        </p:nvSpPr>
        <p:spPr>
          <a:xfrm>
            <a:off x="9683750" y="8659912"/>
            <a:ext cx="7073900" cy="9525"/>
          </a:xfrm>
          <a:prstGeom prst="rect">
            <a:avLst/>
          </a:prstGeom>
          <a:solidFill>
            <a:srgbClr val="C9CFD8"/>
          </a:solidFill>
          <a:ln/>
        </p:spPr>
      </p:sp>
      <p:sp>
        <p:nvSpPr>
          <p:cNvPr id="65" name="Text 63"/>
          <p:cNvSpPr/>
          <p:nvPr/>
        </p:nvSpPr>
        <p:spPr>
          <a:xfrm>
            <a:off x="9683750" y="8341519"/>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HIDDEN</a:t>
            </a:r>
            <a:endParaRPr lang="en-US" sz="975" dirty="0"/>
          </a:p>
        </p:txBody>
      </p:sp>
      <p:sp>
        <p:nvSpPr>
          <p:cNvPr id="66" name="Text 64"/>
          <p:cNvSpPr/>
          <p:nvPr/>
        </p:nvSpPr>
        <p:spPr>
          <a:xfrm>
            <a:off x="11722101" y="8278019"/>
            <a:ext cx="3442347"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Hide from the field picker without deleting.</a:t>
            </a:r>
            <a:endParaRPr lang="en-US" sz="1350" dirty="0"/>
          </a:p>
        </p:txBody>
      </p:sp>
      <p:sp>
        <p:nvSpPr>
          <p:cNvPr id="67" name="Shape 65"/>
          <p:cNvSpPr/>
          <p:nvPr/>
        </p:nvSpPr>
        <p:spPr>
          <a:xfrm>
            <a:off x="9683750" y="9314855"/>
            <a:ext cx="7073900" cy="9525"/>
          </a:xfrm>
          <a:prstGeom prst="rect">
            <a:avLst/>
          </a:prstGeom>
          <a:solidFill>
            <a:srgbClr val="C9CFD8"/>
          </a:solidFill>
          <a:ln/>
        </p:spPr>
      </p:sp>
      <p:sp>
        <p:nvSpPr>
          <p:cNvPr id="68" name="Text 66"/>
          <p:cNvSpPr/>
          <p:nvPr/>
        </p:nvSpPr>
        <p:spPr>
          <a:xfrm>
            <a:off x="9683750" y="8996462"/>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PRIMARY_KEY</a:t>
            </a:r>
            <a:endParaRPr lang="en-US" sz="975" dirty="0"/>
          </a:p>
        </p:txBody>
      </p:sp>
      <p:sp>
        <p:nvSpPr>
          <p:cNvPr id="69" name="Text 67"/>
          <p:cNvSpPr/>
          <p:nvPr/>
        </p:nvSpPr>
        <p:spPr>
          <a:xfrm>
            <a:off x="11722101" y="8932962"/>
            <a:ext cx="501543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Marks the row identifier. Required on at least one dim per view.</a:t>
            </a:r>
            <a:endParaRPr lang="en-US" sz="1350" dirty="0"/>
          </a:p>
        </p:txBody>
      </p:sp>
      <p:sp>
        <p:nvSpPr>
          <p:cNvPr id="70" name="Text 68"/>
          <p:cNvSpPr/>
          <p:nvPr/>
        </p:nvSpPr>
        <p:spPr>
          <a:xfrm>
            <a:off x="9683750" y="9651405"/>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VALUE_FORMAT</a:t>
            </a:r>
            <a:endParaRPr lang="en-US" sz="975" dirty="0"/>
          </a:p>
        </p:txBody>
      </p:sp>
      <p:sp>
        <p:nvSpPr>
          <p:cNvPr id="71" name="Text 69"/>
          <p:cNvSpPr/>
          <p:nvPr/>
        </p:nvSpPr>
        <p:spPr>
          <a:xfrm>
            <a:off x="11722101" y="9587905"/>
            <a:ext cx="339002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Excel-style format for numbers and dates.</a:t>
            </a:r>
            <a:endParaRPr lang="en-US" sz="1350" dirty="0"/>
          </a:p>
        </p:txBody>
      </p:sp>
      <p:sp>
        <p:nvSpPr>
          <p:cNvPr id="72" name="Text 70"/>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73" name="Text 71"/>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43 / 60</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MEASURES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Measures aggregate across rows.</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measure is an aggregation — count, sum, average, percentile, ratio. Measures appear in the SELECT clause with a SQL aggregate function and never in GROUP BY.</a:t>
            </a:r>
            <a:endParaRPr lang="en-US" sz="1650" dirty="0"/>
          </a:p>
        </p:txBody>
      </p:sp>
      <p:sp>
        <p:nvSpPr>
          <p:cNvPr id="9" name="Shape 7"/>
          <p:cNvSpPr/>
          <p:nvPr/>
        </p:nvSpPr>
        <p:spPr>
          <a:xfrm>
            <a:off x="1219200" y="4267696"/>
            <a:ext cx="7696200" cy="6864053"/>
          </a:xfrm>
          <a:prstGeom prst="roundRect">
            <a:avLst>
              <a:gd name="adj" fmla="val 1943"/>
            </a:avLst>
          </a:prstGeom>
          <a:solidFill>
            <a:srgbClr val="1B1F2A"/>
          </a:solidFill>
          <a:ln/>
        </p:spPr>
      </p:sp>
      <p:sp>
        <p:nvSpPr>
          <p:cNvPr id="10" name="Shape 8"/>
          <p:cNvSpPr/>
          <p:nvPr/>
        </p:nvSpPr>
        <p:spPr>
          <a:xfrm>
            <a:off x="1219200" y="4267696"/>
            <a:ext cx="7696200" cy="464741"/>
          </a:xfrm>
          <a:prstGeom prst="roundRect">
            <a:avLst>
              <a:gd name="adj" fmla="val 28693"/>
            </a:avLst>
          </a:prstGeom>
          <a:solidFill>
            <a:srgbClr val="0E1118"/>
          </a:solidFill>
          <a:ln/>
        </p:spPr>
      </p:sp>
      <p:sp>
        <p:nvSpPr>
          <p:cNvPr id="11" name="Text 9"/>
          <p:cNvSpPr/>
          <p:nvPr/>
        </p:nvSpPr>
        <p:spPr>
          <a:xfrm>
            <a:off x="1447800" y="4401046"/>
            <a:ext cx="283142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FOUR MEASURE TYPES YOU'LL MEET</a:t>
            </a:r>
            <a:endParaRPr lang="en-US" sz="975" dirty="0"/>
          </a:p>
        </p:txBody>
      </p:sp>
      <p:sp>
        <p:nvSpPr>
          <p:cNvPr id="12" name="Text 10"/>
          <p:cNvSpPr/>
          <p:nvPr/>
        </p:nvSpPr>
        <p:spPr>
          <a:xfrm>
            <a:off x="8136930" y="4401046"/>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LOOKML</a:t>
            </a:r>
            <a:endParaRPr lang="en-US" sz="975" dirty="0"/>
          </a:p>
        </p:txBody>
      </p:sp>
      <p:sp>
        <p:nvSpPr>
          <p:cNvPr id="13" name="Text 11"/>
          <p:cNvSpPr/>
          <p:nvPr/>
        </p:nvSpPr>
        <p:spPr>
          <a:xfrm>
            <a:off x="1524000" y="490388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1. count — uses primary key</a:t>
            </a:r>
            <a:endParaRPr lang="en-US" sz="1350" dirty="0"/>
          </a:p>
        </p:txBody>
      </p:sp>
      <p:sp>
        <p:nvSpPr>
          <p:cNvPr id="14" name="Text 12"/>
          <p:cNvSpPr/>
          <p:nvPr/>
        </p:nvSpPr>
        <p:spPr>
          <a:xfrm>
            <a:off x="1524000" y="517812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count {</a:t>
            </a:r>
            <a:endParaRPr lang="en-US" sz="1350" dirty="0"/>
          </a:p>
        </p:txBody>
      </p:sp>
      <p:sp>
        <p:nvSpPr>
          <p:cNvPr id="15" name="Text 13"/>
          <p:cNvSpPr/>
          <p:nvPr/>
        </p:nvSpPr>
        <p:spPr>
          <a:xfrm>
            <a:off x="1524000" y="545236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count</a:t>
            </a:r>
            <a:endParaRPr lang="en-US" sz="1350" dirty="0"/>
          </a:p>
        </p:txBody>
      </p:sp>
      <p:sp>
        <p:nvSpPr>
          <p:cNvPr id="16" name="Text 14"/>
          <p:cNvSpPr/>
          <p:nvPr/>
        </p:nvSpPr>
        <p:spPr>
          <a:xfrm>
            <a:off x="1524000" y="572660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17" name="Text 15"/>
          <p:cNvSpPr/>
          <p:nvPr/>
        </p:nvSpPr>
        <p:spPr>
          <a:xfrm>
            <a:off x="1524000" y="600084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2. sum / average / max …</a:t>
            </a:r>
            <a:endParaRPr lang="en-US" sz="1350" dirty="0"/>
          </a:p>
        </p:txBody>
      </p:sp>
      <p:sp>
        <p:nvSpPr>
          <p:cNvPr id="18" name="Text 16"/>
          <p:cNvSpPr/>
          <p:nvPr/>
        </p:nvSpPr>
        <p:spPr>
          <a:xfrm>
            <a:off x="1524000" y="627509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total_revenue {</a:t>
            </a:r>
            <a:endParaRPr lang="en-US" sz="1350" dirty="0"/>
          </a:p>
        </p:txBody>
      </p:sp>
      <p:sp>
        <p:nvSpPr>
          <p:cNvPr id="19" name="Text 17"/>
          <p:cNvSpPr/>
          <p:nvPr/>
        </p:nvSpPr>
        <p:spPr>
          <a:xfrm>
            <a:off x="1524000" y="654933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sum</a:t>
            </a:r>
            <a:endParaRPr lang="en-US" sz="1350" dirty="0"/>
          </a:p>
        </p:txBody>
      </p:sp>
      <p:sp>
        <p:nvSpPr>
          <p:cNvPr id="20" name="Text 18"/>
          <p:cNvSpPr/>
          <p:nvPr/>
        </p:nvSpPr>
        <p:spPr>
          <a:xfrm>
            <a:off x="1524000" y="682357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1" name="Text 19"/>
          <p:cNvSpPr/>
          <p:nvPr/>
        </p:nvSpPr>
        <p:spPr>
          <a:xfrm>
            <a:off x="1524000" y="709781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value_format: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"$#,##0"</a:t>
            </a:r>
            <a:endParaRPr lang="en-US" sz="1350" dirty="0"/>
          </a:p>
        </p:txBody>
      </p:sp>
      <p:sp>
        <p:nvSpPr>
          <p:cNvPr id="22" name="Text 20"/>
          <p:cNvSpPr/>
          <p:nvPr/>
        </p:nvSpPr>
        <p:spPr>
          <a:xfrm>
            <a:off x="1524000" y="737205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23" name="Text 21"/>
          <p:cNvSpPr/>
          <p:nvPr/>
        </p:nvSpPr>
        <p:spPr>
          <a:xfrm>
            <a:off x="1524000" y="764629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3. ratio — measure of measures</a:t>
            </a:r>
            <a:endParaRPr lang="en-US" sz="1350" dirty="0"/>
          </a:p>
        </p:txBody>
      </p:sp>
      <p:sp>
        <p:nvSpPr>
          <p:cNvPr id="24" name="Shape 22"/>
          <p:cNvSpPr/>
          <p:nvPr/>
        </p:nvSpPr>
        <p:spPr>
          <a:xfrm>
            <a:off x="1466850" y="7920534"/>
            <a:ext cx="7200900" cy="274241"/>
          </a:xfrm>
          <a:prstGeom prst="rect">
            <a:avLst/>
          </a:prstGeom>
          <a:solidFill>
            <a:srgbClr val="FF671F">
              <a:alpha val="15000"/>
            </a:srgbClr>
          </a:solidFill>
          <a:ln/>
        </p:spPr>
      </p:sp>
      <p:sp>
        <p:nvSpPr>
          <p:cNvPr id="25" name="Shape 23"/>
          <p:cNvSpPr/>
          <p:nvPr/>
        </p:nvSpPr>
        <p:spPr>
          <a:xfrm>
            <a:off x="1466850" y="7920534"/>
            <a:ext cx="25400" cy="274241"/>
          </a:xfrm>
          <a:prstGeom prst="rect">
            <a:avLst/>
          </a:prstGeom>
          <a:solidFill>
            <a:srgbClr val="FF671F"/>
          </a:solidFill>
          <a:ln/>
        </p:spPr>
      </p:sp>
      <p:sp>
        <p:nvSpPr>
          <p:cNvPr id="26" name="Text 24"/>
          <p:cNvSpPr/>
          <p:nvPr/>
        </p:nvSpPr>
        <p:spPr>
          <a:xfrm>
            <a:off x="1577975" y="792053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avg_order_value {</a:t>
            </a:r>
            <a:endParaRPr lang="en-US" sz="1350" dirty="0"/>
          </a:p>
        </p:txBody>
      </p:sp>
      <p:sp>
        <p:nvSpPr>
          <p:cNvPr id="27" name="Shape 25"/>
          <p:cNvSpPr/>
          <p:nvPr/>
        </p:nvSpPr>
        <p:spPr>
          <a:xfrm>
            <a:off x="1466850" y="8194774"/>
            <a:ext cx="7200900" cy="274241"/>
          </a:xfrm>
          <a:prstGeom prst="rect">
            <a:avLst/>
          </a:prstGeom>
          <a:solidFill>
            <a:srgbClr val="FF671F">
              <a:alpha val="15000"/>
            </a:srgbClr>
          </a:solidFill>
          <a:ln/>
        </p:spPr>
      </p:sp>
      <p:sp>
        <p:nvSpPr>
          <p:cNvPr id="28" name="Shape 26"/>
          <p:cNvSpPr/>
          <p:nvPr/>
        </p:nvSpPr>
        <p:spPr>
          <a:xfrm>
            <a:off x="1466850" y="8194774"/>
            <a:ext cx="25400" cy="274241"/>
          </a:xfrm>
          <a:prstGeom prst="rect">
            <a:avLst/>
          </a:prstGeom>
          <a:solidFill>
            <a:srgbClr val="FF671F"/>
          </a:solidFill>
          <a:ln/>
        </p:spPr>
      </p:sp>
      <p:sp>
        <p:nvSpPr>
          <p:cNvPr id="29" name="Text 27"/>
          <p:cNvSpPr/>
          <p:nvPr/>
        </p:nvSpPr>
        <p:spPr>
          <a:xfrm>
            <a:off x="1577975" y="819477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30" name="Shape 28"/>
          <p:cNvSpPr/>
          <p:nvPr/>
        </p:nvSpPr>
        <p:spPr>
          <a:xfrm>
            <a:off x="1466850" y="8469015"/>
            <a:ext cx="7200900" cy="274241"/>
          </a:xfrm>
          <a:prstGeom prst="rect">
            <a:avLst/>
          </a:prstGeom>
          <a:solidFill>
            <a:srgbClr val="FF671F">
              <a:alpha val="15000"/>
            </a:srgbClr>
          </a:solidFill>
          <a:ln/>
        </p:spPr>
      </p:sp>
      <p:sp>
        <p:nvSpPr>
          <p:cNvPr id="31" name="Shape 29"/>
          <p:cNvSpPr/>
          <p:nvPr/>
        </p:nvSpPr>
        <p:spPr>
          <a:xfrm>
            <a:off x="1466850" y="8469015"/>
            <a:ext cx="25400" cy="274241"/>
          </a:xfrm>
          <a:prstGeom prst="rect">
            <a:avLst/>
          </a:prstGeom>
          <a:solidFill>
            <a:srgbClr val="FF671F"/>
          </a:solidFill>
          <a:ln/>
        </p:spPr>
      </p:sp>
      <p:sp>
        <p:nvSpPr>
          <p:cNvPr id="32" name="Text 30"/>
          <p:cNvSpPr/>
          <p:nvPr/>
        </p:nvSpPr>
        <p:spPr>
          <a:xfrm>
            <a:off x="1577975" y="8469015"/>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${total_revenue} / NULLIF(${count},0)</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endParaRPr lang="en-US" sz="1350" dirty="0"/>
          </a:p>
        </p:txBody>
      </p:sp>
      <p:sp>
        <p:nvSpPr>
          <p:cNvPr id="33" name="Shape 31"/>
          <p:cNvSpPr/>
          <p:nvPr/>
        </p:nvSpPr>
        <p:spPr>
          <a:xfrm>
            <a:off x="1466850" y="8743256"/>
            <a:ext cx="7200900" cy="274241"/>
          </a:xfrm>
          <a:prstGeom prst="rect">
            <a:avLst/>
          </a:prstGeom>
          <a:solidFill>
            <a:srgbClr val="FF671F">
              <a:alpha val="15000"/>
            </a:srgbClr>
          </a:solidFill>
          <a:ln/>
        </p:spPr>
      </p:sp>
      <p:sp>
        <p:nvSpPr>
          <p:cNvPr id="34" name="Shape 32"/>
          <p:cNvSpPr/>
          <p:nvPr/>
        </p:nvSpPr>
        <p:spPr>
          <a:xfrm>
            <a:off x="1466850" y="8743256"/>
            <a:ext cx="25400" cy="274241"/>
          </a:xfrm>
          <a:prstGeom prst="rect">
            <a:avLst/>
          </a:prstGeom>
          <a:solidFill>
            <a:srgbClr val="FF671F"/>
          </a:solidFill>
          <a:ln/>
        </p:spPr>
      </p:sp>
      <p:sp>
        <p:nvSpPr>
          <p:cNvPr id="35" name="Text 33"/>
          <p:cNvSpPr/>
          <p:nvPr/>
        </p:nvSpPr>
        <p:spPr>
          <a:xfrm>
            <a:off x="1577975" y="8743256"/>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value_format:</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"$0.00"</a:t>
            </a:r>
            <a:endParaRPr lang="en-US" sz="1350" dirty="0"/>
          </a:p>
        </p:txBody>
      </p:sp>
      <p:sp>
        <p:nvSpPr>
          <p:cNvPr id="36" name="Shape 34"/>
          <p:cNvSpPr/>
          <p:nvPr/>
        </p:nvSpPr>
        <p:spPr>
          <a:xfrm>
            <a:off x="1466850" y="9017496"/>
            <a:ext cx="7200900" cy="274241"/>
          </a:xfrm>
          <a:prstGeom prst="rect">
            <a:avLst/>
          </a:prstGeom>
          <a:solidFill>
            <a:srgbClr val="FF671F">
              <a:alpha val="15000"/>
            </a:srgbClr>
          </a:solidFill>
          <a:ln/>
        </p:spPr>
      </p:sp>
      <p:sp>
        <p:nvSpPr>
          <p:cNvPr id="37" name="Shape 35"/>
          <p:cNvSpPr/>
          <p:nvPr/>
        </p:nvSpPr>
        <p:spPr>
          <a:xfrm>
            <a:off x="1466850" y="9017496"/>
            <a:ext cx="25400" cy="274241"/>
          </a:xfrm>
          <a:prstGeom prst="rect">
            <a:avLst/>
          </a:prstGeom>
          <a:solidFill>
            <a:srgbClr val="FF671F"/>
          </a:solidFill>
          <a:ln/>
        </p:spPr>
      </p:sp>
      <p:sp>
        <p:nvSpPr>
          <p:cNvPr id="38" name="Text 36"/>
          <p:cNvSpPr/>
          <p:nvPr/>
        </p:nvSpPr>
        <p:spPr>
          <a:xfrm>
            <a:off x="1577975" y="9017496"/>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39" name="Text 37"/>
          <p:cNvSpPr/>
          <p:nvPr/>
        </p:nvSpPr>
        <p:spPr>
          <a:xfrm>
            <a:off x="1524000" y="929173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4. filtered count</a:t>
            </a:r>
            <a:endParaRPr lang="en-US" sz="1350" dirty="0"/>
          </a:p>
        </p:txBody>
      </p:sp>
      <p:sp>
        <p:nvSpPr>
          <p:cNvPr id="40" name="Text 38"/>
          <p:cNvSpPr/>
          <p:nvPr/>
        </p:nvSpPr>
        <p:spPr>
          <a:xfrm>
            <a:off x="1524000" y="956597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completed_count {</a:t>
            </a:r>
            <a:endParaRPr lang="en-US" sz="1350" dirty="0"/>
          </a:p>
        </p:txBody>
      </p:sp>
      <p:sp>
        <p:nvSpPr>
          <p:cNvPr id="41" name="Text 39"/>
          <p:cNvSpPr/>
          <p:nvPr/>
        </p:nvSpPr>
        <p:spPr>
          <a:xfrm>
            <a:off x="1524000" y="984021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count</a:t>
            </a:r>
            <a:endParaRPr lang="en-US" sz="1350" dirty="0"/>
          </a:p>
        </p:txBody>
      </p:sp>
      <p:sp>
        <p:nvSpPr>
          <p:cNvPr id="42" name="Text 40"/>
          <p:cNvSpPr/>
          <p:nvPr/>
        </p:nvSpPr>
        <p:spPr>
          <a:xfrm>
            <a:off x="1524000" y="1011445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filters:</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[status: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"complete"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3" name="Text 41"/>
          <p:cNvSpPr/>
          <p:nvPr/>
        </p:nvSpPr>
        <p:spPr>
          <a:xfrm>
            <a:off x="1524000" y="1038870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4" name="Shape 42"/>
          <p:cNvSpPr/>
          <p:nvPr/>
        </p:nvSpPr>
        <p:spPr>
          <a:xfrm>
            <a:off x="9372600" y="4267696"/>
            <a:ext cx="7696200" cy="5809952"/>
          </a:xfrm>
          <a:prstGeom prst="roundRect">
            <a:avLst>
              <a:gd name="adj" fmla="val 2295"/>
            </a:avLst>
          </a:prstGeom>
          <a:solidFill>
            <a:srgbClr val="F1F2F4"/>
          </a:solidFill>
          <a:ln w="6350">
            <a:solidFill>
              <a:srgbClr val="C9CFD8"/>
            </a:solidFill>
            <a:prstDash val="solid"/>
          </a:ln>
        </p:spPr>
      </p:sp>
      <p:sp>
        <p:nvSpPr>
          <p:cNvPr id="45" name="Text 43"/>
          <p:cNvSpPr/>
          <p:nvPr/>
        </p:nvSpPr>
        <p:spPr>
          <a:xfrm>
            <a:off x="9683750" y="457884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MEASURE TYPES — SHORT LIST</a:t>
            </a:r>
            <a:endParaRPr lang="en-US" sz="900" dirty="0"/>
          </a:p>
        </p:txBody>
      </p:sp>
      <p:sp>
        <p:nvSpPr>
          <p:cNvPr id="46" name="Text 44"/>
          <p:cNvSpPr/>
          <p:nvPr/>
        </p:nvSpPr>
        <p:spPr>
          <a:xfrm>
            <a:off x="9683750" y="4858246"/>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The ones the exam tests.</a:t>
            </a:r>
            <a:endParaRPr lang="en-US" sz="1950" dirty="0"/>
          </a:p>
        </p:txBody>
      </p:sp>
      <p:sp>
        <p:nvSpPr>
          <p:cNvPr id="47" name="Shape 45"/>
          <p:cNvSpPr/>
          <p:nvPr/>
        </p:nvSpPr>
        <p:spPr>
          <a:xfrm>
            <a:off x="9683750" y="5791597"/>
            <a:ext cx="7073900" cy="9525"/>
          </a:xfrm>
          <a:prstGeom prst="rect">
            <a:avLst/>
          </a:prstGeom>
          <a:solidFill>
            <a:srgbClr val="C9CFD8"/>
          </a:solidFill>
          <a:ln/>
        </p:spPr>
      </p:sp>
      <p:sp>
        <p:nvSpPr>
          <p:cNvPr id="48" name="Text 46"/>
          <p:cNvSpPr/>
          <p:nvPr/>
        </p:nvSpPr>
        <p:spPr>
          <a:xfrm>
            <a:off x="9683750" y="547320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COUNT</a:t>
            </a:r>
            <a:endParaRPr lang="en-US" sz="975" dirty="0"/>
          </a:p>
        </p:txBody>
      </p:sp>
      <p:sp>
        <p:nvSpPr>
          <p:cNvPr id="49" name="Text 47"/>
          <p:cNvSpPr/>
          <p:nvPr/>
        </p:nvSpPr>
        <p:spPr>
          <a:xfrm>
            <a:off x="11722101" y="5409704"/>
            <a:ext cx="307393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Number of rows. Uses the primary key.</a:t>
            </a:r>
            <a:endParaRPr lang="en-US" sz="1350" dirty="0"/>
          </a:p>
        </p:txBody>
      </p:sp>
      <p:sp>
        <p:nvSpPr>
          <p:cNvPr id="50" name="Shape 48"/>
          <p:cNvSpPr/>
          <p:nvPr/>
        </p:nvSpPr>
        <p:spPr>
          <a:xfrm>
            <a:off x="9683750" y="6491784"/>
            <a:ext cx="7073900" cy="9525"/>
          </a:xfrm>
          <a:prstGeom prst="rect">
            <a:avLst/>
          </a:prstGeom>
          <a:solidFill>
            <a:srgbClr val="C9CFD8"/>
          </a:solidFill>
          <a:ln/>
        </p:spPr>
      </p:sp>
      <p:sp>
        <p:nvSpPr>
          <p:cNvPr id="51" name="Text 49"/>
          <p:cNvSpPr/>
          <p:nvPr/>
        </p:nvSpPr>
        <p:spPr>
          <a:xfrm>
            <a:off x="9683750" y="612814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COUNT_DISTINCT</a:t>
            </a:r>
            <a:endParaRPr lang="en-US" sz="975" dirty="0"/>
          </a:p>
        </p:txBody>
      </p:sp>
      <p:sp>
        <p:nvSpPr>
          <p:cNvPr id="52" name="Text 50"/>
          <p:cNvSpPr/>
          <p:nvPr/>
        </p:nvSpPr>
        <p:spPr>
          <a:xfrm>
            <a:off x="11722101" y="6064647"/>
            <a:ext cx="2639194" cy="331887"/>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Unique values. Requires </a:t>
            </a:r>
            <a:pPr algn="l" indent="0" marL="0">
              <a:lnSpc>
                <a:spcPct val="145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sql:</a:t>
            </a:r>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a:t>
            </a:r>
            <a:endParaRPr lang="en-US" sz="1350" dirty="0"/>
          </a:p>
        </p:txBody>
      </p:sp>
      <p:sp>
        <p:nvSpPr>
          <p:cNvPr id="53" name="Shape 51"/>
          <p:cNvSpPr/>
          <p:nvPr/>
        </p:nvSpPr>
        <p:spPr>
          <a:xfrm>
            <a:off x="9683750" y="7146727"/>
            <a:ext cx="7073900" cy="9525"/>
          </a:xfrm>
          <a:prstGeom prst="rect">
            <a:avLst/>
          </a:prstGeom>
          <a:solidFill>
            <a:srgbClr val="C9CFD8"/>
          </a:solidFill>
          <a:ln/>
        </p:spPr>
      </p:sp>
      <p:sp>
        <p:nvSpPr>
          <p:cNvPr id="54" name="Text 52"/>
          <p:cNvSpPr/>
          <p:nvPr/>
        </p:nvSpPr>
        <p:spPr>
          <a:xfrm>
            <a:off x="9683750" y="682833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SUM</a:t>
            </a:r>
            <a:endParaRPr lang="en-US" sz="975" dirty="0"/>
          </a:p>
        </p:txBody>
      </p:sp>
      <p:sp>
        <p:nvSpPr>
          <p:cNvPr id="55" name="Text 53"/>
          <p:cNvSpPr/>
          <p:nvPr/>
        </p:nvSpPr>
        <p:spPr>
          <a:xfrm>
            <a:off x="11722101" y="6764834"/>
            <a:ext cx="1498005"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SUM(expression).</a:t>
            </a:r>
            <a:endParaRPr lang="en-US" sz="1350" dirty="0"/>
          </a:p>
        </p:txBody>
      </p:sp>
      <p:sp>
        <p:nvSpPr>
          <p:cNvPr id="56" name="Shape 54"/>
          <p:cNvSpPr/>
          <p:nvPr/>
        </p:nvSpPr>
        <p:spPr>
          <a:xfrm>
            <a:off x="9683750" y="7801670"/>
            <a:ext cx="7073900" cy="9525"/>
          </a:xfrm>
          <a:prstGeom prst="rect">
            <a:avLst/>
          </a:prstGeom>
          <a:solidFill>
            <a:srgbClr val="C9CFD8"/>
          </a:solidFill>
          <a:ln/>
        </p:spPr>
      </p:sp>
      <p:sp>
        <p:nvSpPr>
          <p:cNvPr id="57" name="Text 55"/>
          <p:cNvSpPr/>
          <p:nvPr/>
        </p:nvSpPr>
        <p:spPr>
          <a:xfrm>
            <a:off x="9683750" y="748327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AVERAGE</a:t>
            </a:r>
            <a:endParaRPr lang="en-US" sz="975" dirty="0"/>
          </a:p>
        </p:txBody>
      </p:sp>
      <p:sp>
        <p:nvSpPr>
          <p:cNvPr id="58" name="Text 56"/>
          <p:cNvSpPr/>
          <p:nvPr/>
        </p:nvSpPr>
        <p:spPr>
          <a:xfrm>
            <a:off x="11722101" y="7419777"/>
            <a:ext cx="144541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AVG(expression).</a:t>
            </a:r>
            <a:endParaRPr lang="en-US" sz="1350" dirty="0"/>
          </a:p>
        </p:txBody>
      </p:sp>
      <p:sp>
        <p:nvSpPr>
          <p:cNvPr id="59" name="Shape 57"/>
          <p:cNvSpPr/>
          <p:nvPr/>
        </p:nvSpPr>
        <p:spPr>
          <a:xfrm>
            <a:off x="9683750" y="8456613"/>
            <a:ext cx="7073900" cy="9525"/>
          </a:xfrm>
          <a:prstGeom prst="rect">
            <a:avLst/>
          </a:prstGeom>
          <a:solidFill>
            <a:srgbClr val="C9CFD8"/>
          </a:solidFill>
          <a:ln/>
        </p:spPr>
      </p:sp>
      <p:sp>
        <p:nvSpPr>
          <p:cNvPr id="60" name="Text 58"/>
          <p:cNvSpPr/>
          <p:nvPr/>
        </p:nvSpPr>
        <p:spPr>
          <a:xfrm>
            <a:off x="9683750" y="8138220"/>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MIN / MAX</a:t>
            </a:r>
            <a:endParaRPr lang="en-US" sz="975" dirty="0"/>
          </a:p>
        </p:txBody>
      </p:sp>
      <p:sp>
        <p:nvSpPr>
          <p:cNvPr id="61" name="Text 59"/>
          <p:cNvSpPr/>
          <p:nvPr/>
        </p:nvSpPr>
        <p:spPr>
          <a:xfrm>
            <a:off x="11722101" y="8074720"/>
            <a:ext cx="91281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MIN / MAX.</a:t>
            </a:r>
            <a:endParaRPr lang="en-US" sz="1350" dirty="0"/>
          </a:p>
        </p:txBody>
      </p:sp>
      <p:sp>
        <p:nvSpPr>
          <p:cNvPr id="62" name="Shape 60"/>
          <p:cNvSpPr/>
          <p:nvPr/>
        </p:nvSpPr>
        <p:spPr>
          <a:xfrm>
            <a:off x="9683750" y="9111555"/>
            <a:ext cx="7073900" cy="9525"/>
          </a:xfrm>
          <a:prstGeom prst="rect">
            <a:avLst/>
          </a:prstGeom>
          <a:solidFill>
            <a:srgbClr val="C9CFD8"/>
          </a:solidFill>
          <a:ln/>
        </p:spPr>
      </p:sp>
      <p:sp>
        <p:nvSpPr>
          <p:cNvPr id="63" name="Text 61"/>
          <p:cNvSpPr/>
          <p:nvPr/>
        </p:nvSpPr>
        <p:spPr>
          <a:xfrm>
            <a:off x="9683750" y="8793163"/>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NUMBER</a:t>
            </a:r>
            <a:endParaRPr lang="en-US" sz="975" dirty="0"/>
          </a:p>
        </p:txBody>
      </p:sp>
      <p:sp>
        <p:nvSpPr>
          <p:cNvPr id="64" name="Text 62"/>
          <p:cNvSpPr/>
          <p:nvPr/>
        </p:nvSpPr>
        <p:spPr>
          <a:xfrm>
            <a:off x="11722101" y="8729663"/>
            <a:ext cx="3284660"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Generic aggregate, often used for ratios.</a:t>
            </a:r>
            <a:endParaRPr lang="en-US" sz="1350" dirty="0"/>
          </a:p>
        </p:txBody>
      </p:sp>
      <p:sp>
        <p:nvSpPr>
          <p:cNvPr id="65" name="Text 63"/>
          <p:cNvSpPr/>
          <p:nvPr/>
        </p:nvSpPr>
        <p:spPr>
          <a:xfrm>
            <a:off x="9683750" y="9448106"/>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DATE / TIME</a:t>
            </a:r>
            <a:endParaRPr lang="en-US" sz="975" dirty="0"/>
          </a:p>
        </p:txBody>
      </p:sp>
      <p:sp>
        <p:nvSpPr>
          <p:cNvPr id="66" name="Text 64"/>
          <p:cNvSpPr/>
          <p:nvPr/>
        </p:nvSpPr>
        <p:spPr>
          <a:xfrm>
            <a:off x="11722101" y="9384606"/>
            <a:ext cx="256807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For latest / earliest timestamps.</a:t>
            </a:r>
            <a:endParaRPr lang="en-US" sz="1350" dirty="0"/>
          </a:p>
        </p:txBody>
      </p:sp>
      <p:sp>
        <p:nvSpPr>
          <p:cNvPr id="67" name="Shape 65"/>
          <p:cNvSpPr/>
          <p:nvPr/>
        </p:nvSpPr>
        <p:spPr>
          <a:xfrm>
            <a:off x="9372600" y="10249099"/>
            <a:ext cx="7696200" cy="882650"/>
          </a:xfrm>
          <a:prstGeom prst="roundRect">
            <a:avLst>
              <a:gd name="adj" fmla="val 15108"/>
            </a:avLst>
          </a:prstGeom>
          <a:solidFill>
            <a:srgbClr val="FFF7F1"/>
          </a:solidFill>
          <a:ln/>
        </p:spPr>
      </p:sp>
      <p:sp>
        <p:nvSpPr>
          <p:cNvPr id="68" name="Shape 66"/>
          <p:cNvSpPr/>
          <p:nvPr/>
        </p:nvSpPr>
        <p:spPr>
          <a:xfrm>
            <a:off x="9372600" y="10249099"/>
            <a:ext cx="38100" cy="882650"/>
          </a:xfrm>
          <a:prstGeom prst="rect">
            <a:avLst/>
          </a:prstGeom>
          <a:solidFill>
            <a:srgbClr val="FF671F"/>
          </a:solidFill>
          <a:ln/>
        </p:spPr>
      </p:sp>
      <p:sp>
        <p:nvSpPr>
          <p:cNvPr id="69" name="Text 67"/>
          <p:cNvSpPr/>
          <p:nvPr/>
        </p:nvSpPr>
        <p:spPr>
          <a:xfrm>
            <a:off x="9677400" y="10439599"/>
            <a:ext cx="7355586" cy="5397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EXAM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The </a:t>
            </a:r>
            <a:pPr algn="l" indent="0" marL="0">
              <a:buNone/>
            </a:pPr>
            <a:r>
              <a:rPr lang="en-US" sz="1275" b="1" dirty="0">
                <a:solidFill>
                  <a:srgbClr val="384358"/>
                </a:solidFill>
                <a:latin typeface="Manrope" pitchFamily="34" charset="0"/>
                <a:ea typeface="Manrope" pitchFamily="34" charset="-122"/>
                <a:cs typeface="Manrope" pitchFamily="34" charset="-120"/>
              </a:rPr>
              <a:t>${name}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syntax references another field in the same view. </a:t>
            </a:r>
            <a:pPr algn="l" indent="0" marL="0">
              <a:buNone/>
            </a:pPr>
            <a:r>
              <a:rPr lang="en-US" sz="1275" b="1" dirty="0">
                <a:solidFill>
                  <a:srgbClr val="384358"/>
                </a:solidFill>
                <a:latin typeface="Manrope" pitchFamily="34" charset="0"/>
                <a:ea typeface="Manrope" pitchFamily="34" charset="-122"/>
                <a:cs typeface="Manrope" pitchFamily="34" charset="-120"/>
              </a:rPr>
              <a:t>${TABLE}.col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refers to the underlying column. Mixing them up is the most common LookML bug.</a:t>
            </a:r>
            <a:endParaRPr lang="en-US" sz="1275" dirty="0"/>
          </a:p>
        </p:txBody>
      </p:sp>
      <p:sp>
        <p:nvSpPr>
          <p:cNvPr id="70" name="Text 6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71" name="Text 6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44 / 60</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JOINS</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Joins live in the Explore — not the view.</a:t>
            </a:r>
            <a:endParaRPr lang="en-US" sz="4800" dirty="0"/>
          </a:p>
        </p:txBody>
      </p:sp>
      <p:sp>
        <p:nvSpPr>
          <p:cNvPr id="8" name="Text 6"/>
          <p:cNvSpPr/>
          <p:nvPr/>
        </p:nvSpPr>
        <p:spPr>
          <a:xfrm>
            <a:off x="1219200" y="2971205"/>
            <a:ext cx="14716125" cy="369987"/>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view is reusable across many Explores. The Explore decides how its views relate. Two parameters do almost all the work: </a:t>
            </a:r>
            <a:pPr algn="l" indent="0" marL="0">
              <a:lnSpc>
                <a:spcPct val="145000"/>
              </a:lnSpc>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type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and </a:t>
            </a:r>
            <a:pPr algn="l" indent="0" marL="0">
              <a:lnSpc>
                <a:spcPct val="145000"/>
              </a:lnSpc>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relationship</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t>
            </a:r>
            <a:endParaRPr lang="en-US" sz="1650" dirty="0"/>
          </a:p>
        </p:txBody>
      </p:sp>
      <p:sp>
        <p:nvSpPr>
          <p:cNvPr id="9" name="Shape 7"/>
          <p:cNvSpPr/>
          <p:nvPr/>
        </p:nvSpPr>
        <p:spPr>
          <a:xfrm>
            <a:off x="1219200" y="3836491"/>
            <a:ext cx="7696200" cy="7771209"/>
          </a:xfrm>
          <a:prstGeom prst="roundRect">
            <a:avLst>
              <a:gd name="adj" fmla="val 1733"/>
            </a:avLst>
          </a:prstGeom>
          <a:solidFill>
            <a:srgbClr val="1B1F2A"/>
          </a:solidFill>
          <a:ln/>
        </p:spPr>
      </p:sp>
      <p:sp>
        <p:nvSpPr>
          <p:cNvPr id="10" name="Shape 8"/>
          <p:cNvSpPr/>
          <p:nvPr/>
        </p:nvSpPr>
        <p:spPr>
          <a:xfrm>
            <a:off x="1219200" y="3836491"/>
            <a:ext cx="7696200" cy="464741"/>
          </a:xfrm>
          <a:prstGeom prst="roundRect">
            <a:avLst>
              <a:gd name="adj" fmla="val 28693"/>
            </a:avLst>
          </a:prstGeom>
          <a:solidFill>
            <a:srgbClr val="0E1118"/>
          </a:solidFill>
          <a:ln/>
        </p:spPr>
      </p:sp>
      <p:sp>
        <p:nvSpPr>
          <p:cNvPr id="11" name="Text 9"/>
          <p:cNvSpPr/>
          <p:nvPr/>
        </p:nvSpPr>
        <p:spPr>
          <a:xfrm>
            <a:off x="1447800" y="3969841"/>
            <a:ext cx="227538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INSIDE AN EXPLORE: BLOCK</a:t>
            </a:r>
            <a:endParaRPr lang="en-US" sz="975" dirty="0"/>
          </a:p>
        </p:txBody>
      </p:sp>
      <p:sp>
        <p:nvSpPr>
          <p:cNvPr id="12" name="Text 10"/>
          <p:cNvSpPr/>
          <p:nvPr/>
        </p:nvSpPr>
        <p:spPr>
          <a:xfrm>
            <a:off x="8136930" y="3969841"/>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LOOKML</a:t>
            </a:r>
            <a:endParaRPr lang="en-US" sz="975" dirty="0"/>
          </a:p>
        </p:txBody>
      </p:sp>
      <p:sp>
        <p:nvSpPr>
          <p:cNvPr id="13" name="Text 11"/>
          <p:cNvSpPr/>
          <p:nvPr/>
        </p:nvSpPr>
        <p:spPr>
          <a:xfrm>
            <a:off x="1524000" y="447268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explore: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orders {</a:t>
            </a:r>
            <a:endParaRPr lang="en-US" sz="1350" dirty="0"/>
          </a:p>
        </p:txBody>
      </p:sp>
      <p:sp>
        <p:nvSpPr>
          <p:cNvPr id="14" name="Text 12"/>
          <p:cNvSpPr/>
          <p:nvPr/>
        </p:nvSpPr>
        <p:spPr>
          <a:xfrm>
            <a:off x="1524000" y="474692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join: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users {</a:t>
            </a:r>
            <a:endParaRPr lang="en-US" sz="1350" dirty="0"/>
          </a:p>
        </p:txBody>
      </p:sp>
      <p:sp>
        <p:nvSpPr>
          <p:cNvPr id="15" name="Text 13"/>
          <p:cNvSpPr/>
          <p:nvPr/>
        </p:nvSpPr>
        <p:spPr>
          <a:xfrm>
            <a:off x="1524000" y="502116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left_outer</a:t>
            </a:r>
            <a:endParaRPr lang="en-US" sz="1350" dirty="0"/>
          </a:p>
        </p:txBody>
      </p:sp>
      <p:sp>
        <p:nvSpPr>
          <p:cNvPr id="16" name="Text 14"/>
          <p:cNvSpPr/>
          <p:nvPr/>
        </p:nvSpPr>
        <p:spPr>
          <a:xfrm>
            <a:off x="1524000" y="529540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relationship: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many_to_one</a:t>
            </a:r>
            <a:endParaRPr lang="en-US" sz="1350" dirty="0"/>
          </a:p>
        </p:txBody>
      </p:sp>
      <p:sp>
        <p:nvSpPr>
          <p:cNvPr id="17" name="Text 15"/>
          <p:cNvSpPr/>
          <p:nvPr/>
        </p:nvSpPr>
        <p:spPr>
          <a:xfrm>
            <a:off x="1524000" y="556964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${orders.user_id} = ${users.id}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8" name="Text 16"/>
          <p:cNvSpPr/>
          <p:nvPr/>
        </p:nvSpPr>
        <p:spPr>
          <a:xfrm>
            <a:off x="1524000" y="584388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9" name="Text 17"/>
          <p:cNvSpPr/>
          <p:nvPr/>
        </p:nvSpPr>
        <p:spPr>
          <a:xfrm>
            <a:off x="1524000" y="611812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join: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order_items {</a:t>
            </a:r>
            <a:endParaRPr lang="en-US" sz="1350" dirty="0"/>
          </a:p>
        </p:txBody>
      </p:sp>
      <p:sp>
        <p:nvSpPr>
          <p:cNvPr id="20" name="Text 18"/>
          <p:cNvSpPr/>
          <p:nvPr/>
        </p:nvSpPr>
        <p:spPr>
          <a:xfrm>
            <a:off x="1524000" y="639236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left_outer</a:t>
            </a:r>
            <a:endParaRPr lang="en-US" sz="1350" dirty="0"/>
          </a:p>
        </p:txBody>
      </p:sp>
      <p:sp>
        <p:nvSpPr>
          <p:cNvPr id="21" name="Text 19"/>
          <p:cNvSpPr/>
          <p:nvPr/>
        </p:nvSpPr>
        <p:spPr>
          <a:xfrm>
            <a:off x="1524000" y="666660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relationship: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one_to_many</a:t>
            </a:r>
            <a:endParaRPr lang="en-US" sz="1350" dirty="0"/>
          </a:p>
        </p:txBody>
      </p:sp>
      <p:sp>
        <p:nvSpPr>
          <p:cNvPr id="22" name="Text 20"/>
          <p:cNvSpPr/>
          <p:nvPr/>
        </p:nvSpPr>
        <p:spPr>
          <a:xfrm>
            <a:off x="1524000" y="694084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${orders.id} = ${order_items.order_id}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3" name="Text 21"/>
          <p:cNvSpPr/>
          <p:nvPr/>
        </p:nvSpPr>
        <p:spPr>
          <a:xfrm>
            <a:off x="1524000" y="721508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4" name="Text 22"/>
          <p:cNvSpPr/>
          <p:nvPr/>
        </p:nvSpPr>
        <p:spPr>
          <a:xfrm>
            <a:off x="1524000" y="748932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join: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products {</a:t>
            </a:r>
            <a:endParaRPr lang="en-US" sz="1350" dirty="0"/>
          </a:p>
        </p:txBody>
      </p:sp>
      <p:sp>
        <p:nvSpPr>
          <p:cNvPr id="25" name="Text 23"/>
          <p:cNvSpPr/>
          <p:nvPr/>
        </p:nvSpPr>
        <p:spPr>
          <a:xfrm>
            <a:off x="1524000" y="776357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left_outer</a:t>
            </a:r>
            <a:endParaRPr lang="en-US" sz="1350" dirty="0"/>
          </a:p>
        </p:txBody>
      </p:sp>
      <p:sp>
        <p:nvSpPr>
          <p:cNvPr id="26" name="Text 24"/>
          <p:cNvSpPr/>
          <p:nvPr/>
        </p:nvSpPr>
        <p:spPr>
          <a:xfrm>
            <a:off x="1524000" y="803781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relationship: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many_to_one</a:t>
            </a:r>
            <a:endParaRPr lang="en-US" sz="1350" dirty="0"/>
          </a:p>
        </p:txBody>
      </p:sp>
      <p:sp>
        <p:nvSpPr>
          <p:cNvPr id="27" name="Text 25"/>
          <p:cNvSpPr/>
          <p:nvPr/>
        </p:nvSpPr>
        <p:spPr>
          <a:xfrm>
            <a:off x="1524000" y="831205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sql_on: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${order_items.product_id} = ${products.id}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8" name="Text 26"/>
          <p:cNvSpPr/>
          <p:nvPr/>
        </p:nvSpPr>
        <p:spPr>
          <a:xfrm>
            <a:off x="1524000" y="858629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9" name="Text 27"/>
          <p:cNvSpPr/>
          <p:nvPr/>
        </p:nvSpPr>
        <p:spPr>
          <a:xfrm>
            <a:off x="1524000" y="886053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30" name="Shape 28"/>
          <p:cNvSpPr/>
          <p:nvPr/>
        </p:nvSpPr>
        <p:spPr>
          <a:xfrm>
            <a:off x="9372600" y="3836491"/>
            <a:ext cx="7696200" cy="3799880"/>
          </a:xfrm>
          <a:prstGeom prst="roundRect">
            <a:avLst>
              <a:gd name="adj" fmla="val 3509"/>
            </a:avLst>
          </a:prstGeom>
          <a:solidFill>
            <a:srgbClr val="F1F2F4"/>
          </a:solidFill>
          <a:ln w="6350">
            <a:solidFill>
              <a:srgbClr val="C9CFD8"/>
            </a:solidFill>
            <a:prstDash val="solid"/>
          </a:ln>
        </p:spPr>
      </p:sp>
      <p:sp>
        <p:nvSpPr>
          <p:cNvPr id="31" name="Text 29"/>
          <p:cNvSpPr/>
          <p:nvPr/>
        </p:nvSpPr>
        <p:spPr>
          <a:xfrm>
            <a:off x="9683750" y="4147642"/>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TYPE — JOIN SHAPE</a:t>
            </a:r>
            <a:endParaRPr lang="en-US" sz="900" dirty="0"/>
          </a:p>
        </p:txBody>
      </p:sp>
      <p:sp>
        <p:nvSpPr>
          <p:cNvPr id="32" name="Text 30"/>
          <p:cNvSpPr/>
          <p:nvPr/>
        </p:nvSpPr>
        <p:spPr>
          <a:xfrm>
            <a:off x="9683750" y="4427041"/>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Which rows survive.</a:t>
            </a:r>
            <a:endParaRPr lang="en-US" sz="1950" dirty="0"/>
          </a:p>
        </p:txBody>
      </p:sp>
      <p:sp>
        <p:nvSpPr>
          <p:cNvPr id="33" name="Shape 31"/>
          <p:cNvSpPr/>
          <p:nvPr/>
        </p:nvSpPr>
        <p:spPr>
          <a:xfrm>
            <a:off x="9683750" y="5360392"/>
            <a:ext cx="7073900" cy="9525"/>
          </a:xfrm>
          <a:prstGeom prst="rect">
            <a:avLst/>
          </a:prstGeom>
          <a:solidFill>
            <a:srgbClr val="C9CFD8"/>
          </a:solidFill>
          <a:ln/>
        </p:spPr>
      </p:sp>
      <p:sp>
        <p:nvSpPr>
          <p:cNvPr id="34" name="Text 32"/>
          <p:cNvSpPr/>
          <p:nvPr/>
        </p:nvSpPr>
        <p:spPr>
          <a:xfrm>
            <a:off x="9683750" y="5041999"/>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LEFT_OUTER</a:t>
            </a:r>
            <a:endParaRPr lang="en-US" sz="975" dirty="0"/>
          </a:p>
        </p:txBody>
      </p:sp>
      <p:sp>
        <p:nvSpPr>
          <p:cNvPr id="35" name="Text 33"/>
          <p:cNvSpPr/>
          <p:nvPr/>
        </p:nvSpPr>
        <p:spPr>
          <a:xfrm>
            <a:off x="11722101" y="4978500"/>
            <a:ext cx="372931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All from base + matches from join. The default.</a:t>
            </a:r>
            <a:endParaRPr lang="en-US" sz="1350" dirty="0"/>
          </a:p>
        </p:txBody>
      </p:sp>
      <p:sp>
        <p:nvSpPr>
          <p:cNvPr id="36" name="Shape 34"/>
          <p:cNvSpPr/>
          <p:nvPr/>
        </p:nvSpPr>
        <p:spPr>
          <a:xfrm>
            <a:off x="9683750" y="6015335"/>
            <a:ext cx="7073900" cy="9525"/>
          </a:xfrm>
          <a:prstGeom prst="rect">
            <a:avLst/>
          </a:prstGeom>
          <a:solidFill>
            <a:srgbClr val="C9CFD8"/>
          </a:solidFill>
          <a:ln/>
        </p:spPr>
      </p:sp>
      <p:sp>
        <p:nvSpPr>
          <p:cNvPr id="37" name="Text 35"/>
          <p:cNvSpPr/>
          <p:nvPr/>
        </p:nvSpPr>
        <p:spPr>
          <a:xfrm>
            <a:off x="9683750" y="5696942"/>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INNER</a:t>
            </a:r>
            <a:endParaRPr lang="en-US" sz="975" dirty="0"/>
          </a:p>
        </p:txBody>
      </p:sp>
      <p:sp>
        <p:nvSpPr>
          <p:cNvPr id="38" name="Text 36"/>
          <p:cNvSpPr/>
          <p:nvPr/>
        </p:nvSpPr>
        <p:spPr>
          <a:xfrm>
            <a:off x="11722101" y="5633442"/>
            <a:ext cx="162530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Only matched rows.</a:t>
            </a:r>
            <a:endParaRPr lang="en-US" sz="1350" dirty="0"/>
          </a:p>
        </p:txBody>
      </p:sp>
      <p:sp>
        <p:nvSpPr>
          <p:cNvPr id="39" name="Shape 37"/>
          <p:cNvSpPr/>
          <p:nvPr/>
        </p:nvSpPr>
        <p:spPr>
          <a:xfrm>
            <a:off x="9683750" y="6670278"/>
            <a:ext cx="7073900" cy="9525"/>
          </a:xfrm>
          <a:prstGeom prst="rect">
            <a:avLst/>
          </a:prstGeom>
          <a:solidFill>
            <a:srgbClr val="C9CFD8"/>
          </a:solidFill>
          <a:ln/>
        </p:spPr>
      </p:sp>
      <p:sp>
        <p:nvSpPr>
          <p:cNvPr id="40" name="Text 38"/>
          <p:cNvSpPr/>
          <p:nvPr/>
        </p:nvSpPr>
        <p:spPr>
          <a:xfrm>
            <a:off x="9683750" y="6351886"/>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FULL_OUTER</a:t>
            </a:r>
            <a:endParaRPr lang="en-US" sz="975" dirty="0"/>
          </a:p>
        </p:txBody>
      </p:sp>
      <p:sp>
        <p:nvSpPr>
          <p:cNvPr id="41" name="Text 39"/>
          <p:cNvSpPr/>
          <p:nvPr/>
        </p:nvSpPr>
        <p:spPr>
          <a:xfrm>
            <a:off x="11722101" y="6288385"/>
            <a:ext cx="198487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All rows from both sides.</a:t>
            </a:r>
            <a:endParaRPr lang="en-US" sz="1350" dirty="0"/>
          </a:p>
        </p:txBody>
      </p:sp>
      <p:sp>
        <p:nvSpPr>
          <p:cNvPr id="42" name="Text 40"/>
          <p:cNvSpPr/>
          <p:nvPr/>
        </p:nvSpPr>
        <p:spPr>
          <a:xfrm>
            <a:off x="9683750" y="7006828"/>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CROSS</a:t>
            </a:r>
            <a:endParaRPr lang="en-US" sz="975" dirty="0"/>
          </a:p>
        </p:txBody>
      </p:sp>
      <p:sp>
        <p:nvSpPr>
          <p:cNvPr id="43" name="Text 41"/>
          <p:cNvSpPr/>
          <p:nvPr/>
        </p:nvSpPr>
        <p:spPr>
          <a:xfrm>
            <a:off x="11722101" y="6943329"/>
            <a:ext cx="264931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Cartesian product. Use carefully.</a:t>
            </a:r>
            <a:endParaRPr lang="en-US" sz="1350" dirty="0"/>
          </a:p>
        </p:txBody>
      </p:sp>
      <p:sp>
        <p:nvSpPr>
          <p:cNvPr id="44" name="Shape 42"/>
          <p:cNvSpPr/>
          <p:nvPr/>
        </p:nvSpPr>
        <p:spPr>
          <a:xfrm>
            <a:off x="9372600" y="7807821"/>
            <a:ext cx="7696200" cy="3799880"/>
          </a:xfrm>
          <a:prstGeom prst="roundRect">
            <a:avLst>
              <a:gd name="adj" fmla="val 3509"/>
            </a:avLst>
          </a:prstGeom>
          <a:solidFill>
            <a:srgbClr val="F1F2F4"/>
          </a:solidFill>
          <a:ln w="6350">
            <a:solidFill>
              <a:srgbClr val="C9CFD8"/>
            </a:solidFill>
            <a:prstDash val="solid"/>
          </a:ln>
        </p:spPr>
      </p:sp>
      <p:sp>
        <p:nvSpPr>
          <p:cNvPr id="45" name="Text 43"/>
          <p:cNvSpPr/>
          <p:nvPr/>
        </p:nvSpPr>
        <p:spPr>
          <a:xfrm>
            <a:off x="9683750" y="8118971"/>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RELATIONSHIP — CARDINALITY</a:t>
            </a:r>
            <a:endParaRPr lang="en-US" sz="900" dirty="0"/>
          </a:p>
        </p:txBody>
      </p:sp>
      <p:sp>
        <p:nvSpPr>
          <p:cNvPr id="46" name="Text 44"/>
          <p:cNvSpPr/>
          <p:nvPr/>
        </p:nvSpPr>
        <p:spPr>
          <a:xfrm>
            <a:off x="9683750" y="8398371"/>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How Looker totals.</a:t>
            </a:r>
            <a:endParaRPr lang="en-US" sz="1950" dirty="0"/>
          </a:p>
        </p:txBody>
      </p:sp>
      <p:sp>
        <p:nvSpPr>
          <p:cNvPr id="47" name="Shape 45"/>
          <p:cNvSpPr/>
          <p:nvPr/>
        </p:nvSpPr>
        <p:spPr>
          <a:xfrm>
            <a:off x="9683750" y="9331722"/>
            <a:ext cx="7073900" cy="9525"/>
          </a:xfrm>
          <a:prstGeom prst="rect">
            <a:avLst/>
          </a:prstGeom>
          <a:solidFill>
            <a:srgbClr val="C9CFD8"/>
          </a:solidFill>
          <a:ln/>
        </p:spPr>
      </p:sp>
      <p:sp>
        <p:nvSpPr>
          <p:cNvPr id="48" name="Text 46"/>
          <p:cNvSpPr/>
          <p:nvPr/>
        </p:nvSpPr>
        <p:spPr>
          <a:xfrm>
            <a:off x="9683750" y="9013329"/>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MANY_TO_ONE</a:t>
            </a:r>
            <a:endParaRPr lang="en-US" sz="975" dirty="0"/>
          </a:p>
        </p:txBody>
      </p:sp>
      <p:sp>
        <p:nvSpPr>
          <p:cNvPr id="49" name="Text 47"/>
          <p:cNvSpPr/>
          <p:nvPr/>
        </p:nvSpPr>
        <p:spPr>
          <a:xfrm>
            <a:off x="11722101" y="8949829"/>
            <a:ext cx="5063165"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e.g. orders → users. Safe to sum measures from the "one" side.</a:t>
            </a:r>
            <a:endParaRPr lang="en-US" sz="1350" dirty="0"/>
          </a:p>
        </p:txBody>
      </p:sp>
      <p:sp>
        <p:nvSpPr>
          <p:cNvPr id="50" name="Shape 48"/>
          <p:cNvSpPr/>
          <p:nvPr/>
        </p:nvSpPr>
        <p:spPr>
          <a:xfrm>
            <a:off x="9683750" y="9986665"/>
            <a:ext cx="7073900" cy="9525"/>
          </a:xfrm>
          <a:prstGeom prst="rect">
            <a:avLst/>
          </a:prstGeom>
          <a:solidFill>
            <a:srgbClr val="C9CFD8"/>
          </a:solidFill>
          <a:ln/>
        </p:spPr>
      </p:sp>
      <p:sp>
        <p:nvSpPr>
          <p:cNvPr id="51" name="Text 49"/>
          <p:cNvSpPr/>
          <p:nvPr/>
        </p:nvSpPr>
        <p:spPr>
          <a:xfrm>
            <a:off x="9683750" y="9668272"/>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ONE_TO_MANY</a:t>
            </a:r>
            <a:endParaRPr lang="en-US" sz="975" dirty="0"/>
          </a:p>
        </p:txBody>
      </p:sp>
      <p:sp>
        <p:nvSpPr>
          <p:cNvPr id="52" name="Text 50"/>
          <p:cNvSpPr/>
          <p:nvPr/>
        </p:nvSpPr>
        <p:spPr>
          <a:xfrm>
            <a:off x="11722101" y="9604772"/>
            <a:ext cx="480052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e.g. orders → order_items. Symmetric aggregation needed.</a:t>
            </a:r>
            <a:endParaRPr lang="en-US" sz="1350" dirty="0"/>
          </a:p>
        </p:txBody>
      </p:sp>
      <p:sp>
        <p:nvSpPr>
          <p:cNvPr id="53" name="Shape 51"/>
          <p:cNvSpPr/>
          <p:nvPr/>
        </p:nvSpPr>
        <p:spPr>
          <a:xfrm>
            <a:off x="9683750" y="10641609"/>
            <a:ext cx="7073900" cy="9525"/>
          </a:xfrm>
          <a:prstGeom prst="rect">
            <a:avLst/>
          </a:prstGeom>
          <a:solidFill>
            <a:srgbClr val="C9CFD8"/>
          </a:solidFill>
          <a:ln/>
        </p:spPr>
      </p:sp>
      <p:sp>
        <p:nvSpPr>
          <p:cNvPr id="54" name="Text 52"/>
          <p:cNvSpPr/>
          <p:nvPr/>
        </p:nvSpPr>
        <p:spPr>
          <a:xfrm>
            <a:off x="9683750" y="10323215"/>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ONE_TO_ONE</a:t>
            </a:r>
            <a:endParaRPr lang="en-US" sz="975" dirty="0"/>
          </a:p>
        </p:txBody>
      </p:sp>
      <p:sp>
        <p:nvSpPr>
          <p:cNvPr id="55" name="Text 53"/>
          <p:cNvSpPr/>
          <p:nvPr/>
        </p:nvSpPr>
        <p:spPr>
          <a:xfrm>
            <a:off x="11722101" y="10259716"/>
            <a:ext cx="1228427"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Lookup tables.</a:t>
            </a:r>
            <a:endParaRPr lang="en-US" sz="1350" dirty="0"/>
          </a:p>
        </p:txBody>
      </p:sp>
      <p:sp>
        <p:nvSpPr>
          <p:cNvPr id="56" name="Text 54"/>
          <p:cNvSpPr/>
          <p:nvPr/>
        </p:nvSpPr>
        <p:spPr>
          <a:xfrm>
            <a:off x="9683750" y="10978158"/>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MANY_TO_MANY</a:t>
            </a:r>
            <a:endParaRPr lang="en-US" sz="975" dirty="0"/>
          </a:p>
        </p:txBody>
      </p:sp>
      <p:sp>
        <p:nvSpPr>
          <p:cNvPr id="57" name="Text 55"/>
          <p:cNvSpPr/>
          <p:nvPr/>
        </p:nvSpPr>
        <p:spPr>
          <a:xfrm>
            <a:off x="11722101" y="10914658"/>
            <a:ext cx="2385913"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Bridge / junction tables. Rare.</a:t>
            </a:r>
            <a:endParaRPr lang="en-US" sz="1350" dirty="0"/>
          </a:p>
        </p:txBody>
      </p:sp>
      <p:sp>
        <p:nvSpPr>
          <p:cNvPr id="58" name="Text 56"/>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59" name="Text 57"/>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45 / 60</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LOOKML PARAMETERS</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The parameters you'll actually manipulate.</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exam objective says "manipulate simple LookML parameters". These are the parameters it means — the ones you change in 90% of real LookML edits.</a:t>
            </a:r>
            <a:endParaRPr lang="en-US" sz="1650" dirty="0"/>
          </a:p>
        </p:txBody>
      </p:sp>
      <p:sp>
        <p:nvSpPr>
          <p:cNvPr id="9" name="Shape 7"/>
          <p:cNvSpPr/>
          <p:nvPr/>
        </p:nvSpPr>
        <p:spPr>
          <a:xfrm>
            <a:off x="1219200" y="4267696"/>
            <a:ext cx="2552700" cy="631825"/>
          </a:xfrm>
          <a:prstGeom prst="rect">
            <a:avLst/>
          </a:prstGeom>
          <a:solidFill>
            <a:srgbClr val="F1F2F4"/>
          </a:solidFill>
          <a:ln/>
        </p:spPr>
      </p:sp>
      <p:sp>
        <p:nvSpPr>
          <p:cNvPr id="10" name="Shape 8"/>
          <p:cNvSpPr/>
          <p:nvPr/>
        </p:nvSpPr>
        <p:spPr>
          <a:xfrm>
            <a:off x="1219200" y="4893171"/>
            <a:ext cx="2552700" cy="9525"/>
          </a:xfrm>
          <a:prstGeom prst="rect">
            <a:avLst/>
          </a:prstGeom>
          <a:solidFill>
            <a:srgbClr val="C9CFD8"/>
          </a:solidFill>
          <a:ln/>
        </p:spPr>
      </p:sp>
      <p:sp>
        <p:nvSpPr>
          <p:cNvPr id="11" name="Text 9"/>
          <p:cNvSpPr/>
          <p:nvPr/>
        </p:nvSpPr>
        <p:spPr>
          <a:xfrm>
            <a:off x="1447800" y="4439146"/>
            <a:ext cx="2172081" cy="320675"/>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PARAMETER</a:t>
            </a:r>
            <a:endParaRPr lang="en-US" sz="975" dirty="0"/>
          </a:p>
        </p:txBody>
      </p:sp>
      <p:sp>
        <p:nvSpPr>
          <p:cNvPr id="12" name="Shape 10"/>
          <p:cNvSpPr/>
          <p:nvPr/>
        </p:nvSpPr>
        <p:spPr>
          <a:xfrm>
            <a:off x="3771900" y="4267696"/>
            <a:ext cx="7561461" cy="631825"/>
          </a:xfrm>
          <a:prstGeom prst="rect">
            <a:avLst/>
          </a:prstGeom>
          <a:solidFill>
            <a:srgbClr val="F1F2F4"/>
          </a:solidFill>
          <a:ln/>
        </p:spPr>
      </p:sp>
      <p:sp>
        <p:nvSpPr>
          <p:cNvPr id="13" name="Shape 11"/>
          <p:cNvSpPr/>
          <p:nvPr/>
        </p:nvSpPr>
        <p:spPr>
          <a:xfrm>
            <a:off x="3771900" y="4893171"/>
            <a:ext cx="7561461" cy="9525"/>
          </a:xfrm>
          <a:prstGeom prst="rect">
            <a:avLst/>
          </a:prstGeom>
          <a:solidFill>
            <a:srgbClr val="C9CFD8"/>
          </a:solidFill>
          <a:ln/>
        </p:spPr>
      </p:sp>
      <p:sp>
        <p:nvSpPr>
          <p:cNvPr id="14" name="Text 12"/>
          <p:cNvSpPr/>
          <p:nvPr/>
        </p:nvSpPr>
        <p:spPr>
          <a:xfrm>
            <a:off x="4000500" y="4439146"/>
            <a:ext cx="7331105"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B1F2A"/>
                </a:solidFill>
                <a:latin typeface="Manrope" pitchFamily="34" charset="0"/>
                <a:ea typeface="Manrope" pitchFamily="34" charset="-122"/>
                <a:cs typeface="Manrope" pitchFamily="34" charset="-120"/>
              </a:rPr>
              <a:t>What it does</a:t>
            </a:r>
            <a:endParaRPr lang="en-US" sz="1650" dirty="0"/>
          </a:p>
        </p:txBody>
      </p:sp>
      <p:sp>
        <p:nvSpPr>
          <p:cNvPr id="15" name="Shape 13"/>
          <p:cNvSpPr/>
          <p:nvPr/>
        </p:nvSpPr>
        <p:spPr>
          <a:xfrm>
            <a:off x="11333362" y="4267696"/>
            <a:ext cx="5735439" cy="631825"/>
          </a:xfrm>
          <a:prstGeom prst="rect">
            <a:avLst/>
          </a:prstGeom>
          <a:solidFill>
            <a:srgbClr val="F1F2F4"/>
          </a:solidFill>
          <a:ln/>
        </p:spPr>
      </p:sp>
      <p:sp>
        <p:nvSpPr>
          <p:cNvPr id="16" name="Shape 14"/>
          <p:cNvSpPr/>
          <p:nvPr/>
        </p:nvSpPr>
        <p:spPr>
          <a:xfrm>
            <a:off x="11333362" y="4893171"/>
            <a:ext cx="5735439" cy="9525"/>
          </a:xfrm>
          <a:prstGeom prst="rect">
            <a:avLst/>
          </a:prstGeom>
          <a:solidFill>
            <a:srgbClr val="C9CFD8"/>
          </a:solidFill>
          <a:ln/>
        </p:spPr>
      </p:sp>
      <p:sp>
        <p:nvSpPr>
          <p:cNvPr id="17" name="Text 15"/>
          <p:cNvSpPr/>
          <p:nvPr/>
        </p:nvSpPr>
        <p:spPr>
          <a:xfrm>
            <a:off x="11561962" y="4439146"/>
            <a:ext cx="5450303"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Example</a:t>
            </a:r>
            <a:endParaRPr lang="en-US" sz="1650" dirty="0"/>
          </a:p>
        </p:txBody>
      </p:sp>
      <p:sp>
        <p:nvSpPr>
          <p:cNvPr id="18" name="Shape 16"/>
          <p:cNvSpPr/>
          <p:nvPr/>
        </p:nvSpPr>
        <p:spPr>
          <a:xfrm>
            <a:off x="1219200" y="5477173"/>
            <a:ext cx="2552700" cy="9525"/>
          </a:xfrm>
          <a:prstGeom prst="rect">
            <a:avLst/>
          </a:prstGeom>
          <a:solidFill>
            <a:srgbClr val="C9CFD8"/>
          </a:solidFill>
          <a:ln/>
        </p:spPr>
      </p:sp>
      <p:sp>
        <p:nvSpPr>
          <p:cNvPr id="19" name="Text 17"/>
          <p:cNvSpPr/>
          <p:nvPr/>
        </p:nvSpPr>
        <p:spPr>
          <a:xfrm>
            <a:off x="1447800" y="5070971"/>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LABEL</a:t>
            </a:r>
            <a:endParaRPr lang="en-US" sz="975" dirty="0"/>
          </a:p>
        </p:txBody>
      </p:sp>
      <p:sp>
        <p:nvSpPr>
          <p:cNvPr id="20" name="Shape 18"/>
          <p:cNvSpPr/>
          <p:nvPr/>
        </p:nvSpPr>
        <p:spPr>
          <a:xfrm>
            <a:off x="3771900" y="5477173"/>
            <a:ext cx="7561461" cy="9525"/>
          </a:xfrm>
          <a:prstGeom prst="rect">
            <a:avLst/>
          </a:prstGeom>
          <a:solidFill>
            <a:srgbClr val="C9CFD8"/>
          </a:solidFill>
          <a:ln/>
        </p:spPr>
      </p:sp>
      <p:sp>
        <p:nvSpPr>
          <p:cNvPr id="21" name="Text 19"/>
          <p:cNvSpPr/>
          <p:nvPr/>
        </p:nvSpPr>
        <p:spPr>
          <a:xfrm>
            <a:off x="4000500" y="5070971"/>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Display name shown to analysts in the field picker.</a:t>
            </a:r>
            <a:endParaRPr lang="en-US" sz="1275" dirty="0"/>
          </a:p>
        </p:txBody>
      </p:sp>
      <p:sp>
        <p:nvSpPr>
          <p:cNvPr id="22" name="Shape 20"/>
          <p:cNvSpPr/>
          <p:nvPr/>
        </p:nvSpPr>
        <p:spPr>
          <a:xfrm>
            <a:off x="11333362" y="5477173"/>
            <a:ext cx="5735439" cy="9525"/>
          </a:xfrm>
          <a:prstGeom prst="rect">
            <a:avLst/>
          </a:prstGeom>
          <a:solidFill>
            <a:srgbClr val="C9CFD8"/>
          </a:solidFill>
          <a:ln/>
        </p:spPr>
      </p:sp>
      <p:sp>
        <p:nvSpPr>
          <p:cNvPr id="23" name="Text 21"/>
          <p:cNvSpPr/>
          <p:nvPr/>
        </p:nvSpPr>
        <p:spPr>
          <a:xfrm>
            <a:off x="11561962" y="5070971"/>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label: "Customer Country"</a:t>
            </a:r>
            <a:endParaRPr lang="en-US" sz="1050" dirty="0"/>
          </a:p>
        </p:txBody>
      </p:sp>
      <p:sp>
        <p:nvSpPr>
          <p:cNvPr id="24" name="Shape 22"/>
          <p:cNvSpPr/>
          <p:nvPr/>
        </p:nvSpPr>
        <p:spPr>
          <a:xfrm>
            <a:off x="1219200" y="6061174"/>
            <a:ext cx="2552700" cy="9525"/>
          </a:xfrm>
          <a:prstGeom prst="rect">
            <a:avLst/>
          </a:prstGeom>
          <a:solidFill>
            <a:srgbClr val="C9CFD8"/>
          </a:solidFill>
          <a:ln/>
        </p:spPr>
      </p:sp>
      <p:sp>
        <p:nvSpPr>
          <p:cNvPr id="25" name="Text 23"/>
          <p:cNvSpPr/>
          <p:nvPr/>
        </p:nvSpPr>
        <p:spPr>
          <a:xfrm>
            <a:off x="1447800" y="5654973"/>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DESCRIPTION</a:t>
            </a:r>
            <a:endParaRPr lang="en-US" sz="975" dirty="0"/>
          </a:p>
        </p:txBody>
      </p:sp>
      <p:sp>
        <p:nvSpPr>
          <p:cNvPr id="26" name="Shape 24"/>
          <p:cNvSpPr/>
          <p:nvPr/>
        </p:nvSpPr>
        <p:spPr>
          <a:xfrm>
            <a:off x="3771900" y="6061174"/>
            <a:ext cx="7561461" cy="9525"/>
          </a:xfrm>
          <a:prstGeom prst="rect">
            <a:avLst/>
          </a:prstGeom>
          <a:solidFill>
            <a:srgbClr val="C9CFD8"/>
          </a:solidFill>
          <a:ln/>
        </p:spPr>
      </p:sp>
      <p:sp>
        <p:nvSpPr>
          <p:cNvPr id="27" name="Text 25"/>
          <p:cNvSpPr/>
          <p:nvPr/>
        </p:nvSpPr>
        <p:spPr>
          <a:xfrm>
            <a:off x="4000500" y="5654973"/>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Hover help. Use to document caveats &amp; sources.</a:t>
            </a:r>
            <a:endParaRPr lang="en-US" sz="1275" dirty="0"/>
          </a:p>
        </p:txBody>
      </p:sp>
      <p:sp>
        <p:nvSpPr>
          <p:cNvPr id="28" name="Shape 26"/>
          <p:cNvSpPr/>
          <p:nvPr/>
        </p:nvSpPr>
        <p:spPr>
          <a:xfrm>
            <a:off x="11333362" y="6061174"/>
            <a:ext cx="5735439" cy="9525"/>
          </a:xfrm>
          <a:prstGeom prst="rect">
            <a:avLst/>
          </a:prstGeom>
          <a:solidFill>
            <a:srgbClr val="C9CFD8"/>
          </a:solidFill>
          <a:ln/>
        </p:spPr>
      </p:sp>
      <p:sp>
        <p:nvSpPr>
          <p:cNvPr id="29" name="Text 27"/>
          <p:cNvSpPr/>
          <p:nvPr/>
        </p:nvSpPr>
        <p:spPr>
          <a:xfrm>
            <a:off x="11561962" y="5654973"/>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description: "ISO-2, excl. test users"</a:t>
            </a:r>
            <a:endParaRPr lang="en-US" sz="1050" dirty="0"/>
          </a:p>
        </p:txBody>
      </p:sp>
      <p:sp>
        <p:nvSpPr>
          <p:cNvPr id="30" name="Shape 28"/>
          <p:cNvSpPr/>
          <p:nvPr/>
        </p:nvSpPr>
        <p:spPr>
          <a:xfrm>
            <a:off x="1219200" y="6645176"/>
            <a:ext cx="2552700" cy="9525"/>
          </a:xfrm>
          <a:prstGeom prst="rect">
            <a:avLst/>
          </a:prstGeom>
          <a:solidFill>
            <a:srgbClr val="C9CFD8"/>
          </a:solidFill>
          <a:ln/>
        </p:spPr>
      </p:sp>
      <p:sp>
        <p:nvSpPr>
          <p:cNvPr id="31" name="Text 29"/>
          <p:cNvSpPr/>
          <p:nvPr/>
        </p:nvSpPr>
        <p:spPr>
          <a:xfrm>
            <a:off x="1447800" y="6238974"/>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TYPE</a:t>
            </a:r>
            <a:endParaRPr lang="en-US" sz="975" dirty="0"/>
          </a:p>
        </p:txBody>
      </p:sp>
      <p:sp>
        <p:nvSpPr>
          <p:cNvPr id="32" name="Shape 30"/>
          <p:cNvSpPr/>
          <p:nvPr/>
        </p:nvSpPr>
        <p:spPr>
          <a:xfrm>
            <a:off x="3771900" y="6645176"/>
            <a:ext cx="7561461" cy="9525"/>
          </a:xfrm>
          <a:prstGeom prst="rect">
            <a:avLst/>
          </a:prstGeom>
          <a:solidFill>
            <a:srgbClr val="C9CFD8"/>
          </a:solidFill>
          <a:ln/>
        </p:spPr>
      </p:sp>
      <p:sp>
        <p:nvSpPr>
          <p:cNvPr id="33" name="Text 31"/>
          <p:cNvSpPr/>
          <p:nvPr/>
        </p:nvSpPr>
        <p:spPr>
          <a:xfrm>
            <a:off x="4000500" y="6238974"/>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Data type of dimension or aggregation kind for measure.</a:t>
            </a:r>
            <a:endParaRPr lang="en-US" sz="1275" dirty="0"/>
          </a:p>
        </p:txBody>
      </p:sp>
      <p:sp>
        <p:nvSpPr>
          <p:cNvPr id="34" name="Shape 32"/>
          <p:cNvSpPr/>
          <p:nvPr/>
        </p:nvSpPr>
        <p:spPr>
          <a:xfrm>
            <a:off x="11333362" y="6645176"/>
            <a:ext cx="5735439" cy="9525"/>
          </a:xfrm>
          <a:prstGeom prst="rect">
            <a:avLst/>
          </a:prstGeom>
          <a:solidFill>
            <a:srgbClr val="C9CFD8"/>
          </a:solidFill>
          <a:ln/>
        </p:spPr>
      </p:sp>
      <p:sp>
        <p:nvSpPr>
          <p:cNvPr id="35" name="Text 33"/>
          <p:cNvSpPr/>
          <p:nvPr/>
        </p:nvSpPr>
        <p:spPr>
          <a:xfrm>
            <a:off x="11561962" y="6238974"/>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type: number · type: sum</a:t>
            </a:r>
            <a:endParaRPr lang="en-US" sz="1050" dirty="0"/>
          </a:p>
        </p:txBody>
      </p:sp>
      <p:sp>
        <p:nvSpPr>
          <p:cNvPr id="36" name="Shape 34"/>
          <p:cNvSpPr/>
          <p:nvPr/>
        </p:nvSpPr>
        <p:spPr>
          <a:xfrm>
            <a:off x="1219200" y="7229178"/>
            <a:ext cx="2552700" cy="9525"/>
          </a:xfrm>
          <a:prstGeom prst="rect">
            <a:avLst/>
          </a:prstGeom>
          <a:solidFill>
            <a:srgbClr val="C9CFD8"/>
          </a:solidFill>
          <a:ln/>
        </p:spPr>
      </p:sp>
      <p:sp>
        <p:nvSpPr>
          <p:cNvPr id="37" name="Text 35"/>
          <p:cNvSpPr/>
          <p:nvPr/>
        </p:nvSpPr>
        <p:spPr>
          <a:xfrm>
            <a:off x="1447800" y="6822976"/>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SQL</a:t>
            </a:r>
            <a:endParaRPr lang="en-US" sz="975" dirty="0"/>
          </a:p>
        </p:txBody>
      </p:sp>
      <p:sp>
        <p:nvSpPr>
          <p:cNvPr id="38" name="Shape 36"/>
          <p:cNvSpPr/>
          <p:nvPr/>
        </p:nvSpPr>
        <p:spPr>
          <a:xfrm>
            <a:off x="3771900" y="7229178"/>
            <a:ext cx="7561461" cy="9525"/>
          </a:xfrm>
          <a:prstGeom prst="rect">
            <a:avLst/>
          </a:prstGeom>
          <a:solidFill>
            <a:srgbClr val="C9CFD8"/>
          </a:solidFill>
          <a:ln/>
        </p:spPr>
      </p:sp>
      <p:sp>
        <p:nvSpPr>
          <p:cNvPr id="39" name="Text 37"/>
          <p:cNvSpPr/>
          <p:nvPr/>
        </p:nvSpPr>
        <p:spPr>
          <a:xfrm>
            <a:off x="4000500" y="6822976"/>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The SQL expression that produces the value.</a:t>
            </a:r>
            <a:endParaRPr lang="en-US" sz="1275" dirty="0"/>
          </a:p>
        </p:txBody>
      </p:sp>
      <p:sp>
        <p:nvSpPr>
          <p:cNvPr id="40" name="Shape 38"/>
          <p:cNvSpPr/>
          <p:nvPr/>
        </p:nvSpPr>
        <p:spPr>
          <a:xfrm>
            <a:off x="11333362" y="7229178"/>
            <a:ext cx="5735439" cy="9525"/>
          </a:xfrm>
          <a:prstGeom prst="rect">
            <a:avLst/>
          </a:prstGeom>
          <a:solidFill>
            <a:srgbClr val="C9CFD8"/>
          </a:solidFill>
          <a:ln/>
        </p:spPr>
      </p:sp>
      <p:sp>
        <p:nvSpPr>
          <p:cNvPr id="41" name="Text 39"/>
          <p:cNvSpPr/>
          <p:nvPr/>
        </p:nvSpPr>
        <p:spPr>
          <a:xfrm>
            <a:off x="11561962" y="6822976"/>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sql: ${TABLE}.amount ;;</a:t>
            </a:r>
            <a:endParaRPr lang="en-US" sz="1050" dirty="0"/>
          </a:p>
        </p:txBody>
      </p:sp>
      <p:sp>
        <p:nvSpPr>
          <p:cNvPr id="42" name="Shape 40"/>
          <p:cNvSpPr/>
          <p:nvPr/>
        </p:nvSpPr>
        <p:spPr>
          <a:xfrm>
            <a:off x="1219200" y="7813179"/>
            <a:ext cx="2552700" cy="9525"/>
          </a:xfrm>
          <a:prstGeom prst="rect">
            <a:avLst/>
          </a:prstGeom>
          <a:solidFill>
            <a:srgbClr val="C9CFD8"/>
          </a:solidFill>
          <a:ln/>
        </p:spPr>
      </p:sp>
      <p:sp>
        <p:nvSpPr>
          <p:cNvPr id="43" name="Text 41"/>
          <p:cNvSpPr/>
          <p:nvPr/>
        </p:nvSpPr>
        <p:spPr>
          <a:xfrm>
            <a:off x="1447800" y="7406978"/>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VALUE_FORMAT</a:t>
            </a:r>
            <a:endParaRPr lang="en-US" sz="975" dirty="0"/>
          </a:p>
        </p:txBody>
      </p:sp>
      <p:sp>
        <p:nvSpPr>
          <p:cNvPr id="44" name="Shape 42"/>
          <p:cNvSpPr/>
          <p:nvPr/>
        </p:nvSpPr>
        <p:spPr>
          <a:xfrm>
            <a:off x="3771900" y="7813179"/>
            <a:ext cx="7561461" cy="9525"/>
          </a:xfrm>
          <a:prstGeom prst="rect">
            <a:avLst/>
          </a:prstGeom>
          <a:solidFill>
            <a:srgbClr val="C9CFD8"/>
          </a:solidFill>
          <a:ln/>
        </p:spPr>
      </p:sp>
      <p:sp>
        <p:nvSpPr>
          <p:cNvPr id="45" name="Text 43"/>
          <p:cNvSpPr/>
          <p:nvPr/>
        </p:nvSpPr>
        <p:spPr>
          <a:xfrm>
            <a:off x="4000500" y="7406978"/>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Excel-style format string for display.</a:t>
            </a:r>
            <a:endParaRPr lang="en-US" sz="1275" dirty="0"/>
          </a:p>
        </p:txBody>
      </p:sp>
      <p:sp>
        <p:nvSpPr>
          <p:cNvPr id="46" name="Shape 44"/>
          <p:cNvSpPr/>
          <p:nvPr/>
        </p:nvSpPr>
        <p:spPr>
          <a:xfrm>
            <a:off x="11333362" y="7813179"/>
            <a:ext cx="5735439" cy="9525"/>
          </a:xfrm>
          <a:prstGeom prst="rect">
            <a:avLst/>
          </a:prstGeom>
          <a:solidFill>
            <a:srgbClr val="C9CFD8"/>
          </a:solidFill>
          <a:ln/>
        </p:spPr>
      </p:sp>
      <p:sp>
        <p:nvSpPr>
          <p:cNvPr id="47" name="Text 45"/>
          <p:cNvSpPr/>
          <p:nvPr/>
        </p:nvSpPr>
        <p:spPr>
          <a:xfrm>
            <a:off x="11561962" y="7406978"/>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value_format: "$#,##0.00"</a:t>
            </a:r>
            <a:endParaRPr lang="en-US" sz="1050" dirty="0"/>
          </a:p>
        </p:txBody>
      </p:sp>
      <p:sp>
        <p:nvSpPr>
          <p:cNvPr id="48" name="Shape 46"/>
          <p:cNvSpPr/>
          <p:nvPr/>
        </p:nvSpPr>
        <p:spPr>
          <a:xfrm>
            <a:off x="1219200" y="8397181"/>
            <a:ext cx="2552700" cy="9525"/>
          </a:xfrm>
          <a:prstGeom prst="rect">
            <a:avLst/>
          </a:prstGeom>
          <a:solidFill>
            <a:srgbClr val="C9CFD8"/>
          </a:solidFill>
          <a:ln/>
        </p:spPr>
      </p:sp>
      <p:sp>
        <p:nvSpPr>
          <p:cNvPr id="49" name="Text 47"/>
          <p:cNvSpPr/>
          <p:nvPr/>
        </p:nvSpPr>
        <p:spPr>
          <a:xfrm>
            <a:off x="1447800" y="7990979"/>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HIDDEN</a:t>
            </a:r>
            <a:endParaRPr lang="en-US" sz="975" dirty="0"/>
          </a:p>
        </p:txBody>
      </p:sp>
      <p:sp>
        <p:nvSpPr>
          <p:cNvPr id="50" name="Shape 48"/>
          <p:cNvSpPr/>
          <p:nvPr/>
        </p:nvSpPr>
        <p:spPr>
          <a:xfrm>
            <a:off x="3771900" y="8397181"/>
            <a:ext cx="7561461" cy="9525"/>
          </a:xfrm>
          <a:prstGeom prst="rect">
            <a:avLst/>
          </a:prstGeom>
          <a:solidFill>
            <a:srgbClr val="C9CFD8"/>
          </a:solidFill>
          <a:ln/>
        </p:spPr>
      </p:sp>
      <p:sp>
        <p:nvSpPr>
          <p:cNvPr id="51" name="Text 49"/>
          <p:cNvSpPr/>
          <p:nvPr/>
        </p:nvSpPr>
        <p:spPr>
          <a:xfrm>
            <a:off x="4000500" y="7990979"/>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Hides from the picker without deleting.</a:t>
            </a:r>
            <a:endParaRPr lang="en-US" sz="1275" dirty="0"/>
          </a:p>
        </p:txBody>
      </p:sp>
      <p:sp>
        <p:nvSpPr>
          <p:cNvPr id="52" name="Shape 50"/>
          <p:cNvSpPr/>
          <p:nvPr/>
        </p:nvSpPr>
        <p:spPr>
          <a:xfrm>
            <a:off x="11333362" y="8397181"/>
            <a:ext cx="5735439" cy="9525"/>
          </a:xfrm>
          <a:prstGeom prst="rect">
            <a:avLst/>
          </a:prstGeom>
          <a:solidFill>
            <a:srgbClr val="C9CFD8"/>
          </a:solidFill>
          <a:ln/>
        </p:spPr>
      </p:sp>
      <p:sp>
        <p:nvSpPr>
          <p:cNvPr id="53" name="Text 51"/>
          <p:cNvSpPr/>
          <p:nvPr/>
        </p:nvSpPr>
        <p:spPr>
          <a:xfrm>
            <a:off x="11561962" y="7990979"/>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hidden: yes</a:t>
            </a:r>
            <a:endParaRPr lang="en-US" sz="1050" dirty="0"/>
          </a:p>
        </p:txBody>
      </p:sp>
      <p:sp>
        <p:nvSpPr>
          <p:cNvPr id="54" name="Shape 52"/>
          <p:cNvSpPr/>
          <p:nvPr/>
        </p:nvSpPr>
        <p:spPr>
          <a:xfrm>
            <a:off x="1219200" y="8981182"/>
            <a:ext cx="2552700" cy="9525"/>
          </a:xfrm>
          <a:prstGeom prst="rect">
            <a:avLst/>
          </a:prstGeom>
          <a:solidFill>
            <a:srgbClr val="C9CFD8"/>
          </a:solidFill>
          <a:ln/>
        </p:spPr>
      </p:sp>
      <p:sp>
        <p:nvSpPr>
          <p:cNvPr id="55" name="Text 53"/>
          <p:cNvSpPr/>
          <p:nvPr/>
        </p:nvSpPr>
        <p:spPr>
          <a:xfrm>
            <a:off x="1447800" y="8574981"/>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FILTERS</a:t>
            </a:r>
            <a:endParaRPr lang="en-US" sz="975" dirty="0"/>
          </a:p>
        </p:txBody>
      </p:sp>
      <p:sp>
        <p:nvSpPr>
          <p:cNvPr id="56" name="Shape 54"/>
          <p:cNvSpPr/>
          <p:nvPr/>
        </p:nvSpPr>
        <p:spPr>
          <a:xfrm>
            <a:off x="3771900" y="8981182"/>
            <a:ext cx="7561461" cy="9525"/>
          </a:xfrm>
          <a:prstGeom prst="rect">
            <a:avLst/>
          </a:prstGeom>
          <a:solidFill>
            <a:srgbClr val="C9CFD8"/>
          </a:solidFill>
          <a:ln/>
        </p:spPr>
      </p:sp>
      <p:sp>
        <p:nvSpPr>
          <p:cNvPr id="57" name="Text 55"/>
          <p:cNvSpPr/>
          <p:nvPr/>
        </p:nvSpPr>
        <p:spPr>
          <a:xfrm>
            <a:off x="4000500" y="8574981"/>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Built-in filter for a measure or Explore.</a:t>
            </a:r>
            <a:endParaRPr lang="en-US" sz="1275" dirty="0"/>
          </a:p>
        </p:txBody>
      </p:sp>
      <p:sp>
        <p:nvSpPr>
          <p:cNvPr id="58" name="Shape 56"/>
          <p:cNvSpPr/>
          <p:nvPr/>
        </p:nvSpPr>
        <p:spPr>
          <a:xfrm>
            <a:off x="11333362" y="8981182"/>
            <a:ext cx="5735439" cy="9525"/>
          </a:xfrm>
          <a:prstGeom prst="rect">
            <a:avLst/>
          </a:prstGeom>
          <a:solidFill>
            <a:srgbClr val="C9CFD8"/>
          </a:solidFill>
          <a:ln/>
        </p:spPr>
      </p:sp>
      <p:sp>
        <p:nvSpPr>
          <p:cNvPr id="59" name="Text 57"/>
          <p:cNvSpPr/>
          <p:nvPr/>
        </p:nvSpPr>
        <p:spPr>
          <a:xfrm>
            <a:off x="11561962" y="8574981"/>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filters: [status: "complete"]</a:t>
            </a:r>
            <a:endParaRPr lang="en-US" sz="1050" dirty="0"/>
          </a:p>
        </p:txBody>
      </p:sp>
      <p:sp>
        <p:nvSpPr>
          <p:cNvPr id="60" name="Shape 58"/>
          <p:cNvSpPr/>
          <p:nvPr/>
        </p:nvSpPr>
        <p:spPr>
          <a:xfrm>
            <a:off x="1219200" y="9565184"/>
            <a:ext cx="2552700" cy="9525"/>
          </a:xfrm>
          <a:prstGeom prst="rect">
            <a:avLst/>
          </a:prstGeom>
          <a:solidFill>
            <a:srgbClr val="C9CFD8"/>
          </a:solidFill>
          <a:ln/>
        </p:spPr>
      </p:sp>
      <p:sp>
        <p:nvSpPr>
          <p:cNvPr id="61" name="Text 59"/>
          <p:cNvSpPr/>
          <p:nvPr/>
        </p:nvSpPr>
        <p:spPr>
          <a:xfrm>
            <a:off x="1447800" y="9158982"/>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DRILL_FIELDS</a:t>
            </a:r>
            <a:endParaRPr lang="en-US" sz="975" dirty="0"/>
          </a:p>
        </p:txBody>
      </p:sp>
      <p:sp>
        <p:nvSpPr>
          <p:cNvPr id="62" name="Shape 60"/>
          <p:cNvSpPr/>
          <p:nvPr/>
        </p:nvSpPr>
        <p:spPr>
          <a:xfrm>
            <a:off x="3771900" y="9565184"/>
            <a:ext cx="7561461" cy="9525"/>
          </a:xfrm>
          <a:prstGeom prst="rect">
            <a:avLst/>
          </a:prstGeom>
          <a:solidFill>
            <a:srgbClr val="C9CFD8"/>
          </a:solidFill>
          <a:ln/>
        </p:spPr>
      </p:sp>
      <p:sp>
        <p:nvSpPr>
          <p:cNvPr id="63" name="Text 61"/>
          <p:cNvSpPr/>
          <p:nvPr/>
        </p:nvSpPr>
        <p:spPr>
          <a:xfrm>
            <a:off x="4000500" y="9158982"/>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Fields shown when a user drills into a value.</a:t>
            </a:r>
            <a:endParaRPr lang="en-US" sz="1275" dirty="0"/>
          </a:p>
        </p:txBody>
      </p:sp>
      <p:sp>
        <p:nvSpPr>
          <p:cNvPr id="64" name="Shape 62"/>
          <p:cNvSpPr/>
          <p:nvPr/>
        </p:nvSpPr>
        <p:spPr>
          <a:xfrm>
            <a:off x="11333362" y="9565184"/>
            <a:ext cx="5735439" cy="9525"/>
          </a:xfrm>
          <a:prstGeom prst="rect">
            <a:avLst/>
          </a:prstGeom>
          <a:solidFill>
            <a:srgbClr val="C9CFD8"/>
          </a:solidFill>
          <a:ln/>
        </p:spPr>
      </p:sp>
      <p:sp>
        <p:nvSpPr>
          <p:cNvPr id="65" name="Text 63"/>
          <p:cNvSpPr/>
          <p:nvPr/>
        </p:nvSpPr>
        <p:spPr>
          <a:xfrm>
            <a:off x="11561962" y="9158982"/>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drill_fields: [id, email, amount]</a:t>
            </a:r>
            <a:endParaRPr lang="en-US" sz="1050" dirty="0"/>
          </a:p>
        </p:txBody>
      </p:sp>
      <p:sp>
        <p:nvSpPr>
          <p:cNvPr id="66" name="Shape 64"/>
          <p:cNvSpPr/>
          <p:nvPr/>
        </p:nvSpPr>
        <p:spPr>
          <a:xfrm>
            <a:off x="1219200" y="10149185"/>
            <a:ext cx="2552700" cy="9525"/>
          </a:xfrm>
          <a:prstGeom prst="rect">
            <a:avLst/>
          </a:prstGeom>
          <a:solidFill>
            <a:srgbClr val="C9CFD8"/>
          </a:solidFill>
          <a:ln/>
        </p:spPr>
      </p:sp>
      <p:sp>
        <p:nvSpPr>
          <p:cNvPr id="67" name="Text 65"/>
          <p:cNvSpPr/>
          <p:nvPr/>
        </p:nvSpPr>
        <p:spPr>
          <a:xfrm>
            <a:off x="1447800" y="9742984"/>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PRIMARY_KEY</a:t>
            </a:r>
            <a:endParaRPr lang="en-US" sz="975" dirty="0"/>
          </a:p>
        </p:txBody>
      </p:sp>
      <p:sp>
        <p:nvSpPr>
          <p:cNvPr id="68" name="Shape 66"/>
          <p:cNvSpPr/>
          <p:nvPr/>
        </p:nvSpPr>
        <p:spPr>
          <a:xfrm>
            <a:off x="3771900" y="10149185"/>
            <a:ext cx="7561461" cy="9525"/>
          </a:xfrm>
          <a:prstGeom prst="rect">
            <a:avLst/>
          </a:prstGeom>
          <a:solidFill>
            <a:srgbClr val="C9CFD8"/>
          </a:solidFill>
          <a:ln/>
        </p:spPr>
      </p:sp>
      <p:sp>
        <p:nvSpPr>
          <p:cNvPr id="69" name="Text 67"/>
          <p:cNvSpPr/>
          <p:nvPr/>
        </p:nvSpPr>
        <p:spPr>
          <a:xfrm>
            <a:off x="4000500" y="9742984"/>
            <a:ext cx="7331105"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Marks the row identifier (one per view).</a:t>
            </a:r>
            <a:endParaRPr lang="en-US" sz="1275" dirty="0"/>
          </a:p>
        </p:txBody>
      </p:sp>
      <p:sp>
        <p:nvSpPr>
          <p:cNvPr id="70" name="Shape 68"/>
          <p:cNvSpPr/>
          <p:nvPr/>
        </p:nvSpPr>
        <p:spPr>
          <a:xfrm>
            <a:off x="11333362" y="10149185"/>
            <a:ext cx="5735439" cy="9525"/>
          </a:xfrm>
          <a:prstGeom prst="rect">
            <a:avLst/>
          </a:prstGeom>
          <a:solidFill>
            <a:srgbClr val="C9CFD8"/>
          </a:solidFill>
          <a:ln/>
        </p:spPr>
      </p:sp>
      <p:sp>
        <p:nvSpPr>
          <p:cNvPr id="71" name="Text 69"/>
          <p:cNvSpPr/>
          <p:nvPr/>
        </p:nvSpPr>
        <p:spPr>
          <a:xfrm>
            <a:off x="11561962" y="9742984"/>
            <a:ext cx="5450303" cy="272852"/>
          </a:xfrm>
          <a:prstGeom prst="rect">
            <a:avLst/>
          </a:prstGeom>
          <a:noFill/>
          <a:ln/>
        </p:spPr>
        <p:txBody>
          <a:bodyPr wrap="square" lIns="25400" tIns="25400" rIns="25400" bIns="25400" rtlCol="0" anchor="t">
            <a:normAutofit/>
          </a:bodyPr>
          <a:lstStyle/>
          <a:p>
            <a:pPr algn="l" indent="0" marL="0">
              <a:lnSpc>
                <a:spcPct val="145000"/>
              </a:lnSpc>
              <a:buNone/>
            </a:pPr>
            <a:r>
              <a:rPr lang="en-US" sz="1050" dirty="0">
                <a:solidFill>
                  <a:srgbClr val="1B1F2A"/>
                </a:solidFill>
                <a:latin typeface="JetBrains Mono" pitchFamily="34" charset="0"/>
                <a:ea typeface="JetBrains Mono" pitchFamily="34" charset="-122"/>
                <a:cs typeface="JetBrains Mono" pitchFamily="34" charset="-120"/>
              </a:rPr>
              <a:t>primary_key: yes</a:t>
            </a:r>
            <a:endParaRPr lang="en-US" sz="1050" dirty="0"/>
          </a:p>
        </p:txBody>
      </p:sp>
      <p:sp>
        <p:nvSpPr>
          <p:cNvPr id="72" name="Text 70"/>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73" name="Text 71"/>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46 / 60</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FILTERS IN LOOKML</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Three filter-like parameters — pick the right one.</a:t>
            </a:r>
            <a:endParaRPr lang="en-US" sz="4800" dirty="0"/>
          </a:p>
        </p:txBody>
      </p:sp>
      <p:sp>
        <p:nvSpPr>
          <p:cNvPr id="8" name="Text 6"/>
          <p:cNvSpPr/>
          <p:nvPr/>
        </p:nvSpPr>
        <p:spPr>
          <a:xfrm>
            <a:off x="1219200" y="2971205"/>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"Filter" means different things in different places. Knowing which one to use is a frequent exam question.</a:t>
            </a:r>
            <a:endParaRPr lang="en-US" sz="1650" dirty="0"/>
          </a:p>
        </p:txBody>
      </p:sp>
      <p:sp>
        <p:nvSpPr>
          <p:cNvPr id="9" name="Shape 7"/>
          <p:cNvSpPr/>
          <p:nvPr/>
        </p:nvSpPr>
        <p:spPr>
          <a:xfrm>
            <a:off x="1219200" y="3808413"/>
            <a:ext cx="5080000" cy="3591124"/>
          </a:xfrm>
          <a:prstGeom prst="roundRect">
            <a:avLst>
              <a:gd name="adj" fmla="val 3713"/>
            </a:avLst>
          </a:prstGeom>
          <a:solidFill>
            <a:srgbClr val="F1F2F4"/>
          </a:solidFill>
          <a:ln w="6350">
            <a:solidFill>
              <a:srgbClr val="C9CFD8"/>
            </a:solidFill>
            <a:prstDash val="solid"/>
          </a:ln>
        </p:spPr>
      </p:sp>
      <p:sp>
        <p:nvSpPr>
          <p:cNvPr id="10" name="Text 8"/>
          <p:cNvSpPr/>
          <p:nvPr/>
        </p:nvSpPr>
        <p:spPr>
          <a:xfrm>
            <a:off x="1530350" y="4119562"/>
            <a:ext cx="459143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FILTER (ON MEASURE)</a:t>
            </a:r>
            <a:endParaRPr lang="en-US" sz="900" dirty="0"/>
          </a:p>
        </p:txBody>
      </p:sp>
      <p:sp>
        <p:nvSpPr>
          <p:cNvPr id="11" name="Text 9"/>
          <p:cNvSpPr/>
          <p:nvPr/>
        </p:nvSpPr>
        <p:spPr>
          <a:xfrm>
            <a:off x="1530350" y="4398963"/>
            <a:ext cx="459143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Always-on aggregation filter.</a:t>
            </a:r>
            <a:endParaRPr lang="en-US" sz="1950" dirty="0"/>
          </a:p>
        </p:txBody>
      </p:sp>
      <p:sp>
        <p:nvSpPr>
          <p:cNvPr id="12" name="Text 10"/>
          <p:cNvSpPr/>
          <p:nvPr/>
        </p:nvSpPr>
        <p:spPr>
          <a:xfrm>
            <a:off x="1530350" y="4817071"/>
            <a:ext cx="4591431"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Restricts the rows fed into one measure. Invisible to the user.</a:t>
            </a:r>
            <a:endParaRPr lang="en-US" sz="1275" dirty="0"/>
          </a:p>
        </p:txBody>
      </p:sp>
      <p:sp>
        <p:nvSpPr>
          <p:cNvPr id="13" name="Shape 11"/>
          <p:cNvSpPr/>
          <p:nvPr/>
        </p:nvSpPr>
        <p:spPr>
          <a:xfrm>
            <a:off x="1530350" y="5531446"/>
            <a:ext cx="4457700" cy="1058863"/>
          </a:xfrm>
          <a:prstGeom prst="roundRect">
            <a:avLst>
              <a:gd name="adj" fmla="val 12594"/>
            </a:avLst>
          </a:prstGeom>
          <a:solidFill>
            <a:srgbClr val="1B1F2A"/>
          </a:solidFill>
          <a:ln/>
        </p:spPr>
      </p:sp>
      <p:sp>
        <p:nvSpPr>
          <p:cNvPr id="14" name="Text 12"/>
          <p:cNvSpPr/>
          <p:nvPr/>
        </p:nvSpPr>
        <p:spPr>
          <a:xfrm>
            <a:off x="1701800" y="5664796"/>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completed_orders {</a:t>
            </a:r>
            <a:endParaRPr lang="en-US" sz="975" dirty="0"/>
          </a:p>
        </p:txBody>
      </p:sp>
      <p:sp>
        <p:nvSpPr>
          <p:cNvPr id="15" name="Text 13"/>
          <p:cNvSpPr/>
          <p:nvPr/>
        </p:nvSpPr>
        <p:spPr>
          <a:xfrm>
            <a:off x="1701800" y="5862836"/>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dirty="0">
                <a:solidFill>
                  <a:srgbClr val="7BD0FF"/>
                </a:solidFill>
                <a:latin typeface="JetBrains Mono" pitchFamily="34" charset="0"/>
                <a:ea typeface="JetBrains Mono" pitchFamily="34" charset="-122"/>
                <a:cs typeface="JetBrains Mono" pitchFamily="34" charset="-120"/>
              </a:rPr>
              <a:t>count</a:t>
            </a:r>
            <a:endParaRPr lang="en-US" sz="975" dirty="0"/>
          </a:p>
        </p:txBody>
      </p:sp>
      <p:sp>
        <p:nvSpPr>
          <p:cNvPr id="16" name="Text 14"/>
          <p:cNvSpPr/>
          <p:nvPr/>
        </p:nvSpPr>
        <p:spPr>
          <a:xfrm>
            <a:off x="1701800" y="6060877"/>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filters:</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[status: </a:t>
            </a:r>
            <a:pPr algn="l" indent="0" marL="0">
              <a:lnSpc>
                <a:spcPct val="160000"/>
              </a:lnSpc>
              <a:buNone/>
            </a:pPr>
            <a:r>
              <a:rPr lang="en-US" sz="975" dirty="0">
                <a:solidFill>
                  <a:srgbClr val="B5E48C"/>
                </a:solidFill>
                <a:latin typeface="JetBrains Mono" pitchFamily="34" charset="0"/>
                <a:ea typeface="JetBrains Mono" pitchFamily="34" charset="-122"/>
                <a:cs typeface="JetBrains Mono" pitchFamily="34" charset="-120"/>
              </a:rPr>
              <a:t>"complete"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a:t>
            </a:r>
            <a:endParaRPr lang="en-US" sz="975" dirty="0"/>
          </a:p>
        </p:txBody>
      </p:sp>
      <p:sp>
        <p:nvSpPr>
          <p:cNvPr id="17" name="Text 15"/>
          <p:cNvSpPr/>
          <p:nvPr/>
        </p:nvSpPr>
        <p:spPr>
          <a:xfrm>
            <a:off x="1701800" y="6258917"/>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a:t>
            </a:r>
            <a:endParaRPr lang="en-US" sz="975" dirty="0"/>
          </a:p>
        </p:txBody>
      </p:sp>
      <p:sp>
        <p:nvSpPr>
          <p:cNvPr id="18" name="Shape 16"/>
          <p:cNvSpPr/>
          <p:nvPr/>
        </p:nvSpPr>
        <p:spPr>
          <a:xfrm>
            <a:off x="6604000" y="3808413"/>
            <a:ext cx="5080000" cy="3591124"/>
          </a:xfrm>
          <a:prstGeom prst="roundRect">
            <a:avLst>
              <a:gd name="adj" fmla="val 3713"/>
            </a:avLst>
          </a:prstGeom>
          <a:solidFill>
            <a:srgbClr val="F1F2F4"/>
          </a:solidFill>
          <a:ln w="6350">
            <a:solidFill>
              <a:srgbClr val="C9CFD8"/>
            </a:solidFill>
            <a:prstDash val="solid"/>
          </a:ln>
        </p:spPr>
      </p:sp>
      <p:sp>
        <p:nvSpPr>
          <p:cNvPr id="19" name="Text 17"/>
          <p:cNvSpPr/>
          <p:nvPr/>
        </p:nvSpPr>
        <p:spPr>
          <a:xfrm>
            <a:off x="6915150" y="4119562"/>
            <a:ext cx="459143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FILTER PARAMETER</a:t>
            </a:r>
            <a:endParaRPr lang="en-US" sz="900" dirty="0"/>
          </a:p>
        </p:txBody>
      </p:sp>
      <p:sp>
        <p:nvSpPr>
          <p:cNvPr id="20" name="Text 18"/>
          <p:cNvSpPr/>
          <p:nvPr/>
        </p:nvSpPr>
        <p:spPr>
          <a:xfrm>
            <a:off x="6915150" y="4398963"/>
            <a:ext cx="459143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User-facing filter input.</a:t>
            </a:r>
            <a:endParaRPr lang="en-US" sz="1950" dirty="0"/>
          </a:p>
        </p:txBody>
      </p:sp>
      <p:sp>
        <p:nvSpPr>
          <p:cNvPr id="21" name="Text 19"/>
          <p:cNvSpPr/>
          <p:nvPr/>
        </p:nvSpPr>
        <p:spPr>
          <a:xfrm>
            <a:off x="6915150" y="4817071"/>
            <a:ext cx="4591431" cy="58102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Adds a control to the Explore that doesn't filter directly — its value is referenced via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 condition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t>
            </a:r>
            <a:endParaRPr lang="en-US" sz="1275" dirty="0"/>
          </a:p>
        </p:txBody>
      </p:sp>
      <p:sp>
        <p:nvSpPr>
          <p:cNvPr id="22" name="Shape 20"/>
          <p:cNvSpPr/>
          <p:nvPr/>
        </p:nvSpPr>
        <p:spPr>
          <a:xfrm>
            <a:off x="6915150" y="5588596"/>
            <a:ext cx="4457700" cy="860822"/>
          </a:xfrm>
          <a:prstGeom prst="roundRect">
            <a:avLst>
              <a:gd name="adj" fmla="val 15491"/>
            </a:avLst>
          </a:prstGeom>
          <a:solidFill>
            <a:srgbClr val="1B1F2A"/>
          </a:solidFill>
          <a:ln/>
        </p:spPr>
      </p:sp>
      <p:sp>
        <p:nvSpPr>
          <p:cNvPr id="23" name="Text 21"/>
          <p:cNvSpPr/>
          <p:nvPr/>
        </p:nvSpPr>
        <p:spPr>
          <a:xfrm>
            <a:off x="7086600" y="5721946"/>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filter:</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date_range {</a:t>
            </a:r>
            <a:endParaRPr lang="en-US" sz="975" dirty="0"/>
          </a:p>
        </p:txBody>
      </p:sp>
      <p:sp>
        <p:nvSpPr>
          <p:cNvPr id="24" name="Text 22"/>
          <p:cNvSpPr/>
          <p:nvPr/>
        </p:nvSpPr>
        <p:spPr>
          <a:xfrm>
            <a:off x="7086600" y="5919986"/>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dirty="0">
                <a:solidFill>
                  <a:srgbClr val="7BD0FF"/>
                </a:solidFill>
                <a:latin typeface="JetBrains Mono" pitchFamily="34" charset="0"/>
                <a:ea typeface="JetBrains Mono" pitchFamily="34" charset="-122"/>
                <a:cs typeface="JetBrains Mono" pitchFamily="34" charset="-120"/>
              </a:rPr>
              <a:t>date</a:t>
            </a:r>
            <a:endParaRPr lang="en-US" sz="975" dirty="0"/>
          </a:p>
        </p:txBody>
      </p:sp>
      <p:sp>
        <p:nvSpPr>
          <p:cNvPr id="25" name="Text 23"/>
          <p:cNvSpPr/>
          <p:nvPr/>
        </p:nvSpPr>
        <p:spPr>
          <a:xfrm>
            <a:off x="7086600" y="6118027"/>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a:t>
            </a:r>
            <a:endParaRPr lang="en-US" sz="975" dirty="0"/>
          </a:p>
        </p:txBody>
      </p:sp>
      <p:sp>
        <p:nvSpPr>
          <p:cNvPr id="26" name="Shape 24"/>
          <p:cNvSpPr/>
          <p:nvPr/>
        </p:nvSpPr>
        <p:spPr>
          <a:xfrm>
            <a:off x="11988801" y="3808413"/>
            <a:ext cx="5080000" cy="3591124"/>
          </a:xfrm>
          <a:prstGeom prst="roundRect">
            <a:avLst>
              <a:gd name="adj" fmla="val 3713"/>
            </a:avLst>
          </a:prstGeom>
          <a:solidFill>
            <a:srgbClr val="F1F2F4"/>
          </a:solidFill>
          <a:ln w="6350">
            <a:solidFill>
              <a:srgbClr val="C9CFD8"/>
            </a:solidFill>
            <a:prstDash val="solid"/>
          </a:ln>
        </p:spPr>
      </p:sp>
      <p:sp>
        <p:nvSpPr>
          <p:cNvPr id="27" name="Text 25"/>
          <p:cNvSpPr/>
          <p:nvPr/>
        </p:nvSpPr>
        <p:spPr>
          <a:xfrm>
            <a:off x="12299950" y="4119562"/>
            <a:ext cx="459143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PARAMETER</a:t>
            </a:r>
            <a:endParaRPr lang="en-US" sz="900" dirty="0"/>
          </a:p>
        </p:txBody>
      </p:sp>
      <p:sp>
        <p:nvSpPr>
          <p:cNvPr id="28" name="Text 26"/>
          <p:cNvSpPr/>
          <p:nvPr/>
        </p:nvSpPr>
        <p:spPr>
          <a:xfrm>
            <a:off x="12299950" y="4398963"/>
            <a:ext cx="459143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Templated user input.</a:t>
            </a:r>
            <a:endParaRPr lang="en-US" sz="1950" dirty="0"/>
          </a:p>
        </p:txBody>
      </p:sp>
      <p:sp>
        <p:nvSpPr>
          <p:cNvPr id="29" name="Text 27"/>
          <p:cNvSpPr/>
          <p:nvPr/>
        </p:nvSpPr>
        <p:spPr>
          <a:xfrm>
            <a:off x="12299950" y="4817071"/>
            <a:ext cx="4591431" cy="82391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 typed input passed into SQL via Liquid </a:t>
            </a:r>
            <a:pPr algn="l" indent="0" marL="0">
              <a:lnSpc>
                <a:spcPct val="150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 parameter %}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 change column, period, currency at run-time.</a:t>
            </a:r>
            <a:endParaRPr lang="en-US" sz="1275" dirty="0"/>
          </a:p>
        </p:txBody>
      </p:sp>
      <p:sp>
        <p:nvSpPr>
          <p:cNvPr id="30" name="Shape 28"/>
          <p:cNvSpPr/>
          <p:nvPr/>
        </p:nvSpPr>
        <p:spPr>
          <a:xfrm>
            <a:off x="12299950" y="5831483"/>
            <a:ext cx="4457700" cy="1256903"/>
          </a:xfrm>
          <a:prstGeom prst="roundRect">
            <a:avLst>
              <a:gd name="adj" fmla="val 10609"/>
            </a:avLst>
          </a:prstGeom>
          <a:solidFill>
            <a:srgbClr val="1B1F2A"/>
          </a:solidFill>
          <a:ln/>
        </p:spPr>
      </p:sp>
      <p:sp>
        <p:nvSpPr>
          <p:cNvPr id="31" name="Text 29"/>
          <p:cNvSpPr/>
          <p:nvPr/>
        </p:nvSpPr>
        <p:spPr>
          <a:xfrm>
            <a:off x="12471400" y="5964833"/>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parameter:</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grain {</a:t>
            </a:r>
            <a:endParaRPr lang="en-US" sz="975" dirty="0"/>
          </a:p>
        </p:txBody>
      </p:sp>
      <p:sp>
        <p:nvSpPr>
          <p:cNvPr id="32" name="Text 30"/>
          <p:cNvSpPr/>
          <p:nvPr/>
        </p:nvSpPr>
        <p:spPr>
          <a:xfrm>
            <a:off x="12471400" y="6162874"/>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dirty="0">
                <a:solidFill>
                  <a:srgbClr val="7BD0FF"/>
                </a:solidFill>
                <a:latin typeface="JetBrains Mono" pitchFamily="34" charset="0"/>
                <a:ea typeface="JetBrains Mono" pitchFamily="34" charset="-122"/>
                <a:cs typeface="JetBrains Mono" pitchFamily="34" charset="-120"/>
              </a:rPr>
              <a:t>unquoted</a:t>
            </a:r>
            <a:endParaRPr lang="en-US" sz="975" dirty="0"/>
          </a:p>
        </p:txBody>
      </p:sp>
      <p:sp>
        <p:nvSpPr>
          <p:cNvPr id="33" name="Text 31"/>
          <p:cNvSpPr/>
          <p:nvPr/>
        </p:nvSpPr>
        <p:spPr>
          <a:xfrm>
            <a:off x="12471400" y="6360914"/>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allowed_value: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value: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dirty="0">
                <a:solidFill>
                  <a:srgbClr val="B5E48C"/>
                </a:solidFill>
                <a:latin typeface="JetBrains Mono" pitchFamily="34" charset="0"/>
                <a:ea typeface="JetBrains Mono" pitchFamily="34" charset="-122"/>
                <a:cs typeface="JetBrains Mono" pitchFamily="34" charset="-120"/>
              </a:rPr>
              <a:t>"day"</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endParaRPr lang="en-US" sz="975" dirty="0"/>
          </a:p>
        </p:txBody>
      </p:sp>
      <p:sp>
        <p:nvSpPr>
          <p:cNvPr id="34" name="Text 32"/>
          <p:cNvSpPr/>
          <p:nvPr/>
        </p:nvSpPr>
        <p:spPr>
          <a:xfrm>
            <a:off x="12471400" y="6558955"/>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allowed_value: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 </a:t>
            </a:r>
            <a:pPr algn="l" indent="0" marL="0">
              <a:lnSpc>
                <a:spcPct val="160000"/>
              </a:lnSpc>
              <a:buNone/>
            </a:pPr>
            <a:r>
              <a:rPr lang="en-US" sz="975" b="1" dirty="0">
                <a:solidFill>
                  <a:srgbClr val="FF9D6B"/>
                </a:solidFill>
                <a:latin typeface="JetBrains Mono" pitchFamily="34" charset="0"/>
                <a:ea typeface="JetBrains Mono" pitchFamily="34" charset="-122"/>
                <a:cs typeface="JetBrains Mono" pitchFamily="34" charset="-120"/>
              </a:rPr>
              <a:t>value:</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975" dirty="0">
                <a:solidFill>
                  <a:srgbClr val="B5E48C"/>
                </a:solidFill>
                <a:latin typeface="JetBrains Mono" pitchFamily="34" charset="0"/>
                <a:ea typeface="JetBrains Mono" pitchFamily="34" charset="-122"/>
                <a:cs typeface="JetBrains Mono" pitchFamily="34" charset="-120"/>
              </a:rPr>
              <a:t>"month"</a:t>
            </a:r>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 }</a:t>
            </a:r>
            <a:endParaRPr lang="en-US" sz="975" dirty="0"/>
          </a:p>
        </p:txBody>
      </p:sp>
      <p:sp>
        <p:nvSpPr>
          <p:cNvPr id="35" name="Text 33"/>
          <p:cNvSpPr/>
          <p:nvPr/>
        </p:nvSpPr>
        <p:spPr>
          <a:xfrm>
            <a:off x="12471400" y="6756996"/>
            <a:ext cx="423824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E8ECF3"/>
                </a:solidFill>
                <a:latin typeface="JetBrains Mono" pitchFamily="34" charset="0"/>
                <a:ea typeface="JetBrains Mono" pitchFamily="34" charset="-122"/>
                <a:cs typeface="JetBrains Mono" pitchFamily="34" charset="-120"/>
              </a:rPr>
              <a:t>}</a:t>
            </a:r>
            <a:endParaRPr lang="en-US" sz="975" dirty="0"/>
          </a:p>
        </p:txBody>
      </p:sp>
      <p:sp>
        <p:nvSpPr>
          <p:cNvPr id="36" name="Shape 34"/>
          <p:cNvSpPr/>
          <p:nvPr/>
        </p:nvSpPr>
        <p:spPr>
          <a:xfrm>
            <a:off x="1219200" y="7628136"/>
            <a:ext cx="15849600" cy="1999853"/>
          </a:xfrm>
          <a:prstGeom prst="roundRect">
            <a:avLst>
              <a:gd name="adj" fmla="val 6668"/>
            </a:avLst>
          </a:prstGeom>
          <a:solidFill>
            <a:srgbClr val="1B1F2A"/>
          </a:solidFill>
          <a:ln/>
        </p:spPr>
      </p:sp>
      <p:sp>
        <p:nvSpPr>
          <p:cNvPr id="37" name="Shape 35"/>
          <p:cNvSpPr/>
          <p:nvPr/>
        </p:nvSpPr>
        <p:spPr>
          <a:xfrm>
            <a:off x="1219200" y="7628136"/>
            <a:ext cx="15849600" cy="464741"/>
          </a:xfrm>
          <a:prstGeom prst="roundRect">
            <a:avLst>
              <a:gd name="adj" fmla="val 28693"/>
            </a:avLst>
          </a:prstGeom>
          <a:solidFill>
            <a:srgbClr val="0E1118"/>
          </a:solidFill>
          <a:ln/>
        </p:spPr>
      </p:sp>
      <p:sp>
        <p:nvSpPr>
          <p:cNvPr id="38" name="Text 36"/>
          <p:cNvSpPr/>
          <p:nvPr/>
        </p:nvSpPr>
        <p:spPr>
          <a:xfrm>
            <a:off x="1447800" y="7761486"/>
            <a:ext cx="3303361"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PUTTING IT TOGETHER — LIQUID IN SQL</a:t>
            </a:r>
            <a:endParaRPr lang="en-US" sz="975" dirty="0"/>
          </a:p>
        </p:txBody>
      </p:sp>
      <p:sp>
        <p:nvSpPr>
          <p:cNvPr id="39" name="Text 37"/>
          <p:cNvSpPr/>
          <p:nvPr/>
        </p:nvSpPr>
        <p:spPr>
          <a:xfrm>
            <a:off x="16290330" y="7761486"/>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LIQUID</a:t>
            </a:r>
            <a:endParaRPr lang="en-US" sz="975" dirty="0"/>
          </a:p>
        </p:txBody>
      </p:sp>
      <p:sp>
        <p:nvSpPr>
          <p:cNvPr id="40" name="Text 38"/>
          <p:cNvSpPr/>
          <p:nvPr/>
        </p:nvSpPr>
        <p:spPr>
          <a:xfrm>
            <a:off x="1524000" y="8264327"/>
            <a:ext cx="15697200"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period {</a:t>
            </a:r>
            <a:endParaRPr lang="en-US" sz="1350" dirty="0"/>
          </a:p>
        </p:txBody>
      </p:sp>
      <p:sp>
        <p:nvSpPr>
          <p:cNvPr id="41" name="Text 39"/>
          <p:cNvSpPr/>
          <p:nvPr/>
        </p:nvSpPr>
        <p:spPr>
          <a:xfrm>
            <a:off x="1524000" y="8538567"/>
            <a:ext cx="15697200"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date</a:t>
            </a:r>
            <a:endParaRPr lang="en-US" sz="1350" dirty="0"/>
          </a:p>
        </p:txBody>
      </p:sp>
      <p:sp>
        <p:nvSpPr>
          <p:cNvPr id="42" name="Shape 40"/>
          <p:cNvSpPr/>
          <p:nvPr/>
        </p:nvSpPr>
        <p:spPr>
          <a:xfrm>
            <a:off x="1466850" y="8812808"/>
            <a:ext cx="15354300" cy="274241"/>
          </a:xfrm>
          <a:prstGeom prst="rect">
            <a:avLst/>
          </a:prstGeom>
          <a:solidFill>
            <a:srgbClr val="FF671F">
              <a:alpha val="15000"/>
            </a:srgbClr>
          </a:solidFill>
          <a:ln/>
        </p:spPr>
      </p:sp>
      <p:sp>
        <p:nvSpPr>
          <p:cNvPr id="43" name="Shape 41"/>
          <p:cNvSpPr/>
          <p:nvPr/>
        </p:nvSpPr>
        <p:spPr>
          <a:xfrm>
            <a:off x="1466850" y="8812808"/>
            <a:ext cx="25400" cy="274241"/>
          </a:xfrm>
          <a:prstGeom prst="rect">
            <a:avLst/>
          </a:prstGeom>
          <a:solidFill>
            <a:srgbClr val="FF671F"/>
          </a:solidFill>
          <a:ln/>
        </p:spPr>
      </p:sp>
      <p:sp>
        <p:nvSpPr>
          <p:cNvPr id="44" name="Text 42"/>
          <p:cNvSpPr/>
          <p:nvPr/>
        </p:nvSpPr>
        <p:spPr>
          <a:xfrm>
            <a:off x="1577975" y="8812808"/>
            <a:ext cx="15646654"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E0AAFF"/>
                </a:solidFill>
                <a:latin typeface="JetBrains Mono" pitchFamily="34" charset="0"/>
                <a:ea typeface="JetBrains Mono" pitchFamily="34" charset="-122"/>
                <a:cs typeface="JetBrains Mono" pitchFamily="34" charset="-120"/>
              </a:rPr>
              <a:t>DATE_TRUNC</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${TABLE}.created_at</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 parameter grain %}) ;;</a:t>
            </a:r>
            <a:endParaRPr lang="en-US" sz="1350" dirty="0"/>
          </a:p>
        </p:txBody>
      </p:sp>
      <p:sp>
        <p:nvSpPr>
          <p:cNvPr id="45" name="Text 43"/>
          <p:cNvSpPr/>
          <p:nvPr/>
        </p:nvSpPr>
        <p:spPr>
          <a:xfrm>
            <a:off x="1524000" y="9087049"/>
            <a:ext cx="15697200"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6" name="Text 44"/>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47" name="Text 45"/>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47 / 60</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WORKED EXAMPLE 01</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Modify a dimension — three small edits.</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A product manager asks: "Can we relabel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Customer Tier </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to </a:t>
            </a:r>
            <a:pPr algn="l" indent="0" marL="0">
              <a:lnSpc>
                <a:spcPct val="145000"/>
              </a:lnSpc>
              <a:buNone/>
            </a:pPr>
            <a:r>
              <a:rPr lang="en-US" sz="1650" b="1" dirty="0">
                <a:solidFill>
                  <a:srgbClr val="384358"/>
                </a:solidFill>
                <a:latin typeface="Manrope" pitchFamily="34" charset="0"/>
                <a:ea typeface="Manrope" pitchFamily="34" charset="-122"/>
                <a:cs typeface="Manrope" pitchFamily="34" charset="-120"/>
              </a:rPr>
              <a:t>Plan Tier</a:t>
            </a:r>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 format it nicely, and hide the internal tier_id column?"</a:t>
            </a:r>
            <a:endParaRPr lang="en-US" sz="1650" dirty="0"/>
          </a:p>
        </p:txBody>
      </p:sp>
      <p:sp>
        <p:nvSpPr>
          <p:cNvPr id="9" name="Shape 7"/>
          <p:cNvSpPr/>
          <p:nvPr/>
        </p:nvSpPr>
        <p:spPr>
          <a:xfrm>
            <a:off x="1219200" y="3963888"/>
            <a:ext cx="7696200" cy="4468019"/>
          </a:xfrm>
          <a:prstGeom prst="roundRect">
            <a:avLst>
              <a:gd name="adj" fmla="val 2985"/>
            </a:avLst>
          </a:prstGeom>
          <a:solidFill>
            <a:srgbClr val="1B1F2A"/>
          </a:solidFill>
          <a:ln/>
        </p:spPr>
      </p:sp>
      <p:sp>
        <p:nvSpPr>
          <p:cNvPr id="10" name="Shape 8"/>
          <p:cNvSpPr/>
          <p:nvPr/>
        </p:nvSpPr>
        <p:spPr>
          <a:xfrm>
            <a:off x="1219200" y="3963888"/>
            <a:ext cx="7696200" cy="464741"/>
          </a:xfrm>
          <a:prstGeom prst="roundRect">
            <a:avLst>
              <a:gd name="adj" fmla="val 28693"/>
            </a:avLst>
          </a:prstGeom>
          <a:solidFill>
            <a:srgbClr val="0E1118"/>
          </a:solidFill>
          <a:ln/>
        </p:spPr>
      </p:sp>
      <p:sp>
        <p:nvSpPr>
          <p:cNvPr id="11" name="Text 9"/>
          <p:cNvSpPr/>
          <p:nvPr/>
        </p:nvSpPr>
        <p:spPr>
          <a:xfrm>
            <a:off x="1447800" y="4097238"/>
            <a:ext cx="2366963"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BEFORE — ORDERS.VIEW.LKML</a:t>
            </a:r>
            <a:endParaRPr lang="en-US" sz="975" dirty="0"/>
          </a:p>
        </p:txBody>
      </p:sp>
      <p:sp>
        <p:nvSpPr>
          <p:cNvPr id="12" name="Text 10"/>
          <p:cNvSpPr/>
          <p:nvPr/>
        </p:nvSpPr>
        <p:spPr>
          <a:xfrm>
            <a:off x="8503444" y="4097238"/>
            <a:ext cx="259556"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V1</a:t>
            </a:r>
            <a:endParaRPr lang="en-US" sz="975" dirty="0"/>
          </a:p>
        </p:txBody>
      </p:sp>
      <p:sp>
        <p:nvSpPr>
          <p:cNvPr id="13" name="Text 11"/>
          <p:cNvSpPr/>
          <p:nvPr/>
        </p:nvSpPr>
        <p:spPr>
          <a:xfrm>
            <a:off x="1524000" y="460007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tier_id {</a:t>
            </a:r>
            <a:endParaRPr lang="en-US" sz="1350" dirty="0"/>
          </a:p>
        </p:txBody>
      </p:sp>
      <p:sp>
        <p:nvSpPr>
          <p:cNvPr id="14" name="Text 12"/>
          <p:cNvSpPr/>
          <p:nvPr/>
        </p:nvSpPr>
        <p:spPr>
          <a:xfrm>
            <a:off x="1524000" y="487432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15" name="Text 13"/>
          <p:cNvSpPr/>
          <p:nvPr/>
        </p:nvSpPr>
        <p:spPr>
          <a:xfrm>
            <a:off x="1524000" y="514856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${TABLE}.tier_id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6" name="Text 14"/>
          <p:cNvSpPr/>
          <p:nvPr/>
        </p:nvSpPr>
        <p:spPr>
          <a:xfrm>
            <a:off x="1524000" y="5422801"/>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17" name="Text 15"/>
          <p:cNvSpPr/>
          <p:nvPr/>
        </p:nvSpPr>
        <p:spPr>
          <a:xfrm>
            <a:off x="1524000" y="569704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customer_tier {</a:t>
            </a:r>
            <a:endParaRPr lang="en-US" sz="1350" dirty="0"/>
          </a:p>
        </p:txBody>
      </p:sp>
      <p:sp>
        <p:nvSpPr>
          <p:cNvPr id="18" name="Text 16"/>
          <p:cNvSpPr/>
          <p:nvPr/>
        </p:nvSpPr>
        <p:spPr>
          <a:xfrm>
            <a:off x="1524000" y="597128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string</a:t>
            </a:r>
            <a:endParaRPr lang="en-US" sz="1350" dirty="0"/>
          </a:p>
        </p:txBody>
      </p:sp>
      <p:sp>
        <p:nvSpPr>
          <p:cNvPr id="19" name="Text 17"/>
          <p:cNvSpPr/>
          <p:nvPr/>
        </p:nvSpPr>
        <p:spPr>
          <a:xfrm>
            <a:off x="1524000" y="624552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${TABLE}.customer_tier</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20" name="Text 18"/>
          <p:cNvSpPr/>
          <p:nvPr/>
        </p:nvSpPr>
        <p:spPr>
          <a:xfrm>
            <a:off x="1524000" y="651976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21" name="Text 19"/>
          <p:cNvSpPr/>
          <p:nvPr/>
        </p:nvSpPr>
        <p:spPr>
          <a:xfrm>
            <a:off x="1524000" y="6794004"/>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 Field picker shows:</a:t>
            </a:r>
            <a:endParaRPr lang="en-US" sz="1350" dirty="0"/>
          </a:p>
        </p:txBody>
      </p:sp>
      <p:sp>
        <p:nvSpPr>
          <p:cNvPr id="22" name="Text 20"/>
          <p:cNvSpPr/>
          <p:nvPr/>
        </p:nvSpPr>
        <p:spPr>
          <a:xfrm>
            <a:off x="1524000" y="706824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Tier ID</a:t>
            </a:r>
            <a:endParaRPr lang="en-US" sz="1350" dirty="0"/>
          </a:p>
        </p:txBody>
      </p:sp>
      <p:sp>
        <p:nvSpPr>
          <p:cNvPr id="23" name="Text 21"/>
          <p:cNvSpPr/>
          <p:nvPr/>
        </p:nvSpPr>
        <p:spPr>
          <a:xfrm>
            <a:off x="1524000" y="734248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Customer Tier (free / paid / vip)</a:t>
            </a:r>
            <a:endParaRPr lang="en-US" sz="1350" dirty="0"/>
          </a:p>
        </p:txBody>
      </p:sp>
      <p:sp>
        <p:nvSpPr>
          <p:cNvPr id="24" name="Shape 22"/>
          <p:cNvSpPr/>
          <p:nvPr/>
        </p:nvSpPr>
        <p:spPr>
          <a:xfrm>
            <a:off x="9372600" y="3963888"/>
            <a:ext cx="7696200" cy="4468019"/>
          </a:xfrm>
          <a:prstGeom prst="roundRect">
            <a:avLst>
              <a:gd name="adj" fmla="val 2985"/>
            </a:avLst>
          </a:prstGeom>
          <a:solidFill>
            <a:srgbClr val="1B1F2A"/>
          </a:solidFill>
          <a:ln/>
        </p:spPr>
      </p:sp>
      <p:sp>
        <p:nvSpPr>
          <p:cNvPr id="25" name="Shape 23"/>
          <p:cNvSpPr/>
          <p:nvPr/>
        </p:nvSpPr>
        <p:spPr>
          <a:xfrm>
            <a:off x="9372600" y="3963888"/>
            <a:ext cx="7696200" cy="464741"/>
          </a:xfrm>
          <a:prstGeom prst="roundRect">
            <a:avLst>
              <a:gd name="adj" fmla="val 28693"/>
            </a:avLst>
          </a:prstGeom>
          <a:solidFill>
            <a:srgbClr val="0E1118"/>
          </a:solidFill>
          <a:ln/>
        </p:spPr>
      </p:sp>
      <p:sp>
        <p:nvSpPr>
          <p:cNvPr id="26" name="Text 24"/>
          <p:cNvSpPr/>
          <p:nvPr/>
        </p:nvSpPr>
        <p:spPr>
          <a:xfrm>
            <a:off x="9601200" y="4097238"/>
            <a:ext cx="2275384"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AFTER — ORDERS.VIEW.LKML</a:t>
            </a:r>
            <a:endParaRPr lang="en-US" sz="975" dirty="0"/>
          </a:p>
        </p:txBody>
      </p:sp>
      <p:sp>
        <p:nvSpPr>
          <p:cNvPr id="27" name="Text 25"/>
          <p:cNvSpPr/>
          <p:nvPr/>
        </p:nvSpPr>
        <p:spPr>
          <a:xfrm>
            <a:off x="16656844" y="4097238"/>
            <a:ext cx="259556"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V2</a:t>
            </a:r>
            <a:endParaRPr lang="en-US" sz="975" dirty="0"/>
          </a:p>
        </p:txBody>
      </p:sp>
      <p:sp>
        <p:nvSpPr>
          <p:cNvPr id="28" name="Text 26"/>
          <p:cNvSpPr/>
          <p:nvPr/>
        </p:nvSpPr>
        <p:spPr>
          <a:xfrm>
            <a:off x="9677400" y="460007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tier_id {</a:t>
            </a:r>
            <a:endParaRPr lang="en-US" sz="1350" dirty="0"/>
          </a:p>
        </p:txBody>
      </p:sp>
      <p:sp>
        <p:nvSpPr>
          <p:cNvPr id="29" name="Text 27"/>
          <p:cNvSpPr/>
          <p:nvPr/>
        </p:nvSpPr>
        <p:spPr>
          <a:xfrm>
            <a:off x="9677400" y="487432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30" name="Text 28"/>
          <p:cNvSpPr/>
          <p:nvPr/>
        </p:nvSpPr>
        <p:spPr>
          <a:xfrm>
            <a:off x="9677400" y="514856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${TABLE}.tier_id</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31" name="Shape 29"/>
          <p:cNvSpPr/>
          <p:nvPr/>
        </p:nvSpPr>
        <p:spPr>
          <a:xfrm>
            <a:off x="9620250" y="5422801"/>
            <a:ext cx="7200900" cy="274241"/>
          </a:xfrm>
          <a:prstGeom prst="rect">
            <a:avLst/>
          </a:prstGeom>
          <a:solidFill>
            <a:srgbClr val="FF671F">
              <a:alpha val="15000"/>
            </a:srgbClr>
          </a:solidFill>
          <a:ln/>
        </p:spPr>
      </p:sp>
      <p:sp>
        <p:nvSpPr>
          <p:cNvPr id="32" name="Shape 30"/>
          <p:cNvSpPr/>
          <p:nvPr/>
        </p:nvSpPr>
        <p:spPr>
          <a:xfrm>
            <a:off x="9620250" y="5422801"/>
            <a:ext cx="25400" cy="274241"/>
          </a:xfrm>
          <a:prstGeom prst="rect">
            <a:avLst/>
          </a:prstGeom>
          <a:solidFill>
            <a:srgbClr val="FF671F"/>
          </a:solidFill>
          <a:ln/>
        </p:spPr>
      </p:sp>
      <p:sp>
        <p:nvSpPr>
          <p:cNvPr id="33" name="Text 31"/>
          <p:cNvSpPr/>
          <p:nvPr/>
        </p:nvSpPr>
        <p:spPr>
          <a:xfrm>
            <a:off x="9731375" y="5422801"/>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hidden: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yes</a:t>
            </a:r>
            <a:endParaRPr lang="en-US" sz="1350" dirty="0"/>
          </a:p>
        </p:txBody>
      </p:sp>
      <p:sp>
        <p:nvSpPr>
          <p:cNvPr id="34" name="Text 32"/>
          <p:cNvSpPr/>
          <p:nvPr/>
        </p:nvSpPr>
        <p:spPr>
          <a:xfrm>
            <a:off x="9677400" y="569704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35" name="Text 33"/>
          <p:cNvSpPr/>
          <p:nvPr/>
        </p:nvSpPr>
        <p:spPr>
          <a:xfrm>
            <a:off x="9677400" y="5971282"/>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dimension:</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customer_tier {</a:t>
            </a:r>
            <a:endParaRPr lang="en-US" sz="1350" dirty="0"/>
          </a:p>
        </p:txBody>
      </p:sp>
      <p:sp>
        <p:nvSpPr>
          <p:cNvPr id="36" name="Text 34"/>
          <p:cNvSpPr/>
          <p:nvPr/>
        </p:nvSpPr>
        <p:spPr>
          <a:xfrm>
            <a:off x="9677400" y="6245523"/>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string</a:t>
            </a:r>
            <a:endParaRPr lang="en-US" sz="1350" dirty="0"/>
          </a:p>
        </p:txBody>
      </p:sp>
      <p:sp>
        <p:nvSpPr>
          <p:cNvPr id="37" name="Shape 35"/>
          <p:cNvSpPr/>
          <p:nvPr/>
        </p:nvSpPr>
        <p:spPr>
          <a:xfrm>
            <a:off x="9620250" y="6519764"/>
            <a:ext cx="7200900" cy="274241"/>
          </a:xfrm>
          <a:prstGeom prst="rect">
            <a:avLst/>
          </a:prstGeom>
          <a:solidFill>
            <a:srgbClr val="FF671F">
              <a:alpha val="15000"/>
            </a:srgbClr>
          </a:solidFill>
          <a:ln/>
        </p:spPr>
      </p:sp>
      <p:sp>
        <p:nvSpPr>
          <p:cNvPr id="38" name="Shape 36"/>
          <p:cNvSpPr/>
          <p:nvPr/>
        </p:nvSpPr>
        <p:spPr>
          <a:xfrm>
            <a:off x="9620250" y="6519764"/>
            <a:ext cx="25400" cy="274241"/>
          </a:xfrm>
          <a:prstGeom prst="rect">
            <a:avLst/>
          </a:prstGeom>
          <a:solidFill>
            <a:srgbClr val="FF671F"/>
          </a:solidFill>
          <a:ln/>
        </p:spPr>
      </p:sp>
      <p:sp>
        <p:nvSpPr>
          <p:cNvPr id="39" name="Text 37"/>
          <p:cNvSpPr/>
          <p:nvPr/>
        </p:nvSpPr>
        <p:spPr>
          <a:xfrm>
            <a:off x="9731375" y="651976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label:</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"Plan Tier"</a:t>
            </a:r>
            <a:endParaRPr lang="en-US" sz="1350" dirty="0"/>
          </a:p>
        </p:txBody>
      </p:sp>
      <p:sp>
        <p:nvSpPr>
          <p:cNvPr id="40" name="Shape 38"/>
          <p:cNvSpPr/>
          <p:nvPr/>
        </p:nvSpPr>
        <p:spPr>
          <a:xfrm>
            <a:off x="9620250" y="6794004"/>
            <a:ext cx="7200900" cy="274241"/>
          </a:xfrm>
          <a:prstGeom prst="rect">
            <a:avLst/>
          </a:prstGeom>
          <a:solidFill>
            <a:srgbClr val="FF671F">
              <a:alpha val="15000"/>
            </a:srgbClr>
          </a:solidFill>
          <a:ln/>
        </p:spPr>
      </p:sp>
      <p:sp>
        <p:nvSpPr>
          <p:cNvPr id="41" name="Shape 39"/>
          <p:cNvSpPr/>
          <p:nvPr/>
        </p:nvSpPr>
        <p:spPr>
          <a:xfrm>
            <a:off x="9620250" y="6794004"/>
            <a:ext cx="25400" cy="274241"/>
          </a:xfrm>
          <a:prstGeom prst="rect">
            <a:avLst/>
          </a:prstGeom>
          <a:solidFill>
            <a:srgbClr val="FF671F"/>
          </a:solidFill>
          <a:ln/>
        </p:spPr>
      </p:sp>
      <p:sp>
        <p:nvSpPr>
          <p:cNvPr id="42" name="Text 40"/>
          <p:cNvSpPr/>
          <p:nvPr/>
        </p:nvSpPr>
        <p:spPr>
          <a:xfrm>
            <a:off x="9731375" y="679400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description: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"free · paid · vip"</a:t>
            </a:r>
            <a:endParaRPr lang="en-US" sz="1350" dirty="0"/>
          </a:p>
        </p:txBody>
      </p:sp>
      <p:sp>
        <p:nvSpPr>
          <p:cNvPr id="43" name="Text 41"/>
          <p:cNvSpPr/>
          <p:nvPr/>
        </p:nvSpPr>
        <p:spPr>
          <a:xfrm>
            <a:off x="9677400" y="7068245"/>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INITCAP</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${TABLE}.customer_tier</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44" name="Text 42"/>
          <p:cNvSpPr/>
          <p:nvPr/>
        </p:nvSpPr>
        <p:spPr>
          <a:xfrm>
            <a:off x="9677400" y="734248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5" name="Text 43"/>
          <p:cNvSpPr/>
          <p:nvPr/>
        </p:nvSpPr>
        <p:spPr>
          <a:xfrm>
            <a:off x="9677400" y="7616726"/>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 Field picker shows:</a:t>
            </a:r>
            <a:endParaRPr lang="en-US" sz="1350" dirty="0"/>
          </a:p>
        </p:txBody>
      </p:sp>
      <p:sp>
        <p:nvSpPr>
          <p:cNvPr id="46" name="Text 44"/>
          <p:cNvSpPr/>
          <p:nvPr/>
        </p:nvSpPr>
        <p:spPr>
          <a:xfrm>
            <a:off x="9677400" y="789096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Plan Tier (Free / Paid / Vip)</a:t>
            </a:r>
            <a:endParaRPr lang="en-US" sz="1350" dirty="0"/>
          </a:p>
        </p:txBody>
      </p:sp>
      <p:sp>
        <p:nvSpPr>
          <p:cNvPr id="47" name="Shape 45"/>
          <p:cNvSpPr/>
          <p:nvPr/>
        </p:nvSpPr>
        <p:spPr>
          <a:xfrm>
            <a:off x="1219200" y="8660507"/>
            <a:ext cx="15849600" cy="660400"/>
          </a:xfrm>
          <a:prstGeom prst="roundRect">
            <a:avLst>
              <a:gd name="adj" fmla="val 20192"/>
            </a:avLst>
          </a:prstGeom>
          <a:solidFill>
            <a:srgbClr val="F1F2F4"/>
          </a:solidFill>
          <a:ln/>
        </p:spPr>
      </p:sp>
      <p:sp>
        <p:nvSpPr>
          <p:cNvPr id="48" name="Text 46"/>
          <p:cNvSpPr/>
          <p:nvPr/>
        </p:nvSpPr>
        <p:spPr>
          <a:xfrm>
            <a:off x="1485900" y="8851007"/>
            <a:ext cx="15791688" cy="317500"/>
          </a:xfrm>
          <a:prstGeom prst="rect">
            <a:avLst/>
          </a:prstGeom>
          <a:noFill/>
          <a:ln/>
        </p:spPr>
        <p:txBody>
          <a:bodyPr wrap="square" lIns="25400" tIns="25400" rIns="25400" bIns="25400" rtlCol="0" anchor="t">
            <a:normAutofit/>
          </a:bodyPr>
          <a:lstStyle/>
          <a:p>
            <a:pPr algn="l" indent="0" marL="0">
              <a:buNone/>
            </a:pPr>
            <a:r>
              <a:rPr lang="en-US" sz="1275" b="1" dirty="0">
                <a:solidFill>
                  <a:srgbClr val="1B1F2A"/>
                </a:solidFill>
                <a:latin typeface="Manrope" pitchFamily="34" charset="0"/>
                <a:ea typeface="Manrope" pitchFamily="34" charset="-122"/>
                <a:cs typeface="Manrope" pitchFamily="34" charset="-120"/>
              </a:rPr>
              <a:t>Three changes, three parameters.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Added </a:t>
            </a:r>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hidden</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 added </a:t>
            </a:r>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label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 </a:t>
            </a:r>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description</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 and edited the existing </a:t>
            </a:r>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sql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to capitalise the value. The data didn't move; only the model changed.</a:t>
            </a:r>
            <a:endParaRPr lang="en-US" sz="1275" dirty="0"/>
          </a:p>
        </p:txBody>
      </p:sp>
      <p:sp>
        <p:nvSpPr>
          <p:cNvPr id="49" name="Text 47"/>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50" name="Text 48"/>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48 / 60</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WORKED EXAMPLE 02</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Add a new measure — average order value.</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Finance wants AOV broken out by region. AOV doesn't exist as a column — it's revenue divided by order count. A measure-of-measures handles this cleanly.</a:t>
            </a:r>
            <a:endParaRPr lang="en-US" sz="1650" dirty="0"/>
          </a:p>
        </p:txBody>
      </p:sp>
      <p:sp>
        <p:nvSpPr>
          <p:cNvPr id="9" name="Shape 7"/>
          <p:cNvSpPr/>
          <p:nvPr/>
        </p:nvSpPr>
        <p:spPr>
          <a:xfrm>
            <a:off x="1219200" y="4267696"/>
            <a:ext cx="7696200" cy="5508923"/>
          </a:xfrm>
          <a:prstGeom prst="roundRect">
            <a:avLst>
              <a:gd name="adj" fmla="val 2421"/>
            </a:avLst>
          </a:prstGeom>
          <a:solidFill>
            <a:srgbClr val="1B1F2A"/>
          </a:solidFill>
          <a:ln/>
        </p:spPr>
      </p:sp>
      <p:sp>
        <p:nvSpPr>
          <p:cNvPr id="10" name="Shape 8"/>
          <p:cNvSpPr/>
          <p:nvPr/>
        </p:nvSpPr>
        <p:spPr>
          <a:xfrm>
            <a:off x="1219200" y="4267696"/>
            <a:ext cx="7696200" cy="464741"/>
          </a:xfrm>
          <a:prstGeom prst="roundRect">
            <a:avLst>
              <a:gd name="adj" fmla="val 28693"/>
            </a:avLst>
          </a:prstGeom>
          <a:solidFill>
            <a:srgbClr val="0E1118"/>
          </a:solidFill>
          <a:ln/>
        </p:spPr>
      </p:sp>
      <p:sp>
        <p:nvSpPr>
          <p:cNvPr id="11" name="Text 9"/>
          <p:cNvSpPr/>
          <p:nvPr/>
        </p:nvSpPr>
        <p:spPr>
          <a:xfrm>
            <a:off x="1447800" y="4401046"/>
            <a:ext cx="2366963"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ORDERS.VIEW.LKML — APPEND</a:t>
            </a:r>
            <a:endParaRPr lang="en-US" sz="975" dirty="0"/>
          </a:p>
        </p:txBody>
      </p:sp>
      <p:sp>
        <p:nvSpPr>
          <p:cNvPr id="12" name="Text 10"/>
          <p:cNvSpPr/>
          <p:nvPr/>
        </p:nvSpPr>
        <p:spPr>
          <a:xfrm>
            <a:off x="8136930" y="4401046"/>
            <a:ext cx="626070" cy="236141"/>
          </a:xfrm>
          <a:prstGeom prst="rect">
            <a:avLst/>
          </a:prstGeom>
          <a:noFill/>
          <a:ln/>
        </p:spPr>
        <p:txBody>
          <a:bodyPr wrap="square" lIns="25400" tIns="25400" rIns="25400" bIns="25400" rtlCol="0" anchor="t">
            <a:normAutofit/>
          </a:bodyPr>
          <a:lstStyle/>
          <a:p>
            <a:pPr algn="l" indent="0" marL="0">
              <a:lnSpc>
                <a:spcPct val="160000"/>
              </a:lnSpc>
              <a:buNone/>
            </a:pPr>
            <a:r>
              <a:rPr lang="en-US" sz="975" b="1" spc="137" kern="0" dirty="0">
                <a:solidFill>
                  <a:srgbClr val="FF671F"/>
                </a:solidFill>
                <a:latin typeface="JetBrains Mono" pitchFamily="34" charset="0"/>
                <a:ea typeface="JetBrains Mono" pitchFamily="34" charset="-122"/>
                <a:cs typeface="JetBrains Mono" pitchFamily="34" charset="-120"/>
              </a:rPr>
              <a:t>LOOKML</a:t>
            </a:r>
            <a:endParaRPr lang="en-US" sz="975" dirty="0"/>
          </a:p>
        </p:txBody>
      </p:sp>
      <p:sp>
        <p:nvSpPr>
          <p:cNvPr id="13" name="Text 11"/>
          <p:cNvSpPr/>
          <p:nvPr/>
        </p:nvSpPr>
        <p:spPr>
          <a:xfrm>
            <a:off x="1524000" y="4903887"/>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Existing — already in the view</a:t>
            </a:r>
            <a:endParaRPr lang="en-US" sz="1350" dirty="0"/>
          </a:p>
        </p:txBody>
      </p:sp>
      <p:sp>
        <p:nvSpPr>
          <p:cNvPr id="14" name="Text 12"/>
          <p:cNvSpPr/>
          <p:nvPr/>
        </p:nvSpPr>
        <p:spPr>
          <a:xfrm>
            <a:off x="1524000" y="517812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count {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count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5" name="Text 13"/>
          <p:cNvSpPr/>
          <p:nvPr/>
        </p:nvSpPr>
        <p:spPr>
          <a:xfrm>
            <a:off x="1524000" y="5452368"/>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total_revenue {</a:t>
            </a:r>
            <a:endParaRPr lang="en-US" sz="1350" dirty="0"/>
          </a:p>
        </p:txBody>
      </p:sp>
      <p:sp>
        <p:nvSpPr>
          <p:cNvPr id="16" name="Text 14"/>
          <p:cNvSpPr/>
          <p:nvPr/>
        </p:nvSpPr>
        <p:spPr>
          <a:xfrm>
            <a:off x="1524000" y="572660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sum</a:t>
            </a:r>
            <a:endParaRPr lang="en-US" sz="1350" dirty="0"/>
          </a:p>
        </p:txBody>
      </p:sp>
      <p:sp>
        <p:nvSpPr>
          <p:cNvPr id="17" name="Text 15"/>
          <p:cNvSpPr/>
          <p:nvPr/>
        </p:nvSpPr>
        <p:spPr>
          <a:xfrm>
            <a:off x="1524000" y="6000849"/>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${TABLE}.amount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endParaRPr lang="en-US" sz="1350" dirty="0"/>
          </a:p>
        </p:txBody>
      </p:sp>
      <p:sp>
        <p:nvSpPr>
          <p:cNvPr id="18" name="Text 16"/>
          <p:cNvSpPr/>
          <p:nvPr/>
        </p:nvSpPr>
        <p:spPr>
          <a:xfrm>
            <a:off x="1524000" y="627509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value_format:</a:t>
            </a:r>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"$#,##0"</a:t>
            </a:r>
            <a:endParaRPr lang="en-US" sz="1350" dirty="0"/>
          </a:p>
        </p:txBody>
      </p:sp>
      <p:sp>
        <p:nvSpPr>
          <p:cNvPr id="19" name="Text 17"/>
          <p:cNvSpPr/>
          <p:nvPr/>
        </p:nvSpPr>
        <p:spPr>
          <a:xfrm>
            <a:off x="1524000" y="6549330"/>
            <a:ext cx="7299198"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20" name="Shape 18"/>
          <p:cNvSpPr/>
          <p:nvPr/>
        </p:nvSpPr>
        <p:spPr>
          <a:xfrm>
            <a:off x="1466850" y="6823571"/>
            <a:ext cx="7200900" cy="274241"/>
          </a:xfrm>
          <a:prstGeom prst="rect">
            <a:avLst/>
          </a:prstGeom>
          <a:solidFill>
            <a:srgbClr val="FF671F">
              <a:alpha val="15000"/>
            </a:srgbClr>
          </a:solidFill>
          <a:ln/>
        </p:spPr>
      </p:sp>
      <p:sp>
        <p:nvSpPr>
          <p:cNvPr id="21" name="Shape 19"/>
          <p:cNvSpPr/>
          <p:nvPr/>
        </p:nvSpPr>
        <p:spPr>
          <a:xfrm>
            <a:off x="1466850" y="6823571"/>
            <a:ext cx="25400" cy="274241"/>
          </a:xfrm>
          <a:prstGeom prst="rect">
            <a:avLst/>
          </a:prstGeom>
          <a:solidFill>
            <a:srgbClr val="FF671F"/>
          </a:solidFill>
          <a:ln/>
        </p:spPr>
      </p:sp>
      <p:sp>
        <p:nvSpPr>
          <p:cNvPr id="22" name="Text 20"/>
          <p:cNvSpPr/>
          <p:nvPr/>
        </p:nvSpPr>
        <p:spPr>
          <a:xfrm>
            <a:off x="1577975" y="6823571"/>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i="1" dirty="0">
                <a:solidFill>
                  <a:srgbClr val="FFFFFF">
                    <a:alpha val="40000"/>
                  </a:srgbClr>
                </a:solidFill>
                <a:latin typeface="JetBrains Mono" pitchFamily="34" charset="0"/>
                <a:ea typeface="JetBrains Mono" pitchFamily="34" charset="-122"/>
                <a:cs typeface="JetBrains Mono" pitchFamily="34" charset="-120"/>
              </a:rPr>
              <a:t>// New — append below</a:t>
            </a:r>
            <a:endParaRPr lang="en-US" sz="1350" dirty="0"/>
          </a:p>
        </p:txBody>
      </p:sp>
      <p:sp>
        <p:nvSpPr>
          <p:cNvPr id="23" name="Shape 21"/>
          <p:cNvSpPr/>
          <p:nvPr/>
        </p:nvSpPr>
        <p:spPr>
          <a:xfrm>
            <a:off x="1466850" y="7097812"/>
            <a:ext cx="7200900" cy="274241"/>
          </a:xfrm>
          <a:prstGeom prst="rect">
            <a:avLst/>
          </a:prstGeom>
          <a:solidFill>
            <a:srgbClr val="FF671F">
              <a:alpha val="15000"/>
            </a:srgbClr>
          </a:solidFill>
          <a:ln/>
        </p:spPr>
      </p:sp>
      <p:sp>
        <p:nvSpPr>
          <p:cNvPr id="24" name="Shape 22"/>
          <p:cNvSpPr/>
          <p:nvPr/>
        </p:nvSpPr>
        <p:spPr>
          <a:xfrm>
            <a:off x="1466850" y="7097812"/>
            <a:ext cx="25400" cy="274241"/>
          </a:xfrm>
          <a:prstGeom prst="rect">
            <a:avLst/>
          </a:prstGeom>
          <a:solidFill>
            <a:srgbClr val="FF671F"/>
          </a:solidFill>
          <a:ln/>
        </p:spPr>
      </p:sp>
      <p:sp>
        <p:nvSpPr>
          <p:cNvPr id="25" name="Text 23"/>
          <p:cNvSpPr/>
          <p:nvPr/>
        </p:nvSpPr>
        <p:spPr>
          <a:xfrm>
            <a:off x="1577975" y="7097812"/>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measure: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avg_order_value {</a:t>
            </a:r>
            <a:endParaRPr lang="en-US" sz="1350" dirty="0"/>
          </a:p>
        </p:txBody>
      </p:sp>
      <p:sp>
        <p:nvSpPr>
          <p:cNvPr id="26" name="Shape 24"/>
          <p:cNvSpPr/>
          <p:nvPr/>
        </p:nvSpPr>
        <p:spPr>
          <a:xfrm>
            <a:off x="1466850" y="7372052"/>
            <a:ext cx="7200900" cy="274241"/>
          </a:xfrm>
          <a:prstGeom prst="rect">
            <a:avLst/>
          </a:prstGeom>
          <a:solidFill>
            <a:srgbClr val="FF671F">
              <a:alpha val="15000"/>
            </a:srgbClr>
          </a:solidFill>
          <a:ln/>
        </p:spPr>
      </p:sp>
      <p:sp>
        <p:nvSpPr>
          <p:cNvPr id="27" name="Shape 25"/>
          <p:cNvSpPr/>
          <p:nvPr/>
        </p:nvSpPr>
        <p:spPr>
          <a:xfrm>
            <a:off x="1466850" y="7372052"/>
            <a:ext cx="25400" cy="274241"/>
          </a:xfrm>
          <a:prstGeom prst="rect">
            <a:avLst/>
          </a:prstGeom>
          <a:solidFill>
            <a:srgbClr val="FF671F"/>
          </a:solidFill>
          <a:ln/>
        </p:spPr>
      </p:sp>
      <p:sp>
        <p:nvSpPr>
          <p:cNvPr id="28" name="Text 26"/>
          <p:cNvSpPr/>
          <p:nvPr/>
        </p:nvSpPr>
        <p:spPr>
          <a:xfrm>
            <a:off x="1577975" y="7372052"/>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label:</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"Average Order Value"</a:t>
            </a:r>
            <a:endParaRPr lang="en-US" sz="1350" dirty="0"/>
          </a:p>
        </p:txBody>
      </p:sp>
      <p:sp>
        <p:nvSpPr>
          <p:cNvPr id="29" name="Shape 27"/>
          <p:cNvSpPr/>
          <p:nvPr/>
        </p:nvSpPr>
        <p:spPr>
          <a:xfrm>
            <a:off x="1466850" y="7646293"/>
            <a:ext cx="7200900" cy="274241"/>
          </a:xfrm>
          <a:prstGeom prst="rect">
            <a:avLst/>
          </a:prstGeom>
          <a:solidFill>
            <a:srgbClr val="FF671F">
              <a:alpha val="15000"/>
            </a:srgbClr>
          </a:solidFill>
          <a:ln/>
        </p:spPr>
      </p:sp>
      <p:sp>
        <p:nvSpPr>
          <p:cNvPr id="30" name="Shape 28"/>
          <p:cNvSpPr/>
          <p:nvPr/>
        </p:nvSpPr>
        <p:spPr>
          <a:xfrm>
            <a:off x="1466850" y="7646293"/>
            <a:ext cx="25400" cy="274241"/>
          </a:xfrm>
          <a:prstGeom prst="rect">
            <a:avLst/>
          </a:prstGeom>
          <a:solidFill>
            <a:srgbClr val="FF671F"/>
          </a:solidFill>
          <a:ln/>
        </p:spPr>
      </p:sp>
      <p:sp>
        <p:nvSpPr>
          <p:cNvPr id="31" name="Text 29"/>
          <p:cNvSpPr/>
          <p:nvPr/>
        </p:nvSpPr>
        <p:spPr>
          <a:xfrm>
            <a:off x="1577975" y="7646293"/>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description:</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"Revenue ÷ orders, by group."</a:t>
            </a:r>
            <a:endParaRPr lang="en-US" sz="1350" dirty="0"/>
          </a:p>
        </p:txBody>
      </p:sp>
      <p:sp>
        <p:nvSpPr>
          <p:cNvPr id="32" name="Shape 30"/>
          <p:cNvSpPr/>
          <p:nvPr/>
        </p:nvSpPr>
        <p:spPr>
          <a:xfrm>
            <a:off x="1466850" y="7920534"/>
            <a:ext cx="7200900" cy="274241"/>
          </a:xfrm>
          <a:prstGeom prst="rect">
            <a:avLst/>
          </a:prstGeom>
          <a:solidFill>
            <a:srgbClr val="FF671F">
              <a:alpha val="15000"/>
            </a:srgbClr>
          </a:solidFill>
          <a:ln/>
        </p:spPr>
      </p:sp>
      <p:sp>
        <p:nvSpPr>
          <p:cNvPr id="33" name="Shape 31"/>
          <p:cNvSpPr/>
          <p:nvPr/>
        </p:nvSpPr>
        <p:spPr>
          <a:xfrm>
            <a:off x="1466850" y="7920534"/>
            <a:ext cx="25400" cy="274241"/>
          </a:xfrm>
          <a:prstGeom prst="rect">
            <a:avLst/>
          </a:prstGeom>
          <a:solidFill>
            <a:srgbClr val="FF671F"/>
          </a:solidFill>
          <a:ln/>
        </p:spPr>
      </p:sp>
      <p:sp>
        <p:nvSpPr>
          <p:cNvPr id="34" name="Text 32"/>
          <p:cNvSpPr/>
          <p:nvPr/>
        </p:nvSpPr>
        <p:spPr>
          <a:xfrm>
            <a:off x="1577975" y="792053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type:</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7BD0FF"/>
                </a:solidFill>
                <a:latin typeface="JetBrains Mono" pitchFamily="34" charset="0"/>
                <a:ea typeface="JetBrains Mono" pitchFamily="34" charset="-122"/>
                <a:cs typeface="JetBrains Mono" pitchFamily="34" charset="-120"/>
              </a:rPr>
              <a:t>number</a:t>
            </a:r>
            <a:endParaRPr lang="en-US" sz="1350" dirty="0"/>
          </a:p>
        </p:txBody>
      </p:sp>
      <p:sp>
        <p:nvSpPr>
          <p:cNvPr id="35" name="Shape 33"/>
          <p:cNvSpPr/>
          <p:nvPr/>
        </p:nvSpPr>
        <p:spPr>
          <a:xfrm>
            <a:off x="1466850" y="8194774"/>
            <a:ext cx="7200900" cy="274241"/>
          </a:xfrm>
          <a:prstGeom prst="rect">
            <a:avLst/>
          </a:prstGeom>
          <a:solidFill>
            <a:srgbClr val="FF671F">
              <a:alpha val="15000"/>
            </a:srgbClr>
          </a:solidFill>
          <a:ln/>
        </p:spPr>
      </p:sp>
      <p:sp>
        <p:nvSpPr>
          <p:cNvPr id="36" name="Shape 34"/>
          <p:cNvSpPr/>
          <p:nvPr/>
        </p:nvSpPr>
        <p:spPr>
          <a:xfrm>
            <a:off x="1466850" y="8194774"/>
            <a:ext cx="25400" cy="274241"/>
          </a:xfrm>
          <a:prstGeom prst="rect">
            <a:avLst/>
          </a:prstGeom>
          <a:solidFill>
            <a:srgbClr val="FF671F"/>
          </a:solidFill>
          <a:ln/>
        </p:spPr>
      </p:sp>
      <p:sp>
        <p:nvSpPr>
          <p:cNvPr id="37" name="Text 35"/>
          <p:cNvSpPr/>
          <p:nvPr/>
        </p:nvSpPr>
        <p:spPr>
          <a:xfrm>
            <a:off x="1577975" y="8194774"/>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sql:</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${total_revenue} / NULLIF(${count},0)</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endParaRPr lang="en-US" sz="1350" dirty="0"/>
          </a:p>
        </p:txBody>
      </p:sp>
      <p:sp>
        <p:nvSpPr>
          <p:cNvPr id="38" name="Shape 36"/>
          <p:cNvSpPr/>
          <p:nvPr/>
        </p:nvSpPr>
        <p:spPr>
          <a:xfrm>
            <a:off x="1466850" y="8469015"/>
            <a:ext cx="7200900" cy="274241"/>
          </a:xfrm>
          <a:prstGeom prst="rect">
            <a:avLst/>
          </a:prstGeom>
          <a:solidFill>
            <a:srgbClr val="FF671F">
              <a:alpha val="15000"/>
            </a:srgbClr>
          </a:solidFill>
          <a:ln/>
        </p:spPr>
      </p:sp>
      <p:sp>
        <p:nvSpPr>
          <p:cNvPr id="39" name="Shape 37"/>
          <p:cNvSpPr/>
          <p:nvPr/>
        </p:nvSpPr>
        <p:spPr>
          <a:xfrm>
            <a:off x="1466850" y="8469015"/>
            <a:ext cx="25400" cy="274241"/>
          </a:xfrm>
          <a:prstGeom prst="rect">
            <a:avLst/>
          </a:prstGeom>
          <a:solidFill>
            <a:srgbClr val="FF671F"/>
          </a:solidFill>
          <a:ln/>
        </p:spPr>
      </p:sp>
      <p:sp>
        <p:nvSpPr>
          <p:cNvPr id="40" name="Text 38"/>
          <p:cNvSpPr/>
          <p:nvPr/>
        </p:nvSpPr>
        <p:spPr>
          <a:xfrm>
            <a:off x="1577975" y="8469015"/>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value_format:</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dirty="0">
                <a:solidFill>
                  <a:srgbClr val="B5E48C"/>
                </a:solidFill>
                <a:latin typeface="JetBrains Mono" pitchFamily="34" charset="0"/>
                <a:ea typeface="JetBrains Mono" pitchFamily="34" charset="-122"/>
                <a:cs typeface="JetBrains Mono" pitchFamily="34" charset="-120"/>
              </a:rPr>
              <a:t>"$0.00"</a:t>
            </a:r>
            <a:endParaRPr lang="en-US" sz="1350" dirty="0"/>
          </a:p>
        </p:txBody>
      </p:sp>
      <p:sp>
        <p:nvSpPr>
          <p:cNvPr id="41" name="Shape 39"/>
          <p:cNvSpPr/>
          <p:nvPr/>
        </p:nvSpPr>
        <p:spPr>
          <a:xfrm>
            <a:off x="1466850" y="8743256"/>
            <a:ext cx="7200900" cy="274241"/>
          </a:xfrm>
          <a:prstGeom prst="rect">
            <a:avLst/>
          </a:prstGeom>
          <a:solidFill>
            <a:srgbClr val="FF671F">
              <a:alpha val="15000"/>
            </a:srgbClr>
          </a:solidFill>
          <a:ln/>
        </p:spPr>
      </p:sp>
      <p:sp>
        <p:nvSpPr>
          <p:cNvPr id="42" name="Shape 40"/>
          <p:cNvSpPr/>
          <p:nvPr/>
        </p:nvSpPr>
        <p:spPr>
          <a:xfrm>
            <a:off x="1466850" y="8743256"/>
            <a:ext cx="25400" cy="274241"/>
          </a:xfrm>
          <a:prstGeom prst="rect">
            <a:avLst/>
          </a:prstGeom>
          <a:solidFill>
            <a:srgbClr val="FF671F"/>
          </a:solidFill>
          <a:ln/>
        </p:spPr>
      </p:sp>
      <p:sp>
        <p:nvSpPr>
          <p:cNvPr id="43" name="Text 41"/>
          <p:cNvSpPr/>
          <p:nvPr/>
        </p:nvSpPr>
        <p:spPr>
          <a:xfrm>
            <a:off x="1577975" y="8743256"/>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a:t>
            </a:r>
            <a:pPr algn="l" indent="0" marL="0">
              <a:lnSpc>
                <a:spcPct val="160000"/>
              </a:lnSpc>
              <a:buNone/>
            </a:pPr>
            <a:r>
              <a:rPr lang="en-US" sz="1350" b="1" dirty="0">
                <a:solidFill>
                  <a:srgbClr val="FF9D6B"/>
                </a:solidFill>
                <a:latin typeface="JetBrains Mono" pitchFamily="34" charset="0"/>
                <a:ea typeface="JetBrains Mono" pitchFamily="34" charset="-122"/>
                <a:cs typeface="JetBrains Mono" pitchFamily="34" charset="-120"/>
              </a:rPr>
              <a:t>drill_fields:</a:t>
            </a:r>
            <a:pPr algn="l" indent="0" marL="0">
              <a:lnSpc>
                <a:spcPct val="160000"/>
              </a:lnSpc>
              <a:buNone/>
            </a:pPr>
            <a:r>
              <a:rPr lang="en-US" sz="1350" dirty="0">
                <a:solidFill>
                  <a:srgbClr val="E8ECF3"/>
                </a:solidFill>
                <a:highlight>
                  <a:srgbClr val="FF671F"/>
                </a:highlight>
                <a:latin typeface="JetBrains Mono" pitchFamily="34" charset="0"/>
                <a:ea typeface="JetBrains Mono" pitchFamily="34" charset="-122"/>
                <a:cs typeface="JetBrains Mono" pitchFamily="34" charset="-120"/>
              </a:rPr>
              <a:t> [order_id, user.region, amount]</a:t>
            </a:r>
            <a:endParaRPr lang="en-US" sz="1350" dirty="0"/>
          </a:p>
        </p:txBody>
      </p:sp>
      <p:sp>
        <p:nvSpPr>
          <p:cNvPr id="44" name="Shape 42"/>
          <p:cNvSpPr/>
          <p:nvPr/>
        </p:nvSpPr>
        <p:spPr>
          <a:xfrm>
            <a:off x="1466850" y="9017496"/>
            <a:ext cx="7200900" cy="274241"/>
          </a:xfrm>
          <a:prstGeom prst="rect">
            <a:avLst/>
          </a:prstGeom>
          <a:solidFill>
            <a:srgbClr val="FF671F">
              <a:alpha val="15000"/>
            </a:srgbClr>
          </a:solidFill>
          <a:ln/>
        </p:spPr>
      </p:sp>
      <p:sp>
        <p:nvSpPr>
          <p:cNvPr id="45" name="Shape 43"/>
          <p:cNvSpPr/>
          <p:nvPr/>
        </p:nvSpPr>
        <p:spPr>
          <a:xfrm>
            <a:off x="1466850" y="9017496"/>
            <a:ext cx="25400" cy="274241"/>
          </a:xfrm>
          <a:prstGeom prst="rect">
            <a:avLst/>
          </a:prstGeom>
          <a:solidFill>
            <a:srgbClr val="FF671F"/>
          </a:solidFill>
          <a:ln/>
        </p:spPr>
      </p:sp>
      <p:sp>
        <p:nvSpPr>
          <p:cNvPr id="46" name="Text 44"/>
          <p:cNvSpPr/>
          <p:nvPr/>
        </p:nvSpPr>
        <p:spPr>
          <a:xfrm>
            <a:off x="1577975" y="9017496"/>
            <a:ext cx="7248652" cy="312341"/>
          </a:xfrm>
          <a:prstGeom prst="rect">
            <a:avLst/>
          </a:prstGeom>
          <a:noFill/>
          <a:ln/>
        </p:spPr>
        <p:txBody>
          <a:bodyPr wrap="square" lIns="25400" tIns="25400" rIns="25400" bIns="25400" rtlCol="0" anchor="t">
            <a:normAutofit/>
          </a:bodyPr>
          <a:lstStyle/>
          <a:p>
            <a:pPr algn="l" indent="0" marL="0">
              <a:lnSpc>
                <a:spcPct val="160000"/>
              </a:lnSpc>
              <a:buNone/>
            </a:pPr>
            <a:r>
              <a:rPr lang="en-US" sz="1350" dirty="0">
                <a:solidFill>
                  <a:srgbClr val="E8ECF3"/>
                </a:solidFill>
                <a:latin typeface="JetBrains Mono" pitchFamily="34" charset="0"/>
                <a:ea typeface="JetBrains Mono" pitchFamily="34" charset="-122"/>
                <a:cs typeface="JetBrains Mono" pitchFamily="34" charset="-120"/>
              </a:rPr>
              <a:t>}</a:t>
            </a:r>
            <a:endParaRPr lang="en-US" sz="1350" dirty="0"/>
          </a:p>
        </p:txBody>
      </p:sp>
      <p:sp>
        <p:nvSpPr>
          <p:cNvPr id="47" name="Shape 45"/>
          <p:cNvSpPr/>
          <p:nvPr/>
        </p:nvSpPr>
        <p:spPr>
          <a:xfrm>
            <a:off x="9372600" y="4267696"/>
            <a:ext cx="7696200" cy="4454823"/>
          </a:xfrm>
          <a:prstGeom prst="roundRect">
            <a:avLst>
              <a:gd name="adj" fmla="val 2993"/>
            </a:avLst>
          </a:prstGeom>
          <a:solidFill>
            <a:srgbClr val="F1F2F4"/>
          </a:solidFill>
          <a:ln w="6350">
            <a:solidFill>
              <a:srgbClr val="C9CFD8"/>
            </a:solidFill>
            <a:prstDash val="solid"/>
          </a:ln>
        </p:spPr>
      </p:sp>
      <p:sp>
        <p:nvSpPr>
          <p:cNvPr id="48" name="Text 46"/>
          <p:cNvSpPr/>
          <p:nvPr/>
        </p:nvSpPr>
        <p:spPr>
          <a:xfrm>
            <a:off x="9683750" y="4578846"/>
            <a:ext cx="7286117"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FIVE-STEP DEPLOY</a:t>
            </a:r>
            <a:endParaRPr lang="en-US" sz="900" dirty="0"/>
          </a:p>
        </p:txBody>
      </p:sp>
      <p:sp>
        <p:nvSpPr>
          <p:cNvPr id="49" name="Text 47"/>
          <p:cNvSpPr/>
          <p:nvPr/>
        </p:nvSpPr>
        <p:spPr>
          <a:xfrm>
            <a:off x="9683750" y="4858246"/>
            <a:ext cx="7286117"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Develop → Production.</a:t>
            </a:r>
            <a:endParaRPr lang="en-US" sz="1950" dirty="0"/>
          </a:p>
        </p:txBody>
      </p:sp>
      <p:sp>
        <p:nvSpPr>
          <p:cNvPr id="50" name="Shape 48"/>
          <p:cNvSpPr/>
          <p:nvPr/>
        </p:nvSpPr>
        <p:spPr>
          <a:xfrm>
            <a:off x="9683750" y="5791597"/>
            <a:ext cx="7073900" cy="9525"/>
          </a:xfrm>
          <a:prstGeom prst="rect">
            <a:avLst/>
          </a:prstGeom>
          <a:solidFill>
            <a:srgbClr val="C9CFD8"/>
          </a:solidFill>
          <a:ln/>
        </p:spPr>
      </p:sp>
      <p:sp>
        <p:nvSpPr>
          <p:cNvPr id="51" name="Text 49"/>
          <p:cNvSpPr/>
          <p:nvPr/>
        </p:nvSpPr>
        <p:spPr>
          <a:xfrm>
            <a:off x="9683750" y="547320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1 · EDIT</a:t>
            </a:r>
            <a:endParaRPr lang="en-US" sz="975" dirty="0"/>
          </a:p>
        </p:txBody>
      </p:sp>
      <p:sp>
        <p:nvSpPr>
          <p:cNvPr id="52" name="Text 50"/>
          <p:cNvSpPr/>
          <p:nvPr/>
        </p:nvSpPr>
        <p:spPr>
          <a:xfrm>
            <a:off x="11722101" y="5409704"/>
            <a:ext cx="4095477"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Open the view in the LookML IDE; add the measure.</a:t>
            </a:r>
            <a:endParaRPr lang="en-US" sz="1350" dirty="0"/>
          </a:p>
        </p:txBody>
      </p:sp>
      <p:sp>
        <p:nvSpPr>
          <p:cNvPr id="53" name="Shape 51"/>
          <p:cNvSpPr/>
          <p:nvPr/>
        </p:nvSpPr>
        <p:spPr>
          <a:xfrm>
            <a:off x="9683750" y="6446540"/>
            <a:ext cx="7073900" cy="9525"/>
          </a:xfrm>
          <a:prstGeom prst="rect">
            <a:avLst/>
          </a:prstGeom>
          <a:solidFill>
            <a:srgbClr val="C9CFD8"/>
          </a:solidFill>
          <a:ln/>
        </p:spPr>
      </p:sp>
      <p:sp>
        <p:nvSpPr>
          <p:cNvPr id="54" name="Text 52"/>
          <p:cNvSpPr/>
          <p:nvPr/>
        </p:nvSpPr>
        <p:spPr>
          <a:xfrm>
            <a:off x="9683750" y="612814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2 · VALIDATE</a:t>
            </a:r>
            <a:endParaRPr lang="en-US" sz="975" dirty="0"/>
          </a:p>
        </p:txBody>
      </p:sp>
      <p:sp>
        <p:nvSpPr>
          <p:cNvPr id="55" name="Text 53"/>
          <p:cNvSpPr/>
          <p:nvPr/>
        </p:nvSpPr>
        <p:spPr>
          <a:xfrm>
            <a:off x="11722101" y="6064647"/>
            <a:ext cx="4189395"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Click </a:t>
            </a:r>
            <a:pPr algn="l" indent="0" marL="0">
              <a:lnSpc>
                <a:spcPct val="145000"/>
              </a:lnSpc>
              <a:buNone/>
            </a:pPr>
            <a:r>
              <a:rPr lang="en-US" sz="975" b="1" dirty="0">
                <a:solidFill>
                  <a:srgbClr val="FF671F"/>
                </a:solidFill>
                <a:latin typeface="JetBrains Mono" pitchFamily="34" charset="0"/>
                <a:ea typeface="JetBrains Mono" pitchFamily="34" charset="-122"/>
                <a:cs typeface="JetBrains Mono" pitchFamily="34" charset="-120"/>
              </a:rPr>
              <a:t>Validate LookML </a:t>
            </a:r>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to check syntax + references.</a:t>
            </a:r>
            <a:endParaRPr lang="en-US" sz="1350" dirty="0"/>
          </a:p>
        </p:txBody>
      </p:sp>
      <p:sp>
        <p:nvSpPr>
          <p:cNvPr id="56" name="Shape 54"/>
          <p:cNvSpPr/>
          <p:nvPr/>
        </p:nvSpPr>
        <p:spPr>
          <a:xfrm>
            <a:off x="9683750" y="7101483"/>
            <a:ext cx="7073900" cy="9525"/>
          </a:xfrm>
          <a:prstGeom prst="rect">
            <a:avLst/>
          </a:prstGeom>
          <a:solidFill>
            <a:srgbClr val="C9CFD8"/>
          </a:solidFill>
          <a:ln/>
        </p:spPr>
      </p:sp>
      <p:sp>
        <p:nvSpPr>
          <p:cNvPr id="57" name="Text 55"/>
          <p:cNvSpPr/>
          <p:nvPr/>
        </p:nvSpPr>
        <p:spPr>
          <a:xfrm>
            <a:off x="9683750" y="6783090"/>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3 · TEST</a:t>
            </a:r>
            <a:endParaRPr lang="en-US" sz="975" dirty="0"/>
          </a:p>
        </p:txBody>
      </p:sp>
      <p:sp>
        <p:nvSpPr>
          <p:cNvPr id="58" name="Text 56"/>
          <p:cNvSpPr/>
          <p:nvPr/>
        </p:nvSpPr>
        <p:spPr>
          <a:xfrm>
            <a:off x="11722101" y="6719590"/>
            <a:ext cx="3612298"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Save &amp; explore; pivot AOV by Region to verify.</a:t>
            </a:r>
            <a:endParaRPr lang="en-US" sz="1350" dirty="0"/>
          </a:p>
        </p:txBody>
      </p:sp>
      <p:sp>
        <p:nvSpPr>
          <p:cNvPr id="59" name="Shape 57"/>
          <p:cNvSpPr/>
          <p:nvPr/>
        </p:nvSpPr>
        <p:spPr>
          <a:xfrm>
            <a:off x="9683750" y="7756426"/>
            <a:ext cx="7073900" cy="9525"/>
          </a:xfrm>
          <a:prstGeom prst="rect">
            <a:avLst/>
          </a:prstGeom>
          <a:solidFill>
            <a:srgbClr val="C9CFD8"/>
          </a:solidFill>
          <a:ln/>
        </p:spPr>
      </p:sp>
      <p:sp>
        <p:nvSpPr>
          <p:cNvPr id="60" name="Text 58"/>
          <p:cNvSpPr/>
          <p:nvPr/>
        </p:nvSpPr>
        <p:spPr>
          <a:xfrm>
            <a:off x="9683750" y="7438033"/>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4 · COMMIT</a:t>
            </a:r>
            <a:endParaRPr lang="en-US" sz="975" dirty="0"/>
          </a:p>
        </p:txBody>
      </p:sp>
      <p:sp>
        <p:nvSpPr>
          <p:cNvPr id="61" name="Text 59"/>
          <p:cNvSpPr/>
          <p:nvPr/>
        </p:nvSpPr>
        <p:spPr>
          <a:xfrm>
            <a:off x="11722101" y="7374533"/>
            <a:ext cx="434984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Commit to your branch; open a pull request for review.</a:t>
            </a:r>
            <a:endParaRPr lang="en-US" sz="1350" dirty="0"/>
          </a:p>
        </p:txBody>
      </p:sp>
      <p:sp>
        <p:nvSpPr>
          <p:cNvPr id="62" name="Text 60"/>
          <p:cNvSpPr/>
          <p:nvPr/>
        </p:nvSpPr>
        <p:spPr>
          <a:xfrm>
            <a:off x="9683750" y="8092976"/>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5 · DEPLOY</a:t>
            </a:r>
            <a:endParaRPr lang="en-US" sz="975" dirty="0"/>
          </a:p>
        </p:txBody>
      </p:sp>
      <p:sp>
        <p:nvSpPr>
          <p:cNvPr id="63" name="Text 61"/>
          <p:cNvSpPr/>
          <p:nvPr/>
        </p:nvSpPr>
        <p:spPr>
          <a:xfrm>
            <a:off x="11722101" y="8029476"/>
            <a:ext cx="4798274"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Merge → </a:t>
            </a:r>
            <a:pPr algn="l" indent="0" marL="0">
              <a:lnSpc>
                <a:spcPct val="145000"/>
              </a:lnSpc>
              <a:buNone/>
            </a:pPr>
            <a:r>
              <a:rPr lang="en-US" sz="975" b="1" dirty="0">
                <a:solidFill>
                  <a:srgbClr val="FF671F"/>
                </a:solidFill>
                <a:latin typeface="JetBrains Mono" pitchFamily="34" charset="0"/>
                <a:ea typeface="JetBrains Mono" pitchFamily="34" charset="-122"/>
                <a:cs typeface="JetBrains Mono" pitchFamily="34" charset="-120"/>
              </a:rPr>
              <a:t>Deploy to Production</a:t>
            </a:r>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 Live across all dashboards.</a:t>
            </a:r>
            <a:endParaRPr lang="en-US" sz="1350" dirty="0"/>
          </a:p>
        </p:txBody>
      </p:sp>
      <p:sp>
        <p:nvSpPr>
          <p:cNvPr id="64" name="Shape 62"/>
          <p:cNvSpPr/>
          <p:nvPr/>
        </p:nvSpPr>
        <p:spPr>
          <a:xfrm>
            <a:off x="9372600" y="8893969"/>
            <a:ext cx="7696200" cy="882650"/>
          </a:xfrm>
          <a:prstGeom prst="roundRect">
            <a:avLst>
              <a:gd name="adj" fmla="val 15108"/>
            </a:avLst>
          </a:prstGeom>
          <a:solidFill>
            <a:srgbClr val="FFF7F1"/>
          </a:solidFill>
          <a:ln/>
        </p:spPr>
      </p:sp>
      <p:sp>
        <p:nvSpPr>
          <p:cNvPr id="65" name="Shape 63"/>
          <p:cNvSpPr/>
          <p:nvPr/>
        </p:nvSpPr>
        <p:spPr>
          <a:xfrm>
            <a:off x="9372600" y="8893969"/>
            <a:ext cx="38100" cy="882650"/>
          </a:xfrm>
          <a:prstGeom prst="rect">
            <a:avLst/>
          </a:prstGeom>
          <a:solidFill>
            <a:srgbClr val="FF671F"/>
          </a:solidFill>
          <a:ln/>
        </p:spPr>
      </p:sp>
      <p:sp>
        <p:nvSpPr>
          <p:cNvPr id="66" name="Text 64"/>
          <p:cNvSpPr/>
          <p:nvPr/>
        </p:nvSpPr>
        <p:spPr>
          <a:xfrm>
            <a:off x="9677400" y="9084469"/>
            <a:ext cx="7355586" cy="539750"/>
          </a:xfrm>
          <a:prstGeom prst="rect">
            <a:avLst/>
          </a:prstGeom>
          <a:noFill/>
          <a:ln/>
        </p:spPr>
        <p:txBody>
          <a:bodyPr wrap="square" lIns="25400" tIns="25400" rIns="25400" bIns="25400" rtlCol="0" anchor="t">
            <a:normAutofit/>
          </a:bodyPr>
          <a:lstStyle/>
          <a:p>
            <a:pPr algn="l" indent="0" marL="0">
              <a:buNone/>
            </a:pPr>
            <a:r>
              <a:rPr lang="en-US" sz="975" b="1" dirty="0">
                <a:solidFill>
                  <a:srgbClr val="FF671F"/>
                </a:solidFill>
                <a:highlight>
                  <a:srgbClr val="FFE3D2"/>
                </a:highlight>
                <a:latin typeface="JetBrains Mono" pitchFamily="34" charset="0"/>
                <a:ea typeface="JetBrains Mono" pitchFamily="34" charset="-122"/>
                <a:cs typeface="JetBrains Mono" pitchFamily="34" charset="-120"/>
              </a:rPr>
              <a:t>EXAM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A new measure becomes available in </a:t>
            </a:r>
            <a:pPr algn="l" indent="0" marL="0">
              <a:buNone/>
            </a:pPr>
            <a:r>
              <a:rPr lang="en-US" sz="1275" dirty="0">
                <a:solidFill>
                  <a:srgbClr val="FF671F"/>
                </a:solidFill>
                <a:latin typeface="Manrope" pitchFamily="34" charset="0"/>
                <a:ea typeface="Manrope" pitchFamily="34" charset="-122"/>
                <a:cs typeface="Manrope" pitchFamily="34" charset="-120"/>
              </a:rPr>
              <a:t>every </a:t>
            </a:r>
            <a:pPr algn="l" indent="0" marL="0">
              <a:buNone/>
            </a:pPr>
            <a:r>
              <a:rPr lang="en-US" sz="1275" dirty="0">
                <a:solidFill>
                  <a:srgbClr val="384358"/>
                </a:solidFill>
                <a:highlight>
                  <a:srgbClr val="FFF7F1"/>
                </a:highlight>
                <a:latin typeface="Manrope" pitchFamily="34" charset="0"/>
                <a:ea typeface="Manrope" pitchFamily="34" charset="-122"/>
                <a:cs typeface="Manrope" pitchFamily="34" charset="-120"/>
              </a:rPr>
              <a:t>Explore that already includes this view. You don't need to edit dashboards — they pick it up the moment you redeploy.</a:t>
            </a:r>
            <a:endParaRPr lang="en-US" sz="1275" dirty="0"/>
          </a:p>
        </p:txBody>
      </p:sp>
      <p:sp>
        <p:nvSpPr>
          <p:cNvPr id="67" name="Text 65"/>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8" name="Text 66"/>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49 / 60</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04 · LOOKML</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THE LOOKML IDE</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Where developers actually work.</a:t>
            </a:r>
            <a:endParaRPr lang="en-US" sz="4800" dirty="0"/>
          </a:p>
        </p:txBody>
      </p:sp>
      <p:sp>
        <p:nvSpPr>
          <p:cNvPr id="8" name="Shape 6"/>
          <p:cNvSpPr/>
          <p:nvPr/>
        </p:nvSpPr>
        <p:spPr>
          <a:xfrm>
            <a:off x="1219200" y="3199805"/>
            <a:ext cx="15849600" cy="6299200"/>
          </a:xfrm>
          <a:prstGeom prst="roundRect">
            <a:avLst>
              <a:gd name="adj" fmla="val 2419"/>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9" name="Shape 7"/>
          <p:cNvSpPr/>
          <p:nvPr/>
        </p:nvSpPr>
        <p:spPr>
          <a:xfrm>
            <a:off x="1225550" y="3206155"/>
            <a:ext cx="15836901" cy="533400"/>
          </a:xfrm>
          <a:prstGeom prst="rect">
            <a:avLst/>
          </a:prstGeom>
          <a:solidFill>
            <a:srgbClr val="1A2233"/>
          </a:solidFill>
          <a:ln/>
        </p:spPr>
      </p:sp>
      <p:sp>
        <p:nvSpPr>
          <p:cNvPr id="10" name="Text 8"/>
          <p:cNvSpPr/>
          <p:nvPr/>
        </p:nvSpPr>
        <p:spPr>
          <a:xfrm>
            <a:off x="1416050" y="3355380"/>
            <a:ext cx="662484" cy="27305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FF671F"/>
                </a:solidFill>
                <a:latin typeface="Manrope" pitchFamily="34" charset="0"/>
                <a:ea typeface="Manrope" pitchFamily="34" charset="-122"/>
                <a:cs typeface="Manrope" pitchFamily="34" charset="-120"/>
              </a:rPr>
              <a:t>Looker</a:t>
            </a:r>
            <a:endParaRPr lang="en-US" sz="1350" dirty="0"/>
          </a:p>
        </p:txBody>
      </p:sp>
      <p:sp>
        <p:nvSpPr>
          <p:cNvPr id="11" name="Text 9"/>
          <p:cNvSpPr/>
          <p:nvPr/>
        </p:nvSpPr>
        <p:spPr>
          <a:xfrm>
            <a:off x="2230934" y="3288705"/>
            <a:ext cx="442714"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Home</a:t>
            </a:r>
            <a:endParaRPr lang="en-US" sz="1050" dirty="0"/>
          </a:p>
        </p:txBody>
      </p:sp>
      <p:sp>
        <p:nvSpPr>
          <p:cNvPr id="12" name="Text 10"/>
          <p:cNvSpPr/>
          <p:nvPr/>
        </p:nvSpPr>
        <p:spPr>
          <a:xfrm>
            <a:off x="2806998" y="3288705"/>
            <a:ext cx="535384"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Browse</a:t>
            </a:r>
            <a:endParaRPr lang="en-US" sz="1050" dirty="0"/>
          </a:p>
        </p:txBody>
      </p:sp>
      <p:sp>
        <p:nvSpPr>
          <p:cNvPr id="13" name="Text 11"/>
          <p:cNvSpPr/>
          <p:nvPr/>
        </p:nvSpPr>
        <p:spPr>
          <a:xfrm>
            <a:off x="3475732" y="3288705"/>
            <a:ext cx="544909"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Explore</a:t>
            </a:r>
            <a:endParaRPr lang="en-US" sz="1050" dirty="0"/>
          </a:p>
        </p:txBody>
      </p:sp>
      <p:sp>
        <p:nvSpPr>
          <p:cNvPr id="14" name="Shape 12"/>
          <p:cNvSpPr/>
          <p:nvPr/>
        </p:nvSpPr>
        <p:spPr>
          <a:xfrm>
            <a:off x="4153992" y="3637955"/>
            <a:ext cx="506016" cy="19050"/>
          </a:xfrm>
          <a:prstGeom prst="rect">
            <a:avLst/>
          </a:prstGeom>
          <a:solidFill>
            <a:srgbClr val="FF671F"/>
          </a:solidFill>
          <a:ln/>
        </p:spPr>
      </p:sp>
      <p:sp>
        <p:nvSpPr>
          <p:cNvPr id="15" name="Text 13"/>
          <p:cNvSpPr/>
          <p:nvPr/>
        </p:nvSpPr>
        <p:spPr>
          <a:xfrm>
            <a:off x="4153992" y="3288705"/>
            <a:ext cx="582216"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solidFill>
                <a:latin typeface="Manrope" pitchFamily="34" charset="0"/>
                <a:ea typeface="Manrope" pitchFamily="34" charset="-122"/>
                <a:cs typeface="Manrope" pitchFamily="34" charset="-120"/>
              </a:rPr>
              <a:t>Develop</a:t>
            </a:r>
            <a:endParaRPr lang="en-US" sz="1050" dirty="0"/>
          </a:p>
        </p:txBody>
      </p:sp>
      <p:sp>
        <p:nvSpPr>
          <p:cNvPr id="16" name="Text 14"/>
          <p:cNvSpPr/>
          <p:nvPr/>
        </p:nvSpPr>
        <p:spPr>
          <a:xfrm>
            <a:off x="13965734" y="3387130"/>
            <a:ext cx="788789"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671F"/>
                </a:solidFill>
                <a:latin typeface="Manrope" pitchFamily="34" charset="0"/>
                <a:ea typeface="Manrope" pitchFamily="34" charset="-122"/>
                <a:cs typeface="Manrope" pitchFamily="34" charset="-120"/>
              </a:rPr>
              <a:t>● Dev mode</a:t>
            </a:r>
            <a:endParaRPr lang="en-US" sz="975" dirty="0"/>
          </a:p>
        </p:txBody>
      </p:sp>
      <p:sp>
        <p:nvSpPr>
          <p:cNvPr id="17" name="Text 15"/>
          <p:cNvSpPr/>
          <p:nvPr/>
        </p:nvSpPr>
        <p:spPr>
          <a:xfrm>
            <a:off x="14811673" y="3387130"/>
            <a:ext cx="2136478" cy="209550"/>
          </a:xfrm>
          <a:prstGeom prst="rect">
            <a:avLst/>
          </a:prstGeom>
          <a:noFill/>
          <a:ln/>
        </p:spPr>
        <p:txBody>
          <a:bodyPr wrap="square" lIns="0" tIns="0" rIns="0" bIns="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 ecommerce · feature/aov-measure</a:t>
            </a:r>
            <a:endParaRPr lang="en-US" sz="975" dirty="0"/>
          </a:p>
        </p:txBody>
      </p:sp>
      <p:sp>
        <p:nvSpPr>
          <p:cNvPr id="18" name="Shape 16"/>
          <p:cNvSpPr/>
          <p:nvPr/>
        </p:nvSpPr>
        <p:spPr>
          <a:xfrm>
            <a:off x="1225550" y="3739555"/>
            <a:ext cx="15836901" cy="5753100"/>
          </a:xfrm>
          <a:prstGeom prst="rect">
            <a:avLst/>
          </a:prstGeom>
          <a:solidFill>
            <a:srgbClr val="0E1118"/>
          </a:solidFill>
          <a:ln/>
        </p:spPr>
      </p:sp>
      <p:sp>
        <p:nvSpPr>
          <p:cNvPr id="19" name="Shape 17"/>
          <p:cNvSpPr/>
          <p:nvPr/>
        </p:nvSpPr>
        <p:spPr>
          <a:xfrm>
            <a:off x="3695700" y="3739555"/>
            <a:ext cx="9525" cy="5753100"/>
          </a:xfrm>
          <a:prstGeom prst="rect">
            <a:avLst/>
          </a:prstGeom>
          <a:solidFill>
            <a:srgbClr val="FFFFFF">
              <a:alpha val="8000"/>
            </a:srgbClr>
          </a:solidFill>
          <a:ln/>
        </p:spPr>
      </p:sp>
      <p:sp>
        <p:nvSpPr>
          <p:cNvPr id="20" name="Text 18"/>
          <p:cNvSpPr/>
          <p:nvPr/>
        </p:nvSpPr>
        <p:spPr>
          <a:xfrm>
            <a:off x="1358900" y="3872905"/>
            <a:ext cx="2279650"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FFFFFF">
                    <a:alpha val="40000"/>
                  </a:srgbClr>
                </a:solidFill>
                <a:latin typeface="JetBrains Mono" pitchFamily="34" charset="0"/>
                <a:ea typeface="JetBrains Mono" pitchFamily="34" charset="-122"/>
                <a:cs typeface="JetBrains Mono" pitchFamily="34" charset="-120"/>
              </a:rPr>
              <a:t>FILES</a:t>
            </a:r>
            <a:endParaRPr lang="en-US" sz="825" dirty="0"/>
          </a:p>
        </p:txBody>
      </p:sp>
      <p:sp>
        <p:nvSpPr>
          <p:cNvPr id="21" name="Text 19"/>
          <p:cNvSpPr/>
          <p:nvPr/>
        </p:nvSpPr>
        <p:spPr>
          <a:xfrm>
            <a:off x="1358900" y="4107855"/>
            <a:ext cx="227965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 </a:t>
            </a:r>
            <a:pPr algn="l" indent="0" marL="0">
              <a:buNone/>
            </a:pPr>
            <a:r>
              <a:rPr lang="en-US" sz="975" dirty="0">
                <a:solidFill>
                  <a:srgbClr val="FF671F"/>
                </a:solidFill>
                <a:latin typeface="JetBrains Mono" pitchFamily="34" charset="0"/>
                <a:ea typeface="JetBrains Mono" pitchFamily="34" charset="-122"/>
                <a:cs typeface="JetBrains Mono" pitchFamily="34" charset="-120"/>
              </a:rPr>
              <a:t>ecommerce</a:t>
            </a:r>
            <a:endParaRPr lang="en-US" sz="975" dirty="0"/>
          </a:p>
        </p:txBody>
      </p:sp>
      <p:sp>
        <p:nvSpPr>
          <p:cNvPr id="22" name="Text 20"/>
          <p:cNvSpPr/>
          <p:nvPr/>
        </p:nvSpPr>
        <p:spPr>
          <a:xfrm>
            <a:off x="1492250" y="4311055"/>
            <a:ext cx="214630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 views</a:t>
            </a:r>
            <a:endParaRPr lang="en-US" sz="975" dirty="0"/>
          </a:p>
        </p:txBody>
      </p:sp>
      <p:sp>
        <p:nvSpPr>
          <p:cNvPr id="23" name="Shape 21"/>
          <p:cNvSpPr/>
          <p:nvPr/>
        </p:nvSpPr>
        <p:spPr>
          <a:xfrm>
            <a:off x="1358900" y="4514255"/>
            <a:ext cx="2203450" cy="165100"/>
          </a:xfrm>
          <a:prstGeom prst="rect">
            <a:avLst/>
          </a:prstGeom>
          <a:solidFill>
            <a:srgbClr val="FF671F">
              <a:alpha val="18000"/>
            </a:srgbClr>
          </a:solidFill>
          <a:ln/>
        </p:spPr>
      </p:sp>
      <p:sp>
        <p:nvSpPr>
          <p:cNvPr id="24" name="Shape 22"/>
          <p:cNvSpPr/>
          <p:nvPr/>
        </p:nvSpPr>
        <p:spPr>
          <a:xfrm>
            <a:off x="1358900" y="4514255"/>
            <a:ext cx="19050" cy="165100"/>
          </a:xfrm>
          <a:prstGeom prst="rect">
            <a:avLst/>
          </a:prstGeom>
          <a:solidFill>
            <a:srgbClr val="FF671F"/>
          </a:solidFill>
          <a:ln/>
        </p:spPr>
      </p:sp>
      <p:sp>
        <p:nvSpPr>
          <p:cNvPr id="25" name="Text 23"/>
          <p:cNvSpPr/>
          <p:nvPr/>
        </p:nvSpPr>
        <p:spPr>
          <a:xfrm>
            <a:off x="1644650" y="4514255"/>
            <a:ext cx="1917700" cy="203200"/>
          </a:xfrm>
          <a:prstGeom prst="rect">
            <a:avLst/>
          </a:prstGeom>
          <a:noFill/>
          <a:ln/>
        </p:spPr>
        <p:txBody>
          <a:bodyPr wrap="square" lIns="25400" tIns="25400" rIns="25400" bIns="25400" rtlCol="0" anchor="t">
            <a:normAutofit/>
          </a:bodyPr>
          <a:lstStyle/>
          <a:p>
            <a:pPr algn="l" indent="0" marL="0">
              <a:buNone/>
            </a:pPr>
            <a:r>
              <a:rPr lang="en-US" sz="975" dirty="0">
                <a:solidFill>
                  <a:srgbClr val="FFFFFF"/>
                </a:solidFill>
                <a:latin typeface="JetBrains Mono" pitchFamily="34" charset="0"/>
                <a:ea typeface="JetBrains Mono" pitchFamily="34" charset="-122"/>
                <a:cs typeface="JetBrains Mono" pitchFamily="34" charset="-120"/>
              </a:rPr>
              <a:t>orders.view.lkml *</a:t>
            </a:r>
            <a:endParaRPr lang="en-US" sz="975" dirty="0"/>
          </a:p>
        </p:txBody>
      </p:sp>
      <p:sp>
        <p:nvSpPr>
          <p:cNvPr id="26" name="Text 24"/>
          <p:cNvSpPr/>
          <p:nvPr/>
        </p:nvSpPr>
        <p:spPr>
          <a:xfrm>
            <a:off x="1625600" y="4717455"/>
            <a:ext cx="201295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users.view.lkml</a:t>
            </a:r>
            <a:endParaRPr lang="en-US" sz="975" dirty="0"/>
          </a:p>
        </p:txBody>
      </p:sp>
      <p:sp>
        <p:nvSpPr>
          <p:cNvPr id="27" name="Text 25"/>
          <p:cNvSpPr/>
          <p:nvPr/>
        </p:nvSpPr>
        <p:spPr>
          <a:xfrm>
            <a:off x="1625600" y="4920655"/>
            <a:ext cx="201295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products.view.lkml</a:t>
            </a:r>
            <a:endParaRPr lang="en-US" sz="975" dirty="0"/>
          </a:p>
        </p:txBody>
      </p:sp>
      <p:sp>
        <p:nvSpPr>
          <p:cNvPr id="28" name="Text 26"/>
          <p:cNvSpPr/>
          <p:nvPr/>
        </p:nvSpPr>
        <p:spPr>
          <a:xfrm>
            <a:off x="1492250" y="5123855"/>
            <a:ext cx="214630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 models</a:t>
            </a:r>
            <a:endParaRPr lang="en-US" sz="975" dirty="0"/>
          </a:p>
        </p:txBody>
      </p:sp>
      <p:sp>
        <p:nvSpPr>
          <p:cNvPr id="29" name="Text 27"/>
          <p:cNvSpPr/>
          <p:nvPr/>
        </p:nvSpPr>
        <p:spPr>
          <a:xfrm>
            <a:off x="1625600" y="5327055"/>
            <a:ext cx="201295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ecommerce.model.lkml</a:t>
            </a:r>
            <a:endParaRPr lang="en-US" sz="975" dirty="0"/>
          </a:p>
        </p:txBody>
      </p:sp>
      <p:sp>
        <p:nvSpPr>
          <p:cNvPr id="30" name="Text 28"/>
          <p:cNvSpPr/>
          <p:nvPr/>
        </p:nvSpPr>
        <p:spPr>
          <a:xfrm>
            <a:off x="1492250" y="5530255"/>
            <a:ext cx="214630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 dashboards</a:t>
            </a:r>
            <a:endParaRPr lang="en-US" sz="975" dirty="0"/>
          </a:p>
        </p:txBody>
      </p:sp>
      <p:sp>
        <p:nvSpPr>
          <p:cNvPr id="31" name="Text 29"/>
          <p:cNvSpPr/>
          <p:nvPr/>
        </p:nvSpPr>
        <p:spPr>
          <a:xfrm>
            <a:off x="1625600" y="5733455"/>
            <a:ext cx="201295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marketing.dashboard.lkml</a:t>
            </a:r>
            <a:endParaRPr lang="en-US" sz="975" dirty="0"/>
          </a:p>
        </p:txBody>
      </p:sp>
      <p:sp>
        <p:nvSpPr>
          <p:cNvPr id="32" name="Text 30"/>
          <p:cNvSpPr/>
          <p:nvPr/>
        </p:nvSpPr>
        <p:spPr>
          <a:xfrm>
            <a:off x="1492250" y="5936655"/>
            <a:ext cx="2146300" cy="203200"/>
          </a:xfrm>
          <a:prstGeom prst="rect">
            <a:avLst/>
          </a:prstGeom>
          <a:noFill/>
          <a:ln/>
        </p:spPr>
        <p:txBody>
          <a:bodyPr wrap="square" lIns="25400" tIns="25400" rIns="25400" bIns="25400" rtlCol="0" anchor="t">
            <a:normAutofit/>
          </a:bodyPr>
          <a:lstStyle/>
          <a:p>
            <a:pPr algn="l" indent="0" marL="0">
              <a:buNone/>
            </a:pPr>
            <a:r>
              <a:rPr lang="en-US" sz="975" dirty="0">
                <a:solidFill>
                  <a:srgbClr val="E8ECF3"/>
                </a:solidFill>
                <a:latin typeface="JetBrains Mono" pitchFamily="34" charset="0"/>
                <a:ea typeface="JetBrains Mono" pitchFamily="34" charset="-122"/>
                <a:cs typeface="JetBrains Mono" pitchFamily="34" charset="-120"/>
              </a:rPr>
              <a:t>manifest.lkml</a:t>
            </a:r>
            <a:endParaRPr lang="en-US" sz="975" dirty="0"/>
          </a:p>
        </p:txBody>
      </p:sp>
      <p:sp>
        <p:nvSpPr>
          <p:cNvPr id="33" name="Text 31"/>
          <p:cNvSpPr/>
          <p:nvPr/>
        </p:nvSpPr>
        <p:spPr>
          <a:xfrm>
            <a:off x="1358900" y="6254155"/>
            <a:ext cx="2279650"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FFFFFF">
                    <a:alpha val="40000"/>
                  </a:srgbClr>
                </a:solidFill>
                <a:latin typeface="JetBrains Mono" pitchFamily="34" charset="0"/>
                <a:ea typeface="JetBrains Mono" pitchFamily="34" charset="-122"/>
                <a:cs typeface="JetBrains Mono" pitchFamily="34" charset="-120"/>
              </a:rPr>
              <a:t>GIT</a:t>
            </a:r>
            <a:endParaRPr lang="en-US" sz="825" dirty="0"/>
          </a:p>
        </p:txBody>
      </p:sp>
      <p:sp>
        <p:nvSpPr>
          <p:cNvPr id="34" name="Text 32"/>
          <p:cNvSpPr/>
          <p:nvPr/>
        </p:nvSpPr>
        <p:spPr>
          <a:xfrm>
            <a:off x="1358900" y="6489105"/>
            <a:ext cx="2279650" cy="203200"/>
          </a:xfrm>
          <a:prstGeom prst="rect">
            <a:avLst/>
          </a:prstGeom>
          <a:noFill/>
          <a:ln/>
        </p:spPr>
        <p:txBody>
          <a:bodyPr wrap="square" lIns="25400" tIns="25400" rIns="25400" bIns="25400" rtlCol="0" anchor="t">
            <a:normAutofit/>
          </a:bodyPr>
          <a:lstStyle/>
          <a:p>
            <a:pPr algn="l" indent="0" marL="0">
              <a:buNone/>
            </a:pPr>
            <a:r>
              <a:rPr lang="en-US" sz="975" dirty="0">
                <a:solidFill>
                  <a:srgbClr val="9DD0FF"/>
                </a:solidFill>
                <a:latin typeface="JetBrains Mono" pitchFamily="34" charset="0"/>
                <a:ea typeface="JetBrains Mono" pitchFamily="34" charset="-122"/>
                <a:cs typeface="JetBrains Mono" pitchFamily="34" charset="-120"/>
              </a:rPr>
              <a:t>feature/aov-measure</a:t>
            </a:r>
            <a:endParaRPr lang="en-US" sz="975" dirty="0"/>
          </a:p>
        </p:txBody>
      </p:sp>
      <p:sp>
        <p:nvSpPr>
          <p:cNvPr id="35" name="Text 33"/>
          <p:cNvSpPr/>
          <p:nvPr/>
        </p:nvSpPr>
        <p:spPr>
          <a:xfrm>
            <a:off x="1358900" y="6692305"/>
            <a:ext cx="2279650" cy="184150"/>
          </a:xfrm>
          <a:prstGeom prst="rect">
            <a:avLst/>
          </a:prstGeom>
          <a:noFill/>
          <a:ln/>
        </p:spPr>
        <p:txBody>
          <a:bodyPr wrap="square" lIns="25400" tIns="25400" rIns="25400" bIns="25400" rtlCol="0" anchor="t">
            <a:normAutofit/>
          </a:bodyPr>
          <a:lstStyle/>
          <a:p>
            <a:pPr algn="l" indent="0" marL="0">
              <a:buNone/>
            </a:pPr>
            <a:r>
              <a:rPr lang="en-US" sz="900" dirty="0">
                <a:solidFill>
                  <a:srgbClr val="FFFFFF">
                    <a:alpha val="55000"/>
                  </a:srgbClr>
                </a:solidFill>
                <a:latin typeface="JetBrains Mono" pitchFamily="34" charset="0"/>
                <a:ea typeface="JetBrains Mono" pitchFamily="34" charset="-122"/>
                <a:cs typeface="JetBrains Mono" pitchFamily="34" charset="-120"/>
              </a:rPr>
              <a:t>2 changes uncommitted</a:t>
            </a:r>
            <a:endParaRPr lang="en-US" sz="900" dirty="0"/>
          </a:p>
        </p:txBody>
      </p:sp>
      <p:sp>
        <p:nvSpPr>
          <p:cNvPr id="36" name="Text 34"/>
          <p:cNvSpPr/>
          <p:nvPr/>
        </p:nvSpPr>
        <p:spPr>
          <a:xfrm>
            <a:off x="3873500" y="3872905"/>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42</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measure: </a:t>
            </a:r>
            <a:pPr algn="l" indent="0" marL="0">
              <a:lnSpc>
                <a:spcPct val="170000"/>
              </a:lnSpc>
              <a:buNone/>
            </a:pPr>
            <a:r>
              <a:rPr lang="en-US" sz="975" dirty="0">
                <a:solidFill>
                  <a:srgbClr val="E8ECF3"/>
                </a:solidFill>
                <a:latin typeface="JetBrains Mono" pitchFamily="34" charset="0"/>
                <a:ea typeface="JetBrains Mono" pitchFamily="34" charset="-122"/>
                <a:cs typeface="JetBrains Mono" pitchFamily="34" charset="-120"/>
              </a:rPr>
              <a:t>total_revenue {</a:t>
            </a:r>
            <a:endParaRPr lang="en-US" sz="975" dirty="0"/>
          </a:p>
        </p:txBody>
      </p:sp>
      <p:sp>
        <p:nvSpPr>
          <p:cNvPr id="37" name="Text 35"/>
          <p:cNvSpPr/>
          <p:nvPr/>
        </p:nvSpPr>
        <p:spPr>
          <a:xfrm>
            <a:off x="3873500" y="4102398"/>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43 </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type: </a:t>
            </a:r>
            <a:pPr algn="l" indent="0" marL="0">
              <a:lnSpc>
                <a:spcPct val="170000"/>
              </a:lnSpc>
              <a:buNone/>
            </a:pPr>
            <a:r>
              <a:rPr lang="en-US" sz="975" dirty="0">
                <a:solidFill>
                  <a:srgbClr val="7BD0FF"/>
                </a:solidFill>
                <a:latin typeface="JetBrains Mono" pitchFamily="34" charset="0"/>
                <a:ea typeface="JetBrains Mono" pitchFamily="34" charset="-122"/>
                <a:cs typeface="JetBrains Mono" pitchFamily="34" charset="-120"/>
              </a:rPr>
              <a:t>sum</a:t>
            </a:r>
            <a:endParaRPr lang="en-US" sz="975" dirty="0"/>
          </a:p>
        </p:txBody>
      </p:sp>
      <p:sp>
        <p:nvSpPr>
          <p:cNvPr id="38" name="Text 36"/>
          <p:cNvSpPr/>
          <p:nvPr/>
        </p:nvSpPr>
        <p:spPr>
          <a:xfrm>
            <a:off x="3873500" y="4331891"/>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44 </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sql: </a:t>
            </a:r>
            <a:pPr algn="l" indent="0" marL="0">
              <a:lnSpc>
                <a:spcPct val="170000"/>
              </a:lnSpc>
              <a:buNone/>
            </a:pPr>
            <a:r>
              <a:rPr lang="en-US" sz="975" dirty="0">
                <a:solidFill>
                  <a:srgbClr val="B5E48C"/>
                </a:solidFill>
                <a:latin typeface="JetBrains Mono" pitchFamily="34" charset="0"/>
                <a:ea typeface="JetBrains Mono" pitchFamily="34" charset="-122"/>
                <a:cs typeface="JetBrains Mono" pitchFamily="34" charset="-120"/>
              </a:rPr>
              <a:t>${TABLE}.amount </a:t>
            </a:r>
            <a:pPr algn="l" indent="0" marL="0">
              <a:lnSpc>
                <a:spcPct val="170000"/>
              </a:lnSpc>
              <a:buNone/>
            </a:pPr>
            <a:r>
              <a:rPr lang="en-US" sz="975" dirty="0">
                <a:solidFill>
                  <a:srgbClr val="E8ECF3"/>
                </a:solidFill>
                <a:latin typeface="JetBrains Mono" pitchFamily="34" charset="0"/>
                <a:ea typeface="JetBrains Mono" pitchFamily="34" charset="-122"/>
                <a:cs typeface="JetBrains Mono" pitchFamily="34" charset="-120"/>
              </a:rPr>
              <a:t>;;</a:t>
            </a:r>
            <a:endParaRPr lang="en-US" sz="975" dirty="0"/>
          </a:p>
        </p:txBody>
      </p:sp>
      <p:sp>
        <p:nvSpPr>
          <p:cNvPr id="39" name="Text 37"/>
          <p:cNvSpPr/>
          <p:nvPr/>
        </p:nvSpPr>
        <p:spPr>
          <a:xfrm>
            <a:off x="3873500" y="4561384"/>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45</a:t>
            </a:r>
            <a:pPr algn="l" indent="0" marL="0">
              <a:lnSpc>
                <a:spcPct val="170000"/>
              </a:lnSpc>
              <a:buNone/>
            </a:pPr>
            <a:r>
              <a:rPr lang="en-US" sz="975" dirty="0">
                <a:solidFill>
                  <a:srgbClr val="E8ECF3"/>
                </a:solidFill>
                <a:latin typeface="JetBrains Mono" pitchFamily="34" charset="0"/>
                <a:ea typeface="JetBrains Mono" pitchFamily="34" charset="-122"/>
                <a:cs typeface="JetBrains Mono" pitchFamily="34" charset="-120"/>
              </a:rPr>
              <a:t>}</a:t>
            </a:r>
            <a:endParaRPr lang="en-US" sz="975" dirty="0"/>
          </a:p>
        </p:txBody>
      </p:sp>
      <p:sp>
        <p:nvSpPr>
          <p:cNvPr id="40" name="Text 38"/>
          <p:cNvSpPr/>
          <p:nvPr/>
        </p:nvSpPr>
        <p:spPr>
          <a:xfrm>
            <a:off x="3873500" y="4790877"/>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46</a:t>
            </a:r>
            <a:endParaRPr lang="en-US" sz="975" dirty="0"/>
          </a:p>
        </p:txBody>
      </p:sp>
      <p:sp>
        <p:nvSpPr>
          <p:cNvPr id="41" name="Shape 39"/>
          <p:cNvSpPr/>
          <p:nvPr/>
        </p:nvSpPr>
        <p:spPr>
          <a:xfrm>
            <a:off x="3835400" y="5020370"/>
            <a:ext cx="10617201" cy="210443"/>
          </a:xfrm>
          <a:prstGeom prst="rect">
            <a:avLst/>
          </a:prstGeom>
          <a:solidFill>
            <a:srgbClr val="FF671F">
              <a:alpha val="12000"/>
            </a:srgbClr>
          </a:solidFill>
          <a:ln/>
        </p:spPr>
      </p:sp>
      <p:sp>
        <p:nvSpPr>
          <p:cNvPr id="42" name="Shape 40"/>
          <p:cNvSpPr/>
          <p:nvPr/>
        </p:nvSpPr>
        <p:spPr>
          <a:xfrm>
            <a:off x="3835400" y="5020370"/>
            <a:ext cx="25400" cy="210443"/>
          </a:xfrm>
          <a:prstGeom prst="rect">
            <a:avLst/>
          </a:prstGeom>
          <a:solidFill>
            <a:srgbClr val="FF671F"/>
          </a:solidFill>
          <a:ln/>
        </p:spPr>
      </p:sp>
      <p:sp>
        <p:nvSpPr>
          <p:cNvPr id="43" name="Text 41"/>
          <p:cNvSpPr/>
          <p:nvPr/>
        </p:nvSpPr>
        <p:spPr>
          <a:xfrm>
            <a:off x="3927475" y="5020370"/>
            <a:ext cx="10805542"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47</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measure: </a:t>
            </a:r>
            <a:pPr algn="l" indent="0" marL="0">
              <a:lnSpc>
                <a:spcPct val="170000"/>
              </a:lnSpc>
              <a:buNone/>
            </a:pPr>
            <a:r>
              <a:rPr lang="en-US" sz="975" dirty="0">
                <a:solidFill>
                  <a:srgbClr val="E8ECF3"/>
                </a:solidFill>
                <a:highlight>
                  <a:srgbClr val="FF671F"/>
                </a:highlight>
                <a:latin typeface="JetBrains Mono" pitchFamily="34" charset="0"/>
                <a:ea typeface="JetBrains Mono" pitchFamily="34" charset="-122"/>
                <a:cs typeface="JetBrains Mono" pitchFamily="34" charset="-120"/>
              </a:rPr>
              <a:t>avg_order_value {</a:t>
            </a:r>
            <a:endParaRPr lang="en-US" sz="975" dirty="0"/>
          </a:p>
        </p:txBody>
      </p:sp>
      <p:sp>
        <p:nvSpPr>
          <p:cNvPr id="44" name="Shape 42"/>
          <p:cNvSpPr/>
          <p:nvPr/>
        </p:nvSpPr>
        <p:spPr>
          <a:xfrm>
            <a:off x="3835400" y="5249863"/>
            <a:ext cx="10617201" cy="210443"/>
          </a:xfrm>
          <a:prstGeom prst="rect">
            <a:avLst/>
          </a:prstGeom>
          <a:solidFill>
            <a:srgbClr val="FF671F">
              <a:alpha val="12000"/>
            </a:srgbClr>
          </a:solidFill>
          <a:ln/>
        </p:spPr>
      </p:sp>
      <p:sp>
        <p:nvSpPr>
          <p:cNvPr id="45" name="Shape 43"/>
          <p:cNvSpPr/>
          <p:nvPr/>
        </p:nvSpPr>
        <p:spPr>
          <a:xfrm>
            <a:off x="3835400" y="5249863"/>
            <a:ext cx="25400" cy="210443"/>
          </a:xfrm>
          <a:prstGeom prst="rect">
            <a:avLst/>
          </a:prstGeom>
          <a:solidFill>
            <a:srgbClr val="FF671F"/>
          </a:solidFill>
          <a:ln/>
        </p:spPr>
      </p:sp>
      <p:sp>
        <p:nvSpPr>
          <p:cNvPr id="46" name="Text 44"/>
          <p:cNvSpPr/>
          <p:nvPr/>
        </p:nvSpPr>
        <p:spPr>
          <a:xfrm>
            <a:off x="3927475" y="5249863"/>
            <a:ext cx="10805542"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48 </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label: </a:t>
            </a:r>
            <a:pPr algn="l" indent="0" marL="0">
              <a:lnSpc>
                <a:spcPct val="170000"/>
              </a:lnSpc>
              <a:buNone/>
            </a:pPr>
            <a:r>
              <a:rPr lang="en-US" sz="975" dirty="0">
                <a:solidFill>
                  <a:srgbClr val="B5E48C"/>
                </a:solidFill>
                <a:latin typeface="JetBrains Mono" pitchFamily="34" charset="0"/>
                <a:ea typeface="JetBrains Mono" pitchFamily="34" charset="-122"/>
                <a:cs typeface="JetBrains Mono" pitchFamily="34" charset="-120"/>
              </a:rPr>
              <a:t>"Average Order Value"</a:t>
            </a:r>
            <a:endParaRPr lang="en-US" sz="975" dirty="0"/>
          </a:p>
        </p:txBody>
      </p:sp>
      <p:sp>
        <p:nvSpPr>
          <p:cNvPr id="47" name="Shape 45"/>
          <p:cNvSpPr/>
          <p:nvPr/>
        </p:nvSpPr>
        <p:spPr>
          <a:xfrm>
            <a:off x="3835400" y="5479356"/>
            <a:ext cx="10617201" cy="210443"/>
          </a:xfrm>
          <a:prstGeom prst="rect">
            <a:avLst/>
          </a:prstGeom>
          <a:solidFill>
            <a:srgbClr val="FF671F">
              <a:alpha val="12000"/>
            </a:srgbClr>
          </a:solidFill>
          <a:ln/>
        </p:spPr>
      </p:sp>
      <p:sp>
        <p:nvSpPr>
          <p:cNvPr id="48" name="Shape 46"/>
          <p:cNvSpPr/>
          <p:nvPr/>
        </p:nvSpPr>
        <p:spPr>
          <a:xfrm>
            <a:off x="3835400" y="5479356"/>
            <a:ext cx="25400" cy="210443"/>
          </a:xfrm>
          <a:prstGeom prst="rect">
            <a:avLst/>
          </a:prstGeom>
          <a:solidFill>
            <a:srgbClr val="FF671F"/>
          </a:solidFill>
          <a:ln/>
        </p:spPr>
      </p:sp>
      <p:sp>
        <p:nvSpPr>
          <p:cNvPr id="49" name="Text 47"/>
          <p:cNvSpPr/>
          <p:nvPr/>
        </p:nvSpPr>
        <p:spPr>
          <a:xfrm>
            <a:off x="3927475" y="5479356"/>
            <a:ext cx="10805542"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49 </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type: </a:t>
            </a:r>
            <a:pPr algn="l" indent="0" marL="0">
              <a:lnSpc>
                <a:spcPct val="170000"/>
              </a:lnSpc>
              <a:buNone/>
            </a:pPr>
            <a:r>
              <a:rPr lang="en-US" sz="975" dirty="0">
                <a:solidFill>
                  <a:srgbClr val="7BD0FF"/>
                </a:solidFill>
                <a:latin typeface="JetBrains Mono" pitchFamily="34" charset="0"/>
                <a:ea typeface="JetBrains Mono" pitchFamily="34" charset="-122"/>
                <a:cs typeface="JetBrains Mono" pitchFamily="34" charset="-120"/>
              </a:rPr>
              <a:t>number</a:t>
            </a:r>
            <a:endParaRPr lang="en-US" sz="975" dirty="0"/>
          </a:p>
        </p:txBody>
      </p:sp>
      <p:sp>
        <p:nvSpPr>
          <p:cNvPr id="50" name="Shape 48"/>
          <p:cNvSpPr/>
          <p:nvPr/>
        </p:nvSpPr>
        <p:spPr>
          <a:xfrm>
            <a:off x="3835400" y="5708849"/>
            <a:ext cx="10617201" cy="210443"/>
          </a:xfrm>
          <a:prstGeom prst="rect">
            <a:avLst/>
          </a:prstGeom>
          <a:solidFill>
            <a:srgbClr val="FF671F">
              <a:alpha val="12000"/>
            </a:srgbClr>
          </a:solidFill>
          <a:ln/>
        </p:spPr>
      </p:sp>
      <p:sp>
        <p:nvSpPr>
          <p:cNvPr id="51" name="Shape 49"/>
          <p:cNvSpPr/>
          <p:nvPr/>
        </p:nvSpPr>
        <p:spPr>
          <a:xfrm>
            <a:off x="3835400" y="5708849"/>
            <a:ext cx="25400" cy="210443"/>
          </a:xfrm>
          <a:prstGeom prst="rect">
            <a:avLst/>
          </a:prstGeom>
          <a:solidFill>
            <a:srgbClr val="FF671F"/>
          </a:solidFill>
          <a:ln/>
        </p:spPr>
      </p:sp>
      <p:sp>
        <p:nvSpPr>
          <p:cNvPr id="52" name="Text 50"/>
          <p:cNvSpPr/>
          <p:nvPr/>
        </p:nvSpPr>
        <p:spPr>
          <a:xfrm>
            <a:off x="3927475" y="5708849"/>
            <a:ext cx="10805542"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50 </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sql: </a:t>
            </a:r>
            <a:pPr algn="l" indent="0" marL="0">
              <a:lnSpc>
                <a:spcPct val="170000"/>
              </a:lnSpc>
              <a:buNone/>
            </a:pPr>
            <a:r>
              <a:rPr lang="en-US" sz="975" dirty="0">
                <a:solidFill>
                  <a:srgbClr val="B5E48C"/>
                </a:solidFill>
                <a:latin typeface="JetBrains Mono" pitchFamily="34" charset="0"/>
                <a:ea typeface="JetBrains Mono" pitchFamily="34" charset="-122"/>
                <a:cs typeface="JetBrains Mono" pitchFamily="34" charset="-120"/>
              </a:rPr>
              <a:t>${total_revenue} / NULLIF(${count},0) </a:t>
            </a:r>
            <a:pPr algn="l" indent="0" marL="0">
              <a:lnSpc>
                <a:spcPct val="170000"/>
              </a:lnSpc>
              <a:buNone/>
            </a:pPr>
            <a:r>
              <a:rPr lang="en-US" sz="975" dirty="0">
                <a:solidFill>
                  <a:srgbClr val="E8ECF3"/>
                </a:solidFill>
                <a:highlight>
                  <a:srgbClr val="FF671F"/>
                </a:highlight>
                <a:latin typeface="JetBrains Mono" pitchFamily="34" charset="0"/>
                <a:ea typeface="JetBrains Mono" pitchFamily="34" charset="-122"/>
                <a:cs typeface="JetBrains Mono" pitchFamily="34" charset="-120"/>
              </a:rPr>
              <a:t>;;</a:t>
            </a:r>
            <a:endParaRPr lang="en-US" sz="975" dirty="0"/>
          </a:p>
        </p:txBody>
      </p:sp>
      <p:sp>
        <p:nvSpPr>
          <p:cNvPr id="53" name="Shape 51"/>
          <p:cNvSpPr/>
          <p:nvPr/>
        </p:nvSpPr>
        <p:spPr>
          <a:xfrm>
            <a:off x="3835400" y="5938342"/>
            <a:ext cx="10617201" cy="210443"/>
          </a:xfrm>
          <a:prstGeom prst="rect">
            <a:avLst/>
          </a:prstGeom>
          <a:solidFill>
            <a:srgbClr val="FF671F">
              <a:alpha val="12000"/>
            </a:srgbClr>
          </a:solidFill>
          <a:ln/>
        </p:spPr>
      </p:sp>
      <p:sp>
        <p:nvSpPr>
          <p:cNvPr id="54" name="Shape 52"/>
          <p:cNvSpPr/>
          <p:nvPr/>
        </p:nvSpPr>
        <p:spPr>
          <a:xfrm>
            <a:off x="3835400" y="5938342"/>
            <a:ext cx="25400" cy="210443"/>
          </a:xfrm>
          <a:prstGeom prst="rect">
            <a:avLst/>
          </a:prstGeom>
          <a:solidFill>
            <a:srgbClr val="FF671F"/>
          </a:solidFill>
          <a:ln/>
        </p:spPr>
      </p:sp>
      <p:sp>
        <p:nvSpPr>
          <p:cNvPr id="55" name="Text 53"/>
          <p:cNvSpPr/>
          <p:nvPr/>
        </p:nvSpPr>
        <p:spPr>
          <a:xfrm>
            <a:off x="3927475" y="5938342"/>
            <a:ext cx="10805542"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51 </a:t>
            </a:r>
            <a:pPr algn="l" indent="0" marL="0">
              <a:lnSpc>
                <a:spcPct val="170000"/>
              </a:lnSpc>
              <a:buNone/>
            </a:pPr>
            <a:r>
              <a:rPr lang="en-US" sz="975" b="1" dirty="0">
                <a:solidFill>
                  <a:srgbClr val="FF9D6B"/>
                </a:solidFill>
                <a:latin typeface="JetBrains Mono" pitchFamily="34" charset="0"/>
                <a:ea typeface="JetBrains Mono" pitchFamily="34" charset="-122"/>
                <a:cs typeface="JetBrains Mono" pitchFamily="34" charset="-120"/>
              </a:rPr>
              <a:t>value_format: </a:t>
            </a:r>
            <a:pPr algn="l" indent="0" marL="0">
              <a:lnSpc>
                <a:spcPct val="170000"/>
              </a:lnSpc>
              <a:buNone/>
            </a:pPr>
            <a:r>
              <a:rPr lang="en-US" sz="975" dirty="0">
                <a:solidFill>
                  <a:srgbClr val="B5E48C"/>
                </a:solidFill>
                <a:latin typeface="JetBrains Mono" pitchFamily="34" charset="0"/>
                <a:ea typeface="JetBrains Mono" pitchFamily="34" charset="-122"/>
                <a:cs typeface="JetBrains Mono" pitchFamily="34" charset="-120"/>
              </a:rPr>
              <a:t>"$0.00"</a:t>
            </a:r>
            <a:endParaRPr lang="en-US" sz="975" dirty="0"/>
          </a:p>
        </p:txBody>
      </p:sp>
      <p:sp>
        <p:nvSpPr>
          <p:cNvPr id="56" name="Shape 54"/>
          <p:cNvSpPr/>
          <p:nvPr/>
        </p:nvSpPr>
        <p:spPr>
          <a:xfrm>
            <a:off x="3835400" y="6167835"/>
            <a:ext cx="10617201" cy="210443"/>
          </a:xfrm>
          <a:prstGeom prst="rect">
            <a:avLst/>
          </a:prstGeom>
          <a:solidFill>
            <a:srgbClr val="FF671F">
              <a:alpha val="12000"/>
            </a:srgbClr>
          </a:solidFill>
          <a:ln/>
        </p:spPr>
      </p:sp>
      <p:sp>
        <p:nvSpPr>
          <p:cNvPr id="57" name="Shape 55"/>
          <p:cNvSpPr/>
          <p:nvPr/>
        </p:nvSpPr>
        <p:spPr>
          <a:xfrm>
            <a:off x="3835400" y="6167835"/>
            <a:ext cx="25400" cy="210443"/>
          </a:xfrm>
          <a:prstGeom prst="rect">
            <a:avLst/>
          </a:prstGeom>
          <a:solidFill>
            <a:srgbClr val="FF671F"/>
          </a:solidFill>
          <a:ln/>
        </p:spPr>
      </p:sp>
      <p:sp>
        <p:nvSpPr>
          <p:cNvPr id="58" name="Text 56"/>
          <p:cNvSpPr/>
          <p:nvPr/>
        </p:nvSpPr>
        <p:spPr>
          <a:xfrm>
            <a:off x="3927475" y="6167835"/>
            <a:ext cx="10805542"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52</a:t>
            </a:r>
            <a:pPr algn="l" indent="0" marL="0">
              <a:lnSpc>
                <a:spcPct val="170000"/>
              </a:lnSpc>
              <a:buNone/>
            </a:pPr>
            <a:r>
              <a:rPr lang="en-US" sz="975" dirty="0">
                <a:solidFill>
                  <a:srgbClr val="E8ECF3"/>
                </a:solidFill>
                <a:highlight>
                  <a:srgbClr val="FF671F"/>
                </a:highlight>
                <a:latin typeface="JetBrains Mono" pitchFamily="34" charset="0"/>
                <a:ea typeface="JetBrains Mono" pitchFamily="34" charset="-122"/>
                <a:cs typeface="JetBrains Mono" pitchFamily="34" charset="-120"/>
              </a:rPr>
              <a:t>}</a:t>
            </a:r>
            <a:endParaRPr lang="en-US" sz="975" dirty="0"/>
          </a:p>
        </p:txBody>
      </p:sp>
      <p:sp>
        <p:nvSpPr>
          <p:cNvPr id="59" name="Text 57"/>
          <p:cNvSpPr/>
          <p:nvPr/>
        </p:nvSpPr>
        <p:spPr>
          <a:xfrm>
            <a:off x="3873500" y="6397328"/>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dirty="0">
                <a:solidFill>
                  <a:srgbClr val="FFFFFF">
                    <a:alpha val="30000"/>
                  </a:srgbClr>
                </a:solidFill>
                <a:latin typeface="JetBrains Mono" pitchFamily="34" charset="0"/>
                <a:ea typeface="JetBrains Mono" pitchFamily="34" charset="-122"/>
                <a:cs typeface="JetBrains Mono" pitchFamily="34" charset="-120"/>
              </a:rPr>
              <a:t>53</a:t>
            </a:r>
            <a:endParaRPr lang="en-US" sz="975" dirty="0"/>
          </a:p>
        </p:txBody>
      </p:sp>
      <p:sp>
        <p:nvSpPr>
          <p:cNvPr id="60" name="Text 58"/>
          <p:cNvSpPr/>
          <p:nvPr/>
        </p:nvSpPr>
        <p:spPr>
          <a:xfrm>
            <a:off x="3873500" y="6626821"/>
            <a:ext cx="10857231" cy="248543"/>
          </a:xfrm>
          <a:prstGeom prst="rect">
            <a:avLst/>
          </a:prstGeom>
          <a:noFill/>
          <a:ln/>
        </p:spPr>
        <p:txBody>
          <a:bodyPr wrap="square" lIns="25400" tIns="25400" rIns="25400" bIns="25400" rtlCol="0" anchor="t">
            <a:normAutofit/>
          </a:bodyPr>
          <a:lstStyle/>
          <a:p>
            <a:pPr algn="l" indent="0" marL="0">
              <a:lnSpc>
                <a:spcPct val="170000"/>
              </a:lnSpc>
              <a:buNone/>
            </a:pPr>
            <a:r>
              <a:rPr lang="en-US" sz="975" i="1" dirty="0">
                <a:solidFill>
                  <a:srgbClr val="FFFFFF">
                    <a:alpha val="30000"/>
                  </a:srgbClr>
                </a:solidFill>
                <a:latin typeface="JetBrains Mono" pitchFamily="34" charset="0"/>
                <a:ea typeface="JetBrains Mono" pitchFamily="34" charset="-122"/>
                <a:cs typeface="JetBrains Mono" pitchFamily="34" charset="-120"/>
              </a:rPr>
              <a:t>54</a:t>
            </a:r>
            <a:pPr algn="l" indent="0" marL="0">
              <a:lnSpc>
                <a:spcPct val="170000"/>
              </a:lnSpc>
              <a:buNone/>
            </a:pPr>
            <a:r>
              <a:rPr lang="en-US" sz="975" i="1" dirty="0">
                <a:solidFill>
                  <a:srgbClr val="FFFFFF">
                    <a:alpha val="40000"/>
                  </a:srgbClr>
                </a:solidFill>
                <a:latin typeface="JetBrains Mono" pitchFamily="34" charset="0"/>
                <a:ea typeface="JetBrains Mono" pitchFamily="34" charset="-122"/>
                <a:cs typeface="JetBrains Mono" pitchFamily="34" charset="-120"/>
              </a:rPr>
              <a:t>// drill into row-level details</a:t>
            </a:r>
            <a:endParaRPr lang="en-US" sz="975" dirty="0"/>
          </a:p>
        </p:txBody>
      </p:sp>
      <p:sp>
        <p:nvSpPr>
          <p:cNvPr id="61" name="Shape 59"/>
          <p:cNvSpPr/>
          <p:nvPr/>
        </p:nvSpPr>
        <p:spPr>
          <a:xfrm>
            <a:off x="14585950" y="3739555"/>
            <a:ext cx="9525" cy="5753100"/>
          </a:xfrm>
          <a:prstGeom prst="rect">
            <a:avLst/>
          </a:prstGeom>
          <a:solidFill>
            <a:srgbClr val="FFFFFF">
              <a:alpha val="8000"/>
            </a:srgbClr>
          </a:solidFill>
          <a:ln/>
        </p:spPr>
      </p:sp>
      <p:sp>
        <p:nvSpPr>
          <p:cNvPr id="62" name="Text 60"/>
          <p:cNvSpPr/>
          <p:nvPr/>
        </p:nvSpPr>
        <p:spPr>
          <a:xfrm>
            <a:off x="14725650" y="3872905"/>
            <a:ext cx="2279650"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FFFFFF">
                    <a:alpha val="40000"/>
                  </a:srgbClr>
                </a:solidFill>
                <a:latin typeface="JetBrains Mono" pitchFamily="34" charset="0"/>
                <a:ea typeface="JetBrains Mono" pitchFamily="34" charset="-122"/>
                <a:cs typeface="JetBrains Mono" pitchFamily="34" charset="-120"/>
              </a:rPr>
              <a:t>LOOKML VALIDATOR</a:t>
            </a:r>
            <a:endParaRPr lang="en-US" sz="825" dirty="0"/>
          </a:p>
        </p:txBody>
      </p:sp>
      <p:sp>
        <p:nvSpPr>
          <p:cNvPr id="63" name="Shape 61"/>
          <p:cNvSpPr/>
          <p:nvPr/>
        </p:nvSpPr>
        <p:spPr>
          <a:xfrm>
            <a:off x="14725650" y="4165005"/>
            <a:ext cx="2203450" cy="298450"/>
          </a:xfrm>
          <a:prstGeom prst="roundRect">
            <a:avLst>
              <a:gd name="adj" fmla="val 19149"/>
            </a:avLst>
          </a:prstGeom>
          <a:solidFill>
            <a:srgbClr val="11331E"/>
          </a:solidFill>
          <a:ln/>
        </p:spPr>
      </p:sp>
      <p:sp>
        <p:nvSpPr>
          <p:cNvPr id="64" name="Text 62"/>
          <p:cNvSpPr/>
          <p:nvPr/>
        </p:nvSpPr>
        <p:spPr>
          <a:xfrm>
            <a:off x="14820900" y="4241205"/>
            <a:ext cx="2089150" cy="184150"/>
          </a:xfrm>
          <a:prstGeom prst="rect">
            <a:avLst/>
          </a:prstGeom>
          <a:noFill/>
          <a:ln/>
        </p:spPr>
        <p:txBody>
          <a:bodyPr wrap="square" lIns="25400" tIns="25400" rIns="25400" bIns="25400" rtlCol="0" anchor="t">
            <a:normAutofit/>
          </a:bodyPr>
          <a:lstStyle/>
          <a:p>
            <a:pPr algn="l" indent="0" marL="0">
              <a:buNone/>
            </a:pPr>
            <a:r>
              <a:rPr lang="en-US" sz="900" dirty="0">
                <a:solidFill>
                  <a:srgbClr val="7BE39D"/>
                </a:solidFill>
                <a:latin typeface="JetBrains Mono" pitchFamily="34" charset="0"/>
                <a:ea typeface="JetBrains Mono" pitchFamily="34" charset="-122"/>
                <a:cs typeface="JetBrains Mono" pitchFamily="34" charset="-120"/>
              </a:rPr>
              <a:t>✓ No errors. 12 files OK.</a:t>
            </a:r>
            <a:endParaRPr lang="en-US" sz="900" dirty="0"/>
          </a:p>
        </p:txBody>
      </p:sp>
      <p:sp>
        <p:nvSpPr>
          <p:cNvPr id="65" name="Text 63"/>
          <p:cNvSpPr/>
          <p:nvPr/>
        </p:nvSpPr>
        <p:spPr>
          <a:xfrm>
            <a:off x="14725650" y="4673005"/>
            <a:ext cx="2279650"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FFFFFF">
                    <a:alpha val="40000"/>
                  </a:srgbClr>
                </a:solidFill>
                <a:latin typeface="JetBrains Mono" pitchFamily="34" charset="0"/>
                <a:ea typeface="JetBrains Mono" pitchFamily="34" charset="-122"/>
                <a:cs typeface="JetBrains Mono" pitchFamily="34" charset="-120"/>
              </a:rPr>
              <a:t>SQL RUNNER</a:t>
            </a:r>
            <a:endParaRPr lang="en-US" sz="825" dirty="0"/>
          </a:p>
        </p:txBody>
      </p:sp>
      <p:sp>
        <p:nvSpPr>
          <p:cNvPr id="66" name="Shape 64"/>
          <p:cNvSpPr/>
          <p:nvPr/>
        </p:nvSpPr>
        <p:spPr>
          <a:xfrm>
            <a:off x="14725650" y="4965105"/>
            <a:ext cx="2203450" cy="444500"/>
          </a:xfrm>
          <a:prstGeom prst="roundRect">
            <a:avLst>
              <a:gd name="adj" fmla="val 12857"/>
            </a:avLst>
          </a:prstGeom>
          <a:solidFill>
            <a:srgbClr val="FFFFFF">
              <a:alpha val="4000"/>
            </a:srgbClr>
          </a:solidFill>
          <a:ln/>
        </p:spPr>
      </p:sp>
      <p:sp>
        <p:nvSpPr>
          <p:cNvPr id="67" name="Text 65"/>
          <p:cNvSpPr/>
          <p:nvPr/>
        </p:nvSpPr>
        <p:spPr>
          <a:xfrm>
            <a:off x="14820900" y="5041305"/>
            <a:ext cx="2089150" cy="330200"/>
          </a:xfrm>
          <a:prstGeom prst="rect">
            <a:avLst/>
          </a:prstGeom>
          <a:noFill/>
          <a:ln/>
        </p:spPr>
        <p:txBody>
          <a:bodyPr wrap="square" lIns="25400" tIns="25400" rIns="25400" bIns="25400" rtlCol="0" anchor="t">
            <a:normAutofit/>
          </a:bodyPr>
          <a:lstStyle/>
          <a:p>
            <a:pPr algn="l" indent="0" marL="0">
              <a:buNone/>
            </a:pPr>
            <a:r>
              <a:rPr lang="en-US" sz="900" dirty="0">
                <a:solidFill>
                  <a:srgbClr val="FFFFFF">
                    <a:alpha val="70000"/>
                  </a:srgbClr>
                </a:solidFill>
                <a:latin typeface="JetBrains Mono" pitchFamily="34" charset="0"/>
                <a:ea typeface="JetBrains Mono" pitchFamily="34" charset="-122"/>
                <a:cs typeface="JetBrains Mono" pitchFamily="34" charset="-120"/>
              </a:rPr>
              <a:t>Run query · Show generated SQL</a:t>
            </a:r>
            <a:endParaRPr lang="en-US" sz="900" dirty="0"/>
          </a:p>
        </p:txBody>
      </p:sp>
      <p:sp>
        <p:nvSpPr>
          <p:cNvPr id="68" name="Text 66"/>
          <p:cNvSpPr/>
          <p:nvPr/>
        </p:nvSpPr>
        <p:spPr>
          <a:xfrm>
            <a:off x="14725650" y="5619155"/>
            <a:ext cx="2279650" cy="177800"/>
          </a:xfrm>
          <a:prstGeom prst="rect">
            <a:avLst/>
          </a:prstGeom>
          <a:noFill/>
          <a:ln/>
        </p:spPr>
        <p:txBody>
          <a:bodyPr wrap="square" lIns="25400" tIns="25400" rIns="25400" bIns="25400" rtlCol="0" anchor="t">
            <a:normAutofit/>
          </a:bodyPr>
          <a:lstStyle/>
          <a:p>
            <a:pPr algn="l" indent="0" marL="0">
              <a:buNone/>
            </a:pPr>
            <a:r>
              <a:rPr lang="en-US" sz="825" spc="83" kern="0" dirty="0">
                <a:solidFill>
                  <a:srgbClr val="FFFFFF">
                    <a:alpha val="40000"/>
                  </a:srgbClr>
                </a:solidFill>
                <a:latin typeface="JetBrains Mono" pitchFamily="34" charset="0"/>
                <a:ea typeface="JetBrains Mono" pitchFamily="34" charset="-122"/>
                <a:cs typeface="JetBrains Mono" pitchFamily="34" charset="-120"/>
              </a:rPr>
              <a:t>DEPLOY</a:t>
            </a:r>
            <a:endParaRPr lang="en-US" sz="825" dirty="0"/>
          </a:p>
        </p:txBody>
      </p:sp>
      <p:sp>
        <p:nvSpPr>
          <p:cNvPr id="69" name="Shape 67"/>
          <p:cNvSpPr/>
          <p:nvPr/>
        </p:nvSpPr>
        <p:spPr>
          <a:xfrm>
            <a:off x="14725650" y="5911255"/>
            <a:ext cx="2203450" cy="298450"/>
          </a:xfrm>
          <a:prstGeom prst="roundRect">
            <a:avLst>
              <a:gd name="adj" fmla="val 19149"/>
            </a:avLst>
          </a:prstGeom>
          <a:solidFill>
            <a:srgbClr val="FF671F"/>
          </a:solidFill>
          <a:ln/>
        </p:spPr>
      </p:sp>
      <p:sp>
        <p:nvSpPr>
          <p:cNvPr id="70" name="Text 68"/>
          <p:cNvSpPr/>
          <p:nvPr/>
        </p:nvSpPr>
        <p:spPr>
          <a:xfrm>
            <a:off x="14782800" y="5987455"/>
            <a:ext cx="2089150" cy="184150"/>
          </a:xfrm>
          <a:prstGeom prst="rect">
            <a:avLst/>
          </a:prstGeom>
          <a:noFill/>
          <a:ln/>
        </p:spPr>
        <p:txBody>
          <a:bodyPr wrap="square" lIns="25400" tIns="25400" rIns="25400" bIns="25400" rtlCol="0" anchor="t">
            <a:normAutofit/>
          </a:bodyPr>
          <a:lstStyle/>
          <a:p>
            <a:pPr algn="ctr" indent="0" marL="0">
              <a:buNone/>
            </a:pPr>
            <a:r>
              <a:rPr lang="en-US" sz="900" b="1" dirty="0">
                <a:solidFill>
                  <a:srgbClr val="FFFFFF"/>
                </a:solidFill>
                <a:latin typeface="JetBrains Mono" pitchFamily="34" charset="0"/>
                <a:ea typeface="JetBrains Mono" pitchFamily="34" charset="-122"/>
                <a:cs typeface="JetBrains Mono" pitchFamily="34" charset="-120"/>
              </a:rPr>
              <a:t>Deploy to Production</a:t>
            </a:r>
            <a:endParaRPr lang="en-US" sz="900" dirty="0"/>
          </a:p>
        </p:txBody>
      </p:sp>
      <p:sp>
        <p:nvSpPr>
          <p:cNvPr id="71" name="Shape 69"/>
          <p:cNvSpPr/>
          <p:nvPr/>
        </p:nvSpPr>
        <p:spPr>
          <a:xfrm>
            <a:off x="14725650" y="6304955"/>
            <a:ext cx="2203450" cy="298450"/>
          </a:xfrm>
          <a:prstGeom prst="roundRect">
            <a:avLst>
              <a:gd name="adj" fmla="val 19149"/>
            </a:avLst>
          </a:prstGeom>
          <a:solidFill>
            <a:srgbClr val="FFFFFF">
              <a:alpha val="4000"/>
            </a:srgbClr>
          </a:solidFill>
          <a:ln/>
        </p:spPr>
      </p:sp>
      <p:sp>
        <p:nvSpPr>
          <p:cNvPr id="72" name="Text 70"/>
          <p:cNvSpPr/>
          <p:nvPr/>
        </p:nvSpPr>
        <p:spPr>
          <a:xfrm>
            <a:off x="14782800" y="6381155"/>
            <a:ext cx="2089150" cy="184150"/>
          </a:xfrm>
          <a:prstGeom prst="rect">
            <a:avLst/>
          </a:prstGeom>
          <a:noFill/>
          <a:ln/>
        </p:spPr>
        <p:txBody>
          <a:bodyPr wrap="square" lIns="25400" tIns="25400" rIns="25400" bIns="25400" rtlCol="0" anchor="t">
            <a:normAutofit/>
          </a:bodyPr>
          <a:lstStyle/>
          <a:p>
            <a:pPr algn="ctr" indent="0" marL="0">
              <a:buNone/>
            </a:pPr>
            <a:r>
              <a:rPr lang="en-US" sz="900" dirty="0">
                <a:solidFill>
                  <a:srgbClr val="FFFFFF">
                    <a:alpha val="70000"/>
                  </a:srgbClr>
                </a:solidFill>
                <a:latin typeface="JetBrains Mono" pitchFamily="34" charset="0"/>
                <a:ea typeface="JetBrains Mono" pitchFamily="34" charset="-122"/>
                <a:cs typeface="JetBrains Mono" pitchFamily="34" charset="-120"/>
              </a:rPr>
              <a:t>Commit &amp; push</a:t>
            </a:r>
            <a:endParaRPr lang="en-US" sz="900" dirty="0"/>
          </a:p>
        </p:txBody>
      </p:sp>
      <p:sp>
        <p:nvSpPr>
          <p:cNvPr id="73" name="Shape 71"/>
          <p:cNvSpPr/>
          <p:nvPr/>
        </p:nvSpPr>
        <p:spPr>
          <a:xfrm>
            <a:off x="133350" y="3942755"/>
            <a:ext cx="3758803"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4" name="Text 72"/>
          <p:cNvSpPr/>
          <p:nvPr/>
        </p:nvSpPr>
        <p:spPr>
          <a:xfrm>
            <a:off x="266700" y="4018955"/>
            <a:ext cx="3604867"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File tree — same shape as the Git repo.</a:t>
            </a:r>
            <a:endParaRPr lang="en-US" sz="975" dirty="0"/>
          </a:p>
        </p:txBody>
      </p:sp>
      <p:sp>
        <p:nvSpPr>
          <p:cNvPr id="75" name="Shape 73"/>
          <p:cNvSpPr/>
          <p:nvPr/>
        </p:nvSpPr>
        <p:spPr>
          <a:xfrm>
            <a:off x="2705100" y="3942755"/>
            <a:ext cx="4167386"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6" name="Text 74"/>
          <p:cNvSpPr/>
          <p:nvPr/>
        </p:nvSpPr>
        <p:spPr>
          <a:xfrm>
            <a:off x="2838450" y="4018955"/>
            <a:ext cx="4025708"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Code editor with LookML syntax highlighting.</a:t>
            </a:r>
            <a:endParaRPr lang="en-US" sz="975" dirty="0"/>
          </a:p>
        </p:txBody>
      </p:sp>
      <p:sp>
        <p:nvSpPr>
          <p:cNvPr id="77" name="Shape 75"/>
          <p:cNvSpPr/>
          <p:nvPr/>
        </p:nvSpPr>
        <p:spPr>
          <a:xfrm>
            <a:off x="13823852" y="3942755"/>
            <a:ext cx="4330799"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78" name="Text 76"/>
          <p:cNvSpPr/>
          <p:nvPr/>
        </p:nvSpPr>
        <p:spPr>
          <a:xfrm>
            <a:off x="13957202" y="4018955"/>
            <a:ext cx="4194023"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Validator runs on save; deploy controls below.</a:t>
            </a:r>
            <a:endParaRPr lang="en-US" sz="975" dirty="0"/>
          </a:p>
        </p:txBody>
      </p:sp>
      <p:sp>
        <p:nvSpPr>
          <p:cNvPr id="79" name="Shape 77"/>
          <p:cNvSpPr/>
          <p:nvPr/>
        </p:nvSpPr>
        <p:spPr>
          <a:xfrm>
            <a:off x="133350" y="9003705"/>
            <a:ext cx="4412556" cy="361950"/>
          </a:xfrm>
          <a:prstGeom prst="roundRect">
            <a:avLst>
              <a:gd name="adj" fmla="val 21053"/>
            </a:avLst>
          </a:prstGeom>
          <a:solidFill>
            <a:srgbClr val="FF671F"/>
          </a:solidFill>
          <a:ln/>
          <a:effectLst>
            <a:outerShdw sx="100000" sy="100000" kx="0" ky="0" algn="bl" rotWithShape="0" blurRad="114300" dist="38100" dir="5400000">
              <a:srgbClr val="000000">
                <a:alpha val="18000"/>
              </a:srgbClr>
            </a:outerShdw>
          </a:effectLst>
        </p:spPr>
      </p:sp>
      <p:sp>
        <p:nvSpPr>
          <p:cNvPr id="80" name="Text 78"/>
          <p:cNvSpPr/>
          <p:nvPr/>
        </p:nvSpPr>
        <p:spPr>
          <a:xfrm>
            <a:off x="266700" y="9079905"/>
            <a:ext cx="4278232" cy="247650"/>
          </a:xfrm>
          <a:prstGeom prst="rect">
            <a:avLst/>
          </a:prstGeom>
          <a:noFill/>
          <a:ln/>
        </p:spPr>
        <p:txBody>
          <a:bodyPr wrap="square" lIns="25400" tIns="25400" rIns="25400" bIns="25400" rtlCol="0" anchor="ctr">
            <a:normAutofit/>
          </a:bodyPr>
          <a:lstStyle/>
          <a:p>
            <a:pPr algn="l" indent="0" marL="0">
              <a:buNone/>
            </a:pPr>
            <a:r>
              <a:rPr lang="en-US" sz="975" b="1" spc="59" kern="0" dirty="0">
                <a:solidFill>
                  <a:srgbClr val="FFFFFF"/>
                </a:solidFill>
                <a:latin typeface="JetBrains Mono" pitchFamily="34" charset="0"/>
                <a:ea typeface="JetBrains Mono" pitchFamily="34" charset="-122"/>
                <a:cs typeface="JetBrains Mono" pitchFamily="34" charset="-120"/>
              </a:rPr>
              <a:t>Branch &amp; Git status — every change is a commit.</a:t>
            </a:r>
            <a:endParaRPr lang="en-US" sz="975" dirty="0"/>
          </a:p>
        </p:txBody>
      </p:sp>
      <p:sp>
        <p:nvSpPr>
          <p:cNvPr id="81" name="Text 79"/>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82" name="Text 80"/>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50 / 60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38435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rcRect l="0" r="0" t="0" b="0"/>
          <a:stretch/>
        </p:blipFill>
        <p:spPr>
          <a:xfrm>
            <a:off x="11811000" y="3810000"/>
            <a:ext cx="6477000" cy="6477000"/>
          </a:xfrm>
          <a:prstGeom prst="rect">
            <a:avLst/>
          </a:prstGeom>
        </p:spPr>
      </p:pic>
      <p:sp>
        <p:nvSpPr>
          <p:cNvPr id="3" name="Shape 0"/>
          <p:cNvSpPr/>
          <p:nvPr/>
        </p:nvSpPr>
        <p:spPr>
          <a:xfrm>
            <a:off x="1219200" y="657225"/>
            <a:ext cx="361950" cy="361950"/>
          </a:xfrm>
          <a:prstGeom prst="rect">
            <a:avLst/>
          </a:prstGeom>
          <a:solidFill>
            <a:srgbClr val="FFFFFF"/>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6152416" y="755650"/>
            <a:ext cx="992584"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FFFFFF">
                    <a:alpha val="55000"/>
                  </a:srgbClr>
                </a:solidFill>
                <a:latin typeface="JetBrains Mono" pitchFamily="34" charset="0"/>
                <a:ea typeface="JetBrains Mono" pitchFamily="34" charset="-122"/>
                <a:cs typeface="JetBrains Mono" pitchFamily="34" charset="-120"/>
              </a:rPr>
              <a:t>CHAPTER 05</a:t>
            </a:r>
            <a:endParaRPr lang="en-US" sz="975" dirty="0"/>
          </a:p>
        </p:txBody>
      </p:sp>
      <p:sp>
        <p:nvSpPr>
          <p:cNvPr id="7" name="Text 4"/>
          <p:cNvSpPr/>
          <p:nvPr/>
        </p:nvSpPr>
        <p:spPr>
          <a:xfrm>
            <a:off x="1219200" y="2667000"/>
            <a:ext cx="12753975" cy="292100"/>
          </a:xfrm>
          <a:prstGeom prst="rect">
            <a:avLst/>
          </a:prstGeom>
          <a:noFill/>
          <a:ln/>
        </p:spPr>
        <p:txBody>
          <a:bodyPr wrap="square" lIns="25400" tIns="25400" rIns="25400" bIns="25400" rtlCol="0" anchor="t">
            <a:normAutofit/>
          </a:bodyPr>
          <a:lstStyle/>
          <a:p>
            <a:pPr algn="l" indent="0" marL="0">
              <a:buNone/>
            </a:pPr>
            <a:r>
              <a:rPr lang="en-US" sz="1500" spc="300" kern="0" dirty="0">
                <a:solidFill>
                  <a:srgbClr val="FF671F"/>
                </a:solidFill>
                <a:latin typeface="JetBrains Mono" pitchFamily="34" charset="0"/>
                <a:ea typeface="JetBrains Mono" pitchFamily="34" charset="-122"/>
                <a:cs typeface="JetBrains Mono" pitchFamily="34" charset="-120"/>
              </a:rPr>
              <a:t>CHAPTER 05 · SLIDES 51–60</a:t>
            </a:r>
            <a:endParaRPr lang="en-US" sz="1500" dirty="0"/>
          </a:p>
        </p:txBody>
      </p:sp>
      <p:sp>
        <p:nvSpPr>
          <p:cNvPr id="8" name="Text 5"/>
          <p:cNvSpPr/>
          <p:nvPr/>
        </p:nvSpPr>
        <p:spPr>
          <a:xfrm>
            <a:off x="1219200" y="3225800"/>
            <a:ext cx="12753975" cy="2716411"/>
          </a:xfrm>
          <a:prstGeom prst="rect">
            <a:avLst/>
          </a:prstGeom>
          <a:noFill/>
          <a:ln/>
        </p:spPr>
        <p:txBody>
          <a:bodyPr wrap="square" lIns="25400" tIns="25400" rIns="25400" bIns="25400" rtlCol="0" anchor="t">
            <a:normAutofit/>
          </a:bodyPr>
          <a:lstStyle/>
          <a:p>
            <a:pPr algn="l" indent="0" marL="0">
              <a:lnSpc>
                <a:spcPct val="95000"/>
              </a:lnSpc>
              <a:buNone/>
            </a:pPr>
            <a:r>
              <a:rPr lang="en-US" sz="11100" b="1" spc="-278" kern="0" dirty="0">
                <a:solidFill>
                  <a:srgbClr val="FFFFFF"/>
                </a:solidFill>
                <a:latin typeface="Manrope" pitchFamily="34" charset="0"/>
                <a:ea typeface="Manrope" pitchFamily="34" charset="-122"/>
                <a:cs typeface="Manrope" pitchFamily="34" charset="-120"/>
              </a:rPr>
              <a:t>Looker vs </a:t>
            </a:r>
            <a:pPr algn="l" indent="0" marL="0">
              <a:lnSpc>
                <a:spcPct val="95000"/>
              </a:lnSpc>
              <a:buNone/>
            </a:pPr>
            <a:r>
              <a:rPr lang="en-US" sz="11100" b="1" spc="-278" kern="0" dirty="0">
                <a:solidFill>
                  <a:srgbClr val="FF671F"/>
                </a:solidFill>
                <a:latin typeface="Manrope" pitchFamily="34" charset="0"/>
                <a:ea typeface="Manrope" pitchFamily="34" charset="-122"/>
                <a:cs typeface="Manrope" pitchFamily="34" charset="-120"/>
              </a:rPr>
              <a:t>Studio.</a:t>
            </a:r>
            <a:endParaRPr lang="en-US" sz="11100" dirty="0"/>
          </a:p>
        </p:txBody>
      </p:sp>
      <p:sp>
        <p:nvSpPr>
          <p:cNvPr id="9" name="Text 6"/>
          <p:cNvSpPr/>
          <p:nvPr/>
        </p:nvSpPr>
        <p:spPr>
          <a:xfrm>
            <a:off x="1219200" y="6170811"/>
            <a:ext cx="9810750" cy="1117997"/>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alpha val="70000"/>
                  </a:srgbClr>
                </a:solidFill>
                <a:latin typeface="Manrope" pitchFamily="34" charset="0"/>
                <a:ea typeface="Manrope" pitchFamily="34" charset="-122"/>
                <a:cs typeface="Manrope" pitchFamily="34" charset="-120"/>
              </a:rPr>
              <a:t>Two products in one Google portfolio. Pick the right tool for a use case based on modeling, governance, scale and the audience that will actually open the dashboard.</a:t>
            </a:r>
            <a:endParaRPr lang="en-US" sz="2100" dirty="0"/>
          </a:p>
        </p:txBody>
      </p:sp>
      <p:sp>
        <p:nvSpPr>
          <p:cNvPr id="10" name="Text 7"/>
          <p:cNvSpPr/>
          <p:nvPr/>
        </p:nvSpPr>
        <p:spPr>
          <a:xfrm>
            <a:off x="12496800" y="2667000"/>
            <a:ext cx="4709160" cy="203200"/>
          </a:xfrm>
          <a:prstGeom prst="rect">
            <a:avLst/>
          </a:prstGeom>
          <a:noFill/>
          <a:ln/>
        </p:spPr>
        <p:txBody>
          <a:bodyPr wrap="square" lIns="25400" tIns="25400" rIns="25400" bIns="25400" rtlCol="0" anchor="t">
            <a:normAutofit/>
          </a:bodyPr>
          <a:lstStyle/>
          <a:p>
            <a:pPr algn="l" indent="0" marL="0">
              <a:buNone/>
            </a:pPr>
            <a:r>
              <a:rPr lang="en-US" sz="975" spc="156" kern="0" dirty="0">
                <a:solidFill>
                  <a:srgbClr val="FFFFFF">
                    <a:alpha val="50000"/>
                  </a:srgbClr>
                </a:solidFill>
                <a:latin typeface="JetBrains Mono" pitchFamily="34" charset="0"/>
                <a:ea typeface="JetBrains Mono" pitchFamily="34" charset="-122"/>
                <a:cs typeface="JetBrains Mono" pitchFamily="34" charset="-120"/>
              </a:rPr>
              <a:t>IN THIS CHAPTER</a:t>
            </a:r>
            <a:endParaRPr lang="en-US" sz="975" dirty="0"/>
          </a:p>
        </p:txBody>
      </p:sp>
      <p:sp>
        <p:nvSpPr>
          <p:cNvPr id="11" name="Shape 8"/>
          <p:cNvSpPr/>
          <p:nvPr/>
        </p:nvSpPr>
        <p:spPr>
          <a:xfrm>
            <a:off x="12496800" y="3429000"/>
            <a:ext cx="4572000" cy="9525"/>
          </a:xfrm>
          <a:prstGeom prst="rect">
            <a:avLst/>
          </a:prstGeom>
          <a:solidFill>
            <a:srgbClr val="FFFFFF">
              <a:alpha val="12000"/>
            </a:srgbClr>
          </a:solidFill>
          <a:ln/>
        </p:spPr>
      </p:sp>
      <p:sp>
        <p:nvSpPr>
          <p:cNvPr id="12" name="Text 9"/>
          <p:cNvSpPr/>
          <p:nvPr/>
        </p:nvSpPr>
        <p:spPr>
          <a:xfrm>
            <a:off x="12496800" y="3060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Meet Looker</a:t>
            </a:r>
            <a:endParaRPr lang="en-US" sz="1350" dirty="0"/>
          </a:p>
        </p:txBody>
      </p:sp>
      <p:sp>
        <p:nvSpPr>
          <p:cNvPr id="13" name="Shape 10"/>
          <p:cNvSpPr/>
          <p:nvPr/>
        </p:nvSpPr>
        <p:spPr>
          <a:xfrm>
            <a:off x="12496800" y="3937000"/>
            <a:ext cx="4572000" cy="9525"/>
          </a:xfrm>
          <a:prstGeom prst="rect">
            <a:avLst/>
          </a:prstGeom>
          <a:solidFill>
            <a:srgbClr val="FFFFFF">
              <a:alpha val="12000"/>
            </a:srgbClr>
          </a:solidFill>
          <a:ln/>
        </p:spPr>
      </p:sp>
      <p:sp>
        <p:nvSpPr>
          <p:cNvPr id="14" name="Text 11"/>
          <p:cNvSpPr/>
          <p:nvPr/>
        </p:nvSpPr>
        <p:spPr>
          <a:xfrm>
            <a:off x="12496800" y="3568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Tour the UI</a:t>
            </a:r>
            <a:endParaRPr lang="en-US" sz="1350" dirty="0"/>
          </a:p>
        </p:txBody>
      </p:sp>
      <p:sp>
        <p:nvSpPr>
          <p:cNvPr id="15" name="Shape 12"/>
          <p:cNvSpPr/>
          <p:nvPr/>
        </p:nvSpPr>
        <p:spPr>
          <a:xfrm>
            <a:off x="12496800" y="4445000"/>
            <a:ext cx="4572000" cy="9525"/>
          </a:xfrm>
          <a:prstGeom prst="rect">
            <a:avLst/>
          </a:prstGeom>
          <a:solidFill>
            <a:srgbClr val="FFFFFF">
              <a:alpha val="12000"/>
            </a:srgbClr>
          </a:solidFill>
          <a:ln/>
        </p:spPr>
      </p:sp>
      <p:sp>
        <p:nvSpPr>
          <p:cNvPr id="16" name="Text 13"/>
          <p:cNvSpPr/>
          <p:nvPr/>
        </p:nvSpPr>
        <p:spPr>
          <a:xfrm>
            <a:off x="12496800" y="4076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Dashboards</a:t>
            </a:r>
            <a:endParaRPr lang="en-US" sz="1350" dirty="0"/>
          </a:p>
        </p:txBody>
      </p:sp>
      <p:sp>
        <p:nvSpPr>
          <p:cNvPr id="17" name="Shape 14"/>
          <p:cNvSpPr/>
          <p:nvPr/>
        </p:nvSpPr>
        <p:spPr>
          <a:xfrm>
            <a:off x="12496800" y="4953000"/>
            <a:ext cx="4572000" cy="9525"/>
          </a:xfrm>
          <a:prstGeom prst="rect">
            <a:avLst/>
          </a:prstGeom>
          <a:solidFill>
            <a:srgbClr val="FFFFFF">
              <a:alpha val="12000"/>
            </a:srgbClr>
          </a:solidFill>
          <a:ln/>
        </p:spPr>
      </p:sp>
      <p:sp>
        <p:nvSpPr>
          <p:cNvPr id="18" name="Text 15"/>
          <p:cNvSpPr/>
          <p:nvPr/>
        </p:nvSpPr>
        <p:spPr>
          <a:xfrm>
            <a:off x="12496800" y="4584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alpha val="70000"/>
                  </a:srgbClr>
                </a:solidFill>
                <a:latin typeface="Manrope" pitchFamily="34" charset="0"/>
                <a:ea typeface="Manrope" pitchFamily="34" charset="-122"/>
                <a:cs typeface="Manrope" pitchFamily="34" charset="-120"/>
              </a:rPr>
              <a:t>LookML &amp; parameters</a:t>
            </a:r>
            <a:endParaRPr lang="en-US" sz="1350" dirty="0"/>
          </a:p>
        </p:txBody>
      </p:sp>
      <p:sp>
        <p:nvSpPr>
          <p:cNvPr id="19" name="Shape 16"/>
          <p:cNvSpPr/>
          <p:nvPr/>
        </p:nvSpPr>
        <p:spPr>
          <a:xfrm>
            <a:off x="12496800" y="5461000"/>
            <a:ext cx="4572000" cy="9525"/>
          </a:xfrm>
          <a:prstGeom prst="rect">
            <a:avLst/>
          </a:prstGeom>
          <a:solidFill>
            <a:srgbClr val="FFFFFF">
              <a:alpha val="12000"/>
            </a:srgbClr>
          </a:solidFill>
          <a:ln/>
        </p:spPr>
      </p:sp>
      <p:sp>
        <p:nvSpPr>
          <p:cNvPr id="20" name="Text 17"/>
          <p:cNvSpPr/>
          <p:nvPr/>
        </p:nvSpPr>
        <p:spPr>
          <a:xfrm>
            <a:off x="12496800" y="5092700"/>
            <a:ext cx="4709160" cy="273050"/>
          </a:xfrm>
          <a:prstGeom prst="rect">
            <a:avLst/>
          </a:prstGeom>
          <a:noFill/>
          <a:ln/>
        </p:spPr>
        <p:txBody>
          <a:bodyPr wrap="square" lIns="25400" tIns="25400" rIns="25400" bIns="25400" rtlCol="0" anchor="t">
            <a:normAutofit/>
          </a:bodyPr>
          <a:lstStyle/>
          <a:p>
            <a:pPr algn="l" indent="0" marL="0">
              <a:buNone/>
            </a:pPr>
            <a:r>
              <a:rPr lang="en-US" sz="1350" dirty="0">
                <a:solidFill>
                  <a:srgbClr val="FFFFFF"/>
                </a:solidFill>
                <a:latin typeface="Manrope" pitchFamily="34" charset="0"/>
                <a:ea typeface="Manrope" pitchFamily="34" charset="-122"/>
                <a:cs typeface="Manrope" pitchFamily="34" charset="-120"/>
              </a:rPr>
              <a:t>Looker vs Looker Studio</a:t>
            </a:r>
            <a:endParaRPr lang="en-US" sz="1350" dirty="0"/>
          </a:p>
        </p:txBody>
      </p:sp>
      <p:sp>
        <p:nvSpPr>
          <p:cNvPr id="21" name="Text 1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globallogic.com</a:t>
            </a:r>
            <a:endParaRPr lang="en-US" sz="1050" dirty="0"/>
          </a:p>
        </p:txBody>
      </p:sp>
      <p:sp>
        <p:nvSpPr>
          <p:cNvPr id="22" name="Text 1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51 / 60</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05 · LOOKER VS STUDIO</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THE TWO PRODUCTS</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Same family name. </a:t>
            </a:r>
            <a:pPr algn="l" indent="0" marL="0">
              <a:lnSpc>
                <a:spcPct val="102000"/>
              </a:lnSpc>
              <a:buNone/>
            </a:pPr>
            <a:r>
              <a:rPr lang="en-US" sz="6000" b="1" spc="-120" kern="0" dirty="0">
                <a:solidFill>
                  <a:srgbClr val="FF671F"/>
                </a:solidFill>
                <a:latin typeface="Manrope" pitchFamily="34" charset="0"/>
                <a:ea typeface="Manrope" pitchFamily="34" charset="-122"/>
                <a:cs typeface="Manrope" pitchFamily="34" charset="-120"/>
              </a:rPr>
              <a:t>Very </a:t>
            </a:r>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different jobs.</a:t>
            </a:r>
            <a:endParaRPr lang="en-US" sz="6000" dirty="0"/>
          </a:p>
        </p:txBody>
      </p:sp>
      <p:sp>
        <p:nvSpPr>
          <p:cNvPr id="8" name="Text 6"/>
          <p:cNvSpPr/>
          <p:nvPr/>
        </p:nvSpPr>
        <p:spPr>
          <a:xfrm>
            <a:off x="1219200" y="390386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Looker (the enterprise platform) and Looker Studio (formerly Data Studio) share a brand and Google's data stack — but they serve different teams, scales and governance models. The exam wants you to know which to recommend for a given scenario.</a:t>
            </a:r>
            <a:endParaRPr lang="en-US" sz="1650" dirty="0"/>
          </a:p>
        </p:txBody>
      </p:sp>
      <p:sp>
        <p:nvSpPr>
          <p:cNvPr id="9" name="Shape 7"/>
          <p:cNvSpPr/>
          <p:nvPr/>
        </p:nvSpPr>
        <p:spPr>
          <a:xfrm>
            <a:off x="1219200" y="5349677"/>
            <a:ext cx="7696200" cy="2150963"/>
          </a:xfrm>
          <a:prstGeom prst="roundRect">
            <a:avLst>
              <a:gd name="adj" fmla="val 6200"/>
            </a:avLst>
          </a:prstGeom>
          <a:solidFill>
            <a:srgbClr val="1B1F2A"/>
          </a:solidFill>
          <a:ln/>
        </p:spPr>
      </p:sp>
      <p:sp>
        <p:nvSpPr>
          <p:cNvPr id="10" name="Shape 8"/>
          <p:cNvSpPr/>
          <p:nvPr/>
        </p:nvSpPr>
        <p:spPr>
          <a:xfrm>
            <a:off x="1219200" y="5349677"/>
            <a:ext cx="7696200" cy="38100"/>
          </a:xfrm>
          <a:prstGeom prst="rect">
            <a:avLst/>
          </a:prstGeom>
          <a:solidFill>
            <a:srgbClr val="FF671F"/>
          </a:solidFill>
          <a:ln/>
        </p:spPr>
      </p:sp>
      <p:sp>
        <p:nvSpPr>
          <p:cNvPr id="11" name="Text 9"/>
          <p:cNvSpPr/>
          <p:nvPr/>
        </p:nvSpPr>
        <p:spPr>
          <a:xfrm>
            <a:off x="1524000" y="5692577"/>
            <a:ext cx="7299198"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LOOKER</a:t>
            </a:r>
            <a:endParaRPr lang="en-US" sz="900" dirty="0"/>
          </a:p>
        </p:txBody>
      </p:sp>
      <p:sp>
        <p:nvSpPr>
          <p:cNvPr id="12" name="Text 10"/>
          <p:cNvSpPr/>
          <p:nvPr/>
        </p:nvSpPr>
        <p:spPr>
          <a:xfrm>
            <a:off x="1524000" y="5971977"/>
            <a:ext cx="7299198"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Enterprise BI with a governed semantic model.</a:t>
            </a:r>
            <a:endParaRPr lang="en-US" sz="1950" dirty="0"/>
          </a:p>
        </p:txBody>
      </p:sp>
      <p:sp>
        <p:nvSpPr>
          <p:cNvPr id="13" name="Text 11"/>
          <p:cNvSpPr/>
          <p:nvPr/>
        </p:nvSpPr>
        <p:spPr>
          <a:xfrm>
            <a:off x="1524000" y="6390084"/>
            <a:ext cx="7299198"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FFFFFF">
                    <a:alpha val="78000"/>
                  </a:srgbClr>
                </a:solidFill>
                <a:latin typeface="Manrope" pitchFamily="34" charset="0"/>
                <a:ea typeface="Manrope" pitchFamily="34" charset="-122"/>
                <a:cs typeface="Manrope" pitchFamily="34" charset="-120"/>
              </a:rPr>
              <a:t>Modeled once in LookML, used everywhere. Roles, folders, row-level security, embeds, API. Paid product on Google Cloud.</a:t>
            </a:r>
            <a:endParaRPr lang="en-US" sz="1275" dirty="0"/>
          </a:p>
        </p:txBody>
      </p:sp>
      <p:sp>
        <p:nvSpPr>
          <p:cNvPr id="14" name="Text 12"/>
          <p:cNvSpPr/>
          <p:nvPr/>
        </p:nvSpPr>
        <p:spPr>
          <a:xfrm>
            <a:off x="1524000" y="7009209"/>
            <a:ext cx="7299198"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FFFFFF">
                    <a:alpha val="55000"/>
                  </a:srgbClr>
                </a:solidFill>
                <a:latin typeface="Manrope" pitchFamily="34" charset="0"/>
                <a:ea typeface="Manrope" pitchFamily="34" charset="-122"/>
                <a:cs typeface="Manrope" pitchFamily="34" charset="-120"/>
              </a:rPr>
              <a:t>Audience: Fortune 500 data teams, analyst orgs, embedded-analytics builders.</a:t>
            </a:r>
            <a:endParaRPr lang="en-US" sz="1050" dirty="0"/>
          </a:p>
        </p:txBody>
      </p:sp>
      <p:sp>
        <p:nvSpPr>
          <p:cNvPr id="15" name="Shape 13"/>
          <p:cNvSpPr/>
          <p:nvPr/>
        </p:nvSpPr>
        <p:spPr>
          <a:xfrm>
            <a:off x="9372600" y="5349677"/>
            <a:ext cx="7696200" cy="2150963"/>
          </a:xfrm>
          <a:prstGeom prst="roundRect">
            <a:avLst>
              <a:gd name="adj" fmla="val 6200"/>
            </a:avLst>
          </a:prstGeom>
          <a:solidFill>
            <a:srgbClr val="384358"/>
          </a:solidFill>
          <a:ln/>
        </p:spPr>
      </p:sp>
      <p:sp>
        <p:nvSpPr>
          <p:cNvPr id="16" name="Shape 14"/>
          <p:cNvSpPr/>
          <p:nvPr/>
        </p:nvSpPr>
        <p:spPr>
          <a:xfrm>
            <a:off x="9372600" y="5349677"/>
            <a:ext cx="7696200" cy="38100"/>
          </a:xfrm>
          <a:prstGeom prst="rect">
            <a:avLst/>
          </a:prstGeom>
          <a:solidFill>
            <a:srgbClr val="FF671F"/>
          </a:solidFill>
          <a:ln/>
        </p:spPr>
      </p:sp>
      <p:sp>
        <p:nvSpPr>
          <p:cNvPr id="17" name="Text 15"/>
          <p:cNvSpPr/>
          <p:nvPr/>
        </p:nvSpPr>
        <p:spPr>
          <a:xfrm>
            <a:off x="9677400" y="5692577"/>
            <a:ext cx="7299198"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LOOKER STUDIO</a:t>
            </a:r>
            <a:endParaRPr lang="en-US" sz="900" dirty="0"/>
          </a:p>
        </p:txBody>
      </p:sp>
      <p:sp>
        <p:nvSpPr>
          <p:cNvPr id="18" name="Text 16"/>
          <p:cNvSpPr/>
          <p:nvPr/>
        </p:nvSpPr>
        <p:spPr>
          <a:xfrm>
            <a:off x="9677400" y="5971977"/>
            <a:ext cx="7299198"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FFFFFF"/>
                </a:solidFill>
                <a:latin typeface="Manrope" pitchFamily="34" charset="0"/>
                <a:ea typeface="Manrope" pitchFamily="34" charset="-122"/>
                <a:cs typeface="Manrope" pitchFamily="34" charset="-120"/>
              </a:rPr>
              <a:t>Free, self-serve dashboarding for one-off reports.</a:t>
            </a:r>
            <a:endParaRPr lang="en-US" sz="1950" dirty="0"/>
          </a:p>
        </p:txBody>
      </p:sp>
      <p:sp>
        <p:nvSpPr>
          <p:cNvPr id="19" name="Text 17"/>
          <p:cNvSpPr/>
          <p:nvPr/>
        </p:nvSpPr>
        <p:spPr>
          <a:xfrm>
            <a:off x="9677400" y="6390084"/>
            <a:ext cx="7299198" cy="523875"/>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Per-report data sources, drag-drop UI, no LookML. Built on Google Drive sharing. Free; Pro tier adds enterprise features.</a:t>
            </a:r>
            <a:endParaRPr lang="en-US" sz="1275" dirty="0"/>
          </a:p>
        </p:txBody>
      </p:sp>
      <p:sp>
        <p:nvSpPr>
          <p:cNvPr id="20" name="Text 18"/>
          <p:cNvSpPr/>
          <p:nvPr/>
        </p:nvSpPr>
        <p:spPr>
          <a:xfrm>
            <a:off x="9677400" y="7009209"/>
            <a:ext cx="7299198" cy="224730"/>
          </a:xfrm>
          <a:prstGeom prst="rect">
            <a:avLst/>
          </a:prstGeom>
          <a:noFill/>
          <a:ln/>
        </p:spPr>
        <p:txBody>
          <a:bodyPr wrap="square" lIns="25400" tIns="25400" rIns="25400" bIns="25400" rtlCol="0" anchor="t">
            <a:normAutofit/>
          </a:bodyPr>
          <a:lstStyle/>
          <a:p>
            <a:pPr algn="l" indent="0" marL="0">
              <a:lnSpc>
                <a:spcPct val="140000"/>
              </a:lnSpc>
              <a:buNone/>
            </a:pPr>
            <a:r>
              <a:rPr lang="en-US" sz="1050" i="1" dirty="0">
                <a:solidFill>
                  <a:srgbClr val="8B95A6"/>
                </a:solidFill>
                <a:latin typeface="Manrope" pitchFamily="34" charset="0"/>
                <a:ea typeface="Manrope" pitchFamily="34" charset="-122"/>
                <a:cs typeface="Manrope" pitchFamily="34" charset="-120"/>
              </a:rPr>
              <a:t>Audience: Marketing, ops, individual analysts, agencies, students.</a:t>
            </a:r>
            <a:endParaRPr lang="en-US" sz="1050" dirty="0"/>
          </a:p>
        </p:txBody>
      </p:sp>
      <p:sp>
        <p:nvSpPr>
          <p:cNvPr id="21" name="Text 19"/>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22" name="Text 20"/>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52 / 60</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05 · LOOKER VS STUDIO</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COMPARISON 01</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Modeling, governance, scale.</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half of the comparison that decides whether a tool is appropriate for an organisation at all — not just for a single analyst.</a:t>
            </a:r>
            <a:endParaRPr lang="en-US" sz="1650" dirty="0"/>
          </a:p>
        </p:txBody>
      </p:sp>
      <p:sp>
        <p:nvSpPr>
          <p:cNvPr id="9" name="Shape 7"/>
          <p:cNvSpPr/>
          <p:nvPr/>
        </p:nvSpPr>
        <p:spPr>
          <a:xfrm>
            <a:off x="1219200" y="3963888"/>
            <a:ext cx="2552700" cy="631825"/>
          </a:xfrm>
          <a:prstGeom prst="rect">
            <a:avLst/>
          </a:prstGeom>
          <a:solidFill>
            <a:srgbClr val="F1F2F4"/>
          </a:solidFill>
          <a:ln/>
        </p:spPr>
      </p:sp>
      <p:sp>
        <p:nvSpPr>
          <p:cNvPr id="10" name="Shape 8"/>
          <p:cNvSpPr/>
          <p:nvPr/>
        </p:nvSpPr>
        <p:spPr>
          <a:xfrm>
            <a:off x="1219200" y="4589363"/>
            <a:ext cx="2552700" cy="9525"/>
          </a:xfrm>
          <a:prstGeom prst="rect">
            <a:avLst/>
          </a:prstGeom>
          <a:solidFill>
            <a:srgbClr val="C9CFD8"/>
          </a:solidFill>
          <a:ln/>
        </p:spPr>
      </p:sp>
      <p:sp>
        <p:nvSpPr>
          <p:cNvPr id="11" name="Text 9"/>
          <p:cNvSpPr/>
          <p:nvPr/>
        </p:nvSpPr>
        <p:spPr>
          <a:xfrm>
            <a:off x="1447800" y="4135338"/>
            <a:ext cx="2172081" cy="320675"/>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ASPECT</a:t>
            </a:r>
            <a:endParaRPr lang="en-US" sz="975" dirty="0"/>
          </a:p>
        </p:txBody>
      </p:sp>
      <p:sp>
        <p:nvSpPr>
          <p:cNvPr id="12" name="Shape 10"/>
          <p:cNvSpPr/>
          <p:nvPr/>
        </p:nvSpPr>
        <p:spPr>
          <a:xfrm>
            <a:off x="3771900" y="3963888"/>
            <a:ext cx="7530307" cy="631825"/>
          </a:xfrm>
          <a:prstGeom prst="rect">
            <a:avLst/>
          </a:prstGeom>
          <a:solidFill>
            <a:srgbClr val="F1F2F4"/>
          </a:solidFill>
          <a:ln/>
        </p:spPr>
      </p:sp>
      <p:sp>
        <p:nvSpPr>
          <p:cNvPr id="13" name="Shape 11"/>
          <p:cNvSpPr/>
          <p:nvPr/>
        </p:nvSpPr>
        <p:spPr>
          <a:xfrm>
            <a:off x="3771900" y="4589363"/>
            <a:ext cx="7530307" cy="9525"/>
          </a:xfrm>
          <a:prstGeom prst="rect">
            <a:avLst/>
          </a:prstGeom>
          <a:solidFill>
            <a:srgbClr val="C9CFD8"/>
          </a:solidFill>
          <a:ln/>
        </p:spPr>
      </p:sp>
      <p:sp>
        <p:nvSpPr>
          <p:cNvPr id="14" name="Text 12"/>
          <p:cNvSpPr/>
          <p:nvPr/>
        </p:nvSpPr>
        <p:spPr>
          <a:xfrm>
            <a:off x="4000500" y="4135338"/>
            <a:ext cx="7299016"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Looker</a:t>
            </a:r>
            <a:endParaRPr lang="en-US" sz="1650" dirty="0"/>
          </a:p>
        </p:txBody>
      </p:sp>
      <p:sp>
        <p:nvSpPr>
          <p:cNvPr id="15" name="Shape 13"/>
          <p:cNvSpPr/>
          <p:nvPr/>
        </p:nvSpPr>
        <p:spPr>
          <a:xfrm>
            <a:off x="11302207" y="3963888"/>
            <a:ext cx="5766594" cy="631825"/>
          </a:xfrm>
          <a:prstGeom prst="rect">
            <a:avLst/>
          </a:prstGeom>
          <a:solidFill>
            <a:srgbClr val="F1F2F4"/>
          </a:solidFill>
          <a:ln/>
        </p:spPr>
      </p:sp>
      <p:sp>
        <p:nvSpPr>
          <p:cNvPr id="16" name="Shape 14"/>
          <p:cNvSpPr/>
          <p:nvPr/>
        </p:nvSpPr>
        <p:spPr>
          <a:xfrm>
            <a:off x="11302207" y="4589363"/>
            <a:ext cx="5766594" cy="9525"/>
          </a:xfrm>
          <a:prstGeom prst="rect">
            <a:avLst/>
          </a:prstGeom>
          <a:solidFill>
            <a:srgbClr val="C9CFD8"/>
          </a:solidFill>
          <a:ln/>
        </p:spPr>
      </p:sp>
      <p:sp>
        <p:nvSpPr>
          <p:cNvPr id="17" name="Text 15"/>
          <p:cNvSpPr/>
          <p:nvPr/>
        </p:nvSpPr>
        <p:spPr>
          <a:xfrm>
            <a:off x="11530807" y="4135338"/>
            <a:ext cx="5482392"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F4DFF"/>
                </a:solidFill>
                <a:latin typeface="Manrope" pitchFamily="34" charset="0"/>
                <a:ea typeface="Manrope" pitchFamily="34" charset="-122"/>
                <a:cs typeface="Manrope" pitchFamily="34" charset="-120"/>
              </a:rPr>
              <a:t>Looker Studio</a:t>
            </a:r>
            <a:endParaRPr lang="en-US" sz="1650" dirty="0"/>
          </a:p>
        </p:txBody>
      </p:sp>
      <p:sp>
        <p:nvSpPr>
          <p:cNvPr id="18" name="Shape 16"/>
          <p:cNvSpPr/>
          <p:nvPr/>
        </p:nvSpPr>
        <p:spPr>
          <a:xfrm>
            <a:off x="1219200" y="5173365"/>
            <a:ext cx="2552700" cy="9525"/>
          </a:xfrm>
          <a:prstGeom prst="rect">
            <a:avLst/>
          </a:prstGeom>
          <a:solidFill>
            <a:srgbClr val="C9CFD8"/>
          </a:solidFill>
          <a:ln/>
        </p:spPr>
      </p:sp>
      <p:sp>
        <p:nvSpPr>
          <p:cNvPr id="19" name="Text 17"/>
          <p:cNvSpPr/>
          <p:nvPr/>
        </p:nvSpPr>
        <p:spPr>
          <a:xfrm>
            <a:off x="1447800" y="4767163"/>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SEMANTIC LAYER</a:t>
            </a:r>
            <a:endParaRPr lang="en-US" sz="975" dirty="0"/>
          </a:p>
        </p:txBody>
      </p:sp>
      <p:sp>
        <p:nvSpPr>
          <p:cNvPr id="20" name="Shape 18"/>
          <p:cNvSpPr/>
          <p:nvPr/>
        </p:nvSpPr>
        <p:spPr>
          <a:xfrm>
            <a:off x="3771900" y="5173365"/>
            <a:ext cx="7530307" cy="9525"/>
          </a:xfrm>
          <a:prstGeom prst="rect">
            <a:avLst/>
          </a:prstGeom>
          <a:solidFill>
            <a:srgbClr val="C9CFD8"/>
          </a:solidFill>
          <a:ln/>
        </p:spPr>
      </p:sp>
      <p:sp>
        <p:nvSpPr>
          <p:cNvPr id="21" name="Text 19"/>
          <p:cNvSpPr/>
          <p:nvPr/>
        </p:nvSpPr>
        <p:spPr>
          <a:xfrm>
            <a:off x="4000500" y="4767163"/>
            <a:ext cx="729901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Yes — LookML.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Definitions are reusable across every Look, Dashboard and embed.</a:t>
            </a:r>
            <a:endParaRPr lang="en-US" sz="1275" dirty="0"/>
          </a:p>
        </p:txBody>
      </p:sp>
      <p:sp>
        <p:nvSpPr>
          <p:cNvPr id="22" name="Shape 20"/>
          <p:cNvSpPr/>
          <p:nvPr/>
        </p:nvSpPr>
        <p:spPr>
          <a:xfrm>
            <a:off x="11302207" y="5173365"/>
            <a:ext cx="5766594" cy="9525"/>
          </a:xfrm>
          <a:prstGeom prst="rect">
            <a:avLst/>
          </a:prstGeom>
          <a:solidFill>
            <a:srgbClr val="C9CFD8"/>
          </a:solidFill>
          <a:ln/>
        </p:spPr>
      </p:sp>
      <p:sp>
        <p:nvSpPr>
          <p:cNvPr id="23" name="Text 21"/>
          <p:cNvSpPr/>
          <p:nvPr/>
        </p:nvSpPr>
        <p:spPr>
          <a:xfrm>
            <a:off x="11530807" y="4767163"/>
            <a:ext cx="5482392"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No.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Each report defines its own fields and calculated metrics.</a:t>
            </a:r>
            <a:endParaRPr lang="en-US" sz="1275" dirty="0"/>
          </a:p>
        </p:txBody>
      </p:sp>
      <p:sp>
        <p:nvSpPr>
          <p:cNvPr id="24" name="Shape 22"/>
          <p:cNvSpPr/>
          <p:nvPr/>
        </p:nvSpPr>
        <p:spPr>
          <a:xfrm>
            <a:off x="1219200" y="5757367"/>
            <a:ext cx="2552700" cy="9525"/>
          </a:xfrm>
          <a:prstGeom prst="rect">
            <a:avLst/>
          </a:prstGeom>
          <a:solidFill>
            <a:srgbClr val="C9CFD8"/>
          </a:solidFill>
          <a:ln/>
        </p:spPr>
      </p:sp>
      <p:sp>
        <p:nvSpPr>
          <p:cNvPr id="25" name="Text 23"/>
          <p:cNvSpPr/>
          <p:nvPr/>
        </p:nvSpPr>
        <p:spPr>
          <a:xfrm>
            <a:off x="1447800" y="5351165"/>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VERSION CONTROL</a:t>
            </a:r>
            <a:endParaRPr lang="en-US" sz="975" dirty="0"/>
          </a:p>
        </p:txBody>
      </p:sp>
      <p:sp>
        <p:nvSpPr>
          <p:cNvPr id="26" name="Shape 24"/>
          <p:cNvSpPr/>
          <p:nvPr/>
        </p:nvSpPr>
        <p:spPr>
          <a:xfrm>
            <a:off x="3771900" y="5757367"/>
            <a:ext cx="7530307" cy="9525"/>
          </a:xfrm>
          <a:prstGeom prst="rect">
            <a:avLst/>
          </a:prstGeom>
          <a:solidFill>
            <a:srgbClr val="C9CFD8"/>
          </a:solidFill>
          <a:ln/>
        </p:spPr>
      </p:sp>
      <p:sp>
        <p:nvSpPr>
          <p:cNvPr id="27" name="Text 25"/>
          <p:cNvSpPr/>
          <p:nvPr/>
        </p:nvSpPr>
        <p:spPr>
          <a:xfrm>
            <a:off x="4000500" y="5351165"/>
            <a:ext cx="729901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Git-based.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Every change is a commit; pull requests, branches, deploy.</a:t>
            </a:r>
            <a:endParaRPr lang="en-US" sz="1275" dirty="0"/>
          </a:p>
        </p:txBody>
      </p:sp>
      <p:sp>
        <p:nvSpPr>
          <p:cNvPr id="28" name="Shape 26"/>
          <p:cNvSpPr/>
          <p:nvPr/>
        </p:nvSpPr>
        <p:spPr>
          <a:xfrm>
            <a:off x="11302207" y="5757367"/>
            <a:ext cx="5766594" cy="9525"/>
          </a:xfrm>
          <a:prstGeom prst="rect">
            <a:avLst/>
          </a:prstGeom>
          <a:solidFill>
            <a:srgbClr val="C9CFD8"/>
          </a:solidFill>
          <a:ln/>
        </p:spPr>
      </p:sp>
      <p:sp>
        <p:nvSpPr>
          <p:cNvPr id="29" name="Text 27"/>
          <p:cNvSpPr/>
          <p:nvPr/>
        </p:nvSpPr>
        <p:spPr>
          <a:xfrm>
            <a:off x="11530807" y="5351165"/>
            <a:ext cx="5482392"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None.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Version history is per-report (like Google Docs).</a:t>
            </a:r>
            <a:endParaRPr lang="en-US" sz="1275" dirty="0"/>
          </a:p>
        </p:txBody>
      </p:sp>
      <p:sp>
        <p:nvSpPr>
          <p:cNvPr id="30" name="Shape 28"/>
          <p:cNvSpPr/>
          <p:nvPr/>
        </p:nvSpPr>
        <p:spPr>
          <a:xfrm>
            <a:off x="1219200" y="6400404"/>
            <a:ext cx="2552700" cy="9525"/>
          </a:xfrm>
          <a:prstGeom prst="rect">
            <a:avLst/>
          </a:prstGeom>
          <a:solidFill>
            <a:srgbClr val="C9CFD8"/>
          </a:solidFill>
          <a:ln/>
        </p:spPr>
      </p:sp>
      <p:sp>
        <p:nvSpPr>
          <p:cNvPr id="31" name="Text 29"/>
          <p:cNvSpPr/>
          <p:nvPr/>
        </p:nvSpPr>
        <p:spPr>
          <a:xfrm>
            <a:off x="1447800" y="5935167"/>
            <a:ext cx="2172081" cy="331887"/>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ROW-LEVEL SECURITY</a:t>
            </a:r>
            <a:endParaRPr lang="en-US" sz="975" dirty="0"/>
          </a:p>
        </p:txBody>
      </p:sp>
      <p:sp>
        <p:nvSpPr>
          <p:cNvPr id="32" name="Shape 30"/>
          <p:cNvSpPr/>
          <p:nvPr/>
        </p:nvSpPr>
        <p:spPr>
          <a:xfrm>
            <a:off x="3771900" y="6400404"/>
            <a:ext cx="7530307" cy="9525"/>
          </a:xfrm>
          <a:prstGeom prst="rect">
            <a:avLst/>
          </a:prstGeom>
          <a:solidFill>
            <a:srgbClr val="C9CFD8"/>
          </a:solidFill>
          <a:ln/>
        </p:spPr>
      </p:sp>
      <p:sp>
        <p:nvSpPr>
          <p:cNvPr id="33" name="Text 31"/>
          <p:cNvSpPr/>
          <p:nvPr/>
        </p:nvSpPr>
        <p:spPr>
          <a:xfrm>
            <a:off x="4000500" y="5935167"/>
            <a:ext cx="7299016" cy="331887"/>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Native.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User attributes &amp; </a:t>
            </a:r>
            <a:pPr algn="l" indent="0" marL="0">
              <a:lnSpc>
                <a:spcPct val="145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access_filter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in LookML.</a:t>
            </a:r>
            <a:endParaRPr lang="en-US" sz="1275" dirty="0"/>
          </a:p>
        </p:txBody>
      </p:sp>
      <p:sp>
        <p:nvSpPr>
          <p:cNvPr id="34" name="Shape 32"/>
          <p:cNvSpPr/>
          <p:nvPr/>
        </p:nvSpPr>
        <p:spPr>
          <a:xfrm>
            <a:off x="11302207" y="6400404"/>
            <a:ext cx="5766594" cy="9525"/>
          </a:xfrm>
          <a:prstGeom prst="rect">
            <a:avLst/>
          </a:prstGeom>
          <a:solidFill>
            <a:srgbClr val="C9CFD8"/>
          </a:solidFill>
          <a:ln/>
        </p:spPr>
      </p:sp>
      <p:sp>
        <p:nvSpPr>
          <p:cNvPr id="35" name="Text 33"/>
          <p:cNvSpPr/>
          <p:nvPr/>
        </p:nvSpPr>
        <p:spPr>
          <a:xfrm>
            <a:off x="11530807" y="5935167"/>
            <a:ext cx="5482392" cy="331887"/>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Limited.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Data-source filters or BigQuery row policies.</a:t>
            </a:r>
            <a:endParaRPr lang="en-US" sz="1275" dirty="0"/>
          </a:p>
        </p:txBody>
      </p:sp>
      <p:sp>
        <p:nvSpPr>
          <p:cNvPr id="36" name="Shape 34"/>
          <p:cNvSpPr/>
          <p:nvPr/>
        </p:nvSpPr>
        <p:spPr>
          <a:xfrm>
            <a:off x="1219200" y="6984405"/>
            <a:ext cx="2552700" cy="9525"/>
          </a:xfrm>
          <a:prstGeom prst="rect">
            <a:avLst/>
          </a:prstGeom>
          <a:solidFill>
            <a:srgbClr val="C9CFD8"/>
          </a:solidFill>
          <a:ln/>
        </p:spPr>
      </p:sp>
      <p:sp>
        <p:nvSpPr>
          <p:cNvPr id="37" name="Text 35"/>
          <p:cNvSpPr/>
          <p:nvPr/>
        </p:nvSpPr>
        <p:spPr>
          <a:xfrm>
            <a:off x="1447800" y="6578203"/>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ROLES &amp; FOLDERS</a:t>
            </a:r>
            <a:endParaRPr lang="en-US" sz="975" dirty="0"/>
          </a:p>
        </p:txBody>
      </p:sp>
      <p:sp>
        <p:nvSpPr>
          <p:cNvPr id="38" name="Shape 36"/>
          <p:cNvSpPr/>
          <p:nvPr/>
        </p:nvSpPr>
        <p:spPr>
          <a:xfrm>
            <a:off x="3771900" y="6984405"/>
            <a:ext cx="7530307" cy="9525"/>
          </a:xfrm>
          <a:prstGeom prst="rect">
            <a:avLst/>
          </a:prstGeom>
          <a:solidFill>
            <a:srgbClr val="C9CFD8"/>
          </a:solidFill>
          <a:ln/>
        </p:spPr>
      </p:sp>
      <p:sp>
        <p:nvSpPr>
          <p:cNvPr id="39" name="Text 37"/>
          <p:cNvSpPr/>
          <p:nvPr/>
        </p:nvSpPr>
        <p:spPr>
          <a:xfrm>
            <a:off x="4000500" y="6578203"/>
            <a:ext cx="729901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Rich.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Permission sets, groups, folder ACLs.</a:t>
            </a:r>
            <a:endParaRPr lang="en-US" sz="1275" dirty="0"/>
          </a:p>
        </p:txBody>
      </p:sp>
      <p:sp>
        <p:nvSpPr>
          <p:cNvPr id="40" name="Shape 38"/>
          <p:cNvSpPr/>
          <p:nvPr/>
        </p:nvSpPr>
        <p:spPr>
          <a:xfrm>
            <a:off x="11302207" y="6984405"/>
            <a:ext cx="5766594" cy="9525"/>
          </a:xfrm>
          <a:prstGeom prst="rect">
            <a:avLst/>
          </a:prstGeom>
          <a:solidFill>
            <a:srgbClr val="C9CFD8"/>
          </a:solidFill>
          <a:ln/>
        </p:spPr>
      </p:sp>
      <p:sp>
        <p:nvSpPr>
          <p:cNvPr id="41" name="Text 39"/>
          <p:cNvSpPr/>
          <p:nvPr/>
        </p:nvSpPr>
        <p:spPr>
          <a:xfrm>
            <a:off x="11530807" y="6578203"/>
            <a:ext cx="5482392"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Drive sharing.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Editor / Viewer per-report.</a:t>
            </a:r>
            <a:endParaRPr lang="en-US" sz="1275" dirty="0"/>
          </a:p>
        </p:txBody>
      </p:sp>
      <p:sp>
        <p:nvSpPr>
          <p:cNvPr id="42" name="Shape 40"/>
          <p:cNvSpPr/>
          <p:nvPr/>
        </p:nvSpPr>
        <p:spPr>
          <a:xfrm>
            <a:off x="1219200" y="7568406"/>
            <a:ext cx="2552700" cy="9525"/>
          </a:xfrm>
          <a:prstGeom prst="rect">
            <a:avLst/>
          </a:prstGeom>
          <a:solidFill>
            <a:srgbClr val="C9CFD8"/>
          </a:solidFill>
          <a:ln/>
        </p:spPr>
      </p:sp>
      <p:sp>
        <p:nvSpPr>
          <p:cNvPr id="43" name="Text 41"/>
          <p:cNvSpPr/>
          <p:nvPr/>
        </p:nvSpPr>
        <p:spPr>
          <a:xfrm>
            <a:off x="1447800" y="7162205"/>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AUDIT &amp; LINEAGE</a:t>
            </a:r>
            <a:endParaRPr lang="en-US" sz="975" dirty="0"/>
          </a:p>
        </p:txBody>
      </p:sp>
      <p:sp>
        <p:nvSpPr>
          <p:cNvPr id="44" name="Shape 42"/>
          <p:cNvSpPr/>
          <p:nvPr/>
        </p:nvSpPr>
        <p:spPr>
          <a:xfrm>
            <a:off x="3771900" y="7568406"/>
            <a:ext cx="7530307" cy="9525"/>
          </a:xfrm>
          <a:prstGeom prst="rect">
            <a:avLst/>
          </a:prstGeom>
          <a:solidFill>
            <a:srgbClr val="C9CFD8"/>
          </a:solidFill>
          <a:ln/>
        </p:spPr>
      </p:sp>
      <p:sp>
        <p:nvSpPr>
          <p:cNvPr id="45" name="Text 43"/>
          <p:cNvSpPr/>
          <p:nvPr/>
        </p:nvSpPr>
        <p:spPr>
          <a:xfrm>
            <a:off x="4000500" y="7162205"/>
            <a:ext cx="729901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Yes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 admin logs, schedule history, LookML diff.</a:t>
            </a:r>
            <a:endParaRPr lang="en-US" sz="1275" dirty="0"/>
          </a:p>
        </p:txBody>
      </p:sp>
      <p:sp>
        <p:nvSpPr>
          <p:cNvPr id="46" name="Shape 44"/>
          <p:cNvSpPr/>
          <p:nvPr/>
        </p:nvSpPr>
        <p:spPr>
          <a:xfrm>
            <a:off x="11302207" y="7568406"/>
            <a:ext cx="5766594" cy="9525"/>
          </a:xfrm>
          <a:prstGeom prst="rect">
            <a:avLst/>
          </a:prstGeom>
          <a:solidFill>
            <a:srgbClr val="C9CFD8"/>
          </a:solidFill>
          <a:ln/>
        </p:spPr>
      </p:sp>
      <p:sp>
        <p:nvSpPr>
          <p:cNvPr id="47" name="Text 45"/>
          <p:cNvSpPr/>
          <p:nvPr/>
        </p:nvSpPr>
        <p:spPr>
          <a:xfrm>
            <a:off x="11530807" y="7162205"/>
            <a:ext cx="5482392"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Minimal.</a:t>
            </a:r>
            <a:endParaRPr lang="en-US" sz="1275" dirty="0"/>
          </a:p>
        </p:txBody>
      </p:sp>
      <p:sp>
        <p:nvSpPr>
          <p:cNvPr id="48" name="Shape 46"/>
          <p:cNvSpPr/>
          <p:nvPr/>
        </p:nvSpPr>
        <p:spPr>
          <a:xfrm>
            <a:off x="1219200" y="8152408"/>
            <a:ext cx="2552700" cy="9525"/>
          </a:xfrm>
          <a:prstGeom prst="rect">
            <a:avLst/>
          </a:prstGeom>
          <a:solidFill>
            <a:srgbClr val="C9CFD8"/>
          </a:solidFill>
          <a:ln/>
        </p:spPr>
      </p:sp>
      <p:sp>
        <p:nvSpPr>
          <p:cNvPr id="49" name="Text 47"/>
          <p:cNvSpPr/>
          <p:nvPr/>
        </p:nvSpPr>
        <p:spPr>
          <a:xfrm>
            <a:off x="1447800" y="7746206"/>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SCALE</a:t>
            </a:r>
            <a:endParaRPr lang="en-US" sz="975" dirty="0"/>
          </a:p>
        </p:txBody>
      </p:sp>
      <p:sp>
        <p:nvSpPr>
          <p:cNvPr id="50" name="Shape 48"/>
          <p:cNvSpPr/>
          <p:nvPr/>
        </p:nvSpPr>
        <p:spPr>
          <a:xfrm>
            <a:off x="3771900" y="8152408"/>
            <a:ext cx="7530307" cy="9525"/>
          </a:xfrm>
          <a:prstGeom prst="rect">
            <a:avLst/>
          </a:prstGeom>
          <a:solidFill>
            <a:srgbClr val="C9CFD8"/>
          </a:solidFill>
          <a:ln/>
        </p:spPr>
      </p:sp>
      <p:sp>
        <p:nvSpPr>
          <p:cNvPr id="51" name="Text 49"/>
          <p:cNvSpPr/>
          <p:nvPr/>
        </p:nvSpPr>
        <p:spPr>
          <a:xfrm>
            <a:off x="4000500" y="7746206"/>
            <a:ext cx="7299016"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Built for thousands of users + embedded apps.</a:t>
            </a:r>
            <a:endParaRPr lang="en-US" sz="1275" dirty="0"/>
          </a:p>
        </p:txBody>
      </p:sp>
      <p:sp>
        <p:nvSpPr>
          <p:cNvPr id="52" name="Shape 50"/>
          <p:cNvSpPr/>
          <p:nvPr/>
        </p:nvSpPr>
        <p:spPr>
          <a:xfrm>
            <a:off x="11302207" y="8152408"/>
            <a:ext cx="5766594" cy="9525"/>
          </a:xfrm>
          <a:prstGeom prst="rect">
            <a:avLst/>
          </a:prstGeom>
          <a:solidFill>
            <a:srgbClr val="C9CFD8"/>
          </a:solidFill>
          <a:ln/>
        </p:spPr>
      </p:sp>
      <p:sp>
        <p:nvSpPr>
          <p:cNvPr id="53" name="Text 51"/>
          <p:cNvSpPr/>
          <p:nvPr/>
        </p:nvSpPr>
        <p:spPr>
          <a:xfrm>
            <a:off x="11530807" y="7746206"/>
            <a:ext cx="5482392"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Best for tens to low-hundreds of viewers.</a:t>
            </a:r>
            <a:endParaRPr lang="en-US" sz="1275" dirty="0"/>
          </a:p>
        </p:txBody>
      </p:sp>
      <p:sp>
        <p:nvSpPr>
          <p:cNvPr id="54" name="Text 52"/>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55" name="Text 5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53 / 60</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05 · LOOKER VS STUDIO</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COMPARISON 02</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Connectivity, sharing, cost.</a:t>
            </a:r>
            <a:endParaRPr lang="en-US" sz="6000" dirty="0"/>
          </a:p>
        </p:txBody>
      </p:sp>
      <p:sp>
        <p:nvSpPr>
          <p:cNvPr id="8" name="Text 6"/>
          <p:cNvSpPr/>
          <p:nvPr/>
        </p:nvSpPr>
        <p:spPr>
          <a:xfrm>
            <a:off x="1219200" y="312668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half that determines whether a tool can answer the question you actually have today.</a:t>
            </a:r>
            <a:endParaRPr lang="en-US" sz="1650" dirty="0"/>
          </a:p>
        </p:txBody>
      </p:sp>
      <p:sp>
        <p:nvSpPr>
          <p:cNvPr id="9" name="Shape 7"/>
          <p:cNvSpPr/>
          <p:nvPr/>
        </p:nvSpPr>
        <p:spPr>
          <a:xfrm>
            <a:off x="1219200" y="3963888"/>
            <a:ext cx="2552700" cy="631825"/>
          </a:xfrm>
          <a:prstGeom prst="rect">
            <a:avLst/>
          </a:prstGeom>
          <a:solidFill>
            <a:srgbClr val="F1F2F4"/>
          </a:solidFill>
          <a:ln/>
        </p:spPr>
      </p:sp>
      <p:sp>
        <p:nvSpPr>
          <p:cNvPr id="10" name="Shape 8"/>
          <p:cNvSpPr/>
          <p:nvPr/>
        </p:nvSpPr>
        <p:spPr>
          <a:xfrm>
            <a:off x="1219200" y="4589363"/>
            <a:ext cx="2552700" cy="9525"/>
          </a:xfrm>
          <a:prstGeom prst="rect">
            <a:avLst/>
          </a:prstGeom>
          <a:solidFill>
            <a:srgbClr val="C9CFD8"/>
          </a:solidFill>
          <a:ln/>
        </p:spPr>
      </p:sp>
      <p:sp>
        <p:nvSpPr>
          <p:cNvPr id="11" name="Text 9"/>
          <p:cNvSpPr/>
          <p:nvPr/>
        </p:nvSpPr>
        <p:spPr>
          <a:xfrm>
            <a:off x="1447800" y="4135338"/>
            <a:ext cx="2172081" cy="320675"/>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ASPECT</a:t>
            </a:r>
            <a:endParaRPr lang="en-US" sz="975" dirty="0"/>
          </a:p>
        </p:txBody>
      </p:sp>
      <p:sp>
        <p:nvSpPr>
          <p:cNvPr id="12" name="Shape 10"/>
          <p:cNvSpPr/>
          <p:nvPr/>
        </p:nvSpPr>
        <p:spPr>
          <a:xfrm>
            <a:off x="3771900" y="3963888"/>
            <a:ext cx="6236296" cy="631825"/>
          </a:xfrm>
          <a:prstGeom prst="rect">
            <a:avLst/>
          </a:prstGeom>
          <a:solidFill>
            <a:srgbClr val="F1F2F4"/>
          </a:solidFill>
          <a:ln/>
        </p:spPr>
      </p:sp>
      <p:sp>
        <p:nvSpPr>
          <p:cNvPr id="13" name="Shape 11"/>
          <p:cNvSpPr/>
          <p:nvPr/>
        </p:nvSpPr>
        <p:spPr>
          <a:xfrm>
            <a:off x="3771900" y="4589363"/>
            <a:ext cx="6236296" cy="9525"/>
          </a:xfrm>
          <a:prstGeom prst="rect">
            <a:avLst/>
          </a:prstGeom>
          <a:solidFill>
            <a:srgbClr val="C9CFD8"/>
          </a:solidFill>
          <a:ln/>
        </p:spPr>
      </p:sp>
      <p:sp>
        <p:nvSpPr>
          <p:cNvPr id="14" name="Text 12"/>
          <p:cNvSpPr/>
          <p:nvPr/>
        </p:nvSpPr>
        <p:spPr>
          <a:xfrm>
            <a:off x="4000500" y="4135338"/>
            <a:ext cx="5966184"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FF671F"/>
                </a:solidFill>
                <a:latin typeface="Manrope" pitchFamily="34" charset="0"/>
                <a:ea typeface="Manrope" pitchFamily="34" charset="-122"/>
                <a:cs typeface="Manrope" pitchFamily="34" charset="-120"/>
              </a:rPr>
              <a:t>Looker</a:t>
            </a:r>
            <a:endParaRPr lang="en-US" sz="1650" dirty="0"/>
          </a:p>
        </p:txBody>
      </p:sp>
      <p:sp>
        <p:nvSpPr>
          <p:cNvPr id="15" name="Shape 13"/>
          <p:cNvSpPr/>
          <p:nvPr/>
        </p:nvSpPr>
        <p:spPr>
          <a:xfrm>
            <a:off x="10008196" y="3963888"/>
            <a:ext cx="7060605" cy="631825"/>
          </a:xfrm>
          <a:prstGeom prst="rect">
            <a:avLst/>
          </a:prstGeom>
          <a:solidFill>
            <a:srgbClr val="F1F2F4"/>
          </a:solidFill>
          <a:ln/>
        </p:spPr>
      </p:sp>
      <p:sp>
        <p:nvSpPr>
          <p:cNvPr id="16" name="Shape 14"/>
          <p:cNvSpPr/>
          <p:nvPr/>
        </p:nvSpPr>
        <p:spPr>
          <a:xfrm>
            <a:off x="10008196" y="4589363"/>
            <a:ext cx="7060605" cy="9525"/>
          </a:xfrm>
          <a:prstGeom prst="rect">
            <a:avLst/>
          </a:prstGeom>
          <a:solidFill>
            <a:srgbClr val="C9CFD8"/>
          </a:solidFill>
          <a:ln/>
        </p:spPr>
      </p:sp>
      <p:sp>
        <p:nvSpPr>
          <p:cNvPr id="17" name="Text 15"/>
          <p:cNvSpPr/>
          <p:nvPr/>
        </p:nvSpPr>
        <p:spPr>
          <a:xfrm>
            <a:off x="10236796" y="4135338"/>
            <a:ext cx="6815223" cy="320675"/>
          </a:xfrm>
          <a:prstGeom prst="rect">
            <a:avLst/>
          </a:prstGeom>
          <a:noFill/>
          <a:ln/>
        </p:spPr>
        <p:txBody>
          <a:bodyPr wrap="square" lIns="25400" tIns="25400" rIns="25400" bIns="25400" rtlCol="0" anchor="t">
            <a:normAutofit/>
          </a:bodyPr>
          <a:lstStyle/>
          <a:p>
            <a:pPr algn="l" indent="0" marL="0">
              <a:buNone/>
            </a:pPr>
            <a:r>
              <a:rPr lang="en-US" sz="1650" b="1" dirty="0">
                <a:solidFill>
                  <a:srgbClr val="1F4DFF"/>
                </a:solidFill>
                <a:latin typeface="Manrope" pitchFamily="34" charset="0"/>
                <a:ea typeface="Manrope" pitchFamily="34" charset="-122"/>
                <a:cs typeface="Manrope" pitchFamily="34" charset="-120"/>
              </a:rPr>
              <a:t>Looker Studio</a:t>
            </a:r>
            <a:endParaRPr lang="en-US" sz="1650" dirty="0"/>
          </a:p>
        </p:txBody>
      </p:sp>
      <p:sp>
        <p:nvSpPr>
          <p:cNvPr id="18" name="Shape 16"/>
          <p:cNvSpPr/>
          <p:nvPr/>
        </p:nvSpPr>
        <p:spPr>
          <a:xfrm>
            <a:off x="1219200" y="5173365"/>
            <a:ext cx="2552700" cy="9525"/>
          </a:xfrm>
          <a:prstGeom prst="rect">
            <a:avLst/>
          </a:prstGeom>
          <a:solidFill>
            <a:srgbClr val="C9CFD8"/>
          </a:solidFill>
          <a:ln/>
        </p:spPr>
      </p:sp>
      <p:sp>
        <p:nvSpPr>
          <p:cNvPr id="19" name="Text 17"/>
          <p:cNvSpPr/>
          <p:nvPr/>
        </p:nvSpPr>
        <p:spPr>
          <a:xfrm>
            <a:off x="1447800" y="4767163"/>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DATA SOURCES</a:t>
            </a:r>
            <a:endParaRPr lang="en-US" sz="975" dirty="0"/>
          </a:p>
        </p:txBody>
      </p:sp>
      <p:sp>
        <p:nvSpPr>
          <p:cNvPr id="20" name="Shape 18"/>
          <p:cNvSpPr/>
          <p:nvPr/>
        </p:nvSpPr>
        <p:spPr>
          <a:xfrm>
            <a:off x="3771900" y="5173365"/>
            <a:ext cx="6236296" cy="9525"/>
          </a:xfrm>
          <a:prstGeom prst="rect">
            <a:avLst/>
          </a:prstGeom>
          <a:solidFill>
            <a:srgbClr val="C9CFD8"/>
          </a:solidFill>
          <a:ln/>
        </p:spPr>
      </p:sp>
      <p:sp>
        <p:nvSpPr>
          <p:cNvPr id="21" name="Text 19"/>
          <p:cNvSpPr/>
          <p:nvPr/>
        </p:nvSpPr>
        <p:spPr>
          <a:xfrm>
            <a:off x="4000500" y="4767163"/>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60+ warehouses via JDBC; live queries — no extracts.</a:t>
            </a:r>
            <a:endParaRPr lang="en-US" sz="1275" dirty="0"/>
          </a:p>
        </p:txBody>
      </p:sp>
      <p:sp>
        <p:nvSpPr>
          <p:cNvPr id="22" name="Shape 20"/>
          <p:cNvSpPr/>
          <p:nvPr/>
        </p:nvSpPr>
        <p:spPr>
          <a:xfrm>
            <a:off x="10008196" y="5173365"/>
            <a:ext cx="7060605" cy="9525"/>
          </a:xfrm>
          <a:prstGeom prst="rect">
            <a:avLst/>
          </a:prstGeom>
          <a:solidFill>
            <a:srgbClr val="C9CFD8"/>
          </a:solidFill>
          <a:ln/>
        </p:spPr>
      </p:sp>
      <p:sp>
        <p:nvSpPr>
          <p:cNvPr id="23" name="Text 21"/>
          <p:cNvSpPr/>
          <p:nvPr/>
        </p:nvSpPr>
        <p:spPr>
          <a:xfrm>
            <a:off x="10236796" y="4767163"/>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1000+ connectors — Sheets, Ads, GA4, BigQuery, community.</a:t>
            </a:r>
            <a:endParaRPr lang="en-US" sz="1275" dirty="0"/>
          </a:p>
        </p:txBody>
      </p:sp>
      <p:sp>
        <p:nvSpPr>
          <p:cNvPr id="24" name="Shape 22"/>
          <p:cNvSpPr/>
          <p:nvPr/>
        </p:nvSpPr>
        <p:spPr>
          <a:xfrm>
            <a:off x="1219200" y="5757367"/>
            <a:ext cx="2552700" cy="9525"/>
          </a:xfrm>
          <a:prstGeom prst="rect">
            <a:avLst/>
          </a:prstGeom>
          <a:solidFill>
            <a:srgbClr val="C9CFD8"/>
          </a:solidFill>
          <a:ln/>
        </p:spPr>
      </p:sp>
      <p:sp>
        <p:nvSpPr>
          <p:cNvPr id="25" name="Text 23"/>
          <p:cNvSpPr/>
          <p:nvPr/>
        </p:nvSpPr>
        <p:spPr>
          <a:xfrm>
            <a:off x="1447800" y="5351165"/>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SPREADSHEETS / FILES</a:t>
            </a:r>
            <a:endParaRPr lang="en-US" sz="975" dirty="0"/>
          </a:p>
        </p:txBody>
      </p:sp>
      <p:sp>
        <p:nvSpPr>
          <p:cNvPr id="26" name="Shape 24"/>
          <p:cNvSpPr/>
          <p:nvPr/>
        </p:nvSpPr>
        <p:spPr>
          <a:xfrm>
            <a:off x="3771900" y="5757367"/>
            <a:ext cx="6236296" cy="9525"/>
          </a:xfrm>
          <a:prstGeom prst="rect">
            <a:avLst/>
          </a:prstGeom>
          <a:solidFill>
            <a:srgbClr val="C9CFD8"/>
          </a:solidFill>
          <a:ln/>
        </p:spPr>
      </p:sp>
      <p:sp>
        <p:nvSpPr>
          <p:cNvPr id="27" name="Text 25"/>
          <p:cNvSpPr/>
          <p:nvPr/>
        </p:nvSpPr>
        <p:spPr>
          <a:xfrm>
            <a:off x="4000500" y="5351165"/>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Not directly — load into warehouse first.</a:t>
            </a:r>
            <a:endParaRPr lang="en-US" sz="1275" dirty="0"/>
          </a:p>
        </p:txBody>
      </p:sp>
      <p:sp>
        <p:nvSpPr>
          <p:cNvPr id="28" name="Shape 26"/>
          <p:cNvSpPr/>
          <p:nvPr/>
        </p:nvSpPr>
        <p:spPr>
          <a:xfrm>
            <a:off x="10008196" y="5757367"/>
            <a:ext cx="7060605" cy="9525"/>
          </a:xfrm>
          <a:prstGeom prst="rect">
            <a:avLst/>
          </a:prstGeom>
          <a:solidFill>
            <a:srgbClr val="C9CFD8"/>
          </a:solidFill>
          <a:ln/>
        </p:spPr>
      </p:sp>
      <p:sp>
        <p:nvSpPr>
          <p:cNvPr id="29" name="Text 27"/>
          <p:cNvSpPr/>
          <p:nvPr/>
        </p:nvSpPr>
        <p:spPr>
          <a:xfrm>
            <a:off x="10236796" y="5351165"/>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Yes </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 Google Sheets, CSV upload.</a:t>
            </a:r>
            <a:endParaRPr lang="en-US" sz="1275" dirty="0"/>
          </a:p>
        </p:txBody>
      </p:sp>
      <p:sp>
        <p:nvSpPr>
          <p:cNvPr id="30" name="Shape 28"/>
          <p:cNvSpPr/>
          <p:nvPr/>
        </p:nvSpPr>
        <p:spPr>
          <a:xfrm>
            <a:off x="1219200" y="6341368"/>
            <a:ext cx="2552700" cy="9525"/>
          </a:xfrm>
          <a:prstGeom prst="rect">
            <a:avLst/>
          </a:prstGeom>
          <a:solidFill>
            <a:srgbClr val="C9CFD8"/>
          </a:solidFill>
          <a:ln/>
        </p:spPr>
      </p:sp>
      <p:sp>
        <p:nvSpPr>
          <p:cNvPr id="31" name="Text 29"/>
          <p:cNvSpPr/>
          <p:nvPr/>
        </p:nvSpPr>
        <p:spPr>
          <a:xfrm>
            <a:off x="1447800" y="5935167"/>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SHARING</a:t>
            </a:r>
            <a:endParaRPr lang="en-US" sz="975" dirty="0"/>
          </a:p>
        </p:txBody>
      </p:sp>
      <p:sp>
        <p:nvSpPr>
          <p:cNvPr id="32" name="Shape 30"/>
          <p:cNvSpPr/>
          <p:nvPr/>
        </p:nvSpPr>
        <p:spPr>
          <a:xfrm>
            <a:off x="3771900" y="6341368"/>
            <a:ext cx="6236296" cy="9525"/>
          </a:xfrm>
          <a:prstGeom prst="rect">
            <a:avLst/>
          </a:prstGeom>
          <a:solidFill>
            <a:srgbClr val="C9CFD8"/>
          </a:solidFill>
          <a:ln/>
        </p:spPr>
      </p:sp>
      <p:sp>
        <p:nvSpPr>
          <p:cNvPr id="33" name="Text 31"/>
          <p:cNvSpPr/>
          <p:nvPr/>
        </p:nvSpPr>
        <p:spPr>
          <a:xfrm>
            <a:off x="4000500" y="5935167"/>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Direct link, schedule, alert, embed, API.</a:t>
            </a:r>
            <a:endParaRPr lang="en-US" sz="1275" dirty="0"/>
          </a:p>
        </p:txBody>
      </p:sp>
      <p:sp>
        <p:nvSpPr>
          <p:cNvPr id="34" name="Shape 32"/>
          <p:cNvSpPr/>
          <p:nvPr/>
        </p:nvSpPr>
        <p:spPr>
          <a:xfrm>
            <a:off x="10008196" y="6341368"/>
            <a:ext cx="7060605" cy="9525"/>
          </a:xfrm>
          <a:prstGeom prst="rect">
            <a:avLst/>
          </a:prstGeom>
          <a:solidFill>
            <a:srgbClr val="C9CFD8"/>
          </a:solidFill>
          <a:ln/>
        </p:spPr>
      </p:sp>
      <p:sp>
        <p:nvSpPr>
          <p:cNvPr id="35" name="Text 33"/>
          <p:cNvSpPr/>
          <p:nvPr/>
        </p:nvSpPr>
        <p:spPr>
          <a:xfrm>
            <a:off x="10236796" y="5935167"/>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Drive link, schedule (email), embed.</a:t>
            </a:r>
            <a:endParaRPr lang="en-US" sz="1275" dirty="0"/>
          </a:p>
        </p:txBody>
      </p:sp>
      <p:sp>
        <p:nvSpPr>
          <p:cNvPr id="36" name="Shape 34"/>
          <p:cNvSpPr/>
          <p:nvPr/>
        </p:nvSpPr>
        <p:spPr>
          <a:xfrm>
            <a:off x="1219200" y="6925370"/>
            <a:ext cx="2552700" cy="9525"/>
          </a:xfrm>
          <a:prstGeom prst="rect">
            <a:avLst/>
          </a:prstGeom>
          <a:solidFill>
            <a:srgbClr val="C9CFD8"/>
          </a:solidFill>
          <a:ln/>
        </p:spPr>
      </p:sp>
      <p:sp>
        <p:nvSpPr>
          <p:cNvPr id="37" name="Text 35"/>
          <p:cNvSpPr/>
          <p:nvPr/>
        </p:nvSpPr>
        <p:spPr>
          <a:xfrm>
            <a:off x="1447800" y="6519168"/>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EMBEDDING</a:t>
            </a:r>
            <a:endParaRPr lang="en-US" sz="975" dirty="0"/>
          </a:p>
        </p:txBody>
      </p:sp>
      <p:sp>
        <p:nvSpPr>
          <p:cNvPr id="38" name="Shape 36"/>
          <p:cNvSpPr/>
          <p:nvPr/>
        </p:nvSpPr>
        <p:spPr>
          <a:xfrm>
            <a:off x="3771900" y="6925370"/>
            <a:ext cx="6236296" cy="9525"/>
          </a:xfrm>
          <a:prstGeom prst="rect">
            <a:avLst/>
          </a:prstGeom>
          <a:solidFill>
            <a:srgbClr val="C9CFD8"/>
          </a:solidFill>
          <a:ln/>
        </p:spPr>
      </p:sp>
      <p:sp>
        <p:nvSpPr>
          <p:cNvPr id="39" name="Text 37"/>
          <p:cNvSpPr/>
          <p:nvPr/>
        </p:nvSpPr>
        <p:spPr>
          <a:xfrm>
            <a:off x="4000500" y="6519168"/>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SSO, signed URLs, full SDK, themable.</a:t>
            </a:r>
            <a:endParaRPr lang="en-US" sz="1275" dirty="0"/>
          </a:p>
        </p:txBody>
      </p:sp>
      <p:sp>
        <p:nvSpPr>
          <p:cNvPr id="40" name="Shape 38"/>
          <p:cNvSpPr/>
          <p:nvPr/>
        </p:nvSpPr>
        <p:spPr>
          <a:xfrm>
            <a:off x="10008196" y="6925370"/>
            <a:ext cx="7060605" cy="9525"/>
          </a:xfrm>
          <a:prstGeom prst="rect">
            <a:avLst/>
          </a:prstGeom>
          <a:solidFill>
            <a:srgbClr val="C9CFD8"/>
          </a:solidFill>
          <a:ln/>
        </p:spPr>
      </p:sp>
      <p:sp>
        <p:nvSpPr>
          <p:cNvPr id="41" name="Text 39"/>
          <p:cNvSpPr/>
          <p:nvPr/>
        </p:nvSpPr>
        <p:spPr>
          <a:xfrm>
            <a:off x="10236796" y="6519168"/>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Public links, embed URL with limits.</a:t>
            </a:r>
            <a:endParaRPr lang="en-US" sz="1275" dirty="0"/>
          </a:p>
        </p:txBody>
      </p:sp>
      <p:sp>
        <p:nvSpPr>
          <p:cNvPr id="42" name="Shape 40"/>
          <p:cNvSpPr/>
          <p:nvPr/>
        </p:nvSpPr>
        <p:spPr>
          <a:xfrm>
            <a:off x="1219200" y="7509371"/>
            <a:ext cx="2552700" cy="9525"/>
          </a:xfrm>
          <a:prstGeom prst="rect">
            <a:avLst/>
          </a:prstGeom>
          <a:solidFill>
            <a:srgbClr val="C9CFD8"/>
          </a:solidFill>
          <a:ln/>
        </p:spPr>
      </p:sp>
      <p:sp>
        <p:nvSpPr>
          <p:cNvPr id="43" name="Text 41"/>
          <p:cNvSpPr/>
          <p:nvPr/>
        </p:nvSpPr>
        <p:spPr>
          <a:xfrm>
            <a:off x="1447800" y="7103170"/>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CUSTOMISATION</a:t>
            </a:r>
            <a:endParaRPr lang="en-US" sz="975" dirty="0"/>
          </a:p>
        </p:txBody>
      </p:sp>
      <p:sp>
        <p:nvSpPr>
          <p:cNvPr id="44" name="Shape 42"/>
          <p:cNvSpPr/>
          <p:nvPr/>
        </p:nvSpPr>
        <p:spPr>
          <a:xfrm>
            <a:off x="3771900" y="7509371"/>
            <a:ext cx="6236296" cy="9525"/>
          </a:xfrm>
          <a:prstGeom prst="rect">
            <a:avLst/>
          </a:prstGeom>
          <a:solidFill>
            <a:srgbClr val="C9CFD8"/>
          </a:solidFill>
          <a:ln/>
        </p:spPr>
      </p:sp>
      <p:sp>
        <p:nvSpPr>
          <p:cNvPr id="45" name="Text 43"/>
          <p:cNvSpPr/>
          <p:nvPr/>
        </p:nvSpPr>
        <p:spPr>
          <a:xfrm>
            <a:off x="4000500" y="7103170"/>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LookML, custom viz JS, themes.</a:t>
            </a:r>
            <a:endParaRPr lang="en-US" sz="1275" dirty="0"/>
          </a:p>
        </p:txBody>
      </p:sp>
      <p:sp>
        <p:nvSpPr>
          <p:cNvPr id="46" name="Shape 44"/>
          <p:cNvSpPr/>
          <p:nvPr/>
        </p:nvSpPr>
        <p:spPr>
          <a:xfrm>
            <a:off x="10008196" y="7509371"/>
            <a:ext cx="7060605" cy="9525"/>
          </a:xfrm>
          <a:prstGeom prst="rect">
            <a:avLst/>
          </a:prstGeom>
          <a:solidFill>
            <a:srgbClr val="C9CFD8"/>
          </a:solidFill>
          <a:ln/>
        </p:spPr>
      </p:sp>
      <p:sp>
        <p:nvSpPr>
          <p:cNvPr id="47" name="Text 45"/>
          <p:cNvSpPr/>
          <p:nvPr/>
        </p:nvSpPr>
        <p:spPr>
          <a:xfrm>
            <a:off x="10236796" y="7103170"/>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Drag-drop styling, community visualizations.</a:t>
            </a:r>
            <a:endParaRPr lang="en-US" sz="1275" dirty="0"/>
          </a:p>
        </p:txBody>
      </p:sp>
      <p:sp>
        <p:nvSpPr>
          <p:cNvPr id="48" name="Shape 46"/>
          <p:cNvSpPr/>
          <p:nvPr/>
        </p:nvSpPr>
        <p:spPr>
          <a:xfrm>
            <a:off x="1219200" y="8093373"/>
            <a:ext cx="2552700" cy="9525"/>
          </a:xfrm>
          <a:prstGeom prst="rect">
            <a:avLst/>
          </a:prstGeom>
          <a:solidFill>
            <a:srgbClr val="C9CFD8"/>
          </a:solidFill>
          <a:ln/>
        </p:spPr>
      </p:sp>
      <p:sp>
        <p:nvSpPr>
          <p:cNvPr id="49" name="Text 47"/>
          <p:cNvSpPr/>
          <p:nvPr/>
        </p:nvSpPr>
        <p:spPr>
          <a:xfrm>
            <a:off x="1447800" y="7687171"/>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COST</a:t>
            </a:r>
            <a:endParaRPr lang="en-US" sz="975" dirty="0"/>
          </a:p>
        </p:txBody>
      </p:sp>
      <p:sp>
        <p:nvSpPr>
          <p:cNvPr id="50" name="Shape 48"/>
          <p:cNvSpPr/>
          <p:nvPr/>
        </p:nvSpPr>
        <p:spPr>
          <a:xfrm>
            <a:off x="3771900" y="8093373"/>
            <a:ext cx="6236296" cy="9525"/>
          </a:xfrm>
          <a:prstGeom prst="rect">
            <a:avLst/>
          </a:prstGeom>
          <a:solidFill>
            <a:srgbClr val="C9CFD8"/>
          </a:solidFill>
          <a:ln/>
        </p:spPr>
      </p:sp>
      <p:sp>
        <p:nvSpPr>
          <p:cNvPr id="51" name="Text 49"/>
          <p:cNvSpPr/>
          <p:nvPr/>
        </p:nvSpPr>
        <p:spPr>
          <a:xfrm>
            <a:off x="4000500" y="7687171"/>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Per-user or capacity — paid subscription.</a:t>
            </a:r>
            <a:endParaRPr lang="en-US" sz="1275" dirty="0"/>
          </a:p>
        </p:txBody>
      </p:sp>
      <p:sp>
        <p:nvSpPr>
          <p:cNvPr id="52" name="Shape 50"/>
          <p:cNvSpPr/>
          <p:nvPr/>
        </p:nvSpPr>
        <p:spPr>
          <a:xfrm>
            <a:off x="10008196" y="8093373"/>
            <a:ext cx="7060605" cy="9525"/>
          </a:xfrm>
          <a:prstGeom prst="rect">
            <a:avLst/>
          </a:prstGeom>
          <a:solidFill>
            <a:srgbClr val="C9CFD8"/>
          </a:solidFill>
          <a:ln/>
        </p:spPr>
      </p:sp>
      <p:sp>
        <p:nvSpPr>
          <p:cNvPr id="53" name="Text 51"/>
          <p:cNvSpPr/>
          <p:nvPr/>
        </p:nvSpPr>
        <p:spPr>
          <a:xfrm>
            <a:off x="10236796" y="7687171"/>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b="1" dirty="0">
                <a:solidFill>
                  <a:srgbClr val="1B1F2A"/>
                </a:solidFill>
                <a:latin typeface="Manrope" pitchFamily="34" charset="0"/>
                <a:ea typeface="Manrope" pitchFamily="34" charset="-122"/>
                <a:cs typeface="Manrope" pitchFamily="34" charset="-120"/>
              </a:rPr>
              <a:t>Free</a:t>
            </a:r>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 Studio Pro adds team workspaces &amp; support.</a:t>
            </a:r>
            <a:endParaRPr lang="en-US" sz="1275" dirty="0"/>
          </a:p>
        </p:txBody>
      </p:sp>
      <p:sp>
        <p:nvSpPr>
          <p:cNvPr id="54" name="Shape 52"/>
          <p:cNvSpPr/>
          <p:nvPr/>
        </p:nvSpPr>
        <p:spPr>
          <a:xfrm>
            <a:off x="1219200" y="8677375"/>
            <a:ext cx="2552700" cy="9525"/>
          </a:xfrm>
          <a:prstGeom prst="rect">
            <a:avLst/>
          </a:prstGeom>
          <a:solidFill>
            <a:srgbClr val="C9CFD8"/>
          </a:solidFill>
          <a:ln/>
        </p:spPr>
      </p:sp>
      <p:sp>
        <p:nvSpPr>
          <p:cNvPr id="55" name="Text 53"/>
          <p:cNvSpPr/>
          <p:nvPr/>
        </p:nvSpPr>
        <p:spPr>
          <a:xfrm>
            <a:off x="1447800" y="8271173"/>
            <a:ext cx="2172081" cy="272852"/>
          </a:xfrm>
          <a:prstGeom prst="rect">
            <a:avLst/>
          </a:prstGeom>
          <a:noFill/>
          <a:ln/>
        </p:spPr>
        <p:txBody>
          <a:bodyPr wrap="square" lIns="25400" tIns="25400" rIns="25400" bIns="25400" rtlCol="0" anchor="t">
            <a:normAutofit/>
          </a:bodyPr>
          <a:lstStyle/>
          <a:p>
            <a:pPr algn="l" indent="0" marL="0">
              <a:lnSpc>
                <a:spcPct val="145000"/>
              </a:lnSpc>
              <a:buNone/>
            </a:pPr>
            <a:r>
              <a:rPr lang="en-US" sz="975" b="1" spc="98" kern="0" dirty="0">
                <a:solidFill>
                  <a:srgbClr val="8B95A6"/>
                </a:solidFill>
                <a:latin typeface="JetBrains Mono" pitchFamily="34" charset="0"/>
                <a:ea typeface="JetBrains Mono" pitchFamily="34" charset="-122"/>
                <a:cs typeface="JetBrains Mono" pitchFamily="34" charset="-120"/>
              </a:rPr>
              <a:t>SETUP TIME</a:t>
            </a:r>
            <a:endParaRPr lang="en-US" sz="975" dirty="0"/>
          </a:p>
        </p:txBody>
      </p:sp>
      <p:sp>
        <p:nvSpPr>
          <p:cNvPr id="56" name="Shape 54"/>
          <p:cNvSpPr/>
          <p:nvPr/>
        </p:nvSpPr>
        <p:spPr>
          <a:xfrm>
            <a:off x="3771900" y="8677375"/>
            <a:ext cx="6236296" cy="9525"/>
          </a:xfrm>
          <a:prstGeom prst="rect">
            <a:avLst/>
          </a:prstGeom>
          <a:solidFill>
            <a:srgbClr val="C9CFD8"/>
          </a:solidFill>
          <a:ln/>
        </p:spPr>
      </p:sp>
      <p:sp>
        <p:nvSpPr>
          <p:cNvPr id="57" name="Text 55"/>
          <p:cNvSpPr/>
          <p:nvPr/>
        </p:nvSpPr>
        <p:spPr>
          <a:xfrm>
            <a:off x="4000500" y="8271173"/>
            <a:ext cx="5966184"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Days–weeks (admin, model, deploy).</a:t>
            </a:r>
            <a:endParaRPr lang="en-US" sz="1275" dirty="0"/>
          </a:p>
        </p:txBody>
      </p:sp>
      <p:sp>
        <p:nvSpPr>
          <p:cNvPr id="58" name="Shape 56"/>
          <p:cNvSpPr/>
          <p:nvPr/>
        </p:nvSpPr>
        <p:spPr>
          <a:xfrm>
            <a:off x="10008196" y="8677375"/>
            <a:ext cx="7060605" cy="9525"/>
          </a:xfrm>
          <a:prstGeom prst="rect">
            <a:avLst/>
          </a:prstGeom>
          <a:solidFill>
            <a:srgbClr val="C9CFD8"/>
          </a:solidFill>
          <a:ln/>
        </p:spPr>
      </p:sp>
      <p:sp>
        <p:nvSpPr>
          <p:cNvPr id="59" name="Text 57"/>
          <p:cNvSpPr/>
          <p:nvPr/>
        </p:nvSpPr>
        <p:spPr>
          <a:xfrm>
            <a:off x="10236796" y="8271173"/>
            <a:ext cx="6815223" cy="27285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384358"/>
                </a:solidFill>
                <a:latin typeface="Manrope" pitchFamily="34" charset="0"/>
                <a:ea typeface="Manrope" pitchFamily="34" charset="-122"/>
                <a:cs typeface="Manrope" pitchFamily="34" charset="-120"/>
              </a:rPr>
              <a:t>Minutes (connect, drag, share).</a:t>
            </a:r>
            <a:endParaRPr lang="en-US" sz="1275" dirty="0"/>
          </a:p>
        </p:txBody>
      </p:sp>
      <p:sp>
        <p:nvSpPr>
          <p:cNvPr id="60" name="Text 58"/>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1" name="Text 59"/>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54 / 60</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05 · LOOKER VS STUDIO</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USE-CASE QUADRANT</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When to pick which — at a glance.</a:t>
            </a:r>
            <a:endParaRPr lang="en-US" sz="4800" dirty="0"/>
          </a:p>
        </p:txBody>
      </p:sp>
      <p:sp>
        <p:nvSpPr>
          <p:cNvPr id="8" name="Text 6"/>
          <p:cNvSpPr/>
          <p:nvPr/>
        </p:nvSpPr>
        <p:spPr>
          <a:xfrm>
            <a:off x="1219200" y="2971205"/>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Plot your use case on two axes: how much modeling you need vs how many people will rely on the result. Most exam scenarios land cleanly in one quadrant.</a:t>
            </a:r>
            <a:endParaRPr lang="en-US" sz="1650" dirty="0"/>
          </a:p>
        </p:txBody>
      </p:sp>
      <p:sp>
        <p:nvSpPr>
          <p:cNvPr id="9" name="Shape 7"/>
          <p:cNvSpPr/>
          <p:nvPr/>
        </p:nvSpPr>
        <p:spPr>
          <a:xfrm>
            <a:off x="1219200" y="4036021"/>
            <a:ext cx="15849600" cy="11321058"/>
          </a:xfrm>
          <a:prstGeom prst="roundRect">
            <a:avLst>
              <a:gd name="adj" fmla="val 1178"/>
            </a:avLst>
          </a:prstGeom>
          <a:solidFill>
            <a:srgbClr val="F1F2F4"/>
          </a:solidFill>
          <a:ln/>
        </p:spPr>
      </p:sp>
      <p:sp>
        <p:nvSpPr>
          <p:cNvPr id="10" name="Text 8"/>
          <p:cNvSpPr/>
          <p:nvPr/>
        </p:nvSpPr>
        <p:spPr>
          <a:xfrm>
            <a:off x="1447800" y="15134829"/>
            <a:ext cx="2069802"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FEW VIEWERS · PROTOTYPE</a:t>
            </a:r>
            <a:endParaRPr lang="en-US" sz="975" dirty="0"/>
          </a:p>
        </p:txBody>
      </p:sp>
      <p:sp>
        <p:nvSpPr>
          <p:cNvPr id="11" name="Text 9"/>
          <p:cNvSpPr/>
          <p:nvPr/>
        </p:nvSpPr>
        <p:spPr>
          <a:xfrm>
            <a:off x="14673263" y="15134829"/>
            <a:ext cx="2243138"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MANY VIEWERS · PRODUCTION</a:t>
            </a:r>
            <a:endParaRPr lang="en-US" sz="975" dirty="0"/>
          </a:p>
        </p:txBody>
      </p:sp>
      <p:sp>
        <p:nvSpPr>
          <p:cNvPr id="12" name="Text 10"/>
          <p:cNvSpPr/>
          <p:nvPr/>
        </p:nvSpPr>
        <p:spPr>
          <a:xfrm>
            <a:off x="1123950" y="4264621"/>
            <a:ext cx="241300" cy="10901958"/>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PER-REPORT DATA</a:t>
            </a:r>
            <a:endParaRPr lang="en-US" sz="975" dirty="0"/>
          </a:p>
        </p:txBody>
      </p:sp>
      <p:sp>
        <p:nvSpPr>
          <p:cNvPr id="13" name="Text 11"/>
          <p:cNvSpPr/>
          <p:nvPr/>
        </p:nvSpPr>
        <p:spPr>
          <a:xfrm>
            <a:off x="1289050" y="4264621"/>
            <a:ext cx="241300" cy="10901958"/>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8B95A6"/>
                </a:solidFill>
                <a:latin typeface="JetBrains Mono" pitchFamily="34" charset="0"/>
                <a:ea typeface="JetBrains Mono" pitchFamily="34" charset="-122"/>
                <a:cs typeface="JetBrains Mono" pitchFamily="34" charset="-120"/>
              </a:rPr>
              <a:t>MODELED, GOVERNED DATA</a:t>
            </a:r>
            <a:endParaRPr lang="en-US" sz="975" dirty="0"/>
          </a:p>
        </p:txBody>
      </p:sp>
      <p:sp>
        <p:nvSpPr>
          <p:cNvPr id="14" name="Text 12"/>
          <p:cNvSpPr/>
          <p:nvPr/>
        </p:nvSpPr>
        <p:spPr>
          <a:xfrm>
            <a:off x="1447800" y="4264621"/>
            <a:ext cx="70386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LOOKER · USE CASE</a:t>
            </a:r>
            <a:endParaRPr lang="en-US" sz="975" dirty="0"/>
          </a:p>
        </p:txBody>
      </p:sp>
      <p:sp>
        <p:nvSpPr>
          <p:cNvPr id="15" name="Text 13"/>
          <p:cNvSpPr/>
          <p:nvPr/>
        </p:nvSpPr>
        <p:spPr>
          <a:xfrm>
            <a:off x="1447800" y="4524970"/>
            <a:ext cx="7038600"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9" kern="0" dirty="0">
                <a:solidFill>
                  <a:srgbClr val="1B1F2A"/>
                </a:solidFill>
                <a:latin typeface="Manrope" pitchFamily="34" charset="0"/>
                <a:ea typeface="Manrope" pitchFamily="34" charset="-122"/>
                <a:cs typeface="Manrope" pitchFamily="34" charset="-120"/>
              </a:rPr>
              <a:t>Modeled, small audience.</a:t>
            </a:r>
            <a:endParaRPr lang="en-US" sz="1800" dirty="0"/>
          </a:p>
        </p:txBody>
      </p:sp>
      <p:sp>
        <p:nvSpPr>
          <p:cNvPr id="16" name="Text 14"/>
          <p:cNvSpPr/>
          <p:nvPr/>
        </p:nvSpPr>
        <p:spPr>
          <a:xfrm>
            <a:off x="1447800" y="4883051"/>
            <a:ext cx="703860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Internal data-team prototypes, new model validation, exploratory analytics on a governed warehouse.</a:t>
            </a:r>
            <a:endParaRPr lang="en-US" sz="1125" dirty="0"/>
          </a:p>
        </p:txBody>
      </p:sp>
      <p:sp>
        <p:nvSpPr>
          <p:cNvPr id="17" name="Shape 15"/>
          <p:cNvSpPr/>
          <p:nvPr/>
        </p:nvSpPr>
        <p:spPr>
          <a:xfrm>
            <a:off x="9778008" y="4036021"/>
            <a:ext cx="7290792" cy="4981179"/>
          </a:xfrm>
          <a:prstGeom prst="roundRect">
            <a:avLst>
              <a:gd name="adj" fmla="val 1530"/>
            </a:avLst>
          </a:prstGeom>
          <a:solidFill>
            <a:srgbClr val="FFE3D2"/>
          </a:solidFill>
          <a:ln/>
        </p:spPr>
      </p:sp>
      <p:sp>
        <p:nvSpPr>
          <p:cNvPr id="18" name="Text 16"/>
          <p:cNvSpPr/>
          <p:nvPr/>
        </p:nvSpPr>
        <p:spPr>
          <a:xfrm>
            <a:off x="10006608" y="4264621"/>
            <a:ext cx="70386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LOOKER · STRONG FIT</a:t>
            </a:r>
            <a:endParaRPr lang="en-US" sz="975" dirty="0"/>
          </a:p>
        </p:txBody>
      </p:sp>
      <p:sp>
        <p:nvSpPr>
          <p:cNvPr id="19" name="Text 17"/>
          <p:cNvSpPr/>
          <p:nvPr/>
        </p:nvSpPr>
        <p:spPr>
          <a:xfrm>
            <a:off x="10006608" y="4524970"/>
            <a:ext cx="7038600"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9" kern="0" dirty="0">
                <a:solidFill>
                  <a:srgbClr val="1B1F2A"/>
                </a:solidFill>
                <a:latin typeface="Manrope" pitchFamily="34" charset="0"/>
                <a:ea typeface="Manrope" pitchFamily="34" charset="-122"/>
                <a:cs typeface="Manrope" pitchFamily="34" charset="-120"/>
              </a:rPr>
              <a:t>Enterprise BI &amp; embeds.</a:t>
            </a:r>
            <a:endParaRPr lang="en-US" sz="1800" dirty="0"/>
          </a:p>
        </p:txBody>
      </p:sp>
      <p:sp>
        <p:nvSpPr>
          <p:cNvPr id="20" name="Text 18"/>
          <p:cNvSpPr/>
          <p:nvPr/>
        </p:nvSpPr>
        <p:spPr>
          <a:xfrm>
            <a:off x="10006608" y="4883051"/>
            <a:ext cx="703860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Customer-facing embedded analytics, executive dashboards, regulated industries, multi-team rollouts.</a:t>
            </a:r>
            <a:endParaRPr lang="en-US" sz="1125" dirty="0"/>
          </a:p>
        </p:txBody>
      </p:sp>
      <p:sp>
        <p:nvSpPr>
          <p:cNvPr id="21" name="Shape 19"/>
          <p:cNvSpPr/>
          <p:nvPr/>
        </p:nvSpPr>
        <p:spPr>
          <a:xfrm>
            <a:off x="1219200" y="10375900"/>
            <a:ext cx="7290792" cy="4981179"/>
          </a:xfrm>
          <a:prstGeom prst="roundRect">
            <a:avLst>
              <a:gd name="adj" fmla="val 1530"/>
            </a:avLst>
          </a:prstGeom>
          <a:solidFill>
            <a:srgbClr val="E6ECFF"/>
          </a:solidFill>
          <a:ln/>
        </p:spPr>
      </p:sp>
      <p:sp>
        <p:nvSpPr>
          <p:cNvPr id="22" name="Text 20"/>
          <p:cNvSpPr/>
          <p:nvPr/>
        </p:nvSpPr>
        <p:spPr>
          <a:xfrm>
            <a:off x="1447800" y="10604500"/>
            <a:ext cx="70386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LOOKER STUDIO · STRONG FIT</a:t>
            </a:r>
            <a:endParaRPr lang="en-US" sz="975" dirty="0"/>
          </a:p>
        </p:txBody>
      </p:sp>
      <p:sp>
        <p:nvSpPr>
          <p:cNvPr id="23" name="Text 21"/>
          <p:cNvSpPr/>
          <p:nvPr/>
        </p:nvSpPr>
        <p:spPr>
          <a:xfrm>
            <a:off x="1447800" y="10864851"/>
            <a:ext cx="7038600"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9" kern="0" dirty="0">
                <a:solidFill>
                  <a:srgbClr val="1B1F2A"/>
                </a:solidFill>
                <a:latin typeface="Manrope" pitchFamily="34" charset="0"/>
                <a:ea typeface="Manrope" pitchFamily="34" charset="-122"/>
                <a:cs typeface="Manrope" pitchFamily="34" charset="-120"/>
              </a:rPr>
              <a:t>One-off reports.</a:t>
            </a:r>
            <a:endParaRPr lang="en-US" sz="1800" dirty="0"/>
          </a:p>
        </p:txBody>
      </p:sp>
      <p:sp>
        <p:nvSpPr>
          <p:cNvPr id="24" name="Text 22"/>
          <p:cNvSpPr/>
          <p:nvPr/>
        </p:nvSpPr>
        <p:spPr>
          <a:xfrm>
            <a:off x="1447800" y="11222931"/>
            <a:ext cx="703860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Marketing campaign recaps, agency client decks, personal dashboards, GA4 mash-ups.</a:t>
            </a:r>
            <a:endParaRPr lang="en-US" sz="1125" dirty="0"/>
          </a:p>
        </p:txBody>
      </p:sp>
      <p:sp>
        <p:nvSpPr>
          <p:cNvPr id="25" name="Text 23"/>
          <p:cNvSpPr/>
          <p:nvPr/>
        </p:nvSpPr>
        <p:spPr>
          <a:xfrm>
            <a:off x="10006608" y="10604500"/>
            <a:ext cx="70386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LOOKER STUDIO · USE CASE</a:t>
            </a:r>
            <a:endParaRPr lang="en-US" sz="975" dirty="0"/>
          </a:p>
        </p:txBody>
      </p:sp>
      <p:sp>
        <p:nvSpPr>
          <p:cNvPr id="26" name="Text 24"/>
          <p:cNvSpPr/>
          <p:nvPr/>
        </p:nvSpPr>
        <p:spPr>
          <a:xfrm>
            <a:off x="10006608" y="10864851"/>
            <a:ext cx="7038600" cy="300930"/>
          </a:xfrm>
          <a:prstGeom prst="rect">
            <a:avLst/>
          </a:prstGeom>
          <a:noFill/>
          <a:ln/>
        </p:spPr>
        <p:txBody>
          <a:bodyPr wrap="square" lIns="25400" tIns="25400" rIns="25400" bIns="25400" rtlCol="0" anchor="t">
            <a:normAutofit/>
          </a:bodyPr>
          <a:lstStyle/>
          <a:p>
            <a:pPr algn="l" indent="0" marL="0">
              <a:lnSpc>
                <a:spcPct val="115000"/>
              </a:lnSpc>
              <a:buNone/>
            </a:pPr>
            <a:r>
              <a:rPr lang="en-US" sz="1800" b="1" spc="-9" kern="0" dirty="0">
                <a:solidFill>
                  <a:srgbClr val="1B1F2A"/>
                </a:solidFill>
                <a:latin typeface="Manrope" pitchFamily="34" charset="0"/>
                <a:ea typeface="Manrope" pitchFamily="34" charset="-122"/>
                <a:cs typeface="Manrope" pitchFamily="34" charset="-120"/>
              </a:rPr>
              <a:t>Wide reach, light governance.</a:t>
            </a:r>
            <a:endParaRPr lang="en-US" sz="1800" dirty="0"/>
          </a:p>
        </p:txBody>
      </p:sp>
      <p:sp>
        <p:nvSpPr>
          <p:cNvPr id="27" name="Text 25"/>
          <p:cNvSpPr/>
          <p:nvPr/>
        </p:nvSpPr>
        <p:spPr>
          <a:xfrm>
            <a:off x="10006608" y="11222931"/>
            <a:ext cx="7038600"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384358"/>
                </a:solidFill>
                <a:latin typeface="Manrope" pitchFamily="34" charset="0"/>
                <a:ea typeface="Manrope" pitchFamily="34" charset="-122"/>
                <a:cs typeface="Manrope" pitchFamily="34" charset="-120"/>
              </a:rPr>
              <a:t>Company-wide KPI snapshots on Sheets, school-district reporting, community dashboards.</a:t>
            </a:r>
            <a:endParaRPr lang="en-US" sz="1125" dirty="0"/>
          </a:p>
        </p:txBody>
      </p:sp>
      <p:sp>
        <p:nvSpPr>
          <p:cNvPr id="28" name="Text 26"/>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29" name="Text 27"/>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55 / 60</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05 · LOOKER VS STUDIO</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DECISION FLOW</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Five questions — one tool.</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Run a real scenario through these five questions and the answer becomes mechanical. The exam's "which tool would you recommend?" items almost always hinge on the first three.</a:t>
            </a:r>
            <a:endParaRPr lang="en-US" sz="1650" dirty="0"/>
          </a:p>
        </p:txBody>
      </p:sp>
      <p:sp>
        <p:nvSpPr>
          <p:cNvPr id="9" name="Shape 7"/>
          <p:cNvSpPr/>
          <p:nvPr/>
        </p:nvSpPr>
        <p:spPr>
          <a:xfrm>
            <a:off x="1219200" y="4191496"/>
            <a:ext cx="15849600" cy="1079500"/>
          </a:xfrm>
          <a:prstGeom prst="roundRect">
            <a:avLst>
              <a:gd name="adj" fmla="val 10588"/>
            </a:avLst>
          </a:prstGeom>
          <a:solidFill>
            <a:srgbClr val="FF671F"/>
          </a:solidFill>
          <a:ln/>
        </p:spPr>
      </p:sp>
      <p:sp>
        <p:nvSpPr>
          <p:cNvPr id="10" name="Shape 8"/>
          <p:cNvSpPr/>
          <p:nvPr/>
        </p:nvSpPr>
        <p:spPr>
          <a:xfrm>
            <a:off x="1492250" y="4426446"/>
            <a:ext cx="609600" cy="609600"/>
          </a:xfrm>
          <a:prstGeom prst="roundRect">
            <a:avLst>
              <a:gd name="adj" fmla="val 18750"/>
            </a:avLst>
          </a:prstGeom>
          <a:solidFill>
            <a:srgbClr val="FFFFFF">
              <a:alpha val="18000"/>
            </a:srgbClr>
          </a:solidFill>
          <a:ln/>
        </p:spPr>
      </p:sp>
      <p:sp>
        <p:nvSpPr>
          <p:cNvPr id="11" name="Text 9"/>
          <p:cNvSpPr/>
          <p:nvPr/>
        </p:nvSpPr>
        <p:spPr>
          <a:xfrm>
            <a:off x="1454150" y="4426446"/>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FFFF"/>
                </a:solidFill>
                <a:latin typeface="JetBrains Mono" pitchFamily="34" charset="0"/>
                <a:ea typeface="JetBrains Mono" pitchFamily="34" charset="-122"/>
                <a:cs typeface="JetBrains Mono" pitchFamily="34" charset="-120"/>
              </a:rPr>
              <a:t>Q1</a:t>
            </a:r>
            <a:endParaRPr lang="en-US" sz="1050" dirty="0"/>
          </a:p>
        </p:txBody>
      </p:sp>
      <p:sp>
        <p:nvSpPr>
          <p:cNvPr id="12" name="Text 10"/>
          <p:cNvSpPr/>
          <p:nvPr/>
        </p:nvSpPr>
        <p:spPr>
          <a:xfrm>
            <a:off x="2330450" y="4436566"/>
            <a:ext cx="6815405"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Will more than one team rely on the same metric definitions?</a:t>
            </a:r>
            <a:endParaRPr lang="en-US" sz="1800" dirty="0"/>
          </a:p>
        </p:txBody>
      </p:sp>
      <p:sp>
        <p:nvSpPr>
          <p:cNvPr id="13" name="Text 11"/>
          <p:cNvSpPr/>
          <p:nvPr/>
        </p:nvSpPr>
        <p:spPr>
          <a:xfrm>
            <a:off x="2330450" y="4804867"/>
            <a:ext cx="6815405"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92000"/>
                  </a:srgbClr>
                </a:solidFill>
                <a:latin typeface="Manrope" pitchFamily="34" charset="0"/>
                <a:ea typeface="Manrope" pitchFamily="34" charset="-122"/>
                <a:cs typeface="Manrope" pitchFamily="34" charset="-120"/>
              </a:rPr>
              <a:t>Yes → consider Looker (single source of truth). No → either tool may work.</a:t>
            </a:r>
            <a:endParaRPr lang="en-US" sz="1200" dirty="0"/>
          </a:p>
        </p:txBody>
      </p:sp>
      <p:sp>
        <p:nvSpPr>
          <p:cNvPr id="14" name="Shape 12"/>
          <p:cNvSpPr/>
          <p:nvPr/>
        </p:nvSpPr>
        <p:spPr>
          <a:xfrm>
            <a:off x="1219200" y="5404346"/>
            <a:ext cx="15849600" cy="1079500"/>
          </a:xfrm>
          <a:prstGeom prst="roundRect">
            <a:avLst>
              <a:gd name="adj" fmla="val 10588"/>
            </a:avLst>
          </a:prstGeom>
          <a:solidFill>
            <a:srgbClr val="1B1F2A"/>
          </a:solidFill>
          <a:ln/>
        </p:spPr>
      </p:sp>
      <p:sp>
        <p:nvSpPr>
          <p:cNvPr id="15" name="Shape 13"/>
          <p:cNvSpPr/>
          <p:nvPr/>
        </p:nvSpPr>
        <p:spPr>
          <a:xfrm>
            <a:off x="1492250" y="5639296"/>
            <a:ext cx="609600" cy="609600"/>
          </a:xfrm>
          <a:prstGeom prst="roundRect">
            <a:avLst>
              <a:gd name="adj" fmla="val 18750"/>
            </a:avLst>
          </a:prstGeom>
          <a:solidFill>
            <a:srgbClr val="FF671F">
              <a:alpha val="20000"/>
            </a:srgbClr>
          </a:solidFill>
          <a:ln/>
        </p:spPr>
      </p:sp>
      <p:sp>
        <p:nvSpPr>
          <p:cNvPr id="16" name="Text 14"/>
          <p:cNvSpPr/>
          <p:nvPr/>
        </p:nvSpPr>
        <p:spPr>
          <a:xfrm>
            <a:off x="1454150" y="5639296"/>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Q2</a:t>
            </a:r>
            <a:endParaRPr lang="en-US" sz="1050" dirty="0"/>
          </a:p>
        </p:txBody>
      </p:sp>
      <p:sp>
        <p:nvSpPr>
          <p:cNvPr id="17" name="Text 15"/>
          <p:cNvSpPr/>
          <p:nvPr/>
        </p:nvSpPr>
        <p:spPr>
          <a:xfrm>
            <a:off x="2330450" y="5649417"/>
            <a:ext cx="7428169"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Will this dashboard be embedded into a customer-facing product?</a:t>
            </a:r>
            <a:endParaRPr lang="en-US" sz="1800" dirty="0"/>
          </a:p>
        </p:txBody>
      </p:sp>
      <p:sp>
        <p:nvSpPr>
          <p:cNvPr id="18" name="Text 16"/>
          <p:cNvSpPr/>
          <p:nvPr/>
        </p:nvSpPr>
        <p:spPr>
          <a:xfrm>
            <a:off x="2330450" y="6017716"/>
            <a:ext cx="7428169"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78000"/>
                  </a:srgbClr>
                </a:solidFill>
                <a:latin typeface="Manrope" pitchFamily="34" charset="0"/>
                <a:ea typeface="Manrope" pitchFamily="34" charset="-122"/>
                <a:cs typeface="Manrope" pitchFamily="34" charset="-120"/>
              </a:rPr>
              <a:t>Yes → Looker (signed URLs, SSO, SDK). Studio's embeds are limited.</a:t>
            </a:r>
            <a:endParaRPr lang="en-US" sz="1200" dirty="0"/>
          </a:p>
        </p:txBody>
      </p:sp>
      <p:sp>
        <p:nvSpPr>
          <p:cNvPr id="19" name="Shape 17"/>
          <p:cNvSpPr/>
          <p:nvPr/>
        </p:nvSpPr>
        <p:spPr>
          <a:xfrm>
            <a:off x="1219200" y="6617196"/>
            <a:ext cx="15849600" cy="1131987"/>
          </a:xfrm>
          <a:prstGeom prst="roundRect">
            <a:avLst>
              <a:gd name="adj" fmla="val 10097"/>
            </a:avLst>
          </a:prstGeom>
          <a:solidFill>
            <a:srgbClr val="1B1F2A"/>
          </a:solidFill>
          <a:ln/>
        </p:spPr>
      </p:sp>
      <p:sp>
        <p:nvSpPr>
          <p:cNvPr id="20" name="Shape 18"/>
          <p:cNvSpPr/>
          <p:nvPr/>
        </p:nvSpPr>
        <p:spPr>
          <a:xfrm>
            <a:off x="1492250" y="6878340"/>
            <a:ext cx="609600" cy="609600"/>
          </a:xfrm>
          <a:prstGeom prst="roundRect">
            <a:avLst>
              <a:gd name="adj" fmla="val 18750"/>
            </a:avLst>
          </a:prstGeom>
          <a:solidFill>
            <a:srgbClr val="FF671F">
              <a:alpha val="20000"/>
            </a:srgbClr>
          </a:solidFill>
          <a:ln/>
        </p:spPr>
      </p:sp>
      <p:sp>
        <p:nvSpPr>
          <p:cNvPr id="21" name="Text 19"/>
          <p:cNvSpPr/>
          <p:nvPr/>
        </p:nvSpPr>
        <p:spPr>
          <a:xfrm>
            <a:off x="1454150" y="6878340"/>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Q3</a:t>
            </a:r>
            <a:endParaRPr lang="en-US" sz="1050" dirty="0"/>
          </a:p>
        </p:txBody>
      </p:sp>
      <p:sp>
        <p:nvSpPr>
          <p:cNvPr id="22" name="Text 20"/>
          <p:cNvSpPr/>
          <p:nvPr/>
        </p:nvSpPr>
        <p:spPr>
          <a:xfrm>
            <a:off x="2330450" y="6852146"/>
            <a:ext cx="6828282"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FFFFFF"/>
                </a:solidFill>
                <a:latin typeface="Manrope" pitchFamily="34" charset="0"/>
                <a:ea typeface="Manrope" pitchFamily="34" charset="-122"/>
                <a:cs typeface="Manrope" pitchFamily="34" charset="-120"/>
              </a:rPr>
              <a:t>Do you need row-level or column-level security?</a:t>
            </a:r>
            <a:endParaRPr lang="en-US" sz="1800" dirty="0"/>
          </a:p>
        </p:txBody>
      </p:sp>
      <p:sp>
        <p:nvSpPr>
          <p:cNvPr id="23" name="Text 21"/>
          <p:cNvSpPr/>
          <p:nvPr/>
        </p:nvSpPr>
        <p:spPr>
          <a:xfrm>
            <a:off x="2330450" y="7220446"/>
            <a:ext cx="6828282" cy="331887"/>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FFFFFF">
                    <a:alpha val="78000"/>
                  </a:srgbClr>
                </a:solidFill>
                <a:latin typeface="Manrope" pitchFamily="34" charset="0"/>
                <a:ea typeface="Manrope" pitchFamily="34" charset="-122"/>
                <a:cs typeface="Manrope" pitchFamily="34" charset="-120"/>
              </a:rPr>
              <a:t>Yes → Looker (</a:t>
            </a:r>
            <a:pPr algn="l" indent="0" marL="0">
              <a:lnSpc>
                <a:spcPct val="145000"/>
              </a:lnSpc>
              <a:buNone/>
            </a:pPr>
            <a:r>
              <a:rPr lang="en-US" sz="975" b="1" dirty="0">
                <a:solidFill>
                  <a:srgbClr val="384358"/>
                </a:solidFill>
                <a:highlight>
                  <a:srgbClr val="F1F2F4"/>
                </a:highlight>
                <a:latin typeface="JetBrains Mono" pitchFamily="34" charset="0"/>
                <a:ea typeface="JetBrains Mono" pitchFamily="34" charset="-122"/>
                <a:cs typeface="JetBrains Mono" pitchFamily="34" charset="-120"/>
              </a:rPr>
              <a:t>access_filter </a:t>
            </a:r>
            <a:pPr algn="l" indent="0" marL="0">
              <a:lnSpc>
                <a:spcPct val="145000"/>
              </a:lnSpc>
              <a:buNone/>
            </a:pPr>
            <a:r>
              <a:rPr lang="en-US" sz="1200" dirty="0">
                <a:solidFill>
                  <a:srgbClr val="FFFFFF">
                    <a:alpha val="78000"/>
                  </a:srgbClr>
                </a:solidFill>
                <a:latin typeface="Manrope" pitchFamily="34" charset="0"/>
                <a:ea typeface="Manrope" pitchFamily="34" charset="-122"/>
                <a:cs typeface="Manrope" pitchFamily="34" charset="-120"/>
              </a:rPr>
              <a:t>+ user attributes). Studio relies on warehouse-side policies.</a:t>
            </a:r>
            <a:endParaRPr lang="en-US" sz="1200" dirty="0"/>
          </a:p>
        </p:txBody>
      </p:sp>
      <p:sp>
        <p:nvSpPr>
          <p:cNvPr id="24" name="Shape 22"/>
          <p:cNvSpPr/>
          <p:nvPr/>
        </p:nvSpPr>
        <p:spPr>
          <a:xfrm>
            <a:off x="1219200" y="7882533"/>
            <a:ext cx="15849600" cy="1079500"/>
          </a:xfrm>
          <a:prstGeom prst="roundRect">
            <a:avLst>
              <a:gd name="adj" fmla="val 10588"/>
            </a:avLst>
          </a:prstGeom>
          <a:solidFill>
            <a:srgbClr val="FFFFFF"/>
          </a:solidFill>
          <a:ln w="6350">
            <a:solidFill>
              <a:srgbClr val="C9CFD8"/>
            </a:solidFill>
            <a:prstDash val="solid"/>
          </a:ln>
        </p:spPr>
      </p:sp>
      <p:sp>
        <p:nvSpPr>
          <p:cNvPr id="25" name="Shape 23"/>
          <p:cNvSpPr/>
          <p:nvPr/>
        </p:nvSpPr>
        <p:spPr>
          <a:xfrm>
            <a:off x="1492250" y="8117483"/>
            <a:ext cx="609600" cy="609600"/>
          </a:xfrm>
          <a:prstGeom prst="roundRect">
            <a:avLst>
              <a:gd name="adj" fmla="val 18750"/>
            </a:avLst>
          </a:prstGeom>
          <a:solidFill>
            <a:srgbClr val="F1F2F4"/>
          </a:solidFill>
          <a:ln/>
        </p:spPr>
      </p:sp>
      <p:sp>
        <p:nvSpPr>
          <p:cNvPr id="26" name="Text 24"/>
          <p:cNvSpPr/>
          <p:nvPr/>
        </p:nvSpPr>
        <p:spPr>
          <a:xfrm>
            <a:off x="1454150" y="8117483"/>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Q4</a:t>
            </a:r>
            <a:endParaRPr lang="en-US" sz="1050" dirty="0"/>
          </a:p>
        </p:txBody>
      </p:sp>
      <p:sp>
        <p:nvSpPr>
          <p:cNvPr id="27" name="Text 25"/>
          <p:cNvSpPr/>
          <p:nvPr/>
        </p:nvSpPr>
        <p:spPr>
          <a:xfrm>
            <a:off x="2330450" y="8127603"/>
            <a:ext cx="7828979"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Is the data in Google Sheets, a CSV or an unmodeled SaaS connector?</a:t>
            </a:r>
            <a:endParaRPr lang="en-US" sz="1800" dirty="0"/>
          </a:p>
        </p:txBody>
      </p:sp>
      <p:sp>
        <p:nvSpPr>
          <p:cNvPr id="28" name="Text 26"/>
          <p:cNvSpPr/>
          <p:nvPr/>
        </p:nvSpPr>
        <p:spPr>
          <a:xfrm>
            <a:off x="2330450" y="8495904"/>
            <a:ext cx="7828979"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Yes → Looker Studio is faster, free, and natively integrated.</a:t>
            </a:r>
            <a:endParaRPr lang="en-US" sz="1200" dirty="0"/>
          </a:p>
        </p:txBody>
      </p:sp>
      <p:sp>
        <p:nvSpPr>
          <p:cNvPr id="29" name="Shape 27"/>
          <p:cNvSpPr/>
          <p:nvPr/>
        </p:nvSpPr>
        <p:spPr>
          <a:xfrm>
            <a:off x="1219200" y="9095383"/>
            <a:ext cx="15849600" cy="1079500"/>
          </a:xfrm>
          <a:prstGeom prst="roundRect">
            <a:avLst>
              <a:gd name="adj" fmla="val 10588"/>
            </a:avLst>
          </a:prstGeom>
          <a:solidFill>
            <a:srgbClr val="FFFFFF"/>
          </a:solidFill>
          <a:ln w="6350">
            <a:solidFill>
              <a:srgbClr val="C9CFD8"/>
            </a:solidFill>
            <a:prstDash val="solid"/>
          </a:ln>
        </p:spPr>
      </p:sp>
      <p:sp>
        <p:nvSpPr>
          <p:cNvPr id="30" name="Shape 28"/>
          <p:cNvSpPr/>
          <p:nvPr/>
        </p:nvSpPr>
        <p:spPr>
          <a:xfrm>
            <a:off x="1492250" y="9330333"/>
            <a:ext cx="609600" cy="609600"/>
          </a:xfrm>
          <a:prstGeom prst="roundRect">
            <a:avLst>
              <a:gd name="adj" fmla="val 18750"/>
            </a:avLst>
          </a:prstGeom>
          <a:solidFill>
            <a:srgbClr val="F1F2F4"/>
          </a:solidFill>
          <a:ln/>
        </p:spPr>
      </p:sp>
      <p:sp>
        <p:nvSpPr>
          <p:cNvPr id="31" name="Text 29"/>
          <p:cNvSpPr/>
          <p:nvPr/>
        </p:nvSpPr>
        <p:spPr>
          <a:xfrm>
            <a:off x="1454150" y="9330333"/>
            <a:ext cx="685800" cy="647700"/>
          </a:xfrm>
          <a:prstGeom prst="rect">
            <a:avLst/>
          </a:prstGeom>
          <a:noFill/>
          <a:ln/>
        </p:spPr>
        <p:txBody>
          <a:bodyPr wrap="square" lIns="25400" tIns="25400" rIns="25400" bIns="25400" rtlCol="0" anchor="ctr">
            <a:normAutofit/>
          </a:bodyPr>
          <a:lstStyle/>
          <a:p>
            <a:pPr algn="ctr" indent="0" marL="0">
              <a:buNone/>
            </a:pPr>
            <a:r>
              <a:rPr lang="en-US" sz="1050" b="1" spc="42" kern="0" dirty="0">
                <a:solidFill>
                  <a:srgbClr val="FF671F"/>
                </a:solidFill>
                <a:latin typeface="JetBrains Mono" pitchFamily="34" charset="0"/>
                <a:ea typeface="JetBrains Mono" pitchFamily="34" charset="-122"/>
                <a:cs typeface="JetBrains Mono" pitchFamily="34" charset="-120"/>
              </a:rPr>
              <a:t>Q5</a:t>
            </a:r>
            <a:endParaRPr lang="en-US" sz="1050" dirty="0"/>
          </a:p>
        </p:txBody>
      </p:sp>
      <p:sp>
        <p:nvSpPr>
          <p:cNvPr id="32" name="Text 30"/>
          <p:cNvSpPr/>
          <p:nvPr/>
        </p:nvSpPr>
        <p:spPr>
          <a:xfrm>
            <a:off x="2330450" y="9340453"/>
            <a:ext cx="4792347" cy="349250"/>
          </a:xfrm>
          <a:prstGeom prst="rect">
            <a:avLst/>
          </a:prstGeom>
          <a:noFill/>
          <a:ln/>
        </p:spPr>
        <p:txBody>
          <a:bodyPr wrap="square" lIns="25400" tIns="25400" rIns="25400" bIns="25400" rtlCol="0" anchor="t">
            <a:normAutofit/>
          </a:bodyPr>
          <a:lstStyle/>
          <a:p>
            <a:pPr algn="l" indent="0" marL="0">
              <a:buNone/>
            </a:pPr>
            <a:r>
              <a:rPr lang="en-US" sz="1800" b="1" spc="-9" kern="0" dirty="0">
                <a:solidFill>
                  <a:srgbClr val="1B1F2A"/>
                </a:solidFill>
                <a:latin typeface="Manrope" pitchFamily="34" charset="0"/>
                <a:ea typeface="Manrope" pitchFamily="34" charset="-122"/>
                <a:cs typeface="Manrope" pitchFamily="34" charset="-120"/>
              </a:rPr>
              <a:t>Is the budget zero and the audience small?</a:t>
            </a:r>
            <a:endParaRPr lang="en-US" sz="1800" dirty="0"/>
          </a:p>
        </p:txBody>
      </p:sp>
      <p:sp>
        <p:nvSpPr>
          <p:cNvPr id="33" name="Text 31"/>
          <p:cNvSpPr/>
          <p:nvPr/>
        </p:nvSpPr>
        <p:spPr>
          <a:xfrm>
            <a:off x="2330450" y="9708753"/>
            <a:ext cx="4792347" cy="259060"/>
          </a:xfrm>
          <a:prstGeom prst="rect">
            <a:avLst/>
          </a:prstGeom>
          <a:noFill/>
          <a:ln/>
        </p:spPr>
        <p:txBody>
          <a:bodyPr wrap="square" lIns="25400" tIns="25400" rIns="25400" bIns="25400" rtlCol="0" anchor="t">
            <a:normAutofit/>
          </a:bodyPr>
          <a:lstStyle/>
          <a:p>
            <a:pPr algn="l" indent="0" marL="0">
              <a:lnSpc>
                <a:spcPct val="145000"/>
              </a:lnSpc>
              <a:buNone/>
            </a:pPr>
            <a:r>
              <a:rPr lang="en-US" sz="1200" dirty="0">
                <a:solidFill>
                  <a:srgbClr val="384358"/>
                </a:solidFill>
                <a:latin typeface="Manrope" pitchFamily="34" charset="0"/>
                <a:ea typeface="Manrope" pitchFamily="34" charset="-122"/>
                <a:cs typeface="Manrope" pitchFamily="34" charset="-120"/>
              </a:rPr>
              <a:t>Yes → Looker Studio.</a:t>
            </a:r>
            <a:endParaRPr lang="en-US" sz="1200" dirty="0"/>
          </a:p>
        </p:txBody>
      </p:sp>
      <p:sp>
        <p:nvSpPr>
          <p:cNvPr id="34" name="Text 32"/>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5" name="Text 3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56 / 60</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5144552" y="755650"/>
            <a:ext cx="2000449"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05 · LOOKER VS STUDIO</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SIDE BY SIDE</a:t>
            </a:r>
            <a:endParaRPr lang="en-US" sz="1350" dirty="0"/>
          </a:p>
        </p:txBody>
      </p:sp>
      <p:sp>
        <p:nvSpPr>
          <p:cNvPr id="7" name="Text 5"/>
          <p:cNvSpPr/>
          <p:nvPr/>
        </p:nvSpPr>
        <p:spPr>
          <a:xfrm>
            <a:off x="1219200" y="2178050"/>
            <a:ext cx="16325088" cy="659805"/>
          </a:xfrm>
          <a:prstGeom prst="rect">
            <a:avLst/>
          </a:prstGeom>
          <a:noFill/>
          <a:ln/>
        </p:spPr>
        <p:txBody>
          <a:bodyPr wrap="square" lIns="25400" tIns="25400" rIns="25400" bIns="25400" rtlCol="0" anchor="t">
            <a:normAutofit/>
          </a:bodyPr>
          <a:lstStyle/>
          <a:p>
            <a:pPr algn="l" indent="0" marL="0">
              <a:lnSpc>
                <a:spcPct val="102000"/>
              </a:lnSpc>
              <a:buNone/>
            </a:pPr>
            <a:r>
              <a:rPr lang="en-US" sz="4800" b="1" spc="-96" kern="0" dirty="0">
                <a:solidFill>
                  <a:srgbClr val="1B1F2A"/>
                </a:solidFill>
                <a:latin typeface="Manrope" pitchFamily="34" charset="0"/>
                <a:ea typeface="Manrope" pitchFamily="34" charset="-122"/>
                <a:cs typeface="Manrope" pitchFamily="34" charset="-120"/>
              </a:rPr>
              <a:t>Same data, two products.</a:t>
            </a:r>
            <a:endParaRPr lang="en-US" sz="4800" dirty="0"/>
          </a:p>
        </p:txBody>
      </p:sp>
      <p:sp>
        <p:nvSpPr>
          <p:cNvPr id="8" name="Text 6"/>
          <p:cNvSpPr/>
          <p:nvPr/>
        </p:nvSpPr>
        <p:spPr>
          <a:xfrm>
            <a:off x="1219200" y="2971205"/>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The same revenue chart — built in each tool — exposes the surface differences immediately.</a:t>
            </a:r>
            <a:endParaRPr lang="en-US" sz="1650" dirty="0"/>
          </a:p>
        </p:txBody>
      </p:sp>
      <p:sp>
        <p:nvSpPr>
          <p:cNvPr id="9" name="Shape 7"/>
          <p:cNvSpPr/>
          <p:nvPr/>
        </p:nvSpPr>
        <p:spPr>
          <a:xfrm>
            <a:off x="1219200" y="3808413"/>
            <a:ext cx="7696200" cy="4013200"/>
          </a:xfrm>
          <a:prstGeom prst="roundRect">
            <a:avLst>
              <a:gd name="adj" fmla="val 3797"/>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10" name="Shape 8"/>
          <p:cNvSpPr/>
          <p:nvPr/>
        </p:nvSpPr>
        <p:spPr>
          <a:xfrm>
            <a:off x="1225550" y="3814763"/>
            <a:ext cx="7683500" cy="533400"/>
          </a:xfrm>
          <a:prstGeom prst="rect">
            <a:avLst/>
          </a:prstGeom>
          <a:solidFill>
            <a:srgbClr val="1A2233"/>
          </a:solidFill>
          <a:ln/>
        </p:spPr>
      </p:sp>
      <p:sp>
        <p:nvSpPr>
          <p:cNvPr id="11" name="Text 9"/>
          <p:cNvSpPr/>
          <p:nvPr/>
        </p:nvSpPr>
        <p:spPr>
          <a:xfrm>
            <a:off x="1416050" y="3963988"/>
            <a:ext cx="662484" cy="27305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FF671F"/>
                </a:solidFill>
                <a:latin typeface="Manrope" pitchFamily="34" charset="0"/>
                <a:ea typeface="Manrope" pitchFamily="34" charset="-122"/>
                <a:cs typeface="Manrope" pitchFamily="34" charset="-120"/>
              </a:rPr>
              <a:t>Looker</a:t>
            </a:r>
            <a:endParaRPr lang="en-US" sz="1350" dirty="0"/>
          </a:p>
        </p:txBody>
      </p:sp>
      <p:sp>
        <p:nvSpPr>
          <p:cNvPr id="12" name="Text 10"/>
          <p:cNvSpPr/>
          <p:nvPr/>
        </p:nvSpPr>
        <p:spPr>
          <a:xfrm>
            <a:off x="2230934" y="3897313"/>
            <a:ext cx="442714" cy="4064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alpha val="78000"/>
                  </a:srgbClr>
                </a:solidFill>
                <a:latin typeface="Manrope" pitchFamily="34" charset="0"/>
                <a:ea typeface="Manrope" pitchFamily="34" charset="-122"/>
                <a:cs typeface="Manrope" pitchFamily="34" charset="-120"/>
              </a:rPr>
              <a:t>Home</a:t>
            </a:r>
            <a:endParaRPr lang="en-US" sz="1050" dirty="0"/>
          </a:p>
        </p:txBody>
      </p:sp>
      <p:sp>
        <p:nvSpPr>
          <p:cNvPr id="13" name="Shape 11"/>
          <p:cNvSpPr/>
          <p:nvPr/>
        </p:nvSpPr>
        <p:spPr>
          <a:xfrm>
            <a:off x="2806998" y="4246563"/>
            <a:ext cx="468709" cy="19050"/>
          </a:xfrm>
          <a:prstGeom prst="rect">
            <a:avLst/>
          </a:prstGeom>
          <a:solidFill>
            <a:srgbClr val="FF671F"/>
          </a:solidFill>
          <a:ln/>
        </p:spPr>
      </p:sp>
      <p:sp>
        <p:nvSpPr>
          <p:cNvPr id="14" name="Text 12"/>
          <p:cNvSpPr/>
          <p:nvPr/>
        </p:nvSpPr>
        <p:spPr>
          <a:xfrm>
            <a:off x="2806998" y="3897313"/>
            <a:ext cx="544909" cy="215900"/>
          </a:xfrm>
          <a:prstGeom prst="rect">
            <a:avLst/>
          </a:prstGeom>
          <a:noFill/>
          <a:ln/>
        </p:spPr>
        <p:txBody>
          <a:bodyPr wrap="square" lIns="25400" tIns="25400" rIns="25400" bIns="25400" rtlCol="0" anchor="t">
            <a:normAutofit/>
          </a:bodyPr>
          <a:lstStyle/>
          <a:p>
            <a:pPr algn="l" indent="0" marL="0">
              <a:buNone/>
            </a:pPr>
            <a:r>
              <a:rPr lang="en-US" sz="1050" dirty="0">
                <a:solidFill>
                  <a:srgbClr val="FFFFFF"/>
                </a:solidFill>
                <a:latin typeface="Manrope" pitchFamily="34" charset="0"/>
                <a:ea typeface="Manrope" pitchFamily="34" charset="-122"/>
                <a:cs typeface="Manrope" pitchFamily="34" charset="-120"/>
              </a:rPr>
              <a:t>Explore</a:t>
            </a:r>
            <a:endParaRPr lang="en-US" sz="1050" dirty="0"/>
          </a:p>
        </p:txBody>
      </p:sp>
      <p:sp>
        <p:nvSpPr>
          <p:cNvPr id="15" name="Text 13"/>
          <p:cNvSpPr/>
          <p:nvPr/>
        </p:nvSpPr>
        <p:spPr>
          <a:xfrm>
            <a:off x="8232378" y="3992563"/>
            <a:ext cx="562372" cy="215900"/>
          </a:xfrm>
          <a:prstGeom prst="rect">
            <a:avLst/>
          </a:prstGeom>
          <a:noFill/>
          <a:ln/>
        </p:spPr>
        <p:txBody>
          <a:bodyPr wrap="square" lIns="25400" tIns="25400" rIns="25400" bIns="25400" rtlCol="0" anchor="ctr">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Save · ⋯</a:t>
            </a:r>
            <a:endParaRPr lang="en-US" sz="975" dirty="0"/>
          </a:p>
        </p:txBody>
      </p:sp>
      <p:sp>
        <p:nvSpPr>
          <p:cNvPr id="16" name="Shape 14"/>
          <p:cNvSpPr/>
          <p:nvPr/>
        </p:nvSpPr>
        <p:spPr>
          <a:xfrm>
            <a:off x="1225550" y="4348163"/>
            <a:ext cx="7683500" cy="3467100"/>
          </a:xfrm>
          <a:prstGeom prst="rect">
            <a:avLst/>
          </a:prstGeom>
          <a:solidFill>
            <a:srgbClr val="F4F6F9"/>
          </a:solidFill>
          <a:ln/>
        </p:spPr>
      </p:sp>
      <p:sp>
        <p:nvSpPr>
          <p:cNvPr id="17" name="Shape 15"/>
          <p:cNvSpPr/>
          <p:nvPr/>
        </p:nvSpPr>
        <p:spPr>
          <a:xfrm>
            <a:off x="1225550" y="4348163"/>
            <a:ext cx="1714500" cy="3467100"/>
          </a:xfrm>
          <a:prstGeom prst="rect">
            <a:avLst/>
          </a:prstGeom>
          <a:solidFill>
            <a:srgbClr val="FFFFFF"/>
          </a:solidFill>
          <a:ln/>
        </p:spPr>
      </p:sp>
      <p:sp>
        <p:nvSpPr>
          <p:cNvPr id="18" name="Text 16"/>
          <p:cNvSpPr/>
          <p:nvPr/>
        </p:nvSpPr>
        <p:spPr>
          <a:xfrm>
            <a:off x="1339850" y="4462463"/>
            <a:ext cx="1562100" cy="152400"/>
          </a:xfrm>
          <a:prstGeom prst="rect">
            <a:avLst/>
          </a:prstGeom>
          <a:noFill/>
          <a:ln/>
        </p:spPr>
        <p:txBody>
          <a:bodyPr wrap="square" lIns="25400" tIns="25400" rIns="25400" bIns="25400" rtlCol="0" anchor="t">
            <a:normAutofit/>
          </a:bodyPr>
          <a:lstStyle/>
          <a:p>
            <a:pPr algn="l" indent="0" marL="0">
              <a:buNone/>
            </a:pPr>
            <a:r>
              <a:rPr lang="en-US" sz="675" spc="54" kern="0" dirty="0">
                <a:solidFill>
                  <a:srgbClr val="8B95A6"/>
                </a:solidFill>
                <a:latin typeface="JetBrains Mono" pitchFamily="34" charset="0"/>
                <a:ea typeface="JetBrains Mono" pitchFamily="34" charset="-122"/>
                <a:cs typeface="JetBrains Mono" pitchFamily="34" charset="-120"/>
              </a:rPr>
              <a:t>FIELDS</a:t>
            </a:r>
            <a:endParaRPr lang="en-US" sz="675" dirty="0"/>
          </a:p>
        </p:txBody>
      </p:sp>
      <p:sp>
        <p:nvSpPr>
          <p:cNvPr id="19" name="Text 17"/>
          <p:cNvSpPr/>
          <p:nvPr/>
        </p:nvSpPr>
        <p:spPr>
          <a:xfrm>
            <a:off x="1339850" y="4633913"/>
            <a:ext cx="1562100" cy="203200"/>
          </a:xfrm>
          <a:prstGeom prst="rect">
            <a:avLst/>
          </a:prstGeom>
          <a:noFill/>
          <a:ln/>
        </p:spPr>
        <p:txBody>
          <a:bodyPr wrap="square" lIns="25400" tIns="25400" rIns="25400" bIns="25400" rtlCol="0" anchor="t">
            <a:normAutofit/>
          </a:bodyPr>
          <a:lstStyle/>
          <a:p>
            <a:pPr algn="l" indent="0" marL="0">
              <a:buNone/>
            </a:pPr>
            <a:r>
              <a:rPr lang="en-US" sz="825" b="1" dirty="0">
                <a:solidFill>
                  <a:srgbClr val="FF671F"/>
                </a:solidFill>
                <a:latin typeface="Manrope" pitchFamily="34" charset="0"/>
                <a:ea typeface="Manrope" pitchFamily="34" charset="-122"/>
                <a:cs typeface="Manrope" pitchFamily="34" charset="-120"/>
              </a:rPr>
              <a:t>📅 Created Month ✓</a:t>
            </a:r>
            <a:endParaRPr lang="en-US" sz="825" dirty="0"/>
          </a:p>
        </p:txBody>
      </p:sp>
      <p:sp>
        <p:nvSpPr>
          <p:cNvPr id="20" name="Text 18"/>
          <p:cNvSpPr/>
          <p:nvPr/>
        </p:nvSpPr>
        <p:spPr>
          <a:xfrm>
            <a:off x="1339850" y="4799013"/>
            <a:ext cx="1562100" cy="184150"/>
          </a:xfrm>
          <a:prstGeom prst="rect">
            <a:avLst/>
          </a:prstGeom>
          <a:noFill/>
          <a:ln/>
        </p:spPr>
        <p:txBody>
          <a:bodyPr wrap="square" lIns="25400" tIns="25400" rIns="25400" bIns="25400" rtlCol="0" anchor="t">
            <a:normAutofit/>
          </a:bodyPr>
          <a:lstStyle/>
          <a:p>
            <a:pPr algn="l" indent="0" marL="0">
              <a:buNone/>
            </a:pPr>
            <a:r>
              <a:rPr lang="en-US" sz="825" b="1" dirty="0">
                <a:solidFill>
                  <a:srgbClr val="FF671F"/>
                </a:solidFill>
                <a:latin typeface="Manrope" pitchFamily="34" charset="0"/>
                <a:ea typeface="Manrope" pitchFamily="34" charset="-122"/>
                <a:cs typeface="Manrope" pitchFamily="34" charset="-120"/>
              </a:rPr>
              <a:t>Σ Total Revenue ✓</a:t>
            </a:r>
            <a:endParaRPr lang="en-US" sz="825" dirty="0"/>
          </a:p>
        </p:txBody>
      </p:sp>
      <p:sp>
        <p:nvSpPr>
          <p:cNvPr id="21" name="Text 19"/>
          <p:cNvSpPr/>
          <p:nvPr/>
        </p:nvSpPr>
        <p:spPr>
          <a:xfrm>
            <a:off x="1339850" y="4945063"/>
            <a:ext cx="1562100" cy="190500"/>
          </a:xfrm>
          <a:prstGeom prst="rect">
            <a:avLst/>
          </a:prstGeom>
          <a:noFill/>
          <a:ln/>
        </p:spPr>
        <p:txBody>
          <a:bodyPr wrap="square" lIns="25400" tIns="25400" rIns="25400" bIns="25400" rtlCol="0" anchor="t">
            <a:normAutofit/>
          </a:bodyPr>
          <a:lstStyle/>
          <a:p>
            <a:pPr algn="l" indent="0" marL="0">
              <a:buNone/>
            </a:pPr>
            <a:r>
              <a:rPr lang="en-US" sz="825" dirty="0">
                <a:solidFill>
                  <a:srgbClr val="384358"/>
                </a:solidFill>
                <a:latin typeface="Manrope" pitchFamily="34" charset="0"/>
                <a:ea typeface="Manrope" pitchFamily="34" charset="-122"/>
                <a:cs typeface="Manrope" pitchFamily="34" charset="-120"/>
              </a:rPr>
              <a:t>𝓐 Status</a:t>
            </a:r>
            <a:endParaRPr lang="en-US" sz="825" dirty="0"/>
          </a:p>
        </p:txBody>
      </p:sp>
      <p:sp>
        <p:nvSpPr>
          <p:cNvPr id="22" name="Text 20"/>
          <p:cNvSpPr/>
          <p:nvPr/>
        </p:nvSpPr>
        <p:spPr>
          <a:xfrm>
            <a:off x="1339850" y="5097463"/>
            <a:ext cx="1562100" cy="190500"/>
          </a:xfrm>
          <a:prstGeom prst="rect">
            <a:avLst/>
          </a:prstGeom>
          <a:noFill/>
          <a:ln/>
        </p:spPr>
        <p:txBody>
          <a:bodyPr wrap="square" lIns="25400" tIns="25400" rIns="25400" bIns="25400" rtlCol="0" anchor="t">
            <a:normAutofit/>
          </a:bodyPr>
          <a:lstStyle/>
          <a:p>
            <a:pPr algn="l" indent="0" marL="0">
              <a:buNone/>
            </a:pPr>
            <a:r>
              <a:rPr lang="en-US" sz="825" dirty="0">
                <a:solidFill>
                  <a:srgbClr val="384358"/>
                </a:solidFill>
                <a:latin typeface="Manrope" pitchFamily="34" charset="0"/>
                <a:ea typeface="Manrope" pitchFamily="34" charset="-122"/>
                <a:cs typeface="Manrope" pitchFamily="34" charset="-120"/>
              </a:rPr>
              <a:t>𝓐 Channel</a:t>
            </a:r>
            <a:endParaRPr lang="en-US" sz="825" dirty="0"/>
          </a:p>
        </p:txBody>
      </p:sp>
      <p:sp>
        <p:nvSpPr>
          <p:cNvPr id="23" name="Text 21"/>
          <p:cNvSpPr/>
          <p:nvPr/>
        </p:nvSpPr>
        <p:spPr>
          <a:xfrm>
            <a:off x="1339850" y="5249863"/>
            <a:ext cx="1562100" cy="184150"/>
          </a:xfrm>
          <a:prstGeom prst="rect">
            <a:avLst/>
          </a:prstGeom>
          <a:noFill/>
          <a:ln/>
        </p:spPr>
        <p:txBody>
          <a:bodyPr wrap="square" lIns="25400" tIns="25400" rIns="25400" bIns="25400" rtlCol="0" anchor="t">
            <a:normAutofit/>
          </a:bodyPr>
          <a:lstStyle/>
          <a:p>
            <a:pPr algn="l" indent="0" marL="0">
              <a:buNone/>
            </a:pPr>
            <a:r>
              <a:rPr lang="en-US" sz="825" dirty="0">
                <a:solidFill>
                  <a:srgbClr val="384358"/>
                </a:solidFill>
                <a:latin typeface="Manrope" pitchFamily="34" charset="0"/>
                <a:ea typeface="Manrope" pitchFamily="34" charset="-122"/>
                <a:cs typeface="Manrope" pitchFamily="34" charset="-120"/>
              </a:rPr>
              <a:t>Σ AOV</a:t>
            </a:r>
            <a:endParaRPr lang="en-US" sz="825" dirty="0"/>
          </a:p>
        </p:txBody>
      </p:sp>
      <p:sp>
        <p:nvSpPr>
          <p:cNvPr id="24" name="Text 22"/>
          <p:cNvSpPr/>
          <p:nvPr/>
        </p:nvSpPr>
        <p:spPr>
          <a:xfrm>
            <a:off x="1339850" y="5472113"/>
            <a:ext cx="1562100" cy="152400"/>
          </a:xfrm>
          <a:prstGeom prst="rect">
            <a:avLst/>
          </a:prstGeom>
          <a:noFill/>
          <a:ln/>
        </p:spPr>
        <p:txBody>
          <a:bodyPr wrap="square" lIns="25400" tIns="25400" rIns="25400" bIns="25400" rtlCol="0" anchor="t">
            <a:normAutofit/>
          </a:bodyPr>
          <a:lstStyle/>
          <a:p>
            <a:pPr algn="l" indent="0" marL="0">
              <a:buNone/>
            </a:pPr>
            <a:r>
              <a:rPr lang="en-US" sz="675" spc="41" kern="0" dirty="0">
                <a:solidFill>
                  <a:srgbClr val="8B95A6"/>
                </a:solidFill>
                <a:latin typeface="JetBrains Mono" pitchFamily="34" charset="0"/>
                <a:ea typeface="JetBrains Mono" pitchFamily="34" charset="-122"/>
                <a:cs typeface="JetBrains Mono" pitchFamily="34" charset="-120"/>
              </a:rPr>
              <a:t>FROM MODEL: ecommerce</a:t>
            </a:r>
            <a:endParaRPr lang="en-US" sz="675" dirty="0"/>
          </a:p>
        </p:txBody>
      </p:sp>
      <p:sp>
        <p:nvSpPr>
          <p:cNvPr id="25" name="Shape 23"/>
          <p:cNvSpPr/>
          <p:nvPr/>
        </p:nvSpPr>
        <p:spPr>
          <a:xfrm>
            <a:off x="2940050" y="4348163"/>
            <a:ext cx="5969000" cy="3467100"/>
          </a:xfrm>
          <a:prstGeom prst="rect">
            <a:avLst/>
          </a:prstGeom>
          <a:solidFill>
            <a:srgbClr val="FFFFFF"/>
          </a:solidFill>
          <a:ln/>
        </p:spPr>
      </p:sp>
      <p:sp>
        <p:nvSpPr>
          <p:cNvPr id="26" name="Text 24"/>
          <p:cNvSpPr/>
          <p:nvPr/>
        </p:nvSpPr>
        <p:spPr>
          <a:xfrm>
            <a:off x="3111500" y="4519613"/>
            <a:ext cx="5794883" cy="17780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JetBrains Mono" pitchFamily="34" charset="0"/>
                <a:ea typeface="JetBrains Mono" pitchFamily="34" charset="-122"/>
                <a:cs typeface="JetBrains Mono" pitchFamily="34" charset="-120"/>
              </a:rPr>
              <a:t>order_analytics · column chart</a:t>
            </a:r>
            <a:endParaRPr lang="en-US" sz="825" dirty="0"/>
          </a:p>
        </p:txBody>
      </p:sp>
      <p:sp>
        <p:nvSpPr>
          <p:cNvPr id="27" name="Shape 25"/>
          <p:cNvSpPr/>
          <p:nvPr/>
        </p:nvSpPr>
        <p:spPr>
          <a:xfrm>
            <a:off x="3111500" y="6771382"/>
            <a:ext cx="653256" cy="872430"/>
          </a:xfrm>
          <a:prstGeom prst="rect">
            <a:avLst/>
          </a:prstGeom>
          <a:solidFill>
            <a:srgbClr val="FF671F"/>
          </a:solidFill>
          <a:ln/>
        </p:spPr>
      </p:sp>
      <p:sp>
        <p:nvSpPr>
          <p:cNvPr id="28" name="Shape 26"/>
          <p:cNvSpPr/>
          <p:nvPr/>
        </p:nvSpPr>
        <p:spPr>
          <a:xfrm>
            <a:off x="3821906" y="6422331"/>
            <a:ext cx="653256" cy="1221482"/>
          </a:xfrm>
          <a:prstGeom prst="rect">
            <a:avLst/>
          </a:prstGeom>
          <a:solidFill>
            <a:srgbClr val="FF671F"/>
          </a:solidFill>
          <a:ln/>
        </p:spPr>
      </p:sp>
      <p:sp>
        <p:nvSpPr>
          <p:cNvPr id="29" name="Shape 27"/>
          <p:cNvSpPr/>
          <p:nvPr/>
        </p:nvSpPr>
        <p:spPr>
          <a:xfrm>
            <a:off x="4532313" y="6044307"/>
            <a:ext cx="653256" cy="1599506"/>
          </a:xfrm>
          <a:prstGeom prst="rect">
            <a:avLst/>
          </a:prstGeom>
          <a:solidFill>
            <a:srgbClr val="FF671F"/>
          </a:solidFill>
          <a:ln/>
        </p:spPr>
      </p:sp>
      <p:sp>
        <p:nvSpPr>
          <p:cNvPr id="30" name="Shape 28"/>
          <p:cNvSpPr/>
          <p:nvPr/>
        </p:nvSpPr>
        <p:spPr>
          <a:xfrm>
            <a:off x="5242719" y="5666184"/>
            <a:ext cx="653256" cy="1977628"/>
          </a:xfrm>
          <a:prstGeom prst="rect">
            <a:avLst/>
          </a:prstGeom>
          <a:solidFill>
            <a:srgbClr val="FF671F"/>
          </a:solidFill>
          <a:ln/>
        </p:spPr>
      </p:sp>
      <p:sp>
        <p:nvSpPr>
          <p:cNvPr id="31" name="Shape 29"/>
          <p:cNvSpPr/>
          <p:nvPr/>
        </p:nvSpPr>
        <p:spPr>
          <a:xfrm>
            <a:off x="5953125" y="5375374"/>
            <a:ext cx="653256" cy="2268438"/>
          </a:xfrm>
          <a:prstGeom prst="rect">
            <a:avLst/>
          </a:prstGeom>
          <a:solidFill>
            <a:srgbClr val="FF671F"/>
          </a:solidFill>
          <a:ln/>
        </p:spPr>
      </p:sp>
      <p:sp>
        <p:nvSpPr>
          <p:cNvPr id="32" name="Shape 30"/>
          <p:cNvSpPr/>
          <p:nvPr/>
        </p:nvSpPr>
        <p:spPr>
          <a:xfrm>
            <a:off x="6663532" y="5084564"/>
            <a:ext cx="653256" cy="2559248"/>
          </a:xfrm>
          <a:prstGeom prst="rect">
            <a:avLst/>
          </a:prstGeom>
          <a:solidFill>
            <a:srgbClr val="FF671F"/>
          </a:solidFill>
          <a:ln/>
        </p:spPr>
      </p:sp>
      <p:sp>
        <p:nvSpPr>
          <p:cNvPr id="33" name="Shape 31"/>
          <p:cNvSpPr/>
          <p:nvPr/>
        </p:nvSpPr>
        <p:spPr>
          <a:xfrm>
            <a:off x="7373938" y="5462588"/>
            <a:ext cx="653256" cy="2181225"/>
          </a:xfrm>
          <a:prstGeom prst="rect">
            <a:avLst/>
          </a:prstGeom>
          <a:solidFill>
            <a:srgbClr val="FF671F"/>
          </a:solidFill>
          <a:ln/>
        </p:spPr>
      </p:sp>
      <p:sp>
        <p:nvSpPr>
          <p:cNvPr id="34" name="Shape 32"/>
          <p:cNvSpPr/>
          <p:nvPr/>
        </p:nvSpPr>
        <p:spPr>
          <a:xfrm>
            <a:off x="8084344" y="4968180"/>
            <a:ext cx="653256" cy="2675632"/>
          </a:xfrm>
          <a:prstGeom prst="rect">
            <a:avLst/>
          </a:prstGeom>
          <a:solidFill>
            <a:srgbClr val="FF671F"/>
          </a:solidFill>
          <a:ln/>
        </p:spPr>
      </p:sp>
      <p:sp>
        <p:nvSpPr>
          <p:cNvPr id="35" name="Text 33"/>
          <p:cNvSpPr/>
          <p:nvPr/>
        </p:nvSpPr>
        <p:spPr>
          <a:xfrm>
            <a:off x="1219200" y="7954963"/>
            <a:ext cx="7927086"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1B1F2A"/>
                </a:solidFill>
                <a:latin typeface="Manrope" pitchFamily="34" charset="0"/>
                <a:ea typeface="Manrope" pitchFamily="34" charset="-122"/>
                <a:cs typeface="Manrope" pitchFamily="34" charset="-120"/>
              </a:rPr>
              <a:t>Looker. </a:t>
            </a:r>
            <a:pPr algn="l" indent="0" marL="0">
              <a:lnSpc>
                <a:spcPct val="150000"/>
              </a:lnSpc>
              <a:buNone/>
            </a:pPr>
            <a:r>
              <a:rPr lang="en-US" sz="1050" dirty="0">
                <a:solidFill>
                  <a:srgbClr val="384358"/>
                </a:solidFill>
                <a:latin typeface="Manrope" pitchFamily="34" charset="0"/>
                <a:ea typeface="Manrope" pitchFamily="34" charset="-122"/>
                <a:cs typeface="Manrope" pitchFamily="34" charset="-120"/>
              </a:rPr>
              <a:t>Field picker is the model. Same fields appear in every Explore. The chart is a query against modeled definitions.</a:t>
            </a:r>
            <a:endParaRPr lang="en-US" sz="1050" dirty="0"/>
          </a:p>
        </p:txBody>
      </p:sp>
      <p:sp>
        <p:nvSpPr>
          <p:cNvPr id="36" name="Shape 34"/>
          <p:cNvSpPr/>
          <p:nvPr/>
        </p:nvSpPr>
        <p:spPr>
          <a:xfrm>
            <a:off x="9372600" y="3808413"/>
            <a:ext cx="7696200" cy="4013200"/>
          </a:xfrm>
          <a:prstGeom prst="roundRect">
            <a:avLst>
              <a:gd name="adj" fmla="val 3797"/>
            </a:avLst>
          </a:prstGeom>
          <a:solidFill>
            <a:srgbClr val="FFFFFF"/>
          </a:solidFill>
          <a:ln w="6350">
            <a:solidFill>
              <a:srgbClr val="C9CFD8"/>
            </a:solidFill>
            <a:prstDash val="solid"/>
          </a:ln>
          <a:effectLst>
            <a:outerShdw sx="100000" sy="100000" kx="0" ky="0" algn="bl" rotWithShape="0" blurRad="114300" dist="38100" dir="5400000">
              <a:srgbClr val="1B1F2A">
                <a:alpha val="6000"/>
              </a:srgbClr>
            </a:outerShdw>
          </a:effectLst>
        </p:spPr>
      </p:sp>
      <p:sp>
        <p:nvSpPr>
          <p:cNvPr id="37" name="Shape 35"/>
          <p:cNvSpPr/>
          <p:nvPr/>
        </p:nvSpPr>
        <p:spPr>
          <a:xfrm>
            <a:off x="9378950" y="3814763"/>
            <a:ext cx="7683500" cy="539750"/>
          </a:xfrm>
          <a:prstGeom prst="rect">
            <a:avLst/>
          </a:prstGeom>
          <a:solidFill>
            <a:srgbClr val="FFFFFF"/>
          </a:solidFill>
          <a:ln/>
        </p:spPr>
      </p:sp>
      <p:sp>
        <p:nvSpPr>
          <p:cNvPr id="38" name="Shape 36"/>
          <p:cNvSpPr/>
          <p:nvPr/>
        </p:nvSpPr>
        <p:spPr>
          <a:xfrm>
            <a:off x="9378950" y="4348163"/>
            <a:ext cx="7683500" cy="9525"/>
          </a:xfrm>
          <a:prstGeom prst="rect">
            <a:avLst/>
          </a:prstGeom>
          <a:solidFill>
            <a:srgbClr val="C9CFD8"/>
          </a:solidFill>
          <a:ln/>
        </p:spPr>
      </p:sp>
      <p:sp>
        <p:nvSpPr>
          <p:cNvPr id="39" name="Text 37"/>
          <p:cNvSpPr/>
          <p:nvPr/>
        </p:nvSpPr>
        <p:spPr>
          <a:xfrm>
            <a:off x="9550400" y="3992563"/>
            <a:ext cx="973733" cy="215900"/>
          </a:xfrm>
          <a:prstGeom prst="rect">
            <a:avLst/>
          </a:prstGeom>
          <a:noFill/>
          <a:ln/>
        </p:spPr>
        <p:txBody>
          <a:bodyPr wrap="square" lIns="25400" tIns="25400" rIns="25400" bIns="25400" rtlCol="0" anchor="t">
            <a:normAutofit/>
          </a:bodyPr>
          <a:lstStyle/>
          <a:p>
            <a:pPr algn="l" indent="0" marL="0">
              <a:buNone/>
            </a:pPr>
            <a:r>
              <a:rPr lang="en-US" sz="1050" b="1" dirty="0">
                <a:solidFill>
                  <a:srgbClr val="4285F4"/>
                </a:solidFill>
                <a:latin typeface="Manrope" pitchFamily="34" charset="0"/>
                <a:ea typeface="Manrope" pitchFamily="34" charset="-122"/>
                <a:cs typeface="Manrope" pitchFamily="34" charset="-120"/>
              </a:rPr>
              <a:t>Looker Studio</a:t>
            </a:r>
            <a:endParaRPr lang="en-US" sz="1050" dirty="0"/>
          </a:p>
        </p:txBody>
      </p:sp>
      <p:sp>
        <p:nvSpPr>
          <p:cNvPr id="40" name="Text 38"/>
          <p:cNvSpPr/>
          <p:nvPr/>
        </p:nvSpPr>
        <p:spPr>
          <a:xfrm>
            <a:off x="10676533" y="3992563"/>
            <a:ext cx="1307009"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Untitled report · Edit</a:t>
            </a:r>
            <a:endParaRPr lang="en-US" sz="1050" dirty="0"/>
          </a:p>
        </p:txBody>
      </p:sp>
      <p:sp>
        <p:nvSpPr>
          <p:cNvPr id="41" name="Text 39"/>
          <p:cNvSpPr/>
          <p:nvPr/>
        </p:nvSpPr>
        <p:spPr>
          <a:xfrm>
            <a:off x="15745818" y="3992563"/>
            <a:ext cx="1221383" cy="215900"/>
          </a:xfrm>
          <a:prstGeom prst="rect">
            <a:avLst/>
          </a:prstGeom>
          <a:noFill/>
          <a:ln/>
        </p:spPr>
        <p:txBody>
          <a:bodyPr wrap="square" lIns="25400" tIns="25400" rIns="25400" bIns="25400" rtlCol="0" anchor="t">
            <a:normAutofit/>
          </a:bodyPr>
          <a:lstStyle/>
          <a:p>
            <a:pPr algn="l" indent="0" marL="0">
              <a:buNone/>
            </a:pPr>
            <a:r>
              <a:rPr lang="en-US" sz="1050" dirty="0">
                <a:solidFill>
                  <a:srgbClr val="384358"/>
                </a:solidFill>
                <a:latin typeface="Manrope" pitchFamily="34" charset="0"/>
                <a:ea typeface="Manrope" pitchFamily="34" charset="-122"/>
                <a:cs typeface="Manrope" pitchFamily="34" charset="-120"/>
              </a:rPr>
              <a:t>+ Add chart · Share</a:t>
            </a:r>
            <a:endParaRPr lang="en-US" sz="1050" dirty="0"/>
          </a:p>
        </p:txBody>
      </p:sp>
      <p:sp>
        <p:nvSpPr>
          <p:cNvPr id="42" name="Shape 40"/>
          <p:cNvSpPr/>
          <p:nvPr/>
        </p:nvSpPr>
        <p:spPr>
          <a:xfrm>
            <a:off x="9378950" y="4354513"/>
            <a:ext cx="7683500" cy="3460750"/>
          </a:xfrm>
          <a:prstGeom prst="rect">
            <a:avLst/>
          </a:prstGeom>
          <a:solidFill>
            <a:srgbClr val="F4F6F9"/>
          </a:solidFill>
          <a:ln/>
        </p:spPr>
      </p:sp>
      <p:sp>
        <p:nvSpPr>
          <p:cNvPr id="43" name="Shape 41"/>
          <p:cNvSpPr/>
          <p:nvPr/>
        </p:nvSpPr>
        <p:spPr>
          <a:xfrm>
            <a:off x="9378950" y="4354513"/>
            <a:ext cx="5588000" cy="3460750"/>
          </a:xfrm>
          <a:prstGeom prst="rect">
            <a:avLst/>
          </a:prstGeom>
          <a:solidFill>
            <a:srgbClr val="FFFFFF"/>
          </a:solidFill>
          <a:ln/>
        </p:spPr>
      </p:sp>
      <p:sp>
        <p:nvSpPr>
          <p:cNvPr id="44" name="Text 42"/>
          <p:cNvSpPr/>
          <p:nvPr/>
        </p:nvSpPr>
        <p:spPr>
          <a:xfrm>
            <a:off x="9550400" y="4525963"/>
            <a:ext cx="5402453" cy="177800"/>
          </a:xfrm>
          <a:prstGeom prst="rect">
            <a:avLst/>
          </a:prstGeom>
          <a:noFill/>
          <a:ln/>
        </p:spPr>
        <p:txBody>
          <a:bodyPr wrap="square" lIns="25400" tIns="25400" rIns="25400" bIns="25400" rtlCol="0" anchor="t">
            <a:normAutofit/>
          </a:bodyPr>
          <a:lstStyle/>
          <a:p>
            <a:pPr algn="l" indent="0" marL="0">
              <a:buNone/>
            </a:pPr>
            <a:r>
              <a:rPr lang="en-US" sz="825" dirty="0">
                <a:solidFill>
                  <a:srgbClr val="8B95A6"/>
                </a:solidFill>
                <a:latin typeface="JetBrains Mono" pitchFamily="34" charset="0"/>
                <a:ea typeface="JetBrains Mono" pitchFamily="34" charset="-122"/>
                <a:cs typeface="JetBrains Mono" pitchFamily="34" charset="-120"/>
              </a:rPr>
              <a:t>Revenue by month — column</a:t>
            </a:r>
            <a:endParaRPr lang="en-US" sz="825" dirty="0"/>
          </a:p>
        </p:txBody>
      </p:sp>
      <p:sp>
        <p:nvSpPr>
          <p:cNvPr id="45" name="Shape 43"/>
          <p:cNvSpPr/>
          <p:nvPr/>
        </p:nvSpPr>
        <p:spPr>
          <a:xfrm>
            <a:off x="9550400" y="6773267"/>
            <a:ext cx="605631" cy="870545"/>
          </a:xfrm>
          <a:prstGeom prst="rect">
            <a:avLst/>
          </a:prstGeom>
          <a:solidFill>
            <a:srgbClr val="4285F4"/>
          </a:solidFill>
          <a:ln/>
        </p:spPr>
      </p:sp>
      <p:sp>
        <p:nvSpPr>
          <p:cNvPr id="46" name="Shape 44"/>
          <p:cNvSpPr/>
          <p:nvPr/>
        </p:nvSpPr>
        <p:spPr>
          <a:xfrm>
            <a:off x="10213181" y="6425010"/>
            <a:ext cx="605631" cy="1218803"/>
          </a:xfrm>
          <a:prstGeom prst="rect">
            <a:avLst/>
          </a:prstGeom>
          <a:solidFill>
            <a:srgbClr val="4285F4"/>
          </a:solidFill>
          <a:ln/>
        </p:spPr>
      </p:sp>
      <p:sp>
        <p:nvSpPr>
          <p:cNvPr id="47" name="Shape 45"/>
          <p:cNvSpPr/>
          <p:nvPr/>
        </p:nvSpPr>
        <p:spPr>
          <a:xfrm>
            <a:off x="10875963" y="6047780"/>
            <a:ext cx="605631" cy="1596033"/>
          </a:xfrm>
          <a:prstGeom prst="rect">
            <a:avLst/>
          </a:prstGeom>
          <a:solidFill>
            <a:srgbClr val="4285F4"/>
          </a:solidFill>
          <a:ln/>
        </p:spPr>
      </p:sp>
      <p:sp>
        <p:nvSpPr>
          <p:cNvPr id="48" name="Shape 46"/>
          <p:cNvSpPr/>
          <p:nvPr/>
        </p:nvSpPr>
        <p:spPr>
          <a:xfrm>
            <a:off x="11538745" y="5670550"/>
            <a:ext cx="605631" cy="1973263"/>
          </a:xfrm>
          <a:prstGeom prst="rect">
            <a:avLst/>
          </a:prstGeom>
          <a:solidFill>
            <a:srgbClr val="4285F4"/>
          </a:solidFill>
          <a:ln/>
        </p:spPr>
      </p:sp>
      <p:sp>
        <p:nvSpPr>
          <p:cNvPr id="49" name="Shape 47"/>
          <p:cNvSpPr/>
          <p:nvPr/>
        </p:nvSpPr>
        <p:spPr>
          <a:xfrm>
            <a:off x="12201525" y="5380336"/>
            <a:ext cx="605631" cy="2263477"/>
          </a:xfrm>
          <a:prstGeom prst="rect">
            <a:avLst/>
          </a:prstGeom>
          <a:solidFill>
            <a:srgbClr val="4285F4"/>
          </a:solidFill>
          <a:ln/>
        </p:spPr>
      </p:sp>
      <p:sp>
        <p:nvSpPr>
          <p:cNvPr id="50" name="Shape 48"/>
          <p:cNvSpPr/>
          <p:nvPr/>
        </p:nvSpPr>
        <p:spPr>
          <a:xfrm>
            <a:off x="12864307" y="5090121"/>
            <a:ext cx="605631" cy="2553692"/>
          </a:xfrm>
          <a:prstGeom prst="rect">
            <a:avLst/>
          </a:prstGeom>
          <a:solidFill>
            <a:srgbClr val="4285F4"/>
          </a:solidFill>
          <a:ln/>
        </p:spPr>
      </p:sp>
      <p:sp>
        <p:nvSpPr>
          <p:cNvPr id="51" name="Shape 49"/>
          <p:cNvSpPr/>
          <p:nvPr/>
        </p:nvSpPr>
        <p:spPr>
          <a:xfrm>
            <a:off x="13527088" y="5467350"/>
            <a:ext cx="605631" cy="2176463"/>
          </a:xfrm>
          <a:prstGeom prst="rect">
            <a:avLst/>
          </a:prstGeom>
          <a:solidFill>
            <a:srgbClr val="4285F4"/>
          </a:solidFill>
          <a:ln/>
        </p:spPr>
      </p:sp>
      <p:sp>
        <p:nvSpPr>
          <p:cNvPr id="52" name="Shape 50"/>
          <p:cNvSpPr/>
          <p:nvPr/>
        </p:nvSpPr>
        <p:spPr>
          <a:xfrm>
            <a:off x="14189869" y="4974035"/>
            <a:ext cx="605631" cy="2669778"/>
          </a:xfrm>
          <a:prstGeom prst="rect">
            <a:avLst/>
          </a:prstGeom>
          <a:solidFill>
            <a:srgbClr val="4285F4"/>
          </a:solidFill>
          <a:ln/>
        </p:spPr>
      </p:sp>
      <p:sp>
        <p:nvSpPr>
          <p:cNvPr id="53" name="Shape 51"/>
          <p:cNvSpPr/>
          <p:nvPr/>
        </p:nvSpPr>
        <p:spPr>
          <a:xfrm>
            <a:off x="14966950" y="4354513"/>
            <a:ext cx="2095500" cy="3460750"/>
          </a:xfrm>
          <a:prstGeom prst="rect">
            <a:avLst/>
          </a:prstGeom>
          <a:solidFill>
            <a:srgbClr val="FFFFFF"/>
          </a:solidFill>
          <a:ln/>
        </p:spPr>
      </p:sp>
      <p:sp>
        <p:nvSpPr>
          <p:cNvPr id="54" name="Shape 52"/>
          <p:cNvSpPr/>
          <p:nvPr/>
        </p:nvSpPr>
        <p:spPr>
          <a:xfrm>
            <a:off x="14966950" y="4354513"/>
            <a:ext cx="9525" cy="3460750"/>
          </a:xfrm>
          <a:prstGeom prst="rect">
            <a:avLst/>
          </a:prstGeom>
          <a:solidFill>
            <a:srgbClr val="C9CFD8"/>
          </a:solidFill>
          <a:ln/>
        </p:spPr>
      </p:sp>
      <p:sp>
        <p:nvSpPr>
          <p:cNvPr id="55" name="Text 53"/>
          <p:cNvSpPr/>
          <p:nvPr/>
        </p:nvSpPr>
        <p:spPr>
          <a:xfrm>
            <a:off x="15087600" y="4468813"/>
            <a:ext cx="1936750" cy="152400"/>
          </a:xfrm>
          <a:prstGeom prst="rect">
            <a:avLst/>
          </a:prstGeom>
          <a:noFill/>
          <a:ln/>
        </p:spPr>
        <p:txBody>
          <a:bodyPr wrap="square" lIns="25400" tIns="25400" rIns="25400" bIns="25400" rtlCol="0" anchor="t">
            <a:normAutofit/>
          </a:bodyPr>
          <a:lstStyle/>
          <a:p>
            <a:pPr algn="l" indent="0" marL="0">
              <a:buNone/>
            </a:pPr>
            <a:r>
              <a:rPr lang="en-US" sz="675" spc="54" kern="0" dirty="0">
                <a:solidFill>
                  <a:srgbClr val="8B95A6"/>
                </a:solidFill>
                <a:latin typeface="JetBrains Mono" pitchFamily="34" charset="0"/>
                <a:ea typeface="JetBrains Mono" pitchFamily="34" charset="-122"/>
                <a:cs typeface="JetBrains Mono" pitchFamily="34" charset="-120"/>
              </a:rPr>
              <a:t>DATA SOURCE</a:t>
            </a:r>
            <a:endParaRPr lang="en-US" sz="675" dirty="0"/>
          </a:p>
        </p:txBody>
      </p:sp>
      <p:sp>
        <p:nvSpPr>
          <p:cNvPr id="56" name="Text 54"/>
          <p:cNvSpPr/>
          <p:nvPr/>
        </p:nvSpPr>
        <p:spPr>
          <a:xfrm>
            <a:off x="15087600" y="4640263"/>
            <a:ext cx="1936750" cy="184150"/>
          </a:xfrm>
          <a:prstGeom prst="rect">
            <a:avLst/>
          </a:prstGeom>
          <a:noFill/>
          <a:ln/>
        </p:spPr>
        <p:txBody>
          <a:bodyPr wrap="square" lIns="25400" tIns="25400" rIns="25400" bIns="25400" rtlCol="0" anchor="t">
            <a:normAutofit/>
          </a:bodyPr>
          <a:lstStyle/>
          <a:p>
            <a:pPr algn="l" indent="0" marL="0">
              <a:buNone/>
            </a:pPr>
            <a:r>
              <a:rPr lang="en-US" sz="825" b="1" dirty="0">
                <a:solidFill>
                  <a:srgbClr val="1B1F2A"/>
                </a:solidFill>
                <a:latin typeface="Manrope" pitchFamily="34" charset="0"/>
                <a:ea typeface="Manrope" pitchFamily="34" charset="-122"/>
                <a:cs typeface="Manrope" pitchFamily="34" charset="-120"/>
              </a:rPr>
              <a:t>Google Sheets · orders</a:t>
            </a:r>
            <a:endParaRPr lang="en-US" sz="825" dirty="0"/>
          </a:p>
        </p:txBody>
      </p:sp>
      <p:sp>
        <p:nvSpPr>
          <p:cNvPr id="57" name="Text 55"/>
          <p:cNvSpPr/>
          <p:nvPr/>
        </p:nvSpPr>
        <p:spPr>
          <a:xfrm>
            <a:off x="15087600" y="4862513"/>
            <a:ext cx="1936750" cy="152400"/>
          </a:xfrm>
          <a:prstGeom prst="rect">
            <a:avLst/>
          </a:prstGeom>
          <a:noFill/>
          <a:ln/>
        </p:spPr>
        <p:txBody>
          <a:bodyPr wrap="square" lIns="25400" tIns="25400" rIns="25400" bIns="25400" rtlCol="0" anchor="t">
            <a:normAutofit/>
          </a:bodyPr>
          <a:lstStyle/>
          <a:p>
            <a:pPr algn="l" indent="0" marL="0">
              <a:buNone/>
            </a:pPr>
            <a:r>
              <a:rPr lang="en-US" sz="675" spc="54" kern="0" dirty="0">
                <a:solidFill>
                  <a:srgbClr val="8B95A6"/>
                </a:solidFill>
                <a:latin typeface="JetBrains Mono" pitchFamily="34" charset="0"/>
                <a:ea typeface="JetBrains Mono" pitchFamily="34" charset="-122"/>
                <a:cs typeface="JetBrains Mono" pitchFamily="34" charset="-120"/>
              </a:rPr>
              <a:t>DIMENSION</a:t>
            </a:r>
            <a:endParaRPr lang="en-US" sz="675" dirty="0"/>
          </a:p>
        </p:txBody>
      </p:sp>
      <p:sp>
        <p:nvSpPr>
          <p:cNvPr id="58" name="Shape 56"/>
          <p:cNvSpPr/>
          <p:nvPr/>
        </p:nvSpPr>
        <p:spPr>
          <a:xfrm>
            <a:off x="15087600" y="5014913"/>
            <a:ext cx="1860550" cy="279400"/>
          </a:xfrm>
          <a:prstGeom prst="roundRect">
            <a:avLst>
              <a:gd name="adj" fmla="val 13636"/>
            </a:avLst>
          </a:prstGeom>
          <a:solidFill>
            <a:srgbClr val="F1F2F4"/>
          </a:solidFill>
          <a:ln/>
        </p:spPr>
      </p:sp>
      <p:sp>
        <p:nvSpPr>
          <p:cNvPr id="59" name="Text 57"/>
          <p:cNvSpPr/>
          <p:nvPr/>
        </p:nvSpPr>
        <p:spPr>
          <a:xfrm>
            <a:off x="15163800" y="5072063"/>
            <a:ext cx="1784350" cy="203200"/>
          </a:xfrm>
          <a:prstGeom prst="rect">
            <a:avLst/>
          </a:prstGeom>
          <a:noFill/>
          <a:ln/>
        </p:spPr>
        <p:txBody>
          <a:bodyPr wrap="square" lIns="25400" tIns="25400" rIns="25400" bIns="25400" rtlCol="0" anchor="t">
            <a:normAutofit/>
          </a:bodyPr>
          <a:lstStyle/>
          <a:p>
            <a:pPr algn="l" indent="0" marL="0">
              <a:buNone/>
            </a:pPr>
            <a:r>
              <a:rPr lang="en-US" sz="825" dirty="0">
                <a:solidFill>
                  <a:srgbClr val="384358"/>
                </a:solidFill>
                <a:latin typeface="Manrope" pitchFamily="34" charset="0"/>
                <a:ea typeface="Manrope" pitchFamily="34" charset="-122"/>
                <a:cs typeface="Manrope" pitchFamily="34" charset="-120"/>
              </a:rPr>
              <a:t>📅 created_month</a:t>
            </a:r>
            <a:endParaRPr lang="en-US" sz="825" dirty="0"/>
          </a:p>
        </p:txBody>
      </p:sp>
      <p:sp>
        <p:nvSpPr>
          <p:cNvPr id="60" name="Text 58"/>
          <p:cNvSpPr/>
          <p:nvPr/>
        </p:nvSpPr>
        <p:spPr>
          <a:xfrm>
            <a:off x="15087600" y="5370513"/>
            <a:ext cx="1936750" cy="152400"/>
          </a:xfrm>
          <a:prstGeom prst="rect">
            <a:avLst/>
          </a:prstGeom>
          <a:noFill/>
          <a:ln/>
        </p:spPr>
        <p:txBody>
          <a:bodyPr wrap="square" lIns="25400" tIns="25400" rIns="25400" bIns="25400" rtlCol="0" anchor="t">
            <a:normAutofit/>
          </a:bodyPr>
          <a:lstStyle/>
          <a:p>
            <a:pPr algn="l" indent="0" marL="0">
              <a:buNone/>
            </a:pPr>
            <a:r>
              <a:rPr lang="en-US" sz="675" spc="54" kern="0" dirty="0">
                <a:solidFill>
                  <a:srgbClr val="8B95A6"/>
                </a:solidFill>
                <a:latin typeface="JetBrains Mono" pitchFamily="34" charset="0"/>
                <a:ea typeface="JetBrains Mono" pitchFamily="34" charset="-122"/>
                <a:cs typeface="JetBrains Mono" pitchFamily="34" charset="-120"/>
              </a:rPr>
              <a:t>METRIC</a:t>
            </a:r>
            <a:endParaRPr lang="en-US" sz="675" dirty="0"/>
          </a:p>
        </p:txBody>
      </p:sp>
      <p:sp>
        <p:nvSpPr>
          <p:cNvPr id="61" name="Shape 59"/>
          <p:cNvSpPr/>
          <p:nvPr/>
        </p:nvSpPr>
        <p:spPr>
          <a:xfrm>
            <a:off x="15087600" y="5522913"/>
            <a:ext cx="1860550" cy="260350"/>
          </a:xfrm>
          <a:prstGeom prst="roundRect">
            <a:avLst>
              <a:gd name="adj" fmla="val 14634"/>
            </a:avLst>
          </a:prstGeom>
          <a:solidFill>
            <a:srgbClr val="F1F2F4"/>
          </a:solidFill>
          <a:ln/>
        </p:spPr>
      </p:sp>
      <p:sp>
        <p:nvSpPr>
          <p:cNvPr id="62" name="Text 60"/>
          <p:cNvSpPr/>
          <p:nvPr/>
        </p:nvSpPr>
        <p:spPr>
          <a:xfrm>
            <a:off x="15163800" y="5580063"/>
            <a:ext cx="1784350" cy="184150"/>
          </a:xfrm>
          <a:prstGeom prst="rect">
            <a:avLst/>
          </a:prstGeom>
          <a:noFill/>
          <a:ln/>
        </p:spPr>
        <p:txBody>
          <a:bodyPr wrap="square" lIns="25400" tIns="25400" rIns="25400" bIns="25400" rtlCol="0" anchor="t">
            <a:normAutofit/>
          </a:bodyPr>
          <a:lstStyle/>
          <a:p>
            <a:pPr algn="l" indent="0" marL="0">
              <a:buNone/>
            </a:pPr>
            <a:r>
              <a:rPr lang="en-US" sz="825" dirty="0">
                <a:solidFill>
                  <a:srgbClr val="384358"/>
                </a:solidFill>
                <a:latin typeface="Manrope" pitchFamily="34" charset="0"/>
                <a:ea typeface="Manrope" pitchFamily="34" charset="-122"/>
                <a:cs typeface="Manrope" pitchFamily="34" charset="-120"/>
              </a:rPr>
              <a:t>Σ amount</a:t>
            </a:r>
            <a:endParaRPr lang="en-US" sz="825" dirty="0"/>
          </a:p>
        </p:txBody>
      </p:sp>
      <p:sp>
        <p:nvSpPr>
          <p:cNvPr id="63" name="Text 61"/>
          <p:cNvSpPr/>
          <p:nvPr/>
        </p:nvSpPr>
        <p:spPr>
          <a:xfrm>
            <a:off x="15087600" y="5859463"/>
            <a:ext cx="1936750" cy="152400"/>
          </a:xfrm>
          <a:prstGeom prst="rect">
            <a:avLst/>
          </a:prstGeom>
          <a:noFill/>
          <a:ln/>
        </p:spPr>
        <p:txBody>
          <a:bodyPr wrap="square" lIns="25400" tIns="25400" rIns="25400" bIns="25400" rtlCol="0" anchor="t">
            <a:normAutofit/>
          </a:bodyPr>
          <a:lstStyle/>
          <a:p>
            <a:pPr algn="l" indent="0" marL="0">
              <a:buNone/>
            </a:pPr>
            <a:r>
              <a:rPr lang="en-US" sz="675" spc="54" kern="0" dirty="0">
                <a:solidFill>
                  <a:srgbClr val="8B95A6"/>
                </a:solidFill>
                <a:latin typeface="JetBrains Mono" pitchFamily="34" charset="0"/>
                <a:ea typeface="JetBrains Mono" pitchFamily="34" charset="-122"/>
                <a:cs typeface="JetBrains Mono" pitchFamily="34" charset="-120"/>
              </a:rPr>
              <a:t>FILTER</a:t>
            </a:r>
            <a:endParaRPr lang="en-US" sz="675" dirty="0"/>
          </a:p>
        </p:txBody>
      </p:sp>
      <p:sp>
        <p:nvSpPr>
          <p:cNvPr id="64" name="Shape 62"/>
          <p:cNvSpPr/>
          <p:nvPr/>
        </p:nvSpPr>
        <p:spPr>
          <a:xfrm>
            <a:off x="15087600" y="6011863"/>
            <a:ext cx="1860550" cy="260350"/>
          </a:xfrm>
          <a:prstGeom prst="roundRect">
            <a:avLst>
              <a:gd name="adj" fmla="val 14634"/>
            </a:avLst>
          </a:prstGeom>
          <a:solidFill>
            <a:srgbClr val="F1F2F4"/>
          </a:solidFill>
          <a:ln/>
        </p:spPr>
      </p:sp>
      <p:sp>
        <p:nvSpPr>
          <p:cNvPr id="65" name="Text 63"/>
          <p:cNvSpPr/>
          <p:nvPr/>
        </p:nvSpPr>
        <p:spPr>
          <a:xfrm>
            <a:off x="15163800" y="6069013"/>
            <a:ext cx="1784350" cy="184150"/>
          </a:xfrm>
          <a:prstGeom prst="rect">
            <a:avLst/>
          </a:prstGeom>
          <a:noFill/>
          <a:ln/>
        </p:spPr>
        <p:txBody>
          <a:bodyPr wrap="square" lIns="25400" tIns="25400" rIns="25400" bIns="25400" rtlCol="0" anchor="t">
            <a:normAutofit/>
          </a:bodyPr>
          <a:lstStyle/>
          <a:p>
            <a:pPr algn="l" indent="0" marL="0">
              <a:buNone/>
            </a:pPr>
            <a:r>
              <a:rPr lang="en-US" sz="825" dirty="0">
                <a:solidFill>
                  <a:srgbClr val="384358"/>
                </a:solidFill>
                <a:latin typeface="Manrope" pitchFamily="34" charset="0"/>
                <a:ea typeface="Manrope" pitchFamily="34" charset="-122"/>
                <a:cs typeface="Manrope" pitchFamily="34" charset="-120"/>
              </a:rPr>
              <a:t>status = 'complete'</a:t>
            </a:r>
            <a:endParaRPr lang="en-US" sz="825" dirty="0"/>
          </a:p>
        </p:txBody>
      </p:sp>
      <p:sp>
        <p:nvSpPr>
          <p:cNvPr id="66" name="Text 64"/>
          <p:cNvSpPr/>
          <p:nvPr/>
        </p:nvSpPr>
        <p:spPr>
          <a:xfrm>
            <a:off x="9372600" y="7954963"/>
            <a:ext cx="7927086" cy="438150"/>
          </a:xfrm>
          <a:prstGeom prst="rect">
            <a:avLst/>
          </a:prstGeom>
          <a:noFill/>
          <a:ln/>
        </p:spPr>
        <p:txBody>
          <a:bodyPr wrap="square" lIns="25400" tIns="25400" rIns="25400" bIns="25400" rtlCol="0" anchor="t">
            <a:normAutofit/>
          </a:bodyPr>
          <a:lstStyle/>
          <a:p>
            <a:pPr algn="l" indent="0" marL="0">
              <a:lnSpc>
                <a:spcPct val="150000"/>
              </a:lnSpc>
              <a:buNone/>
            </a:pPr>
            <a:r>
              <a:rPr lang="en-US" sz="1050" b="1" dirty="0">
                <a:solidFill>
                  <a:srgbClr val="1B1F2A"/>
                </a:solidFill>
                <a:latin typeface="Manrope" pitchFamily="34" charset="0"/>
                <a:ea typeface="Manrope" pitchFamily="34" charset="-122"/>
                <a:cs typeface="Manrope" pitchFamily="34" charset="-120"/>
              </a:rPr>
              <a:t>Looker Studio. </a:t>
            </a:r>
            <a:pPr algn="l" indent="0" marL="0">
              <a:lnSpc>
                <a:spcPct val="150000"/>
              </a:lnSpc>
              <a:buNone/>
            </a:pPr>
            <a:r>
              <a:rPr lang="en-US" sz="1050" dirty="0">
                <a:solidFill>
                  <a:srgbClr val="384358"/>
                </a:solidFill>
                <a:latin typeface="Manrope" pitchFamily="34" charset="0"/>
                <a:ea typeface="Manrope" pitchFamily="34" charset="-122"/>
                <a:cs typeface="Manrope" pitchFamily="34" charset="-120"/>
              </a:rPr>
              <a:t>Right-rail data panel — fields are defined per-chart against the source. No shared model; the next chart starts from scratch.</a:t>
            </a:r>
            <a:endParaRPr lang="en-US" sz="1050" dirty="0"/>
          </a:p>
        </p:txBody>
      </p:sp>
      <p:sp>
        <p:nvSpPr>
          <p:cNvPr id="67" name="Text 65"/>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8" name="Text 66"/>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57 / 60</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CHEAT SHEET</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CHEAT SHEET</a:t>
            </a:r>
            <a:endParaRPr lang="en-US" sz="1350" dirty="0"/>
          </a:p>
        </p:txBody>
      </p:sp>
      <p:sp>
        <p:nvSpPr>
          <p:cNvPr id="7" name="Text 5"/>
          <p:cNvSpPr/>
          <p:nvPr/>
        </p:nvSpPr>
        <p:spPr>
          <a:xfrm>
            <a:off x="1219200" y="2178050"/>
            <a:ext cx="16325088" cy="1592461"/>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Everything that matters, on one slide.</a:t>
            </a:r>
            <a:endParaRPr lang="en-US" sz="6000" dirty="0"/>
          </a:p>
        </p:txBody>
      </p:sp>
      <p:sp>
        <p:nvSpPr>
          <p:cNvPr id="8" name="Text 6"/>
          <p:cNvSpPr/>
          <p:nvPr/>
        </p:nvSpPr>
        <p:spPr>
          <a:xfrm>
            <a:off x="1219200" y="3903861"/>
            <a:ext cx="14716125" cy="34190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Save the link. The fifteen lines below answer 80% of the Looker questions on the Associate Data Practitioner exam.</a:t>
            </a:r>
            <a:endParaRPr lang="en-US" sz="1650" dirty="0"/>
          </a:p>
        </p:txBody>
      </p:sp>
      <p:sp>
        <p:nvSpPr>
          <p:cNvPr id="9" name="Shape 7"/>
          <p:cNvSpPr/>
          <p:nvPr/>
        </p:nvSpPr>
        <p:spPr>
          <a:xfrm>
            <a:off x="1219200" y="4741069"/>
            <a:ext cx="7772400" cy="6001544"/>
          </a:xfrm>
          <a:prstGeom prst="roundRect">
            <a:avLst>
              <a:gd name="adj" fmla="val 2222"/>
            </a:avLst>
          </a:prstGeom>
          <a:solidFill>
            <a:srgbClr val="F1F2F4"/>
          </a:solidFill>
          <a:ln w="6350">
            <a:solidFill>
              <a:srgbClr val="C9CFD8"/>
            </a:solidFill>
            <a:prstDash val="solid"/>
          </a:ln>
        </p:spPr>
      </p:sp>
      <p:sp>
        <p:nvSpPr>
          <p:cNvPr id="10" name="Text 8"/>
          <p:cNvSpPr/>
          <p:nvPr/>
        </p:nvSpPr>
        <p:spPr>
          <a:xfrm>
            <a:off x="1530350" y="5052219"/>
            <a:ext cx="7364603"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VOCABULARY</a:t>
            </a:r>
            <a:endParaRPr lang="en-US" sz="900" dirty="0"/>
          </a:p>
        </p:txBody>
      </p:sp>
      <p:sp>
        <p:nvSpPr>
          <p:cNvPr id="11" name="Shape 9"/>
          <p:cNvSpPr/>
          <p:nvPr/>
        </p:nvSpPr>
        <p:spPr>
          <a:xfrm>
            <a:off x="1530350" y="5846862"/>
            <a:ext cx="7150100" cy="9525"/>
          </a:xfrm>
          <a:prstGeom prst="rect">
            <a:avLst/>
          </a:prstGeom>
          <a:solidFill>
            <a:srgbClr val="C9CFD8"/>
          </a:solidFill>
          <a:ln/>
        </p:spPr>
      </p:sp>
      <p:sp>
        <p:nvSpPr>
          <p:cNvPr id="12" name="Text 10"/>
          <p:cNvSpPr/>
          <p:nvPr/>
        </p:nvSpPr>
        <p:spPr>
          <a:xfrm>
            <a:off x="1530350" y="5528469"/>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MODEL</a:t>
            </a:r>
            <a:endParaRPr lang="en-US" sz="975" dirty="0"/>
          </a:p>
        </p:txBody>
      </p:sp>
      <p:sp>
        <p:nvSpPr>
          <p:cNvPr id="13" name="Text 11"/>
          <p:cNvSpPr/>
          <p:nvPr/>
        </p:nvSpPr>
        <p:spPr>
          <a:xfrm>
            <a:off x="3568700" y="5464969"/>
            <a:ext cx="292523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LookML file: views + joins + Explores.</a:t>
            </a:r>
            <a:endParaRPr lang="en-US" sz="1350" dirty="0"/>
          </a:p>
        </p:txBody>
      </p:sp>
      <p:sp>
        <p:nvSpPr>
          <p:cNvPr id="14" name="Shape 12"/>
          <p:cNvSpPr/>
          <p:nvPr/>
        </p:nvSpPr>
        <p:spPr>
          <a:xfrm>
            <a:off x="1530350" y="6501805"/>
            <a:ext cx="7150100" cy="9525"/>
          </a:xfrm>
          <a:prstGeom prst="rect">
            <a:avLst/>
          </a:prstGeom>
          <a:solidFill>
            <a:srgbClr val="C9CFD8"/>
          </a:solidFill>
          <a:ln/>
        </p:spPr>
      </p:sp>
      <p:sp>
        <p:nvSpPr>
          <p:cNvPr id="15" name="Text 13"/>
          <p:cNvSpPr/>
          <p:nvPr/>
        </p:nvSpPr>
        <p:spPr>
          <a:xfrm>
            <a:off x="1530350" y="6183412"/>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VIEW</a:t>
            </a:r>
            <a:endParaRPr lang="en-US" sz="975" dirty="0"/>
          </a:p>
        </p:txBody>
      </p:sp>
      <p:sp>
        <p:nvSpPr>
          <p:cNvPr id="16" name="Text 14"/>
          <p:cNvSpPr/>
          <p:nvPr/>
        </p:nvSpPr>
        <p:spPr>
          <a:xfrm>
            <a:off x="3568700" y="6119912"/>
            <a:ext cx="284889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One table; dimensions &amp; measures.</a:t>
            </a:r>
            <a:endParaRPr lang="en-US" sz="1350" dirty="0"/>
          </a:p>
        </p:txBody>
      </p:sp>
      <p:sp>
        <p:nvSpPr>
          <p:cNvPr id="17" name="Shape 15"/>
          <p:cNvSpPr/>
          <p:nvPr/>
        </p:nvSpPr>
        <p:spPr>
          <a:xfrm>
            <a:off x="1530350" y="7156748"/>
            <a:ext cx="7150100" cy="9525"/>
          </a:xfrm>
          <a:prstGeom prst="rect">
            <a:avLst/>
          </a:prstGeom>
          <a:solidFill>
            <a:srgbClr val="C9CFD8"/>
          </a:solidFill>
          <a:ln/>
        </p:spPr>
      </p:sp>
      <p:sp>
        <p:nvSpPr>
          <p:cNvPr id="18" name="Text 16"/>
          <p:cNvSpPr/>
          <p:nvPr/>
        </p:nvSpPr>
        <p:spPr>
          <a:xfrm>
            <a:off x="1530350" y="6838355"/>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EXPLORE</a:t>
            </a:r>
            <a:endParaRPr lang="en-US" sz="975" dirty="0"/>
          </a:p>
        </p:txBody>
      </p:sp>
      <p:sp>
        <p:nvSpPr>
          <p:cNvPr id="19" name="Text 17"/>
          <p:cNvSpPr/>
          <p:nvPr/>
        </p:nvSpPr>
        <p:spPr>
          <a:xfrm>
            <a:off x="3568700" y="6774855"/>
            <a:ext cx="3028354"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Query surface — a joined set of views.</a:t>
            </a:r>
            <a:endParaRPr lang="en-US" sz="1350" dirty="0"/>
          </a:p>
        </p:txBody>
      </p:sp>
      <p:sp>
        <p:nvSpPr>
          <p:cNvPr id="20" name="Shape 18"/>
          <p:cNvSpPr/>
          <p:nvPr/>
        </p:nvSpPr>
        <p:spPr>
          <a:xfrm>
            <a:off x="1530350" y="7811691"/>
            <a:ext cx="7150100" cy="9525"/>
          </a:xfrm>
          <a:prstGeom prst="rect">
            <a:avLst/>
          </a:prstGeom>
          <a:solidFill>
            <a:srgbClr val="C9CFD8"/>
          </a:solidFill>
          <a:ln/>
        </p:spPr>
      </p:sp>
      <p:sp>
        <p:nvSpPr>
          <p:cNvPr id="21" name="Text 19"/>
          <p:cNvSpPr/>
          <p:nvPr/>
        </p:nvSpPr>
        <p:spPr>
          <a:xfrm>
            <a:off x="1530350" y="7493298"/>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LOOK</a:t>
            </a:r>
            <a:endParaRPr lang="en-US" sz="975" dirty="0"/>
          </a:p>
        </p:txBody>
      </p:sp>
      <p:sp>
        <p:nvSpPr>
          <p:cNvPr id="22" name="Text 20"/>
          <p:cNvSpPr/>
          <p:nvPr/>
        </p:nvSpPr>
        <p:spPr>
          <a:xfrm>
            <a:off x="3568700" y="7429798"/>
            <a:ext cx="2879660"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Saved Explore query + visualization.</a:t>
            </a:r>
            <a:endParaRPr lang="en-US" sz="1350" dirty="0"/>
          </a:p>
        </p:txBody>
      </p:sp>
      <p:sp>
        <p:nvSpPr>
          <p:cNvPr id="23" name="Shape 21"/>
          <p:cNvSpPr/>
          <p:nvPr/>
        </p:nvSpPr>
        <p:spPr>
          <a:xfrm>
            <a:off x="1530350" y="8466634"/>
            <a:ext cx="7150100" cy="9525"/>
          </a:xfrm>
          <a:prstGeom prst="rect">
            <a:avLst/>
          </a:prstGeom>
          <a:solidFill>
            <a:srgbClr val="C9CFD8"/>
          </a:solidFill>
          <a:ln/>
        </p:spPr>
      </p:sp>
      <p:sp>
        <p:nvSpPr>
          <p:cNvPr id="24" name="Text 22"/>
          <p:cNvSpPr/>
          <p:nvPr/>
        </p:nvSpPr>
        <p:spPr>
          <a:xfrm>
            <a:off x="1530350" y="8148241"/>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DASHBOARD</a:t>
            </a:r>
            <a:endParaRPr lang="en-US" sz="975" dirty="0"/>
          </a:p>
        </p:txBody>
      </p:sp>
      <p:sp>
        <p:nvSpPr>
          <p:cNvPr id="25" name="Text 23"/>
          <p:cNvSpPr/>
          <p:nvPr/>
        </p:nvSpPr>
        <p:spPr>
          <a:xfrm>
            <a:off x="3568700" y="8084741"/>
            <a:ext cx="2731170"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Canvas of tiles with shared filters.</a:t>
            </a:r>
            <a:endParaRPr lang="en-US" sz="1350" dirty="0"/>
          </a:p>
        </p:txBody>
      </p:sp>
      <p:sp>
        <p:nvSpPr>
          <p:cNvPr id="26" name="Shape 24"/>
          <p:cNvSpPr/>
          <p:nvPr/>
        </p:nvSpPr>
        <p:spPr>
          <a:xfrm>
            <a:off x="1530350" y="9121577"/>
            <a:ext cx="7150100" cy="9525"/>
          </a:xfrm>
          <a:prstGeom prst="rect">
            <a:avLst/>
          </a:prstGeom>
          <a:solidFill>
            <a:srgbClr val="C9CFD8"/>
          </a:solidFill>
          <a:ln/>
        </p:spPr>
      </p:sp>
      <p:sp>
        <p:nvSpPr>
          <p:cNvPr id="27" name="Text 25"/>
          <p:cNvSpPr/>
          <p:nvPr/>
        </p:nvSpPr>
        <p:spPr>
          <a:xfrm>
            <a:off x="1530350" y="880318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TILE</a:t>
            </a:r>
            <a:endParaRPr lang="en-US" sz="975" dirty="0"/>
          </a:p>
        </p:txBody>
      </p:sp>
      <p:sp>
        <p:nvSpPr>
          <p:cNvPr id="28" name="Text 26"/>
          <p:cNvSpPr/>
          <p:nvPr/>
        </p:nvSpPr>
        <p:spPr>
          <a:xfrm>
            <a:off x="3568700" y="8739684"/>
            <a:ext cx="3386446"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One chart, text, or button on a dashboard.</a:t>
            </a:r>
            <a:endParaRPr lang="en-US" sz="1350" dirty="0"/>
          </a:p>
        </p:txBody>
      </p:sp>
      <p:sp>
        <p:nvSpPr>
          <p:cNvPr id="29" name="Shape 27"/>
          <p:cNvSpPr/>
          <p:nvPr/>
        </p:nvSpPr>
        <p:spPr>
          <a:xfrm>
            <a:off x="1530350" y="9776520"/>
            <a:ext cx="7150100" cy="9525"/>
          </a:xfrm>
          <a:prstGeom prst="rect">
            <a:avLst/>
          </a:prstGeom>
          <a:solidFill>
            <a:srgbClr val="C9CFD8"/>
          </a:solidFill>
          <a:ln/>
        </p:spPr>
      </p:sp>
      <p:sp>
        <p:nvSpPr>
          <p:cNvPr id="30" name="Text 28"/>
          <p:cNvSpPr/>
          <p:nvPr/>
        </p:nvSpPr>
        <p:spPr>
          <a:xfrm>
            <a:off x="1530350" y="945812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FOLDER</a:t>
            </a:r>
            <a:endParaRPr lang="en-US" sz="975" dirty="0"/>
          </a:p>
        </p:txBody>
      </p:sp>
      <p:sp>
        <p:nvSpPr>
          <p:cNvPr id="31" name="Text 29"/>
          <p:cNvSpPr/>
          <p:nvPr/>
        </p:nvSpPr>
        <p:spPr>
          <a:xfrm>
            <a:off x="3568700" y="9394627"/>
            <a:ext cx="228590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Container with permissions.</a:t>
            </a:r>
            <a:endParaRPr lang="en-US" sz="1350" dirty="0"/>
          </a:p>
        </p:txBody>
      </p:sp>
      <p:sp>
        <p:nvSpPr>
          <p:cNvPr id="32" name="Text 30"/>
          <p:cNvSpPr/>
          <p:nvPr/>
        </p:nvSpPr>
        <p:spPr>
          <a:xfrm>
            <a:off x="1530350" y="10113070"/>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SCHEDULE</a:t>
            </a:r>
            <a:endParaRPr lang="en-US" sz="975" dirty="0"/>
          </a:p>
        </p:txBody>
      </p:sp>
      <p:sp>
        <p:nvSpPr>
          <p:cNvPr id="33" name="Text 31"/>
          <p:cNvSpPr/>
          <p:nvPr/>
        </p:nvSpPr>
        <p:spPr>
          <a:xfrm>
            <a:off x="3568700" y="10049570"/>
            <a:ext cx="324051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Email/Slack/webhook delivery on a cron.</a:t>
            </a:r>
            <a:endParaRPr lang="en-US" sz="1350" dirty="0"/>
          </a:p>
        </p:txBody>
      </p:sp>
      <p:sp>
        <p:nvSpPr>
          <p:cNvPr id="34" name="Shape 32"/>
          <p:cNvSpPr/>
          <p:nvPr/>
        </p:nvSpPr>
        <p:spPr>
          <a:xfrm>
            <a:off x="9296400" y="4741069"/>
            <a:ext cx="7772400" cy="6001544"/>
          </a:xfrm>
          <a:prstGeom prst="roundRect">
            <a:avLst>
              <a:gd name="adj" fmla="val 2222"/>
            </a:avLst>
          </a:prstGeom>
          <a:solidFill>
            <a:srgbClr val="F1F2F4"/>
          </a:solidFill>
          <a:ln w="6350">
            <a:solidFill>
              <a:srgbClr val="C9CFD8"/>
            </a:solidFill>
            <a:prstDash val="solid"/>
          </a:ln>
        </p:spPr>
      </p:sp>
      <p:sp>
        <p:nvSpPr>
          <p:cNvPr id="35" name="Text 33"/>
          <p:cNvSpPr/>
          <p:nvPr/>
        </p:nvSpPr>
        <p:spPr>
          <a:xfrm>
            <a:off x="9607550" y="5052219"/>
            <a:ext cx="7364603"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LOOKML PARAMETERS</a:t>
            </a:r>
            <a:endParaRPr lang="en-US" sz="900" dirty="0"/>
          </a:p>
        </p:txBody>
      </p:sp>
      <p:sp>
        <p:nvSpPr>
          <p:cNvPr id="36" name="Shape 34"/>
          <p:cNvSpPr/>
          <p:nvPr/>
        </p:nvSpPr>
        <p:spPr>
          <a:xfrm>
            <a:off x="9607550" y="5846862"/>
            <a:ext cx="7150100" cy="9525"/>
          </a:xfrm>
          <a:prstGeom prst="rect">
            <a:avLst/>
          </a:prstGeom>
          <a:solidFill>
            <a:srgbClr val="C9CFD8"/>
          </a:solidFill>
          <a:ln/>
        </p:spPr>
      </p:sp>
      <p:sp>
        <p:nvSpPr>
          <p:cNvPr id="37" name="Text 35"/>
          <p:cNvSpPr/>
          <p:nvPr/>
        </p:nvSpPr>
        <p:spPr>
          <a:xfrm>
            <a:off x="9607550" y="5528469"/>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TYPE</a:t>
            </a:r>
            <a:endParaRPr lang="en-US" sz="975" dirty="0"/>
          </a:p>
        </p:txBody>
      </p:sp>
      <p:sp>
        <p:nvSpPr>
          <p:cNvPr id="38" name="Text 36"/>
          <p:cNvSpPr/>
          <p:nvPr/>
        </p:nvSpPr>
        <p:spPr>
          <a:xfrm>
            <a:off x="11645901" y="5464969"/>
            <a:ext cx="2814459"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number, string, date, sum, count, …</a:t>
            </a:r>
            <a:endParaRPr lang="en-US" sz="1350" dirty="0"/>
          </a:p>
        </p:txBody>
      </p:sp>
      <p:sp>
        <p:nvSpPr>
          <p:cNvPr id="39" name="Shape 37"/>
          <p:cNvSpPr/>
          <p:nvPr/>
        </p:nvSpPr>
        <p:spPr>
          <a:xfrm>
            <a:off x="9607550" y="6501805"/>
            <a:ext cx="7150100" cy="9525"/>
          </a:xfrm>
          <a:prstGeom prst="rect">
            <a:avLst/>
          </a:prstGeom>
          <a:solidFill>
            <a:srgbClr val="C9CFD8"/>
          </a:solidFill>
          <a:ln/>
        </p:spPr>
      </p:sp>
      <p:sp>
        <p:nvSpPr>
          <p:cNvPr id="40" name="Text 38"/>
          <p:cNvSpPr/>
          <p:nvPr/>
        </p:nvSpPr>
        <p:spPr>
          <a:xfrm>
            <a:off x="9607550" y="6183412"/>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SQL</a:t>
            </a:r>
            <a:endParaRPr lang="en-US" sz="975" dirty="0"/>
          </a:p>
        </p:txBody>
      </p:sp>
      <p:sp>
        <p:nvSpPr>
          <p:cNvPr id="41" name="Text 39"/>
          <p:cNvSpPr/>
          <p:nvPr/>
        </p:nvSpPr>
        <p:spPr>
          <a:xfrm>
            <a:off x="11645901" y="6119912"/>
            <a:ext cx="2399705"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SQL expression — ends with ;;</a:t>
            </a:r>
            <a:endParaRPr lang="en-US" sz="1350" dirty="0"/>
          </a:p>
        </p:txBody>
      </p:sp>
      <p:sp>
        <p:nvSpPr>
          <p:cNvPr id="42" name="Shape 40"/>
          <p:cNvSpPr/>
          <p:nvPr/>
        </p:nvSpPr>
        <p:spPr>
          <a:xfrm>
            <a:off x="9607550" y="7156748"/>
            <a:ext cx="7150100" cy="9525"/>
          </a:xfrm>
          <a:prstGeom prst="rect">
            <a:avLst/>
          </a:prstGeom>
          <a:solidFill>
            <a:srgbClr val="C9CFD8"/>
          </a:solidFill>
          <a:ln/>
        </p:spPr>
      </p:sp>
      <p:sp>
        <p:nvSpPr>
          <p:cNvPr id="43" name="Text 41"/>
          <p:cNvSpPr/>
          <p:nvPr/>
        </p:nvSpPr>
        <p:spPr>
          <a:xfrm>
            <a:off x="9607550" y="6838355"/>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LABEL</a:t>
            </a:r>
            <a:endParaRPr lang="en-US" sz="975" dirty="0"/>
          </a:p>
        </p:txBody>
      </p:sp>
      <p:sp>
        <p:nvSpPr>
          <p:cNvPr id="44" name="Text 42"/>
          <p:cNvSpPr/>
          <p:nvPr/>
        </p:nvSpPr>
        <p:spPr>
          <a:xfrm>
            <a:off x="11645901" y="6774855"/>
            <a:ext cx="1159867"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Display name.</a:t>
            </a:r>
            <a:endParaRPr lang="en-US" sz="1350" dirty="0"/>
          </a:p>
        </p:txBody>
      </p:sp>
      <p:sp>
        <p:nvSpPr>
          <p:cNvPr id="45" name="Shape 43"/>
          <p:cNvSpPr/>
          <p:nvPr/>
        </p:nvSpPr>
        <p:spPr>
          <a:xfrm>
            <a:off x="9607550" y="7811691"/>
            <a:ext cx="7150100" cy="9525"/>
          </a:xfrm>
          <a:prstGeom prst="rect">
            <a:avLst/>
          </a:prstGeom>
          <a:solidFill>
            <a:srgbClr val="C9CFD8"/>
          </a:solidFill>
          <a:ln/>
        </p:spPr>
      </p:sp>
      <p:sp>
        <p:nvSpPr>
          <p:cNvPr id="46" name="Text 44"/>
          <p:cNvSpPr/>
          <p:nvPr/>
        </p:nvSpPr>
        <p:spPr>
          <a:xfrm>
            <a:off x="9607550" y="7493298"/>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HIDDEN</a:t>
            </a:r>
            <a:endParaRPr lang="en-US" sz="975" dirty="0"/>
          </a:p>
        </p:txBody>
      </p:sp>
      <p:sp>
        <p:nvSpPr>
          <p:cNvPr id="47" name="Text 45"/>
          <p:cNvSpPr/>
          <p:nvPr/>
        </p:nvSpPr>
        <p:spPr>
          <a:xfrm>
            <a:off x="11645901" y="7429798"/>
            <a:ext cx="203686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yes / no — show in picker.</a:t>
            </a:r>
            <a:endParaRPr lang="en-US" sz="1350" dirty="0"/>
          </a:p>
        </p:txBody>
      </p:sp>
      <p:sp>
        <p:nvSpPr>
          <p:cNvPr id="48" name="Shape 46"/>
          <p:cNvSpPr/>
          <p:nvPr/>
        </p:nvSpPr>
        <p:spPr>
          <a:xfrm>
            <a:off x="9607550" y="8466634"/>
            <a:ext cx="7150100" cy="9525"/>
          </a:xfrm>
          <a:prstGeom prst="rect">
            <a:avLst/>
          </a:prstGeom>
          <a:solidFill>
            <a:srgbClr val="C9CFD8"/>
          </a:solidFill>
          <a:ln/>
        </p:spPr>
      </p:sp>
      <p:sp>
        <p:nvSpPr>
          <p:cNvPr id="49" name="Text 47"/>
          <p:cNvSpPr/>
          <p:nvPr/>
        </p:nvSpPr>
        <p:spPr>
          <a:xfrm>
            <a:off x="9607550" y="8148241"/>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VALUE_FORMAT</a:t>
            </a:r>
            <a:endParaRPr lang="en-US" sz="975" dirty="0"/>
          </a:p>
        </p:txBody>
      </p:sp>
      <p:sp>
        <p:nvSpPr>
          <p:cNvPr id="50" name="Text 48"/>
          <p:cNvSpPr/>
          <p:nvPr/>
        </p:nvSpPr>
        <p:spPr>
          <a:xfrm>
            <a:off x="11645901" y="8084741"/>
            <a:ext cx="2058194"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Excel-style format string.</a:t>
            </a:r>
            <a:endParaRPr lang="en-US" sz="1350" dirty="0"/>
          </a:p>
        </p:txBody>
      </p:sp>
      <p:sp>
        <p:nvSpPr>
          <p:cNvPr id="51" name="Shape 49"/>
          <p:cNvSpPr/>
          <p:nvPr/>
        </p:nvSpPr>
        <p:spPr>
          <a:xfrm>
            <a:off x="9607550" y="9121577"/>
            <a:ext cx="7150100" cy="9525"/>
          </a:xfrm>
          <a:prstGeom prst="rect">
            <a:avLst/>
          </a:prstGeom>
          <a:solidFill>
            <a:srgbClr val="C9CFD8"/>
          </a:solidFill>
          <a:ln/>
        </p:spPr>
      </p:sp>
      <p:sp>
        <p:nvSpPr>
          <p:cNvPr id="52" name="Text 50"/>
          <p:cNvSpPr/>
          <p:nvPr/>
        </p:nvSpPr>
        <p:spPr>
          <a:xfrm>
            <a:off x="9607550" y="8803184"/>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DRILL_FIELDS</a:t>
            </a:r>
            <a:endParaRPr lang="en-US" sz="975" dirty="0"/>
          </a:p>
        </p:txBody>
      </p:sp>
      <p:sp>
        <p:nvSpPr>
          <p:cNvPr id="53" name="Text 51"/>
          <p:cNvSpPr/>
          <p:nvPr/>
        </p:nvSpPr>
        <p:spPr>
          <a:xfrm>
            <a:off x="11645901" y="8739684"/>
            <a:ext cx="2747112"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Fields shown when drilling a value.</a:t>
            </a:r>
            <a:endParaRPr lang="en-US" sz="1350" dirty="0"/>
          </a:p>
        </p:txBody>
      </p:sp>
      <p:sp>
        <p:nvSpPr>
          <p:cNvPr id="54" name="Shape 52"/>
          <p:cNvSpPr/>
          <p:nvPr/>
        </p:nvSpPr>
        <p:spPr>
          <a:xfrm>
            <a:off x="9607550" y="9776520"/>
            <a:ext cx="7150100" cy="9525"/>
          </a:xfrm>
          <a:prstGeom prst="rect">
            <a:avLst/>
          </a:prstGeom>
          <a:solidFill>
            <a:srgbClr val="C9CFD8"/>
          </a:solidFill>
          <a:ln/>
        </p:spPr>
      </p:sp>
      <p:sp>
        <p:nvSpPr>
          <p:cNvPr id="55" name="Text 53"/>
          <p:cNvSpPr/>
          <p:nvPr/>
        </p:nvSpPr>
        <p:spPr>
          <a:xfrm>
            <a:off x="9607550" y="9458127"/>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TYPE / RELATIONSHIP</a:t>
            </a:r>
            <a:endParaRPr lang="en-US" sz="975" dirty="0"/>
          </a:p>
        </p:txBody>
      </p:sp>
      <p:sp>
        <p:nvSpPr>
          <p:cNvPr id="56" name="Text 54"/>
          <p:cNvSpPr/>
          <p:nvPr/>
        </p:nvSpPr>
        <p:spPr>
          <a:xfrm>
            <a:off x="11645901" y="9394627"/>
            <a:ext cx="1944291"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Join shape + cardinality.</a:t>
            </a:r>
            <a:endParaRPr lang="en-US" sz="1350" dirty="0"/>
          </a:p>
        </p:txBody>
      </p:sp>
      <p:sp>
        <p:nvSpPr>
          <p:cNvPr id="57" name="Text 55"/>
          <p:cNvSpPr/>
          <p:nvPr/>
        </p:nvSpPr>
        <p:spPr>
          <a:xfrm>
            <a:off x="9607550" y="10113070"/>
            <a:ext cx="1981200" cy="203200"/>
          </a:xfrm>
          <a:prstGeom prst="rect">
            <a:avLst/>
          </a:prstGeom>
          <a:noFill/>
          <a:ln/>
        </p:spPr>
        <p:txBody>
          <a:bodyPr wrap="square" lIns="25400" tIns="25400" rIns="25400" bIns="25400" rtlCol="0" anchor="t">
            <a:normAutofit/>
          </a:bodyPr>
          <a:lstStyle/>
          <a:p>
            <a:pPr algn="l" indent="0" marL="0">
              <a:buNone/>
            </a:pPr>
            <a:r>
              <a:rPr lang="en-US" sz="975" b="1" spc="98" kern="0" dirty="0">
                <a:solidFill>
                  <a:srgbClr val="FF671F"/>
                </a:solidFill>
                <a:latin typeface="JetBrains Mono" pitchFamily="34" charset="0"/>
                <a:ea typeface="JetBrains Mono" pitchFamily="34" charset="-122"/>
                <a:cs typeface="JetBrains Mono" pitchFamily="34" charset="-120"/>
              </a:rPr>
              <a:t>ACCESS_FILTER</a:t>
            </a:r>
            <a:endParaRPr lang="en-US" sz="975" dirty="0"/>
          </a:p>
        </p:txBody>
      </p:sp>
      <p:sp>
        <p:nvSpPr>
          <p:cNvPr id="58" name="Text 56"/>
          <p:cNvSpPr/>
          <p:nvPr/>
        </p:nvSpPr>
        <p:spPr>
          <a:xfrm>
            <a:off x="11645901" y="10049570"/>
            <a:ext cx="1556048" cy="286643"/>
          </a:xfrm>
          <a:prstGeom prst="rect">
            <a:avLst/>
          </a:prstGeom>
          <a:noFill/>
          <a:ln/>
        </p:spPr>
        <p:txBody>
          <a:bodyPr wrap="square" lIns="25400" tIns="25400" rIns="25400" bIns="25400" rtlCol="0" anchor="t">
            <a:normAutofit/>
          </a:bodyPr>
          <a:lstStyle/>
          <a:p>
            <a:pPr algn="l" indent="0" marL="0">
              <a:lnSpc>
                <a:spcPct val="145000"/>
              </a:lnSpc>
              <a:buNone/>
            </a:pPr>
            <a:r>
              <a:rPr lang="en-US" sz="1350" dirty="0">
                <a:solidFill>
                  <a:srgbClr val="384358"/>
                </a:solidFill>
                <a:latin typeface="Manrope" pitchFamily="34" charset="0"/>
                <a:ea typeface="Manrope" pitchFamily="34" charset="-122"/>
                <a:cs typeface="Manrope" pitchFamily="34" charset="-120"/>
              </a:rPr>
              <a:t>Row-level security.</a:t>
            </a:r>
            <a:endParaRPr lang="en-US" sz="1350" dirty="0"/>
          </a:p>
        </p:txBody>
      </p:sp>
      <p:sp>
        <p:nvSpPr>
          <p:cNvPr id="59" name="Shape 57"/>
          <p:cNvSpPr/>
          <p:nvPr/>
        </p:nvSpPr>
        <p:spPr>
          <a:xfrm>
            <a:off x="1219200" y="10971213"/>
            <a:ext cx="15849600" cy="603250"/>
          </a:xfrm>
          <a:prstGeom prst="roundRect">
            <a:avLst>
              <a:gd name="adj" fmla="val 22105"/>
            </a:avLst>
          </a:prstGeom>
          <a:solidFill>
            <a:srgbClr val="F1F2F4"/>
          </a:solidFill>
          <a:ln/>
        </p:spPr>
      </p:sp>
      <p:sp>
        <p:nvSpPr>
          <p:cNvPr id="60" name="Text 58"/>
          <p:cNvSpPr/>
          <p:nvPr/>
        </p:nvSpPr>
        <p:spPr>
          <a:xfrm>
            <a:off x="1485900" y="11161713"/>
            <a:ext cx="15791688" cy="260350"/>
          </a:xfrm>
          <a:prstGeom prst="rect">
            <a:avLst/>
          </a:prstGeom>
          <a:noFill/>
          <a:ln/>
        </p:spPr>
        <p:txBody>
          <a:bodyPr wrap="square" lIns="25400" tIns="25400" rIns="25400" bIns="25400" rtlCol="0" anchor="t">
            <a:normAutofit/>
          </a:bodyPr>
          <a:lstStyle/>
          <a:p>
            <a:pPr algn="l" indent="0" marL="0">
              <a:buNone/>
            </a:pPr>
            <a:r>
              <a:rPr lang="en-US" sz="1275" b="1" dirty="0">
                <a:solidFill>
                  <a:srgbClr val="1B1F2A"/>
                </a:solidFill>
                <a:latin typeface="Manrope" pitchFamily="34" charset="0"/>
                <a:ea typeface="Manrope" pitchFamily="34" charset="-122"/>
                <a:cs typeface="Manrope" pitchFamily="34" charset="-120"/>
              </a:rPr>
              <a:t>Three-line answer to "Looker or Studio?" </a:t>
            </a:r>
            <a:pPr algn="l" indent="0" marL="0">
              <a:buNone/>
            </a:pPr>
            <a:r>
              <a:rPr lang="en-US" sz="1275" dirty="0">
                <a:solidFill>
                  <a:srgbClr val="384358"/>
                </a:solidFill>
                <a:highlight>
                  <a:srgbClr val="F1F2F4"/>
                </a:highlight>
                <a:latin typeface="Manrope" pitchFamily="34" charset="0"/>
                <a:ea typeface="Manrope" pitchFamily="34" charset="-122"/>
                <a:cs typeface="Manrope" pitchFamily="34" charset="-120"/>
              </a:rPr>
              <a:t>Enterprise + governed = Looker. Marketing / Sheets + free = Studio. Embedded in a customer product = Looker.</a:t>
            </a:r>
            <a:endParaRPr lang="en-US" sz="1275" dirty="0"/>
          </a:p>
        </p:txBody>
      </p:sp>
      <p:sp>
        <p:nvSpPr>
          <p:cNvPr id="61" name="Text 59"/>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62" name="Text 60"/>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58 / 60</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19200" y="657225"/>
            <a:ext cx="361950" cy="361950"/>
          </a:xfrm>
          <a:prstGeom prst="rect">
            <a:avLst/>
          </a:prstGeom>
          <a:solidFill>
            <a:srgbClr val="000000"/>
          </a:solidFill>
          <a:ln/>
        </p:spPr>
      </p:sp>
      <p:sp>
        <p:nvSpPr>
          <p:cNvPr id="3"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1B1F2A"/>
                </a:solidFill>
                <a:latin typeface="Manrope" pitchFamily="34" charset="0"/>
                <a:ea typeface="Manrope" pitchFamily="34" charset="-122"/>
                <a:cs typeface="Manrope" pitchFamily="34" charset="-120"/>
              </a:rPr>
              <a:t>GlobalLogic</a:t>
            </a:r>
            <a:endParaRPr lang="en-US" sz="1650" dirty="0"/>
          </a:p>
        </p:txBody>
      </p:sp>
      <p:sp>
        <p:nvSpPr>
          <p:cNvPr id="4"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8B95A6"/>
                </a:solidFill>
                <a:latin typeface="Manrope" pitchFamily="34" charset="0"/>
                <a:ea typeface="Manrope" pitchFamily="34" charset="-122"/>
                <a:cs typeface="Manrope" pitchFamily="34" charset="-120"/>
              </a:rPr>
              <a:t>A Hitachi Group Company</a:t>
            </a:r>
            <a:endParaRPr lang="en-US" sz="975" dirty="0"/>
          </a:p>
        </p:txBody>
      </p:sp>
      <p:sp>
        <p:nvSpPr>
          <p:cNvPr id="5" name="Text 3"/>
          <p:cNvSpPr/>
          <p:nvPr/>
        </p:nvSpPr>
        <p:spPr>
          <a:xfrm>
            <a:off x="16060837" y="755650"/>
            <a:ext cx="1084163" cy="203200"/>
          </a:xfrm>
          <a:prstGeom prst="rect">
            <a:avLst/>
          </a:prstGeom>
          <a:noFill/>
          <a:ln/>
        </p:spPr>
        <p:txBody>
          <a:bodyPr wrap="square" lIns="25400" tIns="25400" rIns="25400" bIns="25400" rtlCol="0" anchor="t">
            <a:normAutofit/>
          </a:bodyPr>
          <a:lstStyle/>
          <a:p>
            <a:pPr algn="l" indent="0" marL="0">
              <a:buNone/>
            </a:pPr>
            <a:r>
              <a:rPr lang="en-US" sz="975" spc="137" kern="0" dirty="0">
                <a:solidFill>
                  <a:srgbClr val="8B95A6"/>
                </a:solidFill>
                <a:latin typeface="JetBrains Mono" pitchFamily="34" charset="0"/>
                <a:ea typeface="JetBrains Mono" pitchFamily="34" charset="-122"/>
                <a:cs typeface="JetBrains Mono" pitchFamily="34" charset="-120"/>
              </a:rPr>
              <a:t>WHAT'S NEXT</a:t>
            </a:r>
            <a:endParaRPr lang="en-US" sz="975" dirty="0"/>
          </a:p>
        </p:txBody>
      </p:sp>
      <p:sp>
        <p:nvSpPr>
          <p:cNvPr id="6" name="Text 4"/>
          <p:cNvSpPr/>
          <p:nvPr/>
        </p:nvSpPr>
        <p:spPr>
          <a:xfrm>
            <a:off x="1219200" y="1714500"/>
            <a:ext cx="16325088" cy="273050"/>
          </a:xfrm>
          <a:prstGeom prst="rect">
            <a:avLst/>
          </a:prstGeom>
          <a:noFill/>
          <a:ln/>
        </p:spPr>
        <p:txBody>
          <a:bodyPr wrap="square" lIns="25400" tIns="25400" rIns="25400" bIns="25400" rtlCol="0" anchor="t">
            <a:normAutofit/>
          </a:bodyPr>
          <a:lstStyle/>
          <a:p>
            <a:pPr algn="l" indent="0" marL="0">
              <a:buNone/>
            </a:pPr>
            <a:r>
              <a:rPr lang="en-US" sz="1350" b="1" spc="216" kern="0" dirty="0">
                <a:solidFill>
                  <a:srgbClr val="FF671F"/>
                </a:solidFill>
                <a:latin typeface="Manrope" pitchFamily="34" charset="0"/>
                <a:ea typeface="Manrope" pitchFamily="34" charset="-122"/>
                <a:cs typeface="Manrope" pitchFamily="34" charset="-120"/>
              </a:rPr>
              <a:t>WHAT TO DO NEXT</a:t>
            </a:r>
            <a:endParaRPr lang="en-US" sz="1350" dirty="0"/>
          </a:p>
        </p:txBody>
      </p:sp>
      <p:sp>
        <p:nvSpPr>
          <p:cNvPr id="7" name="Text 5"/>
          <p:cNvSpPr/>
          <p:nvPr/>
        </p:nvSpPr>
        <p:spPr>
          <a:xfrm>
            <a:off x="1219200" y="2178050"/>
            <a:ext cx="16325088" cy="815280"/>
          </a:xfrm>
          <a:prstGeom prst="rect">
            <a:avLst/>
          </a:prstGeom>
          <a:noFill/>
          <a:ln/>
        </p:spPr>
        <p:txBody>
          <a:bodyPr wrap="square" lIns="25400" tIns="25400" rIns="25400" bIns="25400" rtlCol="0" anchor="t">
            <a:normAutofit/>
          </a:bodyPr>
          <a:lstStyle/>
          <a:p>
            <a:pPr algn="l" indent="0" marL="0">
              <a:lnSpc>
                <a:spcPct val="102000"/>
              </a:lnSpc>
              <a:buNone/>
            </a:pPr>
            <a:r>
              <a:rPr lang="en-US" sz="6000" b="1" spc="-120" kern="0" dirty="0">
                <a:solidFill>
                  <a:srgbClr val="1B1F2A"/>
                </a:solidFill>
                <a:latin typeface="Manrope" pitchFamily="34" charset="0"/>
                <a:ea typeface="Manrope" pitchFamily="34" charset="-122"/>
                <a:cs typeface="Manrope" pitchFamily="34" charset="-120"/>
              </a:rPr>
              <a:t>After this deck, do these four things.</a:t>
            </a:r>
            <a:endParaRPr lang="en-US" sz="6000" dirty="0"/>
          </a:p>
        </p:txBody>
      </p:sp>
      <p:sp>
        <p:nvSpPr>
          <p:cNvPr id="8" name="Text 6"/>
          <p:cNvSpPr/>
          <p:nvPr/>
        </p:nvSpPr>
        <p:spPr>
          <a:xfrm>
            <a:off x="1219200" y="3126681"/>
            <a:ext cx="14716125" cy="6457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384358"/>
                </a:solidFill>
                <a:latin typeface="Manrope" pitchFamily="34" charset="0"/>
                <a:ea typeface="Manrope" pitchFamily="34" charset="-122"/>
                <a:cs typeface="Manrope" pitchFamily="34" charset="-120"/>
              </a:rPr>
              <a:t>Reading is necessary but not sufficient. Looker rewards hands-on practice — the certification questions are written by people who assume you've used the product.</a:t>
            </a:r>
            <a:endParaRPr lang="en-US" sz="1650" dirty="0"/>
          </a:p>
        </p:txBody>
      </p:sp>
      <p:sp>
        <p:nvSpPr>
          <p:cNvPr id="9" name="Shape 7"/>
          <p:cNvSpPr/>
          <p:nvPr/>
        </p:nvSpPr>
        <p:spPr>
          <a:xfrm>
            <a:off x="1219200" y="4267696"/>
            <a:ext cx="3790950" cy="2358628"/>
          </a:xfrm>
          <a:prstGeom prst="roundRect">
            <a:avLst>
              <a:gd name="adj" fmla="val 5654"/>
            </a:avLst>
          </a:prstGeom>
          <a:solidFill>
            <a:srgbClr val="F1F2F4"/>
          </a:solidFill>
          <a:ln/>
        </p:spPr>
      </p:sp>
      <p:sp>
        <p:nvSpPr>
          <p:cNvPr id="10" name="Shape 8"/>
          <p:cNvSpPr/>
          <p:nvPr/>
        </p:nvSpPr>
        <p:spPr>
          <a:xfrm>
            <a:off x="1219200" y="4267696"/>
            <a:ext cx="3790950" cy="38100"/>
          </a:xfrm>
          <a:prstGeom prst="rect">
            <a:avLst/>
          </a:prstGeom>
          <a:solidFill>
            <a:srgbClr val="FF671F"/>
          </a:solidFill>
          <a:ln/>
        </p:spPr>
      </p:sp>
      <p:sp>
        <p:nvSpPr>
          <p:cNvPr id="11" name="Text 9"/>
          <p:cNvSpPr/>
          <p:nvPr/>
        </p:nvSpPr>
        <p:spPr>
          <a:xfrm>
            <a:off x="152400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01 · FREE TRIAL</a:t>
            </a:r>
            <a:endParaRPr lang="en-US" sz="900" dirty="0"/>
          </a:p>
        </p:txBody>
      </p:sp>
      <p:sp>
        <p:nvSpPr>
          <p:cNvPr id="12" name="Text 10"/>
          <p:cNvSpPr/>
          <p:nvPr/>
        </p:nvSpPr>
        <p:spPr>
          <a:xfrm>
            <a:off x="1524000" y="48899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Spin up a Looker trial.</a:t>
            </a:r>
            <a:endParaRPr lang="en-US" sz="1950" dirty="0"/>
          </a:p>
        </p:txBody>
      </p:sp>
      <p:sp>
        <p:nvSpPr>
          <p:cNvPr id="13" name="Text 11"/>
          <p:cNvSpPr/>
          <p:nvPr/>
        </p:nvSpPr>
        <p:spPr>
          <a:xfrm>
            <a:off x="1524000" y="53081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cloud.google.com → Looker → 30-day trial. Or use the official sandbox at </a:t>
            </a:r>
            <a:pPr algn="l" indent="0" marL="0">
              <a:lnSpc>
                <a:spcPct val="150000"/>
              </a:lnSpc>
              <a:buNone/>
            </a:pPr>
            <a:r>
              <a:rPr lang="en-US" sz="1050" dirty="0">
                <a:solidFill>
                  <a:srgbClr val="1F4DFF"/>
                </a:solidFill>
                <a:latin typeface="JetBrains Mono" pitchFamily="34" charset="0"/>
                <a:ea typeface="JetBrains Mono" pitchFamily="34" charset="-122"/>
                <a:cs typeface="JetBrains Mono" pitchFamily="34" charset="-120"/>
              </a:rPr>
              <a:t>try.looker.com</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a:t>
            </a:r>
            <a:endParaRPr lang="en-US" sz="1275" dirty="0"/>
          </a:p>
        </p:txBody>
      </p:sp>
      <p:sp>
        <p:nvSpPr>
          <p:cNvPr id="14" name="Shape 12"/>
          <p:cNvSpPr/>
          <p:nvPr/>
        </p:nvSpPr>
        <p:spPr>
          <a:xfrm>
            <a:off x="5238750" y="4267696"/>
            <a:ext cx="3790950" cy="2358628"/>
          </a:xfrm>
          <a:prstGeom prst="roundRect">
            <a:avLst>
              <a:gd name="adj" fmla="val 5654"/>
            </a:avLst>
          </a:prstGeom>
          <a:solidFill>
            <a:srgbClr val="F1F2F4"/>
          </a:solidFill>
          <a:ln/>
        </p:spPr>
      </p:sp>
      <p:sp>
        <p:nvSpPr>
          <p:cNvPr id="15" name="Shape 13"/>
          <p:cNvSpPr/>
          <p:nvPr/>
        </p:nvSpPr>
        <p:spPr>
          <a:xfrm>
            <a:off x="5238750" y="4267696"/>
            <a:ext cx="3790950" cy="38100"/>
          </a:xfrm>
          <a:prstGeom prst="rect">
            <a:avLst/>
          </a:prstGeom>
          <a:solidFill>
            <a:srgbClr val="FF671F"/>
          </a:solidFill>
          <a:ln/>
        </p:spPr>
      </p:sp>
      <p:sp>
        <p:nvSpPr>
          <p:cNvPr id="16" name="Text 14"/>
          <p:cNvSpPr/>
          <p:nvPr/>
        </p:nvSpPr>
        <p:spPr>
          <a:xfrm>
            <a:off x="554355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02 · BUILD A DASHBOARD</a:t>
            </a:r>
            <a:endParaRPr lang="en-US" sz="900" dirty="0"/>
          </a:p>
        </p:txBody>
      </p:sp>
      <p:sp>
        <p:nvSpPr>
          <p:cNvPr id="17" name="Text 15"/>
          <p:cNvSpPr/>
          <p:nvPr/>
        </p:nvSpPr>
        <p:spPr>
          <a:xfrm>
            <a:off x="5543550" y="4889996"/>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Recreate the marketing example.</a:t>
            </a:r>
            <a:endParaRPr lang="en-US" sz="1950" dirty="0"/>
          </a:p>
        </p:txBody>
      </p:sp>
      <p:sp>
        <p:nvSpPr>
          <p:cNvPr id="18" name="Text 16"/>
          <p:cNvSpPr/>
          <p:nvPr/>
        </p:nvSpPr>
        <p:spPr>
          <a:xfrm>
            <a:off x="5543550" y="5592862"/>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Four KPIs, one line chart, one pie, one bar, one table. Add a date-range filter. Schedule it to your own inbox.</a:t>
            </a:r>
            <a:endParaRPr lang="en-US" sz="1275" dirty="0"/>
          </a:p>
        </p:txBody>
      </p:sp>
      <p:sp>
        <p:nvSpPr>
          <p:cNvPr id="19" name="Shape 17"/>
          <p:cNvSpPr/>
          <p:nvPr/>
        </p:nvSpPr>
        <p:spPr>
          <a:xfrm>
            <a:off x="9258300" y="4267696"/>
            <a:ext cx="3790950" cy="2358628"/>
          </a:xfrm>
          <a:prstGeom prst="roundRect">
            <a:avLst>
              <a:gd name="adj" fmla="val 5654"/>
            </a:avLst>
          </a:prstGeom>
          <a:solidFill>
            <a:srgbClr val="F1F2F4"/>
          </a:solidFill>
          <a:ln/>
        </p:spPr>
      </p:sp>
      <p:sp>
        <p:nvSpPr>
          <p:cNvPr id="20" name="Shape 18"/>
          <p:cNvSpPr/>
          <p:nvPr/>
        </p:nvSpPr>
        <p:spPr>
          <a:xfrm>
            <a:off x="9258300" y="4267696"/>
            <a:ext cx="3790950" cy="38100"/>
          </a:xfrm>
          <a:prstGeom prst="rect">
            <a:avLst/>
          </a:prstGeom>
          <a:solidFill>
            <a:srgbClr val="FF671F"/>
          </a:solidFill>
          <a:ln/>
        </p:spPr>
      </p:sp>
      <p:sp>
        <p:nvSpPr>
          <p:cNvPr id="21" name="Text 19"/>
          <p:cNvSpPr/>
          <p:nvPr/>
        </p:nvSpPr>
        <p:spPr>
          <a:xfrm>
            <a:off x="956310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03 · EDIT LOOKML</a:t>
            </a:r>
            <a:endParaRPr lang="en-US" sz="900" dirty="0"/>
          </a:p>
        </p:txBody>
      </p:sp>
      <p:sp>
        <p:nvSpPr>
          <p:cNvPr id="22" name="Text 20"/>
          <p:cNvSpPr/>
          <p:nvPr/>
        </p:nvSpPr>
        <p:spPr>
          <a:xfrm>
            <a:off x="9563100" y="4889996"/>
            <a:ext cx="3276791" cy="32285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Add the AOV measure.</a:t>
            </a:r>
            <a:endParaRPr lang="en-US" sz="1950" dirty="0"/>
          </a:p>
        </p:txBody>
      </p:sp>
      <p:sp>
        <p:nvSpPr>
          <p:cNvPr id="23" name="Text 21"/>
          <p:cNvSpPr/>
          <p:nvPr/>
        </p:nvSpPr>
        <p:spPr>
          <a:xfrm>
            <a:off x="9563100" y="5308104"/>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In the e-commerce sample project: open </a:t>
            </a:r>
            <a:pPr algn="l" indent="0" marL="0">
              <a:lnSpc>
                <a:spcPct val="150000"/>
              </a:lnSpc>
              <a:buNone/>
            </a:pPr>
            <a:r>
              <a:rPr lang="en-US" sz="975" dirty="0">
                <a:solidFill>
                  <a:srgbClr val="1B1F2A"/>
                </a:solidFill>
                <a:latin typeface="JetBrains Mono" pitchFamily="34" charset="0"/>
                <a:ea typeface="JetBrains Mono" pitchFamily="34" charset="-122"/>
                <a:cs typeface="JetBrains Mono" pitchFamily="34" charset="-120"/>
              </a:rPr>
              <a:t>orders.view </a:t>
            </a:r>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 paste the AOV measure, validate, deploy.</a:t>
            </a:r>
            <a:endParaRPr lang="en-US" sz="1275" dirty="0"/>
          </a:p>
        </p:txBody>
      </p:sp>
      <p:sp>
        <p:nvSpPr>
          <p:cNvPr id="24" name="Shape 22"/>
          <p:cNvSpPr/>
          <p:nvPr/>
        </p:nvSpPr>
        <p:spPr>
          <a:xfrm>
            <a:off x="13277850" y="4267696"/>
            <a:ext cx="3790950" cy="2358628"/>
          </a:xfrm>
          <a:prstGeom prst="roundRect">
            <a:avLst>
              <a:gd name="adj" fmla="val 5654"/>
            </a:avLst>
          </a:prstGeom>
          <a:solidFill>
            <a:srgbClr val="F1F2F4"/>
          </a:solidFill>
          <a:ln/>
        </p:spPr>
      </p:sp>
      <p:sp>
        <p:nvSpPr>
          <p:cNvPr id="25" name="Shape 23"/>
          <p:cNvSpPr/>
          <p:nvPr/>
        </p:nvSpPr>
        <p:spPr>
          <a:xfrm>
            <a:off x="13277850" y="4267696"/>
            <a:ext cx="3790950" cy="38100"/>
          </a:xfrm>
          <a:prstGeom prst="rect">
            <a:avLst/>
          </a:prstGeom>
          <a:solidFill>
            <a:srgbClr val="FF671F"/>
          </a:solidFill>
          <a:ln/>
        </p:spPr>
      </p:sp>
      <p:sp>
        <p:nvSpPr>
          <p:cNvPr id="26" name="Text 24"/>
          <p:cNvSpPr/>
          <p:nvPr/>
        </p:nvSpPr>
        <p:spPr>
          <a:xfrm>
            <a:off x="13582650" y="4610596"/>
            <a:ext cx="3276791" cy="184150"/>
          </a:xfrm>
          <a:prstGeom prst="rect">
            <a:avLst/>
          </a:prstGeom>
          <a:noFill/>
          <a:ln/>
        </p:spPr>
        <p:txBody>
          <a:bodyPr wrap="square" lIns="25400" tIns="25400" rIns="25400" bIns="25400" rtlCol="0" anchor="t">
            <a:normAutofit/>
          </a:bodyPr>
          <a:lstStyle/>
          <a:p>
            <a:pPr algn="l" indent="0" marL="0">
              <a:buNone/>
            </a:pPr>
            <a:r>
              <a:rPr lang="en-US" sz="900" b="1" spc="144" kern="0" dirty="0">
                <a:solidFill>
                  <a:srgbClr val="FF671F"/>
                </a:solidFill>
                <a:latin typeface="JetBrains Mono" pitchFamily="34" charset="0"/>
                <a:ea typeface="JetBrains Mono" pitchFamily="34" charset="-122"/>
                <a:cs typeface="JetBrains Mono" pitchFamily="34" charset="-120"/>
              </a:rPr>
              <a:t>STEP 04 · BUILD THE SAME IN STUDIO</a:t>
            </a:r>
            <a:endParaRPr lang="en-US" sz="900" dirty="0"/>
          </a:p>
        </p:txBody>
      </p:sp>
      <p:sp>
        <p:nvSpPr>
          <p:cNvPr id="27" name="Text 25"/>
          <p:cNvSpPr/>
          <p:nvPr/>
        </p:nvSpPr>
        <p:spPr>
          <a:xfrm>
            <a:off x="13582650" y="4889996"/>
            <a:ext cx="3276791" cy="607616"/>
          </a:xfrm>
          <a:prstGeom prst="rect">
            <a:avLst/>
          </a:prstGeom>
          <a:noFill/>
          <a:ln/>
        </p:spPr>
        <p:txBody>
          <a:bodyPr wrap="square" lIns="25400" tIns="25400" rIns="25400" bIns="25400" rtlCol="0" anchor="t">
            <a:normAutofit/>
          </a:bodyPr>
          <a:lstStyle/>
          <a:p>
            <a:pPr algn="l" indent="0" marL="0">
              <a:lnSpc>
                <a:spcPct val="115000"/>
              </a:lnSpc>
              <a:buNone/>
            </a:pPr>
            <a:r>
              <a:rPr lang="en-US" sz="1950" b="1" spc="-10" kern="0" dirty="0">
                <a:solidFill>
                  <a:srgbClr val="1B1F2A"/>
                </a:solidFill>
                <a:latin typeface="Manrope" pitchFamily="34" charset="0"/>
                <a:ea typeface="Manrope" pitchFamily="34" charset="-122"/>
                <a:cs typeface="Manrope" pitchFamily="34" charset="-120"/>
              </a:rPr>
              <a:t>Then build the same thing in Looker Studio.</a:t>
            </a:r>
            <a:endParaRPr lang="en-US" sz="1950" dirty="0"/>
          </a:p>
        </p:txBody>
      </p:sp>
      <p:sp>
        <p:nvSpPr>
          <p:cNvPr id="28" name="Text 26"/>
          <p:cNvSpPr/>
          <p:nvPr/>
        </p:nvSpPr>
        <p:spPr>
          <a:xfrm>
            <a:off x="13582650" y="5592862"/>
            <a:ext cx="3276791" cy="766763"/>
          </a:xfrm>
          <a:prstGeom prst="rect">
            <a:avLst/>
          </a:prstGeom>
          <a:noFill/>
          <a:ln/>
        </p:spPr>
        <p:txBody>
          <a:bodyPr wrap="square" lIns="25400" tIns="25400" rIns="25400" bIns="25400" rtlCol="0" anchor="t">
            <a:normAutofit/>
          </a:bodyPr>
          <a:lstStyle/>
          <a:p>
            <a:pPr algn="l" indent="0" marL="0">
              <a:lnSpc>
                <a:spcPct val="150000"/>
              </a:lnSpc>
              <a:buNone/>
            </a:pPr>
            <a:r>
              <a:rPr lang="en-US" sz="1275" dirty="0">
                <a:solidFill>
                  <a:srgbClr val="384358"/>
                </a:solidFill>
                <a:latin typeface="Manrope" pitchFamily="34" charset="0"/>
                <a:ea typeface="Manrope" pitchFamily="34" charset="-122"/>
                <a:cs typeface="Manrope" pitchFamily="34" charset="-120"/>
              </a:rPr>
              <a:t>Connect a Google Sheet of mock data; build the four KPIs and the line chart. Notice everything you couldn't do.</a:t>
            </a:r>
            <a:endParaRPr lang="en-US" sz="1275" dirty="0"/>
          </a:p>
        </p:txBody>
      </p:sp>
      <p:sp>
        <p:nvSpPr>
          <p:cNvPr id="29" name="Text 27"/>
          <p:cNvSpPr/>
          <p:nvPr/>
        </p:nvSpPr>
        <p:spPr>
          <a:xfrm>
            <a:off x="1219200" y="6931125"/>
            <a:ext cx="5284724" cy="184150"/>
          </a:xfrm>
          <a:prstGeom prst="rect">
            <a:avLst/>
          </a:prstGeom>
          <a:noFill/>
          <a:ln/>
        </p:spPr>
        <p:txBody>
          <a:bodyPr wrap="square" lIns="25400" tIns="25400" rIns="25400" bIns="25400" rtlCol="0" anchor="t">
            <a:normAutofit/>
          </a:bodyPr>
          <a:lstStyle/>
          <a:p>
            <a:pPr algn="l" indent="0" marL="0">
              <a:buNone/>
            </a:pPr>
            <a:r>
              <a:rPr lang="en-US" sz="900" b="1" spc="126" kern="0" dirty="0">
                <a:solidFill>
                  <a:srgbClr val="FF671F"/>
                </a:solidFill>
                <a:latin typeface="JetBrains Mono" pitchFamily="34" charset="0"/>
                <a:ea typeface="JetBrains Mono" pitchFamily="34" charset="-122"/>
                <a:cs typeface="JetBrains Mono" pitchFamily="34" charset="-120"/>
              </a:rPr>
              <a:t>OFFICIAL</a:t>
            </a:r>
            <a:endParaRPr lang="en-US" sz="900" dirty="0"/>
          </a:p>
        </p:txBody>
      </p:sp>
      <p:sp>
        <p:nvSpPr>
          <p:cNvPr id="30" name="Text 28"/>
          <p:cNvSpPr/>
          <p:nvPr/>
        </p:nvSpPr>
        <p:spPr>
          <a:xfrm>
            <a:off x="1219200" y="7134324"/>
            <a:ext cx="5064493" cy="431800"/>
          </a:xfrm>
          <a:prstGeom prst="rect">
            <a:avLst/>
          </a:prstGeom>
          <a:noFill/>
          <a:ln/>
        </p:spPr>
        <p:txBody>
          <a:bodyPr wrap="square" lIns="0" tIns="0" rIns="0" bIns="0" rtlCol="0" anchor="t">
            <a:normAutofit/>
          </a:bodyPr>
          <a:lstStyle/>
          <a:p>
            <a:pPr algn="l" indent="0" marL="0">
              <a:buNone/>
            </a:pPr>
            <a:r>
              <a:rPr lang="en-US" sz="1125" dirty="0">
                <a:solidFill>
                  <a:srgbClr val="384358"/>
                </a:solidFill>
                <a:latin typeface="Manrope" pitchFamily="34" charset="0"/>
                <a:ea typeface="Manrope" pitchFamily="34" charset="-122"/>
                <a:cs typeface="Manrope" pitchFamily="34" charset="-120"/>
              </a:rPr>
              <a:t>cloud.google.com/looker/docs · cloud.google.com/learn/certification/data-practitioner</a:t>
            </a:r>
            <a:endParaRPr lang="en-US" sz="1125" dirty="0"/>
          </a:p>
        </p:txBody>
      </p:sp>
      <p:sp>
        <p:nvSpPr>
          <p:cNvPr id="31" name="Text 29"/>
          <p:cNvSpPr/>
          <p:nvPr/>
        </p:nvSpPr>
        <p:spPr>
          <a:xfrm>
            <a:off x="6578600" y="6931125"/>
            <a:ext cx="5284724" cy="184150"/>
          </a:xfrm>
          <a:prstGeom prst="rect">
            <a:avLst/>
          </a:prstGeom>
          <a:noFill/>
          <a:ln/>
        </p:spPr>
        <p:txBody>
          <a:bodyPr wrap="square" lIns="25400" tIns="25400" rIns="25400" bIns="25400" rtlCol="0" anchor="t">
            <a:normAutofit/>
          </a:bodyPr>
          <a:lstStyle/>
          <a:p>
            <a:pPr algn="l" indent="0" marL="0">
              <a:buNone/>
            </a:pPr>
            <a:r>
              <a:rPr lang="en-US" sz="900" b="1" spc="126" kern="0" dirty="0">
                <a:solidFill>
                  <a:srgbClr val="FF671F"/>
                </a:solidFill>
                <a:latin typeface="JetBrains Mono" pitchFamily="34" charset="0"/>
                <a:ea typeface="JetBrains Mono" pitchFamily="34" charset="-122"/>
                <a:cs typeface="JetBrains Mono" pitchFamily="34" charset="-120"/>
              </a:rPr>
              <a:t>COMMUNITY</a:t>
            </a:r>
            <a:endParaRPr lang="en-US" sz="900" dirty="0"/>
          </a:p>
        </p:txBody>
      </p:sp>
      <p:sp>
        <p:nvSpPr>
          <p:cNvPr id="32" name="Text 30"/>
          <p:cNvSpPr/>
          <p:nvPr/>
        </p:nvSpPr>
        <p:spPr>
          <a:xfrm>
            <a:off x="6578600" y="7134324"/>
            <a:ext cx="3381643" cy="234950"/>
          </a:xfrm>
          <a:prstGeom prst="rect">
            <a:avLst/>
          </a:prstGeom>
          <a:noFill/>
          <a:ln/>
        </p:spPr>
        <p:txBody>
          <a:bodyPr wrap="square" lIns="0" tIns="0" rIns="0" bIns="0" rtlCol="0" anchor="t">
            <a:normAutofit/>
          </a:bodyPr>
          <a:lstStyle/>
          <a:p>
            <a:pPr algn="l" indent="0" marL="0">
              <a:buNone/>
            </a:pPr>
            <a:r>
              <a:rPr lang="en-US" sz="1125" dirty="0">
                <a:solidFill>
                  <a:srgbClr val="384358"/>
                </a:solidFill>
                <a:latin typeface="Manrope" pitchFamily="34" charset="0"/>
                <a:ea typeface="Manrope" pitchFamily="34" charset="-122"/>
                <a:cs typeface="Manrope" pitchFamily="34" charset="-120"/>
              </a:rPr>
              <a:t>community.looker.com · LookML on Stack Overflow</a:t>
            </a:r>
            <a:endParaRPr lang="en-US" sz="1125" dirty="0"/>
          </a:p>
        </p:txBody>
      </p:sp>
      <p:sp>
        <p:nvSpPr>
          <p:cNvPr id="33" name="Text 31"/>
          <p:cNvSpPr/>
          <p:nvPr/>
        </p:nvSpPr>
        <p:spPr>
          <a:xfrm>
            <a:off x="11938000" y="6931125"/>
            <a:ext cx="5284724" cy="184150"/>
          </a:xfrm>
          <a:prstGeom prst="rect">
            <a:avLst/>
          </a:prstGeom>
          <a:noFill/>
          <a:ln/>
        </p:spPr>
        <p:txBody>
          <a:bodyPr wrap="square" lIns="25400" tIns="25400" rIns="25400" bIns="25400" rtlCol="0" anchor="t">
            <a:normAutofit/>
          </a:bodyPr>
          <a:lstStyle/>
          <a:p>
            <a:pPr algn="l" indent="0" marL="0">
              <a:buNone/>
            </a:pPr>
            <a:r>
              <a:rPr lang="en-US" sz="900" b="1" spc="126" kern="0" dirty="0">
                <a:solidFill>
                  <a:srgbClr val="FF671F"/>
                </a:solidFill>
                <a:latin typeface="JetBrains Mono" pitchFamily="34" charset="0"/>
                <a:ea typeface="JetBrains Mono" pitchFamily="34" charset="-122"/>
                <a:cs typeface="JetBrains Mono" pitchFamily="34" charset="-120"/>
              </a:rPr>
              <a:t>PRACTICE</a:t>
            </a:r>
            <a:endParaRPr lang="en-US" sz="900" dirty="0"/>
          </a:p>
        </p:txBody>
      </p:sp>
      <p:sp>
        <p:nvSpPr>
          <p:cNvPr id="34" name="Text 32"/>
          <p:cNvSpPr/>
          <p:nvPr/>
        </p:nvSpPr>
        <p:spPr>
          <a:xfrm>
            <a:off x="11938000" y="7134324"/>
            <a:ext cx="3410257" cy="234950"/>
          </a:xfrm>
          <a:prstGeom prst="rect">
            <a:avLst/>
          </a:prstGeom>
          <a:noFill/>
          <a:ln/>
        </p:spPr>
        <p:txBody>
          <a:bodyPr wrap="square" lIns="0" tIns="0" rIns="0" bIns="0" rtlCol="0" anchor="t">
            <a:normAutofit/>
          </a:bodyPr>
          <a:lstStyle/>
          <a:p>
            <a:pPr algn="l" indent="0" marL="0">
              <a:buNone/>
            </a:pPr>
            <a:r>
              <a:rPr lang="en-US" sz="1125" dirty="0">
                <a:solidFill>
                  <a:srgbClr val="384358"/>
                </a:solidFill>
                <a:latin typeface="Manrope" pitchFamily="34" charset="0"/>
                <a:ea typeface="Manrope" pitchFamily="34" charset="-122"/>
                <a:cs typeface="Manrope" pitchFamily="34" charset="-120"/>
              </a:rPr>
              <a:t>Qwiklabs Looker quests · Google Cloud Skills Boost</a:t>
            </a:r>
            <a:endParaRPr lang="en-US" sz="1125" dirty="0"/>
          </a:p>
        </p:txBody>
      </p:sp>
      <p:sp>
        <p:nvSpPr>
          <p:cNvPr id="35" name="Text 33"/>
          <p:cNvSpPr/>
          <p:nvPr/>
        </p:nvSpPr>
        <p:spPr>
          <a:xfrm>
            <a:off x="1219200" y="9658350"/>
            <a:ext cx="135642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globallogic.com</a:t>
            </a:r>
            <a:endParaRPr lang="en-US" sz="1050" dirty="0"/>
          </a:p>
        </p:txBody>
      </p:sp>
      <p:sp>
        <p:nvSpPr>
          <p:cNvPr id="36" name="Text 34"/>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8B95A6"/>
                </a:solidFill>
                <a:latin typeface="JetBrains Mono" pitchFamily="34" charset="0"/>
                <a:ea typeface="JetBrains Mono" pitchFamily="34" charset="-122"/>
                <a:cs typeface="JetBrains Mono" pitchFamily="34" charset="-120"/>
              </a:rPr>
              <a:t>59 / 60</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1F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rcRect l="0" r="0" t="0" b="0"/>
          <a:stretch/>
        </p:blipFill>
        <p:spPr>
          <a:xfrm>
            <a:off x="9509820" y="0"/>
            <a:ext cx="8778180" cy="10287000"/>
          </a:xfrm>
          <a:prstGeom prst="rect">
            <a:avLst/>
          </a:prstGeom>
        </p:spPr>
      </p:pic>
      <p:sp>
        <p:nvSpPr>
          <p:cNvPr id="3" name="Shape 0"/>
          <p:cNvSpPr/>
          <p:nvPr/>
        </p:nvSpPr>
        <p:spPr>
          <a:xfrm>
            <a:off x="1219200" y="657225"/>
            <a:ext cx="361950" cy="361950"/>
          </a:xfrm>
          <a:prstGeom prst="rect">
            <a:avLst/>
          </a:prstGeom>
          <a:solidFill>
            <a:srgbClr val="FFFFFF"/>
          </a:solidFill>
          <a:ln/>
        </p:spPr>
      </p:sp>
      <p:sp>
        <p:nvSpPr>
          <p:cNvPr id="4" name="Text 1"/>
          <p:cNvSpPr/>
          <p:nvPr/>
        </p:nvSpPr>
        <p:spPr>
          <a:xfrm>
            <a:off x="1714500" y="609600"/>
            <a:ext cx="1554262" cy="323850"/>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FFFFFF"/>
                </a:solidFill>
                <a:latin typeface="Manrope" pitchFamily="34" charset="0"/>
                <a:ea typeface="Manrope" pitchFamily="34" charset="-122"/>
                <a:cs typeface="Manrope" pitchFamily="34" charset="-120"/>
              </a:rPr>
              <a:t>GlobalLogic</a:t>
            </a:r>
            <a:endParaRPr lang="en-US" sz="1650" dirty="0"/>
          </a:p>
        </p:txBody>
      </p:sp>
      <p:sp>
        <p:nvSpPr>
          <p:cNvPr id="5" name="Text 2"/>
          <p:cNvSpPr/>
          <p:nvPr/>
        </p:nvSpPr>
        <p:spPr>
          <a:xfrm>
            <a:off x="1714500" y="895350"/>
            <a:ext cx="1554262" cy="20955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60000"/>
                  </a:srgbClr>
                </a:solidFill>
                <a:latin typeface="Manrope" pitchFamily="34" charset="0"/>
                <a:ea typeface="Manrope" pitchFamily="34" charset="-122"/>
                <a:cs typeface="Manrope" pitchFamily="34" charset="-120"/>
              </a:rPr>
              <a:t>A Hitachi Group Company</a:t>
            </a:r>
            <a:endParaRPr lang="en-US" sz="975" dirty="0"/>
          </a:p>
        </p:txBody>
      </p:sp>
      <p:sp>
        <p:nvSpPr>
          <p:cNvPr id="6" name="Text 3"/>
          <p:cNvSpPr/>
          <p:nvPr/>
        </p:nvSpPr>
        <p:spPr>
          <a:xfrm>
            <a:off x="1219200" y="3355975"/>
            <a:ext cx="14716125" cy="2571750"/>
          </a:xfrm>
          <a:prstGeom prst="rect">
            <a:avLst/>
          </a:prstGeom>
          <a:noFill/>
          <a:ln/>
        </p:spPr>
        <p:txBody>
          <a:bodyPr wrap="square" lIns="25400" tIns="25400" rIns="25400" bIns="25400" rtlCol="0" anchor="t">
            <a:normAutofit/>
          </a:bodyPr>
          <a:lstStyle/>
          <a:p>
            <a:pPr algn="l" indent="0" marL="0">
              <a:lnSpc>
                <a:spcPct val="95000"/>
              </a:lnSpc>
              <a:buNone/>
            </a:pPr>
            <a:r>
              <a:rPr lang="en-US" sz="10500" b="1" spc="-262" kern="0" dirty="0">
                <a:solidFill>
                  <a:srgbClr val="FFFFFF"/>
                </a:solidFill>
                <a:latin typeface="Manrope" pitchFamily="34" charset="0"/>
                <a:ea typeface="Manrope" pitchFamily="34" charset="-122"/>
                <a:cs typeface="Manrope" pitchFamily="34" charset="-120"/>
              </a:rPr>
              <a:t>Open Looker. Build something </a:t>
            </a:r>
            <a:pPr algn="l" indent="0" marL="0">
              <a:lnSpc>
                <a:spcPct val="95000"/>
              </a:lnSpc>
              <a:buNone/>
            </a:pPr>
            <a:r>
              <a:rPr lang="en-US" sz="10500" b="1" spc="-262" kern="0" dirty="0">
                <a:solidFill>
                  <a:srgbClr val="FF671F"/>
                </a:solidFill>
                <a:latin typeface="Manrope" pitchFamily="34" charset="0"/>
                <a:ea typeface="Manrope" pitchFamily="34" charset="-122"/>
                <a:cs typeface="Manrope" pitchFamily="34" charset="-120"/>
              </a:rPr>
              <a:t>today.</a:t>
            </a:r>
            <a:endParaRPr lang="en-US" sz="10500" dirty="0"/>
          </a:p>
        </p:txBody>
      </p:sp>
      <p:sp>
        <p:nvSpPr>
          <p:cNvPr id="7" name="Text 4"/>
          <p:cNvSpPr/>
          <p:nvPr/>
        </p:nvSpPr>
        <p:spPr>
          <a:xfrm>
            <a:off x="1219200" y="6423025"/>
            <a:ext cx="3334224" cy="209550"/>
          </a:xfrm>
          <a:prstGeom prst="rect">
            <a:avLst/>
          </a:prstGeom>
          <a:noFill/>
          <a:ln/>
        </p:spPr>
        <p:txBody>
          <a:bodyPr wrap="square" lIns="25400" tIns="25400" rIns="25400" bIns="25400" rtlCol="0" anchor="t">
            <a:normAutofit/>
          </a:bodyPr>
          <a:lstStyle/>
          <a:p>
            <a:pPr algn="l" indent="0" marL="0">
              <a:buNone/>
            </a:pPr>
            <a:r>
              <a:rPr lang="en-US" sz="975" b="1" spc="156" kern="0" dirty="0">
                <a:solidFill>
                  <a:srgbClr val="FF671F"/>
                </a:solidFill>
                <a:latin typeface="Manrope" pitchFamily="34" charset="0"/>
                <a:ea typeface="Manrope" pitchFamily="34" charset="-122"/>
                <a:cs typeface="Manrope" pitchFamily="34" charset="-120"/>
              </a:rPr>
              <a:t>MODULE</a:t>
            </a:r>
            <a:endParaRPr lang="en-US" sz="975" dirty="0"/>
          </a:p>
        </p:txBody>
      </p:sp>
      <p:sp>
        <p:nvSpPr>
          <p:cNvPr id="8" name="Text 5"/>
          <p:cNvSpPr/>
          <p:nvPr/>
        </p:nvSpPr>
        <p:spPr>
          <a:xfrm>
            <a:off x="1219200" y="6670675"/>
            <a:ext cx="3334224" cy="298450"/>
          </a:xfrm>
          <a:prstGeom prst="rect">
            <a:avLst/>
          </a:prstGeom>
          <a:noFill/>
          <a:ln/>
        </p:spPr>
        <p:txBody>
          <a:bodyPr wrap="square" lIns="0" tIns="0" rIns="0" bIns="0" rtlCol="0" anchor="t">
            <a:normAutofit/>
          </a:bodyPr>
          <a:lstStyle/>
          <a:p>
            <a:pPr algn="l" indent="0" marL="0">
              <a:buNone/>
            </a:pPr>
            <a:r>
              <a:rPr lang="en-US" sz="1500" dirty="0">
                <a:solidFill>
                  <a:srgbClr val="FFFFFF">
                    <a:alpha val="85000"/>
                  </a:srgbClr>
                </a:solidFill>
                <a:latin typeface="Manrope" pitchFamily="34" charset="0"/>
                <a:ea typeface="Manrope" pitchFamily="34" charset="-122"/>
                <a:cs typeface="Manrope" pitchFamily="34" charset="-120"/>
              </a:rPr>
              <a:t>LKR-100 · Associate Data Practitioner</a:t>
            </a:r>
            <a:endParaRPr lang="en-US" sz="1500" dirty="0"/>
          </a:p>
        </p:txBody>
      </p:sp>
      <p:sp>
        <p:nvSpPr>
          <p:cNvPr id="9" name="Text 6"/>
          <p:cNvSpPr/>
          <p:nvPr/>
        </p:nvSpPr>
        <p:spPr>
          <a:xfrm>
            <a:off x="5065911" y="6423025"/>
            <a:ext cx="3223445" cy="209550"/>
          </a:xfrm>
          <a:prstGeom prst="rect">
            <a:avLst/>
          </a:prstGeom>
          <a:noFill/>
          <a:ln/>
        </p:spPr>
        <p:txBody>
          <a:bodyPr wrap="square" lIns="25400" tIns="25400" rIns="25400" bIns="25400" rtlCol="0" anchor="t">
            <a:normAutofit/>
          </a:bodyPr>
          <a:lstStyle/>
          <a:p>
            <a:pPr algn="l" indent="0" marL="0">
              <a:buNone/>
            </a:pPr>
            <a:r>
              <a:rPr lang="en-US" sz="975" b="1" spc="156" kern="0" dirty="0">
                <a:solidFill>
                  <a:srgbClr val="FF671F"/>
                </a:solidFill>
                <a:latin typeface="Manrope" pitchFamily="34" charset="0"/>
                <a:ea typeface="Manrope" pitchFamily="34" charset="-122"/>
                <a:cs typeface="Manrope" pitchFamily="34" charset="-120"/>
              </a:rPr>
              <a:t>AUTHOR</a:t>
            </a:r>
            <a:endParaRPr lang="en-US" sz="975" dirty="0"/>
          </a:p>
        </p:txBody>
      </p:sp>
      <p:sp>
        <p:nvSpPr>
          <p:cNvPr id="10" name="Text 7"/>
          <p:cNvSpPr/>
          <p:nvPr/>
        </p:nvSpPr>
        <p:spPr>
          <a:xfrm>
            <a:off x="5065911" y="6670675"/>
            <a:ext cx="3223445" cy="298450"/>
          </a:xfrm>
          <a:prstGeom prst="rect">
            <a:avLst/>
          </a:prstGeom>
          <a:noFill/>
          <a:ln/>
        </p:spPr>
        <p:txBody>
          <a:bodyPr wrap="square" lIns="0" tIns="0" rIns="0" bIns="0" rtlCol="0" anchor="t">
            <a:normAutofit/>
          </a:bodyPr>
          <a:lstStyle/>
          <a:p>
            <a:pPr algn="l" indent="0" marL="0">
              <a:buNone/>
            </a:pPr>
            <a:r>
              <a:rPr lang="en-US" sz="1500" dirty="0">
                <a:solidFill>
                  <a:srgbClr val="FFFFFF">
                    <a:alpha val="85000"/>
                  </a:srgbClr>
                </a:solidFill>
                <a:latin typeface="Manrope" pitchFamily="34" charset="0"/>
                <a:ea typeface="Manrope" pitchFamily="34" charset="-122"/>
                <a:cs typeface="Manrope" pitchFamily="34" charset="-120"/>
              </a:rPr>
              <a:t>GlobalLogic Learning · Data Practice</a:t>
            </a:r>
            <a:endParaRPr lang="en-US" sz="1500" dirty="0"/>
          </a:p>
        </p:txBody>
      </p:sp>
      <p:sp>
        <p:nvSpPr>
          <p:cNvPr id="11" name="Text 8"/>
          <p:cNvSpPr/>
          <p:nvPr/>
        </p:nvSpPr>
        <p:spPr>
          <a:xfrm>
            <a:off x="8805069" y="6423025"/>
            <a:ext cx="1764407" cy="209550"/>
          </a:xfrm>
          <a:prstGeom prst="rect">
            <a:avLst/>
          </a:prstGeom>
          <a:noFill/>
          <a:ln/>
        </p:spPr>
        <p:txBody>
          <a:bodyPr wrap="square" lIns="25400" tIns="25400" rIns="25400" bIns="25400" rtlCol="0" anchor="t">
            <a:normAutofit/>
          </a:bodyPr>
          <a:lstStyle/>
          <a:p>
            <a:pPr algn="l" indent="0" marL="0">
              <a:buNone/>
            </a:pPr>
            <a:r>
              <a:rPr lang="en-US" sz="975" b="1" spc="156" kern="0" dirty="0">
                <a:solidFill>
                  <a:srgbClr val="FF671F"/>
                </a:solidFill>
                <a:latin typeface="Manrope" pitchFamily="34" charset="0"/>
                <a:ea typeface="Manrope" pitchFamily="34" charset="-122"/>
                <a:cs typeface="Manrope" pitchFamily="34" charset="-120"/>
              </a:rPr>
              <a:t>VERSION</a:t>
            </a:r>
            <a:endParaRPr lang="en-US" sz="975" dirty="0"/>
          </a:p>
        </p:txBody>
      </p:sp>
      <p:sp>
        <p:nvSpPr>
          <p:cNvPr id="12" name="Text 9"/>
          <p:cNvSpPr/>
          <p:nvPr/>
        </p:nvSpPr>
        <p:spPr>
          <a:xfrm>
            <a:off x="8805069" y="6670675"/>
            <a:ext cx="1764407" cy="298450"/>
          </a:xfrm>
          <a:prstGeom prst="rect">
            <a:avLst/>
          </a:prstGeom>
          <a:noFill/>
          <a:ln/>
        </p:spPr>
        <p:txBody>
          <a:bodyPr wrap="square" lIns="0" tIns="0" rIns="0" bIns="0" rtlCol="0" anchor="t">
            <a:normAutofit/>
          </a:bodyPr>
          <a:lstStyle/>
          <a:p>
            <a:pPr algn="l" indent="0" marL="0">
              <a:buNone/>
            </a:pPr>
            <a:r>
              <a:rPr lang="en-US" sz="1500" dirty="0">
                <a:solidFill>
                  <a:srgbClr val="FFFFFF">
                    <a:alpha val="85000"/>
                  </a:srgbClr>
                </a:solidFill>
                <a:latin typeface="Manrope" pitchFamily="34" charset="0"/>
                <a:ea typeface="Manrope" pitchFamily="34" charset="-122"/>
                <a:cs typeface="Manrope" pitchFamily="34" charset="-120"/>
              </a:rPr>
              <a:t>Q1 · 2026 · 60 slides</a:t>
            </a:r>
            <a:endParaRPr lang="en-US" sz="1500" dirty="0"/>
          </a:p>
        </p:txBody>
      </p:sp>
      <p:sp>
        <p:nvSpPr>
          <p:cNvPr id="13" name="Text 10"/>
          <p:cNvSpPr/>
          <p:nvPr/>
        </p:nvSpPr>
        <p:spPr>
          <a:xfrm>
            <a:off x="11102876" y="6423025"/>
            <a:ext cx="2334617" cy="209550"/>
          </a:xfrm>
          <a:prstGeom prst="rect">
            <a:avLst/>
          </a:prstGeom>
          <a:noFill/>
          <a:ln/>
        </p:spPr>
        <p:txBody>
          <a:bodyPr wrap="square" lIns="25400" tIns="25400" rIns="25400" bIns="25400" rtlCol="0" anchor="t">
            <a:normAutofit/>
          </a:bodyPr>
          <a:lstStyle/>
          <a:p>
            <a:pPr algn="l" indent="0" marL="0">
              <a:buNone/>
            </a:pPr>
            <a:r>
              <a:rPr lang="en-US" sz="975" b="1" spc="156" kern="0" dirty="0">
                <a:solidFill>
                  <a:srgbClr val="FF671F"/>
                </a:solidFill>
                <a:latin typeface="Manrope" pitchFamily="34" charset="0"/>
                <a:ea typeface="Manrope" pitchFamily="34" charset="-122"/>
                <a:cs typeface="Manrope" pitchFamily="34" charset="-120"/>
              </a:rPr>
              <a:t>FEEDBACK</a:t>
            </a:r>
            <a:endParaRPr lang="en-US" sz="975" dirty="0"/>
          </a:p>
        </p:txBody>
      </p:sp>
      <p:sp>
        <p:nvSpPr>
          <p:cNvPr id="14" name="Text 11"/>
          <p:cNvSpPr/>
          <p:nvPr/>
        </p:nvSpPr>
        <p:spPr>
          <a:xfrm>
            <a:off x="11102876" y="6670675"/>
            <a:ext cx="2334618" cy="298450"/>
          </a:xfrm>
          <a:prstGeom prst="rect">
            <a:avLst/>
          </a:prstGeom>
          <a:noFill/>
          <a:ln/>
        </p:spPr>
        <p:txBody>
          <a:bodyPr wrap="square" lIns="0" tIns="0" rIns="0" bIns="0" rtlCol="0" anchor="t">
            <a:normAutofit/>
          </a:bodyPr>
          <a:lstStyle/>
          <a:p>
            <a:pPr algn="l" indent="0" marL="0">
              <a:buNone/>
            </a:pPr>
            <a:r>
              <a:rPr lang="en-US" sz="1500" dirty="0">
                <a:solidFill>
                  <a:srgbClr val="FFFFFF">
                    <a:alpha val="85000"/>
                  </a:srgbClr>
                </a:solidFill>
                <a:latin typeface="Manrope" pitchFamily="34" charset="0"/>
                <a:ea typeface="Manrope" pitchFamily="34" charset="-122"/>
                <a:cs typeface="Manrope" pitchFamily="34" charset="-120"/>
              </a:rPr>
              <a:t>learning@globallogic.com</a:t>
            </a:r>
            <a:endParaRPr lang="en-US" sz="1500" dirty="0"/>
          </a:p>
        </p:txBody>
      </p:sp>
      <p:sp>
        <p:nvSpPr>
          <p:cNvPr id="15" name="Text 12"/>
          <p:cNvSpPr/>
          <p:nvPr/>
        </p:nvSpPr>
        <p:spPr>
          <a:xfrm>
            <a:off x="1219200" y="9658350"/>
            <a:ext cx="929680"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Thank you.</a:t>
            </a:r>
            <a:endParaRPr lang="en-US" sz="1050" dirty="0"/>
          </a:p>
        </p:txBody>
      </p:sp>
      <p:sp>
        <p:nvSpPr>
          <p:cNvPr id="16" name="Text 13"/>
          <p:cNvSpPr/>
          <p:nvPr/>
        </p:nvSpPr>
        <p:spPr>
          <a:xfrm>
            <a:off x="16471305" y="9658350"/>
            <a:ext cx="673695" cy="209550"/>
          </a:xfrm>
          <a:prstGeom prst="rect">
            <a:avLst/>
          </a:prstGeom>
          <a:noFill/>
          <a:ln/>
        </p:spPr>
        <p:txBody>
          <a:bodyPr wrap="square" lIns="25400" tIns="25400" rIns="25400" bIns="25400" rtlCol="0" anchor="t">
            <a:normAutofit/>
          </a:bodyPr>
          <a:lstStyle/>
          <a:p>
            <a:pPr algn="l" indent="0" marL="0">
              <a:buNone/>
            </a:pPr>
            <a:r>
              <a:rPr lang="en-US" sz="1050" spc="42" kern="0" dirty="0">
                <a:solidFill>
                  <a:srgbClr val="FFFFFF">
                    <a:alpha val="55000"/>
                  </a:srgbClr>
                </a:solidFill>
                <a:latin typeface="JetBrains Mono" pitchFamily="34" charset="0"/>
                <a:ea typeface="JetBrains Mono" pitchFamily="34" charset="-122"/>
                <a:cs typeface="JetBrains Mono" pitchFamily="34" charset="-120"/>
              </a:rPr>
              <a:t>60 / 60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2026-05-20T05:56:35Z</dcterms:created>
  <dcterms:modified xsi:type="dcterms:W3CDTF">2026-05-20T05:56:35Z</dcterms:modified>
</cp:coreProperties>
</file>